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258" r:id="rId3"/>
    <p:sldId id="295" r:id="rId4"/>
    <p:sldId id="293" r:id="rId5"/>
    <p:sldId id="294" r:id="rId6"/>
    <p:sldId id="290" r:id="rId7"/>
    <p:sldId id="291" r:id="rId8"/>
    <p:sldId id="259" r:id="rId9"/>
    <p:sldId id="296" r:id="rId10"/>
    <p:sldId id="297" r:id="rId11"/>
    <p:sldId id="298" r:id="rId12"/>
    <p:sldId id="292" r:id="rId13"/>
    <p:sldId id="28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8BFF9-AC72-4048-ABC1-6C16DDE802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33460A-2459-49BA-A411-167AC0C71F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7C95D1-BAF2-473A-B054-C1BC444C4C84}"/>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5" name="Footer Placeholder 4">
            <a:extLst>
              <a:ext uri="{FF2B5EF4-FFF2-40B4-BE49-F238E27FC236}">
                <a16:creationId xmlns:a16="http://schemas.microsoft.com/office/drawing/2014/main" id="{95786CE7-76AA-4267-B233-2614B18E3E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E554D9-FE7C-4C9D-8A2D-EF29C5C35F0C}"/>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2311677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E0F83-85F3-49CC-A0D9-C3FE7BB699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EA24B5-68ED-461E-A879-FBA4CD3F2B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D4E203-2245-4B90-8737-6AF0F44B2E27}"/>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5" name="Footer Placeholder 4">
            <a:extLst>
              <a:ext uri="{FF2B5EF4-FFF2-40B4-BE49-F238E27FC236}">
                <a16:creationId xmlns:a16="http://schemas.microsoft.com/office/drawing/2014/main" id="{E9974145-726A-4E34-B296-8E4FB442C6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2D4545-9627-40EC-A706-1FA1555398AF}"/>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911599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DD6F6-0F48-43B4-8B5D-D57CB4EC8F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182B09-DC5F-4B9E-AFB6-BA3FDD8EC6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4F6E9E-F3C1-4E2E-A244-9E9F582D9762}"/>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5" name="Footer Placeholder 4">
            <a:extLst>
              <a:ext uri="{FF2B5EF4-FFF2-40B4-BE49-F238E27FC236}">
                <a16:creationId xmlns:a16="http://schemas.microsoft.com/office/drawing/2014/main" id="{71E99C11-7731-41EB-9BDB-CC7CA04BBE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E0C794-A09C-46EA-9D3F-2E198752B59A}"/>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2549207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54E7A-F6B8-498F-8DB9-8FA8684EFD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4B9856-7A40-43A9-B325-09780E1952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BC48761-507B-49A8-B0F7-CFE99EA5E6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3F7D77-15B4-40FE-85D2-BDE1AA986F9F}"/>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6" name="Footer Placeholder 5">
            <a:extLst>
              <a:ext uri="{FF2B5EF4-FFF2-40B4-BE49-F238E27FC236}">
                <a16:creationId xmlns:a16="http://schemas.microsoft.com/office/drawing/2014/main" id="{3F5AF102-1A2F-4A20-8625-2CFBB3496B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65D944-6B2F-4374-BB79-529A4AFDABF5}"/>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8603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3D069-97D0-4D38-9F57-C001567040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3D88A5-82DC-4BF4-8350-258AC3910D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34B54D-797E-48BC-B497-FA2A45F5D6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501C724-8B2F-42EA-A787-B142B9C33C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F73786-1E99-4A52-93F9-5322D78C1F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047C6C1-775B-40BE-87C9-B48AE7D83CF4}"/>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8" name="Footer Placeholder 7">
            <a:extLst>
              <a:ext uri="{FF2B5EF4-FFF2-40B4-BE49-F238E27FC236}">
                <a16:creationId xmlns:a16="http://schemas.microsoft.com/office/drawing/2014/main" id="{08E74A87-412A-41A3-9AB5-6BA3722B755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92FFBA-80F7-420E-9793-C945EFABABA7}"/>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548948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16AF-4997-4E08-9104-E6A40D44FF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168E65-A486-4EA8-86E2-5BF2A6627EC8}"/>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4" name="Footer Placeholder 3">
            <a:extLst>
              <a:ext uri="{FF2B5EF4-FFF2-40B4-BE49-F238E27FC236}">
                <a16:creationId xmlns:a16="http://schemas.microsoft.com/office/drawing/2014/main" id="{645DB382-4BC5-4BDF-B4CB-D28279D2135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7250BD-5C73-411C-944C-0B702B23595A}"/>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2847633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B29D3A-BB46-4D6C-BE65-9275A72A70DF}"/>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3" name="Footer Placeholder 2">
            <a:extLst>
              <a:ext uri="{FF2B5EF4-FFF2-40B4-BE49-F238E27FC236}">
                <a16:creationId xmlns:a16="http://schemas.microsoft.com/office/drawing/2014/main" id="{F5C73DB8-D92A-4D8A-A10C-132F3424250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A9E16E-8E88-4581-9D4E-BFD5084B916B}"/>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66975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70D56-D86B-4D37-BAE3-46E3B2FF5A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407835-23DE-4CE1-BF08-75087E3FCA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BE0D9B9-D4C5-4764-9CCF-0614F276C7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D0BCFA-2A26-4E57-B75F-44931ABA332C}"/>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6" name="Footer Placeholder 5">
            <a:extLst>
              <a:ext uri="{FF2B5EF4-FFF2-40B4-BE49-F238E27FC236}">
                <a16:creationId xmlns:a16="http://schemas.microsoft.com/office/drawing/2014/main" id="{4CD9FA7F-709D-4F59-A10E-61381F2028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406F29-4546-4F50-9A22-6D8FFD0C32F9}"/>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3394292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A4BE6-950B-4109-B8C6-1AA8AF2D4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6B4B11-92EF-4CDF-BD83-909578C243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013962F-6315-41F4-82B2-AF7608EF56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5E94-3088-48C9-BC43-C533C46F6268}"/>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6" name="Footer Placeholder 5">
            <a:extLst>
              <a:ext uri="{FF2B5EF4-FFF2-40B4-BE49-F238E27FC236}">
                <a16:creationId xmlns:a16="http://schemas.microsoft.com/office/drawing/2014/main" id="{E560CF01-7FD6-4413-B027-F5C9B4F77B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30E9D-EC40-4C6E-894A-BA21295A5688}"/>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373440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C6618-EF03-478D-93FD-64A743337F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0F0332-9C1D-4E6A-A80E-C939094702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F879CA-A74A-4B43-AEA2-014CEB83A2AB}"/>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5" name="Footer Placeholder 4">
            <a:extLst>
              <a:ext uri="{FF2B5EF4-FFF2-40B4-BE49-F238E27FC236}">
                <a16:creationId xmlns:a16="http://schemas.microsoft.com/office/drawing/2014/main" id="{2F36662B-1DAD-48B3-BA5E-A1625787CC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FE3F3A-0905-4F56-A7B3-D62EDD7AD7A5}"/>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2399274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67C4EF-883D-4D1E-8A0A-4B47A5E27C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294170-16EB-452D-A02E-01586B671D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1D0417-30CD-42D7-946E-61ACE251E2D5}"/>
              </a:ext>
            </a:extLst>
          </p:cNvPr>
          <p:cNvSpPr>
            <a:spLocks noGrp="1"/>
          </p:cNvSpPr>
          <p:nvPr>
            <p:ph type="dt" sz="half" idx="10"/>
          </p:nvPr>
        </p:nvSpPr>
        <p:spPr/>
        <p:txBody>
          <a:bodyPr/>
          <a:lstStyle/>
          <a:p>
            <a:fld id="{3DADB9DD-A29B-4364-BDE8-9E0443EC49CE}" type="datetimeFigureOut">
              <a:rPr lang="en-IN" smtClean="0"/>
              <a:t>05-10-2021</a:t>
            </a:fld>
            <a:endParaRPr lang="en-IN"/>
          </a:p>
        </p:txBody>
      </p:sp>
      <p:sp>
        <p:nvSpPr>
          <p:cNvPr id="5" name="Footer Placeholder 4">
            <a:extLst>
              <a:ext uri="{FF2B5EF4-FFF2-40B4-BE49-F238E27FC236}">
                <a16:creationId xmlns:a16="http://schemas.microsoft.com/office/drawing/2014/main" id="{E8D44417-B200-4975-8280-621DCE8031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CDBB9-88DD-4205-B836-2E3FFC1DA798}"/>
              </a:ext>
            </a:extLst>
          </p:cNvPr>
          <p:cNvSpPr>
            <a:spLocks noGrp="1"/>
          </p:cNvSpPr>
          <p:nvPr>
            <p:ph type="sldNum" sz="quarter" idx="12"/>
          </p:nvPr>
        </p:nvSpPr>
        <p:spPr/>
        <p:txBody>
          <a:bodyPr/>
          <a:lstStyle/>
          <a:p>
            <a:fld id="{8B6E5DBA-8CA7-42F4-B2FE-43A5E7E3ED32}" type="slidenum">
              <a:rPr lang="en-IN" smtClean="0"/>
              <a:t>‹#›</a:t>
            </a:fld>
            <a:endParaRPr lang="en-IN"/>
          </a:p>
        </p:txBody>
      </p:sp>
    </p:spTree>
    <p:extLst>
      <p:ext uri="{BB962C8B-B14F-4D97-AF65-F5344CB8AC3E}">
        <p14:creationId xmlns:p14="http://schemas.microsoft.com/office/powerpoint/2010/main" val="1591351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A7323F-0AE0-46A4-9337-B272C413BF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B7CDE2-2976-40C2-BE9C-A7811BE42D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0226E5-8CA0-4FD3-A1EC-A8A01E3870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ADB9DD-A29B-4364-BDE8-9E0443EC49CE}" type="datetimeFigureOut">
              <a:rPr lang="en-IN" smtClean="0"/>
              <a:t>05-10-2021</a:t>
            </a:fld>
            <a:endParaRPr lang="en-IN"/>
          </a:p>
        </p:txBody>
      </p:sp>
      <p:sp>
        <p:nvSpPr>
          <p:cNvPr id="5" name="Footer Placeholder 4">
            <a:extLst>
              <a:ext uri="{FF2B5EF4-FFF2-40B4-BE49-F238E27FC236}">
                <a16:creationId xmlns:a16="http://schemas.microsoft.com/office/drawing/2014/main" id="{4552F516-D59F-4921-B271-FAE6550E5E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62E2E25-3C1F-4901-B140-9FA2CA3A2D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6E5DBA-8CA7-42F4-B2FE-43A5E7E3ED32}" type="slidenum">
              <a:rPr lang="en-IN" smtClean="0"/>
              <a:t>‹#›</a:t>
            </a:fld>
            <a:endParaRPr lang="en-IN"/>
          </a:p>
        </p:txBody>
      </p:sp>
    </p:spTree>
    <p:extLst>
      <p:ext uri="{BB962C8B-B14F-4D97-AF65-F5344CB8AC3E}">
        <p14:creationId xmlns:p14="http://schemas.microsoft.com/office/powerpoint/2010/main" val="4062384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C3D87A-9090-4D37-A36B-FF04D02DFBD2}"/>
              </a:ext>
            </a:extLst>
          </p:cNvPr>
          <p:cNvSpPr txBox="1"/>
          <p:nvPr/>
        </p:nvSpPr>
        <p:spPr>
          <a:xfrm>
            <a:off x="0" y="1"/>
            <a:ext cx="12191999" cy="4862870"/>
          </a:xfrm>
          <a:prstGeom prst="rect">
            <a:avLst/>
          </a:prstGeom>
          <a:noFill/>
        </p:spPr>
        <p:txBody>
          <a:bodyPr wrap="square">
            <a:spAutoFit/>
          </a:bodyPr>
          <a:lstStyle/>
          <a:p>
            <a:pPr algn="l"/>
            <a:r>
              <a:rPr lang="en-US" sz="2800" b="1" i="0" dirty="0">
                <a:solidFill>
                  <a:srgbClr val="FF0000"/>
                </a:solidFill>
                <a:effectLst/>
                <a:latin typeface="Times New Roman" panose="02020603050405020304" pitchFamily="18" charset="0"/>
                <a:cs typeface="Times New Roman" panose="02020603050405020304" pitchFamily="18" charset="0"/>
              </a:rPr>
              <a:t>What is GitHub?</a:t>
            </a:r>
          </a:p>
          <a:p>
            <a:pPr algn="l"/>
            <a:endParaRPr lang="en-US" b="0" i="0" dirty="0">
              <a:solidFill>
                <a:srgbClr val="272C37"/>
              </a:solidFill>
              <a:effectLst/>
              <a:latin typeface="Roboto" panose="02000000000000000000" pitchFamily="2" charset="0"/>
            </a:endParaRPr>
          </a:p>
          <a:p>
            <a:pPr marL="285750" indent="-285750" algn="l">
              <a:buFont typeface="Wingdings" panose="05000000000000000000" pitchFamily="2" charset="2"/>
              <a:buChar char="Ø"/>
            </a:pPr>
            <a:r>
              <a:rPr lang="en-US" sz="2400" b="0" i="0" dirty="0">
                <a:solidFill>
                  <a:srgbClr val="51565E"/>
                </a:solidFill>
                <a:effectLst/>
                <a:latin typeface="Times New Roman" panose="02020603050405020304" pitchFamily="18" charset="0"/>
                <a:cs typeface="Times New Roman" panose="02020603050405020304" pitchFamily="18" charset="0"/>
              </a:rPr>
              <a:t>GitHub is a Git repository hosting service that provides a web-based graphical interface. It is the world’s largest coding community. Putting a code or a project into GitHub brings it increased, widespread exposure.</a:t>
            </a:r>
          </a:p>
          <a:p>
            <a:pPr marL="285750" indent="-285750" algn="l">
              <a:buFont typeface="Wingdings" panose="05000000000000000000" pitchFamily="2" charset="2"/>
              <a:buChar char="Ø"/>
            </a:pPr>
            <a:endParaRPr lang="en-US" sz="2400" dirty="0">
              <a:solidFill>
                <a:srgbClr val="51565E"/>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400" b="0" i="0" dirty="0">
                <a:solidFill>
                  <a:srgbClr val="51565E"/>
                </a:solidFill>
                <a:effectLst/>
                <a:latin typeface="Times New Roman" panose="02020603050405020304" pitchFamily="18" charset="0"/>
                <a:cs typeface="Times New Roman" panose="02020603050405020304" pitchFamily="18" charset="0"/>
              </a:rPr>
              <a:t>Programmers can find source codes in many different languages and use the command-line interface, Git, to make and keep track of any changes.</a:t>
            </a:r>
          </a:p>
          <a:p>
            <a:pPr marL="285750" indent="-285750" algn="l">
              <a:buFont typeface="Wingdings" panose="05000000000000000000" pitchFamily="2" charset="2"/>
              <a:buChar char="Ø"/>
            </a:pPr>
            <a:endParaRPr lang="en-US" sz="2400" b="0" i="0" dirty="0">
              <a:solidFill>
                <a:srgbClr val="51565E"/>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400" b="0" i="0" dirty="0">
                <a:solidFill>
                  <a:srgbClr val="51565E"/>
                </a:solidFill>
                <a:effectLst/>
                <a:latin typeface="Times New Roman" panose="02020603050405020304" pitchFamily="18" charset="0"/>
                <a:cs typeface="Times New Roman" panose="02020603050405020304" pitchFamily="18" charset="0"/>
              </a:rPr>
              <a:t>GitHub helps every team member work together on a project from any location while facilitating collaboration. You can also review previous versions created at an earlier point in time.</a:t>
            </a:r>
          </a:p>
          <a:p>
            <a:pPr algn="l"/>
            <a:endParaRPr lang="en-US" sz="2400" b="0" i="0" dirty="0">
              <a:solidFill>
                <a:srgbClr val="51565E"/>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9037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5A5BEF-AB92-4F2C-A6A3-EE8D3540EA71}"/>
              </a:ext>
            </a:extLst>
          </p:cNvPr>
          <p:cNvSpPr txBox="1"/>
          <p:nvPr/>
        </p:nvSpPr>
        <p:spPr>
          <a:xfrm>
            <a:off x="92765" y="119271"/>
            <a:ext cx="11953461" cy="6867714"/>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GitHub is a Git repository hosting service. GitHub also facilitates with many of its features, such as access control and collaboration. It provides a Web-based graphical interface.</a:t>
            </a:r>
          </a:p>
          <a:p>
            <a:pPr marL="342900" indent="-342900" algn="just">
              <a:lnSpc>
                <a:spcPct val="150000"/>
              </a:lnSpc>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GitHub is an American company. It hosts source code of your project in the form of different programming languages and keeps track of the various changes made by programmers.</a:t>
            </a:r>
          </a:p>
          <a:p>
            <a:pPr marL="342900" indent="-342900" algn="just">
              <a:lnSpc>
                <a:spcPct val="150000"/>
              </a:lnSpc>
              <a:buFont typeface="Wingdings" panose="05000000000000000000" pitchFamily="2" charset="2"/>
              <a:buChar char="Ø"/>
            </a:pPr>
            <a:r>
              <a:rPr lang="en-US" sz="2400" b="0" i="0" dirty="0">
                <a:solidFill>
                  <a:srgbClr val="333333"/>
                </a:solidFill>
                <a:effectLst/>
                <a:latin typeface="Times New Roman" panose="02020603050405020304" pitchFamily="18" charset="0"/>
                <a:cs typeface="Times New Roman" panose="02020603050405020304" pitchFamily="18" charset="0"/>
              </a:rPr>
              <a:t>It offers both </a:t>
            </a:r>
            <a:r>
              <a:rPr lang="en-US" sz="2400" b="1" i="0" dirty="0">
                <a:solidFill>
                  <a:srgbClr val="333333"/>
                </a:solidFill>
                <a:effectLst/>
                <a:latin typeface="Times New Roman" panose="02020603050405020304" pitchFamily="18" charset="0"/>
                <a:cs typeface="Times New Roman" panose="02020603050405020304" pitchFamily="18" charset="0"/>
              </a:rPr>
              <a:t>distributed version control and source code management (SCM)</a:t>
            </a:r>
            <a:r>
              <a:rPr lang="en-US" sz="2400" b="0" i="0" dirty="0">
                <a:solidFill>
                  <a:srgbClr val="333333"/>
                </a:solidFill>
                <a:effectLst/>
                <a:latin typeface="Times New Roman" panose="02020603050405020304" pitchFamily="18" charset="0"/>
                <a:cs typeface="Times New Roman" panose="02020603050405020304" pitchFamily="18" charset="0"/>
              </a:rPr>
              <a:t> functionality of Git. It also facilitates with some collaboration features such as bug tracking, feature requests, task management for every project.</a:t>
            </a:r>
          </a:p>
          <a:p>
            <a:pPr algn="just">
              <a:lnSpc>
                <a:spcPct val="150000"/>
              </a:lnSpc>
            </a:pPr>
            <a:endParaRPr lang="en-US" sz="2400" dirty="0">
              <a:solidFill>
                <a:srgbClr val="FF0000"/>
              </a:solidFill>
              <a:latin typeface="Times New Roman" panose="02020603050405020304" pitchFamily="18" charset="0"/>
              <a:cs typeface="Times New Roman" panose="02020603050405020304" pitchFamily="18" charset="0"/>
            </a:endParaRPr>
          </a:p>
          <a:p>
            <a:pPr algn="just"/>
            <a:r>
              <a:rPr lang="en-US" sz="2800" b="1" i="0" dirty="0">
                <a:solidFill>
                  <a:srgbClr val="FF0000"/>
                </a:solidFill>
                <a:effectLst/>
                <a:latin typeface="Times New Roman" panose="02020603050405020304" pitchFamily="18" charset="0"/>
                <a:cs typeface="Times New Roman" panose="02020603050405020304" pitchFamily="18" charset="0"/>
              </a:rPr>
              <a:t>Features of GitHub</a:t>
            </a:r>
          </a:p>
          <a:p>
            <a:pPr algn="just"/>
            <a:endParaRPr lang="en-US" sz="2400" b="0" i="0" dirty="0">
              <a:solidFill>
                <a:srgbClr val="610B38"/>
              </a:solidFill>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GitHub is a place where programmers and designers work together. They collaborate, contribute, and fix bugs together. It hosts plenty of open source projects and codes of various programming languages.</a:t>
            </a:r>
          </a:p>
          <a:p>
            <a:pPr algn="just">
              <a:lnSpc>
                <a:spcPct val="150000"/>
              </a:lnSpc>
            </a:pPr>
            <a:endParaRPr lang="en-US" sz="2400" b="0" i="0" dirty="0">
              <a:solidFill>
                <a:srgbClr val="333333"/>
              </a:solidFill>
              <a:effectLst/>
              <a:latin typeface="inter-regular"/>
            </a:endParaRPr>
          </a:p>
        </p:txBody>
      </p:sp>
    </p:spTree>
    <p:extLst>
      <p:ext uri="{BB962C8B-B14F-4D97-AF65-F5344CB8AC3E}">
        <p14:creationId xmlns:p14="http://schemas.microsoft.com/office/powerpoint/2010/main" val="1895428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76126F-0E1B-4E7F-B781-3DDF4020B8FB}"/>
              </a:ext>
            </a:extLst>
          </p:cNvPr>
          <p:cNvPicPr>
            <a:picLocks noChangeAspect="1"/>
          </p:cNvPicPr>
          <p:nvPr/>
        </p:nvPicPr>
        <p:blipFill>
          <a:blip r:embed="rId2"/>
          <a:stretch>
            <a:fillRect/>
          </a:stretch>
        </p:blipFill>
        <p:spPr>
          <a:xfrm>
            <a:off x="1179443" y="516835"/>
            <a:ext cx="9634331" cy="5817703"/>
          </a:xfrm>
          <a:prstGeom prst="rect">
            <a:avLst/>
          </a:prstGeom>
        </p:spPr>
      </p:pic>
    </p:spTree>
    <p:extLst>
      <p:ext uri="{BB962C8B-B14F-4D97-AF65-F5344CB8AC3E}">
        <p14:creationId xmlns:p14="http://schemas.microsoft.com/office/powerpoint/2010/main" val="846996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017215-4A0D-4F62-B835-3BBAC079A3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727" y="516834"/>
            <a:ext cx="10737430" cy="5499651"/>
          </a:xfrm>
          <a:prstGeom prst="rect">
            <a:avLst/>
          </a:prstGeom>
        </p:spPr>
      </p:pic>
    </p:spTree>
    <p:extLst>
      <p:ext uri="{BB962C8B-B14F-4D97-AF65-F5344CB8AC3E}">
        <p14:creationId xmlns:p14="http://schemas.microsoft.com/office/powerpoint/2010/main" val="306691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CAE87A-A510-4C84-B16D-6F757EC6B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5463" y="569843"/>
            <a:ext cx="10000382" cy="5499653"/>
          </a:xfrm>
          <a:prstGeom prst="rect">
            <a:avLst/>
          </a:prstGeom>
        </p:spPr>
      </p:pic>
    </p:spTree>
    <p:extLst>
      <p:ext uri="{BB962C8B-B14F-4D97-AF65-F5344CB8AC3E}">
        <p14:creationId xmlns:p14="http://schemas.microsoft.com/office/powerpoint/2010/main" val="2496964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A756A6-4B42-40F9-9887-0292506F2BE4}"/>
              </a:ext>
            </a:extLst>
          </p:cNvPr>
          <p:cNvSpPr txBox="1"/>
          <p:nvPr/>
        </p:nvSpPr>
        <p:spPr>
          <a:xfrm>
            <a:off x="0" y="231055"/>
            <a:ext cx="12192000" cy="6370975"/>
          </a:xfrm>
          <a:prstGeom prst="rect">
            <a:avLst/>
          </a:prstGeom>
          <a:noFill/>
        </p:spPr>
        <p:txBody>
          <a:bodyPr wrap="square">
            <a:spAutoFit/>
          </a:bodyPr>
          <a:lstStyle/>
          <a:p>
            <a:pPr marL="342900" indent="-342900" algn="l">
              <a:buAutoNum type="arabicPeriod"/>
            </a:pPr>
            <a:r>
              <a:rPr lang="en-US" sz="2400" b="1" i="0" dirty="0">
                <a:solidFill>
                  <a:srgbClr val="FF0000"/>
                </a:solidFill>
                <a:effectLst/>
                <a:latin typeface="Times New Roman" panose="02020603050405020304" pitchFamily="18" charset="0"/>
                <a:cs typeface="Times New Roman" panose="02020603050405020304" pitchFamily="18" charset="0"/>
              </a:rPr>
              <a:t>Easy Project Management</a:t>
            </a:r>
          </a:p>
          <a:p>
            <a:pPr algn="l"/>
            <a:endParaRPr lang="en-US" sz="2400" b="0" i="0" dirty="0">
              <a:solidFill>
                <a:srgbClr val="272C37"/>
              </a:solidFill>
              <a:effectLst/>
              <a:latin typeface="Times New Roman" panose="02020603050405020304" pitchFamily="18" charset="0"/>
              <a:cs typeface="Times New Roman" panose="02020603050405020304" pitchFamily="18" charset="0"/>
            </a:endParaRPr>
          </a:p>
          <a:p>
            <a:pPr algn="l"/>
            <a:r>
              <a:rPr lang="en-US" sz="2400" b="0" i="0" dirty="0">
                <a:solidFill>
                  <a:srgbClr val="51565E"/>
                </a:solidFill>
                <a:effectLst/>
                <a:latin typeface="Times New Roman" panose="02020603050405020304" pitchFamily="18" charset="0"/>
                <a:cs typeface="Times New Roman" panose="02020603050405020304" pitchFamily="18" charset="0"/>
              </a:rPr>
              <a:t>GitHub is a place where project managers and developers come together to coordinate, track, and update their work so that projects are transparent and stay on schedule.</a:t>
            </a:r>
            <a:br>
              <a:rPr lang="en-US" sz="2400" b="0" i="0" dirty="0">
                <a:solidFill>
                  <a:srgbClr val="51565E"/>
                </a:solidFill>
                <a:effectLst/>
                <a:latin typeface="Times New Roman" panose="02020603050405020304" pitchFamily="18" charset="0"/>
                <a:cs typeface="Times New Roman" panose="02020603050405020304" pitchFamily="18" charset="0"/>
              </a:rPr>
            </a:br>
            <a:endParaRPr lang="en-US" sz="2400" b="0" i="0" dirty="0">
              <a:solidFill>
                <a:srgbClr val="51565E"/>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2. Increased Safety With Packages</a:t>
            </a:r>
          </a:p>
          <a:p>
            <a:pPr algn="l"/>
            <a:r>
              <a:rPr lang="en-US" sz="2400" b="0" i="0" dirty="0">
                <a:solidFill>
                  <a:srgbClr val="51565E"/>
                </a:solidFill>
                <a:effectLst/>
                <a:latin typeface="Times New Roman" panose="02020603050405020304" pitchFamily="18" charset="0"/>
                <a:cs typeface="Times New Roman" panose="02020603050405020304" pitchFamily="18" charset="0"/>
              </a:rPr>
              <a:t>Packages can be published privately, within the team, or publicly to the open-source community. The packages can be used or reused by downloading them from GitHub.</a:t>
            </a:r>
          </a:p>
          <a:p>
            <a:pPr algn="l"/>
            <a:endParaRPr lang="en-US" sz="2400" b="0" i="0" dirty="0">
              <a:solidFill>
                <a:srgbClr val="51565E"/>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3. Effective Team Management</a:t>
            </a:r>
          </a:p>
          <a:p>
            <a:pPr algn="l"/>
            <a:r>
              <a:rPr lang="en-US" sz="2400" b="0" i="0" dirty="0">
                <a:solidFill>
                  <a:srgbClr val="51565E"/>
                </a:solidFill>
                <a:effectLst/>
                <a:latin typeface="Times New Roman" panose="02020603050405020304" pitchFamily="18" charset="0"/>
                <a:cs typeface="Times New Roman" panose="02020603050405020304" pitchFamily="18" charset="0"/>
              </a:rPr>
              <a:t>GitHub helps all the team members stay on the same page and organized. Moderation tools like Issue and Pull Request Locking help the team to focus on the code.</a:t>
            </a:r>
          </a:p>
          <a:p>
            <a:pPr algn="l"/>
            <a:endParaRPr lang="en-US" sz="2400" b="0" i="0" dirty="0">
              <a:solidFill>
                <a:srgbClr val="51565E"/>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4. Improved Code Writing</a:t>
            </a:r>
          </a:p>
          <a:p>
            <a:pPr algn="l"/>
            <a:r>
              <a:rPr lang="en-US" sz="2400" b="0" i="0" dirty="0">
                <a:solidFill>
                  <a:srgbClr val="51565E"/>
                </a:solidFill>
                <a:effectLst/>
                <a:latin typeface="Times New Roman" panose="02020603050405020304" pitchFamily="18" charset="0"/>
                <a:cs typeface="Times New Roman" panose="02020603050405020304" pitchFamily="18" charset="0"/>
              </a:rPr>
              <a:t>Pull requests help the organizations to review, develop, and propose new code. Team members can discuss any implementations and proposals through these before changing the source code.</a:t>
            </a:r>
          </a:p>
          <a:p>
            <a:pPr algn="l"/>
            <a:endParaRPr lang="en-US" sz="2400" b="0" i="0" dirty="0">
              <a:solidFill>
                <a:srgbClr val="51565E"/>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4789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60DD39-8B2E-4603-B905-180D25F6EAAC}"/>
              </a:ext>
            </a:extLst>
          </p:cNvPr>
          <p:cNvSpPr txBox="1"/>
          <p:nvPr/>
        </p:nvSpPr>
        <p:spPr>
          <a:xfrm>
            <a:off x="1" y="119270"/>
            <a:ext cx="12046226" cy="3416320"/>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5. Increased Code Safety</a:t>
            </a:r>
          </a:p>
          <a:p>
            <a:pPr algn="l"/>
            <a:r>
              <a:rPr lang="en-US" sz="2400" b="0" i="0" dirty="0">
                <a:solidFill>
                  <a:srgbClr val="51565E"/>
                </a:solidFill>
                <a:effectLst/>
                <a:latin typeface="Times New Roman" panose="02020603050405020304" pitchFamily="18" charset="0"/>
                <a:cs typeface="Times New Roman" panose="02020603050405020304" pitchFamily="18" charset="0"/>
              </a:rPr>
              <a:t>GitHub uses dedicated tools to identify and analyze vulnerabilities to the code that other tools tend to miss. Development teams everywhere work together to secure the software supply chain, from start to finish.</a:t>
            </a:r>
          </a:p>
          <a:p>
            <a:pPr algn="l"/>
            <a:endParaRPr lang="en-US" sz="2400" b="1" dirty="0">
              <a:solidFill>
                <a:srgbClr val="FF0000"/>
              </a:solidFill>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6. Easy Code Hosting</a:t>
            </a:r>
          </a:p>
          <a:p>
            <a:pPr algn="l"/>
            <a:r>
              <a:rPr lang="en-US" sz="2400" b="0" i="0" dirty="0">
                <a:solidFill>
                  <a:srgbClr val="51565E"/>
                </a:solidFill>
                <a:effectLst/>
                <a:latin typeface="Times New Roman" panose="02020603050405020304" pitchFamily="18" charset="0"/>
                <a:cs typeface="Times New Roman" panose="02020603050405020304" pitchFamily="18" charset="0"/>
              </a:rPr>
              <a:t>All the code and documentation are in one place. There are millions of repositories on GitHub, and each repository has its own tools to help you host and release code.</a:t>
            </a:r>
          </a:p>
          <a:p>
            <a:pPr algn="l"/>
            <a:endParaRPr lang="en-US" sz="2400" b="0" i="0" dirty="0">
              <a:solidFill>
                <a:srgbClr val="51565E"/>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395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73A5D1-0C1F-4B97-8B33-8BBA6F6F6A6D}"/>
              </a:ext>
            </a:extLst>
          </p:cNvPr>
          <p:cNvSpPr txBox="1"/>
          <p:nvPr/>
        </p:nvSpPr>
        <p:spPr>
          <a:xfrm>
            <a:off x="0" y="0"/>
            <a:ext cx="11741426" cy="6212278"/>
          </a:xfrm>
          <a:prstGeom prst="rect">
            <a:avLst/>
          </a:prstGeom>
          <a:noFill/>
        </p:spPr>
        <p:txBody>
          <a:bodyPr wrap="square">
            <a:spAutoFit/>
          </a:bodyPr>
          <a:lstStyle/>
          <a:p>
            <a:pPr algn="just">
              <a:lnSpc>
                <a:spcPct val="150000"/>
              </a:lnSpc>
            </a:pPr>
            <a:r>
              <a:rPr lang="en-US" sz="2800" b="1" i="0" dirty="0">
                <a:solidFill>
                  <a:srgbClr val="FF0000"/>
                </a:solidFill>
                <a:effectLst/>
                <a:latin typeface="Times New Roman" panose="02020603050405020304" pitchFamily="18" charset="0"/>
                <a:cs typeface="Times New Roman" panose="02020603050405020304" pitchFamily="18" charset="0"/>
              </a:rPr>
              <a:t>Benefits of GitHub</a:t>
            </a:r>
          </a:p>
          <a:p>
            <a:pPr algn="just">
              <a:lnSpc>
                <a:spcPct val="150000"/>
              </a:lnSpc>
            </a:pPr>
            <a:r>
              <a:rPr lang="en-US" sz="2400" b="0" i="0" dirty="0">
                <a:solidFill>
                  <a:srgbClr val="333333"/>
                </a:solidFill>
                <a:effectLst/>
                <a:latin typeface="Times New Roman" panose="02020603050405020304" pitchFamily="18" charset="0"/>
                <a:cs typeface="Times New Roman" panose="02020603050405020304" pitchFamily="18" charset="0"/>
              </a:rPr>
              <a:t>GitHub can be separated as the Git and the Hub. GitHub service includes access controls as well as collaboration features like task management, repository hosting, and team management.</a:t>
            </a:r>
          </a:p>
          <a:p>
            <a:pPr algn="just">
              <a:lnSpc>
                <a:spcPct val="150000"/>
              </a:lnSpc>
            </a:pPr>
            <a:r>
              <a:rPr lang="en-US" sz="2400" b="0" i="0" dirty="0">
                <a:solidFill>
                  <a:srgbClr val="FF0000"/>
                </a:solidFill>
                <a:effectLst/>
                <a:latin typeface="Times New Roman" panose="02020603050405020304" pitchFamily="18" charset="0"/>
                <a:cs typeface="Times New Roman" panose="02020603050405020304" pitchFamily="18" charset="0"/>
              </a:rPr>
              <a:t>The key benefits of GitHub are as follows.</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It is easy to contribute to open source projects via GitHub.</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It helps to create an excellent document.</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You can attract recruiter by showing off your work. If you have a profile on GitHub, you will have a higher chance of being recruited.</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It allows your work to get out there in front of the public.</a:t>
            </a:r>
          </a:p>
          <a:p>
            <a:pPr marL="342900" indent="-342900" algn="just">
              <a:lnSpc>
                <a:spcPct val="150000"/>
              </a:lnSpc>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You can track changes in your code across versions.</a:t>
            </a:r>
          </a:p>
        </p:txBody>
      </p:sp>
    </p:spTree>
    <p:extLst>
      <p:ext uri="{BB962C8B-B14F-4D97-AF65-F5344CB8AC3E}">
        <p14:creationId xmlns:p14="http://schemas.microsoft.com/office/powerpoint/2010/main" val="555351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ED247C-E29A-420D-97C3-C59FA8939482}"/>
              </a:ext>
            </a:extLst>
          </p:cNvPr>
          <p:cNvPicPr>
            <a:picLocks noChangeAspect="1"/>
          </p:cNvPicPr>
          <p:nvPr/>
        </p:nvPicPr>
        <p:blipFill>
          <a:blip r:embed="rId2"/>
          <a:stretch>
            <a:fillRect/>
          </a:stretch>
        </p:blipFill>
        <p:spPr>
          <a:xfrm>
            <a:off x="543339" y="543340"/>
            <a:ext cx="10873409" cy="6087778"/>
          </a:xfrm>
          <a:prstGeom prst="rect">
            <a:avLst/>
          </a:prstGeom>
        </p:spPr>
      </p:pic>
      <p:sp>
        <p:nvSpPr>
          <p:cNvPr id="4" name="TextBox 3">
            <a:extLst>
              <a:ext uri="{FF2B5EF4-FFF2-40B4-BE49-F238E27FC236}">
                <a16:creationId xmlns:a16="http://schemas.microsoft.com/office/drawing/2014/main" id="{CAED1E96-5F6E-4989-A512-AAD2D172C8F6}"/>
              </a:ext>
            </a:extLst>
          </p:cNvPr>
          <p:cNvSpPr txBox="1"/>
          <p:nvPr/>
        </p:nvSpPr>
        <p:spPr>
          <a:xfrm>
            <a:off x="0" y="0"/>
            <a:ext cx="4399721" cy="369332"/>
          </a:xfrm>
          <a:prstGeom prst="rect">
            <a:avLst/>
          </a:prstGeom>
          <a:noFill/>
        </p:spPr>
        <p:txBody>
          <a:bodyPr wrap="square" rtlCol="0">
            <a:spAutoFit/>
          </a:bodyPr>
          <a:lstStyle/>
          <a:p>
            <a:r>
              <a:rPr lang="en-US" b="1" dirty="0">
                <a:solidFill>
                  <a:srgbClr val="FF0000"/>
                </a:solidFill>
              </a:rPr>
              <a:t>GITHUB PROCESS</a:t>
            </a:r>
            <a:endParaRPr lang="en-IN" b="1" dirty="0">
              <a:solidFill>
                <a:srgbClr val="FF0000"/>
              </a:solidFill>
            </a:endParaRPr>
          </a:p>
        </p:txBody>
      </p:sp>
    </p:spTree>
    <p:extLst>
      <p:ext uri="{BB962C8B-B14F-4D97-AF65-F5344CB8AC3E}">
        <p14:creationId xmlns:p14="http://schemas.microsoft.com/office/powerpoint/2010/main" val="2323944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D990554-F6B8-4877-B2CF-260D0405711B}"/>
              </a:ext>
            </a:extLst>
          </p:cNvPr>
          <p:cNvSpPr txBox="1"/>
          <p:nvPr/>
        </p:nvSpPr>
        <p:spPr>
          <a:xfrm>
            <a:off x="0" y="0"/>
            <a:ext cx="12192000" cy="2425148"/>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Git Branch</a:t>
            </a:r>
          </a:p>
          <a:p>
            <a:pPr algn="just"/>
            <a:endParaRPr lang="en-US" b="1" i="0" dirty="0">
              <a:solidFill>
                <a:srgbClr val="FF0000"/>
              </a:solidFill>
              <a:effectLst/>
              <a:latin typeface="erdana"/>
            </a:endParaRPr>
          </a:p>
          <a:p>
            <a:pPr marL="285750" indent="-285750" algn="just">
              <a:buFont typeface="Wingdings" panose="05000000000000000000" pitchFamily="2" charset="2"/>
              <a:buChar char="Ø"/>
            </a:pPr>
            <a:r>
              <a:rPr lang="en-US" b="0" i="0" dirty="0">
                <a:solidFill>
                  <a:srgbClr val="333333"/>
                </a:solidFill>
                <a:effectLst/>
                <a:latin typeface="inter-regular"/>
              </a:rPr>
              <a:t>A branch is a version of the repository that diverges from the main working project. It is a feature available in most modern version control systems. A Git project can have more than one branch. </a:t>
            </a:r>
          </a:p>
          <a:p>
            <a:pPr algn="just"/>
            <a:endParaRPr lang="en-US" dirty="0">
              <a:solidFill>
                <a:srgbClr val="333333"/>
              </a:solidFill>
              <a:latin typeface="inter-regular"/>
            </a:endParaRPr>
          </a:p>
          <a:p>
            <a:pPr marL="285750" indent="-285750" algn="just">
              <a:buFont typeface="Wingdings" panose="05000000000000000000" pitchFamily="2" charset="2"/>
              <a:buChar char="Ø"/>
            </a:pPr>
            <a:r>
              <a:rPr lang="en-US" b="0" i="0" dirty="0">
                <a:solidFill>
                  <a:srgbClr val="333333"/>
                </a:solidFill>
                <a:effectLst/>
                <a:latin typeface="inter-regular"/>
              </a:rPr>
              <a:t>These branches are a pointer to a snapshot of your changes. When you want to add a new feature or fix a bug, you spawn a new branch to summarize your changes. So, it is complex to merge the unstable code with the main code base and also facilitates you to clean up your future history before merging with the main branch.</a:t>
            </a:r>
          </a:p>
        </p:txBody>
      </p:sp>
      <p:pic>
        <p:nvPicPr>
          <p:cNvPr id="9" name="Picture 8">
            <a:extLst>
              <a:ext uri="{FF2B5EF4-FFF2-40B4-BE49-F238E27FC236}">
                <a16:creationId xmlns:a16="http://schemas.microsoft.com/office/drawing/2014/main" id="{036EDB2A-5CE3-4D7E-9F27-DFCFED740E8B}"/>
              </a:ext>
            </a:extLst>
          </p:cNvPr>
          <p:cNvPicPr>
            <a:picLocks noChangeAspect="1"/>
          </p:cNvPicPr>
          <p:nvPr/>
        </p:nvPicPr>
        <p:blipFill>
          <a:blip r:embed="rId2"/>
          <a:stretch>
            <a:fillRect/>
          </a:stretch>
        </p:blipFill>
        <p:spPr>
          <a:xfrm>
            <a:off x="3859109" y="3429000"/>
            <a:ext cx="3188320" cy="1958630"/>
          </a:xfrm>
          <a:prstGeom prst="rect">
            <a:avLst/>
          </a:prstGeom>
        </p:spPr>
      </p:pic>
    </p:spTree>
    <p:extLst>
      <p:ext uri="{BB962C8B-B14F-4D97-AF65-F5344CB8AC3E}">
        <p14:creationId xmlns:p14="http://schemas.microsoft.com/office/powerpoint/2010/main" val="1262280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9D018D-FBB1-48F1-B675-D5FAB3C1B3D4}"/>
              </a:ext>
            </a:extLst>
          </p:cNvPr>
          <p:cNvSpPr txBox="1"/>
          <p:nvPr/>
        </p:nvSpPr>
        <p:spPr>
          <a:xfrm>
            <a:off x="92765" y="0"/>
            <a:ext cx="11820939" cy="5632311"/>
          </a:xfrm>
          <a:prstGeom prst="rect">
            <a:avLst/>
          </a:prstGeom>
          <a:noFill/>
        </p:spPr>
        <p:txBody>
          <a:bodyPr wrap="square">
            <a:spAutoFit/>
          </a:bodyPr>
          <a:lstStyle/>
          <a:p>
            <a:pPr algn="just"/>
            <a:r>
              <a:rPr lang="en-US" b="1" i="0" dirty="0">
                <a:solidFill>
                  <a:srgbClr val="FF0000"/>
                </a:solidFill>
                <a:effectLst/>
                <a:latin typeface="erdana"/>
              </a:rPr>
              <a:t>Git Master Branch</a:t>
            </a:r>
          </a:p>
          <a:p>
            <a:pPr algn="just"/>
            <a:r>
              <a:rPr lang="en-US" b="0" i="0" dirty="0">
                <a:solidFill>
                  <a:srgbClr val="333333"/>
                </a:solidFill>
                <a:effectLst/>
                <a:latin typeface="inter-regular"/>
              </a:rPr>
              <a:t>The master branch is a default branch in Git. It is instantiated when first commit made on the project. When you make the first commit, you're given a master branch to the starting commit point. </a:t>
            </a:r>
          </a:p>
          <a:p>
            <a:pPr algn="just"/>
            <a:endParaRPr lang="en-US" dirty="0">
              <a:solidFill>
                <a:srgbClr val="333333"/>
              </a:solidFill>
              <a:latin typeface="inter-regular"/>
            </a:endParaRPr>
          </a:p>
          <a:p>
            <a:pPr algn="just"/>
            <a:r>
              <a:rPr lang="en-US" b="0" i="0" dirty="0">
                <a:solidFill>
                  <a:srgbClr val="333333"/>
                </a:solidFill>
                <a:effectLst/>
                <a:latin typeface="inter-regular"/>
              </a:rPr>
              <a:t>When you start making a commit, then master branch pointer automatically moves forward. A repository can have only one master branch.</a:t>
            </a:r>
          </a:p>
          <a:p>
            <a:pPr algn="just"/>
            <a:r>
              <a:rPr lang="en-US" b="0" i="0" dirty="0">
                <a:solidFill>
                  <a:srgbClr val="333333"/>
                </a:solidFill>
                <a:effectLst/>
                <a:latin typeface="inter-regular"/>
              </a:rPr>
              <a:t>Master branch is the branch in which all the changes eventually get merged back. It can be called as an official working version of your project.</a:t>
            </a:r>
          </a:p>
          <a:p>
            <a:pPr algn="just"/>
            <a:endParaRPr lang="en-US" b="0" i="0" dirty="0">
              <a:solidFill>
                <a:srgbClr val="333333"/>
              </a:solidFill>
              <a:effectLst/>
              <a:latin typeface="inter-regular"/>
            </a:endParaRPr>
          </a:p>
          <a:p>
            <a:pPr algn="just"/>
            <a:r>
              <a:rPr lang="en-US" b="1" i="0" dirty="0">
                <a:solidFill>
                  <a:srgbClr val="FF0000"/>
                </a:solidFill>
                <a:effectLst/>
                <a:latin typeface="erdana"/>
              </a:rPr>
              <a:t>Operations on Branches</a:t>
            </a:r>
          </a:p>
          <a:p>
            <a:pPr algn="just"/>
            <a:r>
              <a:rPr lang="en-US" b="0" i="0" dirty="0">
                <a:solidFill>
                  <a:srgbClr val="333333"/>
                </a:solidFill>
                <a:effectLst/>
                <a:latin typeface="inter-regular"/>
              </a:rPr>
              <a:t>We can perform various operations on Git branches. The </a:t>
            </a:r>
            <a:r>
              <a:rPr lang="en-US" b="1" i="0" dirty="0">
                <a:solidFill>
                  <a:srgbClr val="333333"/>
                </a:solidFill>
                <a:effectLst/>
                <a:latin typeface="inter-bold"/>
              </a:rPr>
              <a:t>git branch command</a:t>
            </a:r>
            <a:r>
              <a:rPr lang="en-US" b="0" i="0" dirty="0">
                <a:solidFill>
                  <a:srgbClr val="333333"/>
                </a:solidFill>
                <a:effectLst/>
                <a:latin typeface="inter-regular"/>
              </a:rPr>
              <a:t> allows you to </a:t>
            </a:r>
            <a:r>
              <a:rPr lang="en-US" b="1" i="0" dirty="0">
                <a:solidFill>
                  <a:srgbClr val="333333"/>
                </a:solidFill>
                <a:effectLst/>
                <a:latin typeface="inter-bold"/>
              </a:rPr>
              <a:t>create</a:t>
            </a:r>
            <a:r>
              <a:rPr lang="en-US" b="0" i="0" dirty="0">
                <a:solidFill>
                  <a:srgbClr val="333333"/>
                </a:solidFill>
                <a:effectLst/>
                <a:latin typeface="inter-regular"/>
              </a:rPr>
              <a:t>, </a:t>
            </a:r>
            <a:r>
              <a:rPr lang="en-US" b="1" i="0" dirty="0">
                <a:solidFill>
                  <a:srgbClr val="333333"/>
                </a:solidFill>
                <a:effectLst/>
                <a:latin typeface="inter-bold"/>
              </a:rPr>
              <a:t>list</a:t>
            </a:r>
            <a:r>
              <a:rPr lang="en-US" b="0" i="0" dirty="0">
                <a:solidFill>
                  <a:srgbClr val="333333"/>
                </a:solidFill>
                <a:effectLst/>
                <a:latin typeface="inter-regular"/>
              </a:rPr>
              <a:t>, </a:t>
            </a:r>
            <a:r>
              <a:rPr lang="en-US" b="1" i="0" dirty="0">
                <a:solidFill>
                  <a:srgbClr val="333333"/>
                </a:solidFill>
                <a:effectLst/>
                <a:latin typeface="inter-bold"/>
              </a:rPr>
              <a:t>rename</a:t>
            </a:r>
            <a:r>
              <a:rPr lang="en-US" b="0" i="0" dirty="0">
                <a:solidFill>
                  <a:srgbClr val="333333"/>
                </a:solidFill>
                <a:effectLst/>
                <a:latin typeface="inter-regular"/>
              </a:rPr>
              <a:t> and </a:t>
            </a:r>
            <a:r>
              <a:rPr lang="en-US" b="1" i="0" dirty="0">
                <a:solidFill>
                  <a:srgbClr val="333333"/>
                </a:solidFill>
                <a:effectLst/>
                <a:latin typeface="inter-bold"/>
              </a:rPr>
              <a:t>delete</a:t>
            </a:r>
            <a:r>
              <a:rPr lang="en-US" b="0" i="0" dirty="0">
                <a:solidFill>
                  <a:srgbClr val="333333"/>
                </a:solidFill>
                <a:effectLst/>
                <a:latin typeface="inter-regular"/>
              </a:rPr>
              <a:t> branches. Many operations on branches are applied by git checkout and git merge command. So, the git branch is tightly integrated with the </a:t>
            </a:r>
            <a:r>
              <a:rPr lang="en-US" b="1" i="0" dirty="0">
                <a:solidFill>
                  <a:srgbClr val="333333"/>
                </a:solidFill>
                <a:effectLst/>
                <a:latin typeface="inter-bold"/>
              </a:rPr>
              <a:t>git checkout</a:t>
            </a:r>
            <a:r>
              <a:rPr lang="en-US" b="0" i="0" dirty="0">
                <a:solidFill>
                  <a:srgbClr val="333333"/>
                </a:solidFill>
                <a:effectLst/>
                <a:latin typeface="inter-regular"/>
              </a:rPr>
              <a:t> and </a:t>
            </a:r>
            <a:r>
              <a:rPr lang="en-US" b="1" i="0" dirty="0">
                <a:solidFill>
                  <a:srgbClr val="333333"/>
                </a:solidFill>
                <a:effectLst/>
                <a:latin typeface="inter-bold"/>
              </a:rPr>
              <a:t>git merge commands</a:t>
            </a:r>
            <a:r>
              <a:rPr lang="en-US" b="0" i="0" dirty="0">
                <a:solidFill>
                  <a:srgbClr val="333333"/>
                </a:solidFill>
                <a:effectLst/>
                <a:latin typeface="inter-regular"/>
              </a:rPr>
              <a:t>.</a:t>
            </a:r>
          </a:p>
          <a:p>
            <a:pPr algn="just"/>
            <a:endParaRPr lang="en-US" dirty="0">
              <a:solidFill>
                <a:srgbClr val="333333"/>
              </a:solidFill>
              <a:latin typeface="inter-regular"/>
            </a:endParaRPr>
          </a:p>
          <a:p>
            <a:pPr algn="just"/>
            <a:endParaRPr lang="en-US" b="0" i="0" dirty="0">
              <a:solidFill>
                <a:srgbClr val="333333"/>
              </a:solidFill>
              <a:effectLst/>
              <a:latin typeface="inter-regular"/>
            </a:endParaRPr>
          </a:p>
          <a:p>
            <a:pPr algn="just"/>
            <a:r>
              <a:rPr lang="en-US" b="1" i="0" dirty="0">
                <a:solidFill>
                  <a:srgbClr val="FF0000"/>
                </a:solidFill>
                <a:effectLst/>
                <a:latin typeface="erdana"/>
              </a:rPr>
              <a:t>Git Checkout</a:t>
            </a:r>
          </a:p>
          <a:p>
            <a:pPr algn="just"/>
            <a:r>
              <a:rPr lang="en-US" b="0" i="0" dirty="0">
                <a:solidFill>
                  <a:srgbClr val="333333"/>
                </a:solidFill>
                <a:effectLst/>
                <a:latin typeface="inter-regular"/>
              </a:rPr>
              <a:t>In Git, the term checkout is used for the act of switching between different versions of a target entity. The </a:t>
            </a:r>
            <a:r>
              <a:rPr lang="en-US" b="1" i="0" dirty="0">
                <a:solidFill>
                  <a:srgbClr val="333333"/>
                </a:solidFill>
                <a:effectLst/>
                <a:latin typeface="inter-bold"/>
              </a:rPr>
              <a:t>git checkout</a:t>
            </a:r>
            <a:r>
              <a:rPr lang="en-US" b="0" i="0" dirty="0">
                <a:solidFill>
                  <a:srgbClr val="333333"/>
                </a:solidFill>
                <a:effectLst/>
                <a:latin typeface="inter-regular"/>
              </a:rPr>
              <a:t> command is used to switch between branches in a repository. Be careful with your staged files and commits when switching between branches.</a:t>
            </a:r>
          </a:p>
          <a:p>
            <a:pPr algn="just"/>
            <a:endParaRPr lang="en-US" b="0" i="0" dirty="0">
              <a:solidFill>
                <a:srgbClr val="333333"/>
              </a:solidFill>
              <a:effectLst/>
              <a:latin typeface="inter-regular"/>
            </a:endParaRPr>
          </a:p>
        </p:txBody>
      </p:sp>
    </p:spTree>
    <p:extLst>
      <p:ext uri="{BB962C8B-B14F-4D97-AF65-F5344CB8AC3E}">
        <p14:creationId xmlns:p14="http://schemas.microsoft.com/office/powerpoint/2010/main" val="2220466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8CBD21-B31A-497C-A4CD-D585A09ED74C}"/>
              </a:ext>
            </a:extLst>
          </p:cNvPr>
          <p:cNvPicPr>
            <a:picLocks noChangeAspect="1"/>
          </p:cNvPicPr>
          <p:nvPr/>
        </p:nvPicPr>
        <p:blipFill>
          <a:blip r:embed="rId2"/>
          <a:stretch>
            <a:fillRect/>
          </a:stretch>
        </p:blipFill>
        <p:spPr>
          <a:xfrm>
            <a:off x="159026" y="192460"/>
            <a:ext cx="11317357" cy="6473079"/>
          </a:xfrm>
          <a:prstGeom prst="rect">
            <a:avLst/>
          </a:prstGeom>
        </p:spPr>
      </p:pic>
    </p:spTree>
    <p:extLst>
      <p:ext uri="{BB962C8B-B14F-4D97-AF65-F5344CB8AC3E}">
        <p14:creationId xmlns:p14="http://schemas.microsoft.com/office/powerpoint/2010/main" val="2791627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C81DE6-E41E-4E49-AFB0-D72097FA04DA}"/>
              </a:ext>
            </a:extLst>
          </p:cNvPr>
          <p:cNvSpPr txBox="1"/>
          <p:nvPr/>
        </p:nvSpPr>
        <p:spPr>
          <a:xfrm>
            <a:off x="371061" y="516834"/>
            <a:ext cx="11224591" cy="5830186"/>
          </a:xfrm>
          <a:prstGeom prst="rect">
            <a:avLst/>
          </a:prstGeom>
          <a:noFill/>
        </p:spPr>
        <p:txBody>
          <a:bodyPr wrap="square">
            <a:spAutoFit/>
          </a:bodyPr>
          <a:lstStyle/>
          <a:p>
            <a:pPr>
              <a:lnSpc>
                <a:spcPts val="2005"/>
              </a:lnSpc>
              <a:spcBef>
                <a:spcPts val="1800"/>
              </a:spcBef>
              <a:spcAft>
                <a:spcPts val="200"/>
              </a:spcAft>
            </a:pPr>
            <a:r>
              <a:rPr lang="en-IN" sz="4000" b="1" dirty="0">
                <a:solidFill>
                  <a:srgbClr val="FF0000"/>
                </a:solidFill>
                <a:effectLst/>
                <a:latin typeface="Arial" panose="020B0604020202020204" pitchFamily="34" charset="0"/>
                <a:ea typeface="Calibri" panose="020F0502020204030204" pitchFamily="34" charset="0"/>
              </a:rPr>
              <a:t>Roles and code </a:t>
            </a:r>
            <a:endParaRPr lang="en-IN" sz="2400" dirty="0">
              <a:solidFill>
                <a:srgbClr val="FF0000"/>
              </a:solidFill>
              <a:effectLst/>
              <a:latin typeface="Arial" panose="020B0604020202020204" pitchFamily="34" charset="0"/>
              <a:ea typeface="Calibri" panose="020F0502020204030204" pitchFamily="34" charset="0"/>
            </a:endParaRPr>
          </a:p>
          <a:p>
            <a:pPr>
              <a:lnSpc>
                <a:spcPct val="150000"/>
              </a:lnSpc>
              <a:spcAft>
                <a:spcPts val="800"/>
              </a:spcAft>
            </a:pPr>
            <a:r>
              <a:rPr lang="en-IN" sz="1800" dirty="0">
                <a:solidFill>
                  <a:srgbClr val="000000"/>
                </a:solidFill>
                <a:effectLst/>
                <a:latin typeface="Book Antiqua" panose="02040602050305030304" pitchFamily="18" charset="0"/>
                <a:ea typeface="Calibri" panose="020F0502020204030204" pitchFamily="34" charset="0"/>
                <a:cs typeface="Book Antiqua" panose="02040602050305030304" pitchFamily="18" charset="0"/>
              </a:rPr>
              <a:t>From a DevOps point of view, it is important to leverage the natural meeting point that a source code management tool. </a:t>
            </a:r>
            <a:endParaRPr lang="en-IN" sz="2400" dirty="0">
              <a:effectLst/>
              <a:latin typeface="Arial" panose="020B0604020202020204" pitchFamily="34" charset="0"/>
              <a:ea typeface="Calibri" panose="020F0502020204030204" pitchFamily="34" charset="0"/>
            </a:endParaRPr>
          </a:p>
          <a:p>
            <a:pPr>
              <a:lnSpc>
                <a:spcPct val="150000"/>
              </a:lnSpc>
              <a:spcAft>
                <a:spcPts val="800"/>
              </a:spcAft>
            </a:pPr>
            <a:r>
              <a:rPr lang="en-IN" sz="1800" dirty="0">
                <a:solidFill>
                  <a:srgbClr val="000000"/>
                </a:solidFill>
                <a:effectLst/>
                <a:latin typeface="Book Antiqua" panose="02040602050305030304" pitchFamily="18" charset="0"/>
                <a:ea typeface="Calibri" panose="020F0502020204030204" pitchFamily="34" charset="0"/>
                <a:cs typeface="Book Antiqua" panose="02040602050305030304" pitchFamily="18" charset="0"/>
              </a:rPr>
              <a:t>Many different roles have a use for source code management in its wider meaning. It is easier to do so for technically-minded roles but harder for other roles, such as project management. </a:t>
            </a:r>
            <a:endParaRPr lang="en-IN" sz="2400" dirty="0">
              <a:effectLst/>
              <a:latin typeface="Arial" panose="020B0604020202020204" pitchFamily="34" charset="0"/>
              <a:ea typeface="Calibri" panose="020F0502020204030204" pitchFamily="34" charset="0"/>
            </a:endParaRPr>
          </a:p>
          <a:p>
            <a:pPr>
              <a:lnSpc>
                <a:spcPct val="150000"/>
              </a:lnSpc>
              <a:spcAft>
                <a:spcPts val="800"/>
              </a:spcAft>
            </a:pPr>
            <a:r>
              <a:rPr lang="en-IN" sz="1800" dirty="0">
                <a:solidFill>
                  <a:srgbClr val="000000"/>
                </a:solidFill>
                <a:effectLst/>
                <a:latin typeface="Book Antiqua" panose="02040602050305030304" pitchFamily="18" charset="0"/>
                <a:ea typeface="Calibri" panose="020F0502020204030204" pitchFamily="34" charset="0"/>
                <a:cs typeface="Book Antiqua" panose="02040602050305030304" pitchFamily="18" charset="0"/>
              </a:rPr>
              <a:t>Operations personnel also </a:t>
            </a:r>
            <a:r>
              <a:rPr lang="en-IN" sz="1800" dirty="0" err="1">
                <a:solidFill>
                  <a:srgbClr val="000000"/>
                </a:solidFill>
                <a:effectLst/>
                <a:latin typeface="Book Antiqua" panose="02040602050305030304" pitchFamily="18" charset="0"/>
                <a:ea typeface="Calibri" panose="020F0502020204030204" pitchFamily="34" charset="0"/>
                <a:cs typeface="Book Antiqua" panose="02040602050305030304" pitchFamily="18" charset="0"/>
              </a:rPr>
              <a:t>favor</a:t>
            </a:r>
            <a:r>
              <a:rPr lang="en-IN" sz="1800" dirty="0">
                <a:solidFill>
                  <a:srgbClr val="000000"/>
                </a:solidFill>
                <a:effectLst/>
                <a:latin typeface="Book Antiqua" panose="02040602050305030304" pitchFamily="18" charset="0"/>
                <a:ea typeface="Calibri" panose="020F0502020204030204" pitchFamily="34" charset="0"/>
                <a:cs typeface="Book Antiqua" panose="02040602050305030304" pitchFamily="18" charset="0"/>
              </a:rPr>
              <a:t> managing the descriptions of infrastructure in the form of code, scripts, and other artifacts </a:t>
            </a:r>
            <a:endParaRPr lang="en-IN" sz="2400" dirty="0">
              <a:effectLst/>
              <a:latin typeface="Arial" panose="020B0604020202020204" pitchFamily="34" charset="0"/>
              <a:ea typeface="Calibri" panose="020F0502020204030204" pitchFamily="34" charset="0"/>
            </a:endParaRPr>
          </a:p>
          <a:p>
            <a:pPr>
              <a:lnSpc>
                <a:spcPct val="150000"/>
              </a:lnSpc>
              <a:spcAft>
                <a:spcPts val="800"/>
              </a:spcAft>
            </a:pPr>
            <a:r>
              <a:rPr lang="en-IN" sz="1800" dirty="0">
                <a:solidFill>
                  <a:srgbClr val="000000"/>
                </a:solidFill>
                <a:effectLst/>
                <a:latin typeface="Book Antiqua" panose="02040602050305030304" pitchFamily="18" charset="0"/>
                <a:ea typeface="Calibri" panose="020F0502020204030204" pitchFamily="34" charset="0"/>
                <a:cs typeface="Book Antiqua" panose="02040602050305030304" pitchFamily="18" charset="0"/>
              </a:rPr>
              <a:t>Quality assurance personnel can store their automated tests in codified form in the source code repository. This is true for software testing frameworks such as Selenium and Junit, among others. </a:t>
            </a:r>
            <a:endParaRPr lang="en-IN" sz="2400" dirty="0">
              <a:effectLst/>
              <a:latin typeface="Arial" panose="020B0604020202020204" pitchFamily="34" charset="0"/>
              <a:ea typeface="Calibri" panose="020F0502020204030204" pitchFamily="34" charset="0"/>
            </a:endParaRPr>
          </a:p>
          <a:p>
            <a:pPr>
              <a:lnSpc>
                <a:spcPct val="150000"/>
              </a:lnSpc>
              <a:spcAft>
                <a:spcPts val="800"/>
              </a:spcAft>
            </a:pPr>
            <a:r>
              <a:rPr lang="en-IN" sz="1800" dirty="0">
                <a:solidFill>
                  <a:srgbClr val="000000"/>
                </a:solidFill>
                <a:effectLst/>
                <a:latin typeface="Book Antiqua" panose="02040602050305030304" pitchFamily="18" charset="0"/>
                <a:ea typeface="Calibri" panose="020F0502020204030204" pitchFamily="34" charset="0"/>
                <a:cs typeface="Book Antiqua" panose="02040602050305030304" pitchFamily="18" charset="0"/>
              </a:rPr>
              <a:t>There is a problem with the documentation of the manual steps needed to perform various tasks, though. This is more of a psychological or cultural problem than a technical one. </a:t>
            </a:r>
            <a:endParaRPr lang="en-IN" sz="2400" dirty="0">
              <a:effectLst/>
              <a:latin typeface="Arial" panose="020B0604020202020204" pitchFamily="34" charset="0"/>
              <a:ea typeface="Calibri" panose="020F0502020204030204" pitchFamily="34" charset="0"/>
            </a:endParaRPr>
          </a:p>
          <a:p>
            <a:pPr>
              <a:lnSpc>
                <a:spcPct val="150000"/>
              </a:lnSpc>
              <a:spcAft>
                <a:spcPts val="800"/>
              </a:spcAft>
            </a:pPr>
            <a:r>
              <a:rPr lang="en-IN" sz="1800" dirty="0">
                <a:solidFill>
                  <a:srgbClr val="000000"/>
                </a:solidFill>
                <a:effectLst/>
                <a:latin typeface="Book Antiqua" panose="02040602050305030304" pitchFamily="18" charset="0"/>
                <a:ea typeface="Calibri" panose="020F0502020204030204" pitchFamily="34" charset="0"/>
                <a:cs typeface="Book Antiqua" panose="02040602050305030304" pitchFamily="18" charset="0"/>
              </a:rPr>
              <a:t>While many organizations employ a wiki solution such as the wiki engine powering Wikipedia, there is still a lot of documentation floating around in the Word format on shared drives and in e-mails.</a:t>
            </a:r>
            <a:endParaRPr lang="en-IN" sz="2400"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1258267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1067</Words>
  <Application>Microsoft Office PowerPoint</Application>
  <PresentationFormat>Widescreen</PresentationFormat>
  <Paragraphs>63</Paragraphs>
  <Slides>13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Book Antiqua</vt:lpstr>
      <vt:lpstr>Calibri</vt:lpstr>
      <vt:lpstr>Calibri Light</vt:lpstr>
      <vt:lpstr>erdana</vt:lpstr>
      <vt:lpstr>inter-bold</vt:lpstr>
      <vt:lpstr>inter-regular</vt:lpstr>
      <vt:lpstr>Roboto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6</cp:revision>
  <dcterms:created xsi:type="dcterms:W3CDTF">2021-10-04T08:37:48Z</dcterms:created>
  <dcterms:modified xsi:type="dcterms:W3CDTF">2021-10-05T10:18:47Z</dcterms:modified>
</cp:coreProperties>
</file>