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2" r:id="rId6"/>
    <p:sldId id="269" r:id="rId7"/>
    <p:sldId id="263" r:id="rId8"/>
    <p:sldId id="264" r:id="rId9"/>
    <p:sldId id="258" r:id="rId10"/>
    <p:sldId id="261" r:id="rId11"/>
    <p:sldId id="265" r:id="rId12"/>
    <p:sldId id="266" r:id="rId13"/>
    <p:sldId id="267"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72" d="100"/>
          <a:sy n="72" d="100"/>
        </p:scale>
        <p:origin x="61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F23B8-7E4B-40ED-9338-01A0D8D7E5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A1C17AF2-7AB0-49AC-9435-82878C708F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B5A0D8F1-0BDA-44ED-ACD8-7142DF3BF880}"/>
              </a:ext>
            </a:extLst>
          </p:cNvPr>
          <p:cNvSpPr>
            <a:spLocks noGrp="1"/>
          </p:cNvSpPr>
          <p:nvPr>
            <p:ph type="dt" sz="half" idx="10"/>
          </p:nvPr>
        </p:nvSpPr>
        <p:spPr/>
        <p:txBody>
          <a:bodyPr/>
          <a:lstStyle/>
          <a:p>
            <a:fld id="{651E1282-269A-4B9B-95E8-5DA08DEDC262}" type="datetimeFigureOut">
              <a:rPr lang="en-SG" smtClean="0"/>
              <a:t>9/9/2021</a:t>
            </a:fld>
            <a:endParaRPr lang="en-SG"/>
          </a:p>
        </p:txBody>
      </p:sp>
      <p:sp>
        <p:nvSpPr>
          <p:cNvPr id="5" name="Footer Placeholder 4">
            <a:extLst>
              <a:ext uri="{FF2B5EF4-FFF2-40B4-BE49-F238E27FC236}">
                <a16:creationId xmlns:a16="http://schemas.microsoft.com/office/drawing/2014/main" id="{C4A199FA-F1EC-41B1-B47B-F201783ECBF1}"/>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6694D0F-2F00-45CD-8827-C28CBDE65A46}"/>
              </a:ext>
            </a:extLst>
          </p:cNvPr>
          <p:cNvSpPr>
            <a:spLocks noGrp="1"/>
          </p:cNvSpPr>
          <p:nvPr>
            <p:ph type="sldNum" sz="quarter" idx="12"/>
          </p:nvPr>
        </p:nvSpPr>
        <p:spPr/>
        <p:txBody>
          <a:bodyPr/>
          <a:lstStyle/>
          <a:p>
            <a:fld id="{0AEE56C5-82CC-4346-8FC2-43B07026B0E6}" type="slidenum">
              <a:rPr lang="en-SG" smtClean="0"/>
              <a:t>‹#›</a:t>
            </a:fld>
            <a:endParaRPr lang="en-SG"/>
          </a:p>
        </p:txBody>
      </p:sp>
    </p:spTree>
    <p:extLst>
      <p:ext uri="{BB962C8B-B14F-4D97-AF65-F5344CB8AC3E}">
        <p14:creationId xmlns:p14="http://schemas.microsoft.com/office/powerpoint/2010/main" val="2376676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54E63-EC96-4534-92D6-9FA7B008403E}"/>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A2078860-D68B-42B0-91C8-DBAFC6648E9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DB521ECB-EC60-42D4-9F61-AFE472B1B3DA}"/>
              </a:ext>
            </a:extLst>
          </p:cNvPr>
          <p:cNvSpPr>
            <a:spLocks noGrp="1"/>
          </p:cNvSpPr>
          <p:nvPr>
            <p:ph type="dt" sz="half" idx="10"/>
          </p:nvPr>
        </p:nvSpPr>
        <p:spPr/>
        <p:txBody>
          <a:bodyPr/>
          <a:lstStyle/>
          <a:p>
            <a:fld id="{651E1282-269A-4B9B-95E8-5DA08DEDC262}" type="datetimeFigureOut">
              <a:rPr lang="en-SG" smtClean="0"/>
              <a:t>9/9/2021</a:t>
            </a:fld>
            <a:endParaRPr lang="en-SG"/>
          </a:p>
        </p:txBody>
      </p:sp>
      <p:sp>
        <p:nvSpPr>
          <p:cNvPr id="5" name="Footer Placeholder 4">
            <a:extLst>
              <a:ext uri="{FF2B5EF4-FFF2-40B4-BE49-F238E27FC236}">
                <a16:creationId xmlns:a16="http://schemas.microsoft.com/office/drawing/2014/main" id="{88DDF1A3-F55F-4CE7-933C-7E4D500CDB22}"/>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C9D6493B-9C9E-4FC1-96A8-3B7793159251}"/>
              </a:ext>
            </a:extLst>
          </p:cNvPr>
          <p:cNvSpPr>
            <a:spLocks noGrp="1"/>
          </p:cNvSpPr>
          <p:nvPr>
            <p:ph type="sldNum" sz="quarter" idx="12"/>
          </p:nvPr>
        </p:nvSpPr>
        <p:spPr/>
        <p:txBody>
          <a:bodyPr/>
          <a:lstStyle/>
          <a:p>
            <a:fld id="{0AEE56C5-82CC-4346-8FC2-43B07026B0E6}" type="slidenum">
              <a:rPr lang="en-SG" smtClean="0"/>
              <a:t>‹#›</a:t>
            </a:fld>
            <a:endParaRPr lang="en-SG"/>
          </a:p>
        </p:txBody>
      </p:sp>
    </p:spTree>
    <p:extLst>
      <p:ext uri="{BB962C8B-B14F-4D97-AF65-F5344CB8AC3E}">
        <p14:creationId xmlns:p14="http://schemas.microsoft.com/office/powerpoint/2010/main" val="1889772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7DD1F-D0D8-4BF4-83BF-658481C340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25E592AE-C1BC-4957-9F83-DC3B27D688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40CF2D0-1C97-4770-9AAC-4CC16304A3D7}"/>
              </a:ext>
            </a:extLst>
          </p:cNvPr>
          <p:cNvSpPr>
            <a:spLocks noGrp="1"/>
          </p:cNvSpPr>
          <p:nvPr>
            <p:ph type="dt" sz="half" idx="10"/>
          </p:nvPr>
        </p:nvSpPr>
        <p:spPr/>
        <p:txBody>
          <a:bodyPr/>
          <a:lstStyle/>
          <a:p>
            <a:fld id="{651E1282-269A-4B9B-95E8-5DA08DEDC262}" type="datetimeFigureOut">
              <a:rPr lang="en-SG" smtClean="0"/>
              <a:t>9/9/2021</a:t>
            </a:fld>
            <a:endParaRPr lang="en-SG"/>
          </a:p>
        </p:txBody>
      </p:sp>
      <p:sp>
        <p:nvSpPr>
          <p:cNvPr id="5" name="Footer Placeholder 4">
            <a:extLst>
              <a:ext uri="{FF2B5EF4-FFF2-40B4-BE49-F238E27FC236}">
                <a16:creationId xmlns:a16="http://schemas.microsoft.com/office/drawing/2014/main" id="{3F1813F7-259C-4109-BF8B-3E6F5D732184}"/>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F59E0B2A-A2C1-4F52-9451-C1C63994F39C}"/>
              </a:ext>
            </a:extLst>
          </p:cNvPr>
          <p:cNvSpPr>
            <a:spLocks noGrp="1"/>
          </p:cNvSpPr>
          <p:nvPr>
            <p:ph type="sldNum" sz="quarter" idx="12"/>
          </p:nvPr>
        </p:nvSpPr>
        <p:spPr/>
        <p:txBody>
          <a:bodyPr/>
          <a:lstStyle/>
          <a:p>
            <a:fld id="{0AEE56C5-82CC-4346-8FC2-43B07026B0E6}" type="slidenum">
              <a:rPr lang="en-SG" smtClean="0"/>
              <a:t>‹#›</a:t>
            </a:fld>
            <a:endParaRPr lang="en-SG"/>
          </a:p>
        </p:txBody>
      </p:sp>
    </p:spTree>
    <p:extLst>
      <p:ext uri="{BB962C8B-B14F-4D97-AF65-F5344CB8AC3E}">
        <p14:creationId xmlns:p14="http://schemas.microsoft.com/office/powerpoint/2010/main" val="37232518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83291-678F-49F9-8B09-58A5CA8B8038}"/>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4412E4CD-E1FB-43AE-A0A1-188617E2B4F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5CE528DF-BF2B-4023-A027-E26AA711DE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B72A782D-45A5-4092-8850-4A46E6A120EC}"/>
              </a:ext>
            </a:extLst>
          </p:cNvPr>
          <p:cNvSpPr>
            <a:spLocks noGrp="1"/>
          </p:cNvSpPr>
          <p:nvPr>
            <p:ph type="dt" sz="half" idx="10"/>
          </p:nvPr>
        </p:nvSpPr>
        <p:spPr/>
        <p:txBody>
          <a:bodyPr/>
          <a:lstStyle/>
          <a:p>
            <a:fld id="{651E1282-269A-4B9B-95E8-5DA08DEDC262}" type="datetimeFigureOut">
              <a:rPr lang="en-SG" smtClean="0"/>
              <a:t>9/9/2021</a:t>
            </a:fld>
            <a:endParaRPr lang="en-SG"/>
          </a:p>
        </p:txBody>
      </p:sp>
      <p:sp>
        <p:nvSpPr>
          <p:cNvPr id="6" name="Footer Placeholder 5">
            <a:extLst>
              <a:ext uri="{FF2B5EF4-FFF2-40B4-BE49-F238E27FC236}">
                <a16:creationId xmlns:a16="http://schemas.microsoft.com/office/drawing/2014/main" id="{8FF45952-30B7-4146-A89D-58AAD665A47F}"/>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598A4875-7EB3-48CD-BD8F-4F9BED1A4E74}"/>
              </a:ext>
            </a:extLst>
          </p:cNvPr>
          <p:cNvSpPr>
            <a:spLocks noGrp="1"/>
          </p:cNvSpPr>
          <p:nvPr>
            <p:ph type="sldNum" sz="quarter" idx="12"/>
          </p:nvPr>
        </p:nvSpPr>
        <p:spPr/>
        <p:txBody>
          <a:bodyPr/>
          <a:lstStyle/>
          <a:p>
            <a:fld id="{0AEE56C5-82CC-4346-8FC2-43B07026B0E6}" type="slidenum">
              <a:rPr lang="en-SG" smtClean="0"/>
              <a:t>‹#›</a:t>
            </a:fld>
            <a:endParaRPr lang="en-SG"/>
          </a:p>
        </p:txBody>
      </p:sp>
    </p:spTree>
    <p:extLst>
      <p:ext uri="{BB962C8B-B14F-4D97-AF65-F5344CB8AC3E}">
        <p14:creationId xmlns:p14="http://schemas.microsoft.com/office/powerpoint/2010/main" val="344651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E876F-5669-43C5-8424-674E53652847}"/>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C81C0047-9D21-4419-B798-07273BDF3A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C62B74-86C0-4368-9826-E3C0ED63084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9FDAB20B-1CF2-4E37-AFC1-3945CA3310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92C0A0-92E8-4CEF-8E3E-B03B3A2893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C70E705A-F633-4D96-9288-E78E209B8F08}"/>
              </a:ext>
            </a:extLst>
          </p:cNvPr>
          <p:cNvSpPr>
            <a:spLocks noGrp="1"/>
          </p:cNvSpPr>
          <p:nvPr>
            <p:ph type="dt" sz="half" idx="10"/>
          </p:nvPr>
        </p:nvSpPr>
        <p:spPr/>
        <p:txBody>
          <a:bodyPr/>
          <a:lstStyle/>
          <a:p>
            <a:fld id="{651E1282-269A-4B9B-95E8-5DA08DEDC262}" type="datetimeFigureOut">
              <a:rPr lang="en-SG" smtClean="0"/>
              <a:t>9/9/2021</a:t>
            </a:fld>
            <a:endParaRPr lang="en-SG"/>
          </a:p>
        </p:txBody>
      </p:sp>
      <p:sp>
        <p:nvSpPr>
          <p:cNvPr id="8" name="Footer Placeholder 7">
            <a:extLst>
              <a:ext uri="{FF2B5EF4-FFF2-40B4-BE49-F238E27FC236}">
                <a16:creationId xmlns:a16="http://schemas.microsoft.com/office/drawing/2014/main" id="{BDACCC82-8A59-4E38-9EC6-79CA3BA8147D}"/>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E3E2CD85-7F07-431B-B6CC-BBC4F2FF7894}"/>
              </a:ext>
            </a:extLst>
          </p:cNvPr>
          <p:cNvSpPr>
            <a:spLocks noGrp="1"/>
          </p:cNvSpPr>
          <p:nvPr>
            <p:ph type="sldNum" sz="quarter" idx="12"/>
          </p:nvPr>
        </p:nvSpPr>
        <p:spPr/>
        <p:txBody>
          <a:bodyPr/>
          <a:lstStyle/>
          <a:p>
            <a:fld id="{0AEE56C5-82CC-4346-8FC2-43B07026B0E6}" type="slidenum">
              <a:rPr lang="en-SG" smtClean="0"/>
              <a:t>‹#›</a:t>
            </a:fld>
            <a:endParaRPr lang="en-SG"/>
          </a:p>
        </p:txBody>
      </p:sp>
    </p:spTree>
    <p:extLst>
      <p:ext uri="{BB962C8B-B14F-4D97-AF65-F5344CB8AC3E}">
        <p14:creationId xmlns:p14="http://schemas.microsoft.com/office/powerpoint/2010/main" val="24017851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90B36-2D5A-4129-B858-1E3451F49C80}"/>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D9E14C74-721B-4160-AB9C-70073D650C40}"/>
              </a:ext>
            </a:extLst>
          </p:cNvPr>
          <p:cNvSpPr>
            <a:spLocks noGrp="1"/>
          </p:cNvSpPr>
          <p:nvPr>
            <p:ph type="dt" sz="half" idx="10"/>
          </p:nvPr>
        </p:nvSpPr>
        <p:spPr/>
        <p:txBody>
          <a:bodyPr/>
          <a:lstStyle/>
          <a:p>
            <a:fld id="{651E1282-269A-4B9B-95E8-5DA08DEDC262}" type="datetimeFigureOut">
              <a:rPr lang="en-SG" smtClean="0"/>
              <a:t>9/9/2021</a:t>
            </a:fld>
            <a:endParaRPr lang="en-SG"/>
          </a:p>
        </p:txBody>
      </p:sp>
      <p:sp>
        <p:nvSpPr>
          <p:cNvPr id="4" name="Footer Placeholder 3">
            <a:extLst>
              <a:ext uri="{FF2B5EF4-FFF2-40B4-BE49-F238E27FC236}">
                <a16:creationId xmlns:a16="http://schemas.microsoft.com/office/drawing/2014/main" id="{A2B841B9-9440-4E82-ABDE-44B4FB867A73}"/>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5E324E79-6166-45D4-955A-0B77C4E8B18B}"/>
              </a:ext>
            </a:extLst>
          </p:cNvPr>
          <p:cNvSpPr>
            <a:spLocks noGrp="1"/>
          </p:cNvSpPr>
          <p:nvPr>
            <p:ph type="sldNum" sz="quarter" idx="12"/>
          </p:nvPr>
        </p:nvSpPr>
        <p:spPr/>
        <p:txBody>
          <a:bodyPr/>
          <a:lstStyle/>
          <a:p>
            <a:fld id="{0AEE56C5-82CC-4346-8FC2-43B07026B0E6}" type="slidenum">
              <a:rPr lang="en-SG" smtClean="0"/>
              <a:t>‹#›</a:t>
            </a:fld>
            <a:endParaRPr lang="en-SG"/>
          </a:p>
        </p:txBody>
      </p:sp>
    </p:spTree>
    <p:extLst>
      <p:ext uri="{BB962C8B-B14F-4D97-AF65-F5344CB8AC3E}">
        <p14:creationId xmlns:p14="http://schemas.microsoft.com/office/powerpoint/2010/main" val="15029756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170650-B343-40F6-A724-61349BE3C46A}"/>
              </a:ext>
            </a:extLst>
          </p:cNvPr>
          <p:cNvSpPr>
            <a:spLocks noGrp="1"/>
          </p:cNvSpPr>
          <p:nvPr>
            <p:ph type="dt" sz="half" idx="10"/>
          </p:nvPr>
        </p:nvSpPr>
        <p:spPr/>
        <p:txBody>
          <a:bodyPr/>
          <a:lstStyle/>
          <a:p>
            <a:fld id="{651E1282-269A-4B9B-95E8-5DA08DEDC262}" type="datetimeFigureOut">
              <a:rPr lang="en-SG" smtClean="0"/>
              <a:t>9/9/2021</a:t>
            </a:fld>
            <a:endParaRPr lang="en-SG"/>
          </a:p>
        </p:txBody>
      </p:sp>
      <p:sp>
        <p:nvSpPr>
          <p:cNvPr id="3" name="Footer Placeholder 2">
            <a:extLst>
              <a:ext uri="{FF2B5EF4-FFF2-40B4-BE49-F238E27FC236}">
                <a16:creationId xmlns:a16="http://schemas.microsoft.com/office/drawing/2014/main" id="{8F6FEDE7-1ADD-49A5-9B24-756826DB9606}"/>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0CF9AAA2-98E6-4A0A-B13C-5F743C5BF618}"/>
              </a:ext>
            </a:extLst>
          </p:cNvPr>
          <p:cNvSpPr>
            <a:spLocks noGrp="1"/>
          </p:cNvSpPr>
          <p:nvPr>
            <p:ph type="sldNum" sz="quarter" idx="12"/>
          </p:nvPr>
        </p:nvSpPr>
        <p:spPr/>
        <p:txBody>
          <a:bodyPr/>
          <a:lstStyle/>
          <a:p>
            <a:fld id="{0AEE56C5-82CC-4346-8FC2-43B07026B0E6}" type="slidenum">
              <a:rPr lang="en-SG" smtClean="0"/>
              <a:t>‹#›</a:t>
            </a:fld>
            <a:endParaRPr lang="en-SG"/>
          </a:p>
        </p:txBody>
      </p:sp>
    </p:spTree>
    <p:extLst>
      <p:ext uri="{BB962C8B-B14F-4D97-AF65-F5344CB8AC3E}">
        <p14:creationId xmlns:p14="http://schemas.microsoft.com/office/powerpoint/2010/main" val="13577640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FFE7E-1B78-4FB4-9AFE-5028CC5979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949A652E-9CAA-4171-8F10-959E9F4548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E18BC5CD-E280-49AB-AFAC-67A34D802D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71B71C-5919-4BD1-A565-90497DD63CCB}"/>
              </a:ext>
            </a:extLst>
          </p:cNvPr>
          <p:cNvSpPr>
            <a:spLocks noGrp="1"/>
          </p:cNvSpPr>
          <p:nvPr>
            <p:ph type="dt" sz="half" idx="10"/>
          </p:nvPr>
        </p:nvSpPr>
        <p:spPr/>
        <p:txBody>
          <a:bodyPr/>
          <a:lstStyle/>
          <a:p>
            <a:fld id="{651E1282-269A-4B9B-95E8-5DA08DEDC262}" type="datetimeFigureOut">
              <a:rPr lang="en-SG" smtClean="0"/>
              <a:t>9/9/2021</a:t>
            </a:fld>
            <a:endParaRPr lang="en-SG"/>
          </a:p>
        </p:txBody>
      </p:sp>
      <p:sp>
        <p:nvSpPr>
          <p:cNvPr id="6" name="Footer Placeholder 5">
            <a:extLst>
              <a:ext uri="{FF2B5EF4-FFF2-40B4-BE49-F238E27FC236}">
                <a16:creationId xmlns:a16="http://schemas.microsoft.com/office/drawing/2014/main" id="{DF779F23-342B-484B-8120-10B1E5C94E06}"/>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C59868FC-9C16-4AAC-A93D-9B71096FA01E}"/>
              </a:ext>
            </a:extLst>
          </p:cNvPr>
          <p:cNvSpPr>
            <a:spLocks noGrp="1"/>
          </p:cNvSpPr>
          <p:nvPr>
            <p:ph type="sldNum" sz="quarter" idx="12"/>
          </p:nvPr>
        </p:nvSpPr>
        <p:spPr/>
        <p:txBody>
          <a:bodyPr/>
          <a:lstStyle/>
          <a:p>
            <a:fld id="{0AEE56C5-82CC-4346-8FC2-43B07026B0E6}" type="slidenum">
              <a:rPr lang="en-SG" smtClean="0"/>
              <a:t>‹#›</a:t>
            </a:fld>
            <a:endParaRPr lang="en-SG"/>
          </a:p>
        </p:txBody>
      </p:sp>
    </p:spTree>
    <p:extLst>
      <p:ext uri="{BB962C8B-B14F-4D97-AF65-F5344CB8AC3E}">
        <p14:creationId xmlns:p14="http://schemas.microsoft.com/office/powerpoint/2010/main" val="36522463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EFF21-0604-48BC-83F3-DA36FFDD1E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341A83E7-0595-4D46-8E2F-B5FB4318BB3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131B1D91-16F4-4128-94E6-B45C4EE0D1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797F98-C78F-4484-9612-D87EC7BED225}"/>
              </a:ext>
            </a:extLst>
          </p:cNvPr>
          <p:cNvSpPr>
            <a:spLocks noGrp="1"/>
          </p:cNvSpPr>
          <p:nvPr>
            <p:ph type="dt" sz="half" idx="10"/>
          </p:nvPr>
        </p:nvSpPr>
        <p:spPr/>
        <p:txBody>
          <a:bodyPr/>
          <a:lstStyle/>
          <a:p>
            <a:fld id="{651E1282-269A-4B9B-95E8-5DA08DEDC262}" type="datetimeFigureOut">
              <a:rPr lang="en-SG" smtClean="0"/>
              <a:t>9/9/2021</a:t>
            </a:fld>
            <a:endParaRPr lang="en-SG"/>
          </a:p>
        </p:txBody>
      </p:sp>
      <p:sp>
        <p:nvSpPr>
          <p:cNvPr id="6" name="Footer Placeholder 5">
            <a:extLst>
              <a:ext uri="{FF2B5EF4-FFF2-40B4-BE49-F238E27FC236}">
                <a16:creationId xmlns:a16="http://schemas.microsoft.com/office/drawing/2014/main" id="{D371F272-B46E-456A-8C73-7A9707391107}"/>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469E4B28-2386-46B1-B911-63A80809433B}"/>
              </a:ext>
            </a:extLst>
          </p:cNvPr>
          <p:cNvSpPr>
            <a:spLocks noGrp="1"/>
          </p:cNvSpPr>
          <p:nvPr>
            <p:ph type="sldNum" sz="quarter" idx="12"/>
          </p:nvPr>
        </p:nvSpPr>
        <p:spPr/>
        <p:txBody>
          <a:bodyPr/>
          <a:lstStyle/>
          <a:p>
            <a:fld id="{0AEE56C5-82CC-4346-8FC2-43B07026B0E6}" type="slidenum">
              <a:rPr lang="en-SG" smtClean="0"/>
              <a:t>‹#›</a:t>
            </a:fld>
            <a:endParaRPr lang="en-SG"/>
          </a:p>
        </p:txBody>
      </p:sp>
    </p:spTree>
    <p:extLst>
      <p:ext uri="{BB962C8B-B14F-4D97-AF65-F5344CB8AC3E}">
        <p14:creationId xmlns:p14="http://schemas.microsoft.com/office/powerpoint/2010/main" val="26826345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14475-DF84-4D39-8884-3DEAB7C4D799}"/>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19545BFB-D990-47B4-888F-2496ACF3AD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C65AA480-B1B6-40C6-86CD-957941AE1D8B}"/>
              </a:ext>
            </a:extLst>
          </p:cNvPr>
          <p:cNvSpPr>
            <a:spLocks noGrp="1"/>
          </p:cNvSpPr>
          <p:nvPr>
            <p:ph type="dt" sz="half" idx="10"/>
          </p:nvPr>
        </p:nvSpPr>
        <p:spPr/>
        <p:txBody>
          <a:bodyPr/>
          <a:lstStyle/>
          <a:p>
            <a:fld id="{651E1282-269A-4B9B-95E8-5DA08DEDC262}" type="datetimeFigureOut">
              <a:rPr lang="en-SG" smtClean="0"/>
              <a:t>9/9/2021</a:t>
            </a:fld>
            <a:endParaRPr lang="en-SG"/>
          </a:p>
        </p:txBody>
      </p:sp>
      <p:sp>
        <p:nvSpPr>
          <p:cNvPr id="5" name="Footer Placeholder 4">
            <a:extLst>
              <a:ext uri="{FF2B5EF4-FFF2-40B4-BE49-F238E27FC236}">
                <a16:creationId xmlns:a16="http://schemas.microsoft.com/office/drawing/2014/main" id="{AD88D34B-5C26-4E96-8368-8EEFA5A369BC}"/>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21501CDC-3A7E-4144-9A0A-CB03BFDAA20D}"/>
              </a:ext>
            </a:extLst>
          </p:cNvPr>
          <p:cNvSpPr>
            <a:spLocks noGrp="1"/>
          </p:cNvSpPr>
          <p:nvPr>
            <p:ph type="sldNum" sz="quarter" idx="12"/>
          </p:nvPr>
        </p:nvSpPr>
        <p:spPr/>
        <p:txBody>
          <a:bodyPr/>
          <a:lstStyle/>
          <a:p>
            <a:fld id="{0AEE56C5-82CC-4346-8FC2-43B07026B0E6}" type="slidenum">
              <a:rPr lang="en-SG" smtClean="0"/>
              <a:t>‹#›</a:t>
            </a:fld>
            <a:endParaRPr lang="en-SG"/>
          </a:p>
        </p:txBody>
      </p:sp>
    </p:spTree>
    <p:extLst>
      <p:ext uri="{BB962C8B-B14F-4D97-AF65-F5344CB8AC3E}">
        <p14:creationId xmlns:p14="http://schemas.microsoft.com/office/powerpoint/2010/main" val="4022278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6E5420-C18A-4168-A725-BEBBE437326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B2E6CD4F-1C0F-493E-BFF4-53AE23874E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C154E5A9-C961-4C72-A21D-2E6758DD28A3}"/>
              </a:ext>
            </a:extLst>
          </p:cNvPr>
          <p:cNvSpPr>
            <a:spLocks noGrp="1"/>
          </p:cNvSpPr>
          <p:nvPr>
            <p:ph type="dt" sz="half" idx="10"/>
          </p:nvPr>
        </p:nvSpPr>
        <p:spPr/>
        <p:txBody>
          <a:bodyPr/>
          <a:lstStyle/>
          <a:p>
            <a:fld id="{651E1282-269A-4B9B-95E8-5DA08DEDC262}" type="datetimeFigureOut">
              <a:rPr lang="en-SG" smtClean="0"/>
              <a:t>9/9/2021</a:t>
            </a:fld>
            <a:endParaRPr lang="en-SG"/>
          </a:p>
        </p:txBody>
      </p:sp>
      <p:sp>
        <p:nvSpPr>
          <p:cNvPr id="5" name="Footer Placeholder 4">
            <a:extLst>
              <a:ext uri="{FF2B5EF4-FFF2-40B4-BE49-F238E27FC236}">
                <a16:creationId xmlns:a16="http://schemas.microsoft.com/office/drawing/2014/main" id="{FE137B07-47ED-4D4D-9742-AFEA443B69DE}"/>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B6C58818-C75F-4535-9091-85B76051A0B7}"/>
              </a:ext>
            </a:extLst>
          </p:cNvPr>
          <p:cNvSpPr>
            <a:spLocks noGrp="1"/>
          </p:cNvSpPr>
          <p:nvPr>
            <p:ph type="sldNum" sz="quarter" idx="12"/>
          </p:nvPr>
        </p:nvSpPr>
        <p:spPr/>
        <p:txBody>
          <a:bodyPr/>
          <a:lstStyle/>
          <a:p>
            <a:fld id="{0AEE56C5-82CC-4346-8FC2-43B07026B0E6}" type="slidenum">
              <a:rPr lang="en-SG" smtClean="0"/>
              <a:t>‹#›</a:t>
            </a:fld>
            <a:endParaRPr lang="en-SG"/>
          </a:p>
        </p:txBody>
      </p:sp>
    </p:spTree>
    <p:extLst>
      <p:ext uri="{BB962C8B-B14F-4D97-AF65-F5344CB8AC3E}">
        <p14:creationId xmlns:p14="http://schemas.microsoft.com/office/powerpoint/2010/main" val="17760327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6CDC33-2499-4F60-A5A2-77A758CFDF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373EA8A7-8B90-4B17-8C7C-92418C64C8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266C73B2-80BE-4D09-AAF7-770D2B5AFD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1E1282-269A-4B9B-95E8-5DA08DEDC262}" type="datetimeFigureOut">
              <a:rPr lang="en-SG" smtClean="0"/>
              <a:t>9/9/2021</a:t>
            </a:fld>
            <a:endParaRPr lang="en-SG"/>
          </a:p>
        </p:txBody>
      </p:sp>
      <p:sp>
        <p:nvSpPr>
          <p:cNvPr id="5" name="Footer Placeholder 4">
            <a:extLst>
              <a:ext uri="{FF2B5EF4-FFF2-40B4-BE49-F238E27FC236}">
                <a16:creationId xmlns:a16="http://schemas.microsoft.com/office/drawing/2014/main" id="{2072B5BB-BE2C-407D-A55D-CD9436D33F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59F131DA-D243-43D2-8606-9E7D96A4A5D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EE56C5-82CC-4346-8FC2-43B07026B0E6}" type="slidenum">
              <a:rPr lang="en-SG" smtClean="0"/>
              <a:t>‹#›</a:t>
            </a:fld>
            <a:endParaRPr lang="en-SG"/>
          </a:p>
        </p:txBody>
      </p:sp>
    </p:spTree>
    <p:extLst>
      <p:ext uri="{BB962C8B-B14F-4D97-AF65-F5344CB8AC3E}">
        <p14:creationId xmlns:p14="http://schemas.microsoft.com/office/powerpoint/2010/main" val="39529442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0DC38-DFAC-4529-8FC8-739ED6EC4438}"/>
              </a:ext>
            </a:extLst>
          </p:cNvPr>
          <p:cNvSpPr>
            <a:spLocks noGrp="1"/>
          </p:cNvSpPr>
          <p:nvPr>
            <p:ph type="ctrTitle"/>
          </p:nvPr>
        </p:nvSpPr>
        <p:spPr/>
        <p:txBody>
          <a:bodyPr>
            <a:normAutofit/>
          </a:bodyPr>
          <a:lstStyle/>
          <a:p>
            <a:r>
              <a:rPr lang="en-SG" sz="3600" dirty="0">
                <a:effectLst/>
                <a:latin typeface="Times New Roman" panose="02020603050405020304" pitchFamily="18" charset="0"/>
                <a:ea typeface="Calibri" panose="020F0502020204030204" pitchFamily="34" charset="0"/>
                <a:cs typeface="Times New Roman" panose="02020603050405020304" pitchFamily="18" charset="0"/>
              </a:rPr>
              <a:t>The monolithic scenario, Microservices</a:t>
            </a:r>
            <a:endParaRPr lang="en-SG" sz="36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6492FD3C-FE3B-4F0A-9ABD-FA13E1864430}"/>
              </a:ext>
            </a:extLst>
          </p:cNvPr>
          <p:cNvSpPr>
            <a:spLocks noGrp="1"/>
          </p:cNvSpPr>
          <p:nvPr>
            <p:ph type="subTitle" idx="1"/>
          </p:nvPr>
        </p:nvSpPr>
        <p:spPr/>
        <p:txBody>
          <a:bodyPr/>
          <a:lstStyle/>
          <a:p>
            <a:endParaRPr lang="en-SG" dirty="0"/>
          </a:p>
        </p:txBody>
      </p:sp>
    </p:spTree>
    <p:extLst>
      <p:ext uri="{BB962C8B-B14F-4D97-AF65-F5344CB8AC3E}">
        <p14:creationId xmlns:p14="http://schemas.microsoft.com/office/powerpoint/2010/main" val="2069986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Microservice-vs-Monolithic">
            <a:extLst>
              <a:ext uri="{FF2B5EF4-FFF2-40B4-BE49-F238E27FC236}">
                <a16:creationId xmlns:a16="http://schemas.microsoft.com/office/drawing/2014/main" id="{CF345ADC-6386-47FE-A38F-A64435EC871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SG"/>
          </a:p>
        </p:txBody>
      </p:sp>
      <p:pic>
        <p:nvPicPr>
          <p:cNvPr id="4" name="Picture 3">
            <a:extLst>
              <a:ext uri="{FF2B5EF4-FFF2-40B4-BE49-F238E27FC236}">
                <a16:creationId xmlns:a16="http://schemas.microsoft.com/office/drawing/2014/main" id="{140C6435-7419-44DA-A33B-110BBD5B045A}"/>
              </a:ext>
            </a:extLst>
          </p:cNvPr>
          <p:cNvPicPr>
            <a:picLocks noChangeAspect="1"/>
          </p:cNvPicPr>
          <p:nvPr/>
        </p:nvPicPr>
        <p:blipFill>
          <a:blip r:embed="rId2"/>
          <a:stretch>
            <a:fillRect/>
          </a:stretch>
        </p:blipFill>
        <p:spPr>
          <a:xfrm>
            <a:off x="649358" y="1017164"/>
            <a:ext cx="11277600" cy="5357131"/>
          </a:xfrm>
          <a:prstGeom prst="rect">
            <a:avLst/>
          </a:prstGeom>
        </p:spPr>
      </p:pic>
    </p:spTree>
    <p:extLst>
      <p:ext uri="{BB962C8B-B14F-4D97-AF65-F5344CB8AC3E}">
        <p14:creationId xmlns:p14="http://schemas.microsoft.com/office/powerpoint/2010/main" val="30603257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CD42C95-E86F-481B-85CB-BFA71B173115}"/>
              </a:ext>
            </a:extLst>
          </p:cNvPr>
          <p:cNvSpPr txBox="1"/>
          <p:nvPr/>
        </p:nvSpPr>
        <p:spPr>
          <a:xfrm>
            <a:off x="218114" y="251670"/>
            <a:ext cx="11794921" cy="4524315"/>
          </a:xfrm>
          <a:prstGeom prst="rect">
            <a:avLst/>
          </a:prstGeom>
          <a:noFill/>
        </p:spPr>
        <p:txBody>
          <a:bodyPr wrap="square">
            <a:spAutoFit/>
          </a:bodyPr>
          <a:lstStyle/>
          <a:p>
            <a:pPr algn="l"/>
            <a:r>
              <a:rPr lang="en-US" b="1" i="0" dirty="0">
                <a:solidFill>
                  <a:srgbClr val="232C39"/>
                </a:solidFill>
                <a:effectLst/>
                <a:latin typeface="Nunito Sans"/>
              </a:rPr>
              <a:t>What is Monolithic Architecture?</a:t>
            </a:r>
          </a:p>
          <a:p>
            <a:pPr algn="l"/>
            <a:r>
              <a:rPr lang="en-US" b="0" i="0" dirty="0">
                <a:solidFill>
                  <a:srgbClr val="4D5968"/>
                </a:solidFill>
                <a:effectLst/>
                <a:latin typeface="Nunito Sans"/>
              </a:rPr>
              <a:t>The Monolithic Architecture is regarded as the conventional method of application development. An application in Monolithic architecture is developed as a single package. The development of a normal application starts with modular layered or hexagonal architecture. This architecture is made up of different types of layers as follows:</a:t>
            </a:r>
          </a:p>
          <a:p>
            <a:pPr algn="l"/>
            <a:endParaRPr lang="en-US" b="0" i="0" dirty="0">
              <a:solidFill>
                <a:srgbClr val="4D5968"/>
              </a:solidFill>
              <a:effectLst/>
              <a:latin typeface="Nunito Sans"/>
            </a:endParaRPr>
          </a:p>
          <a:p>
            <a:pPr algn="l">
              <a:buFont typeface="Arial" panose="020B0604020202020204" pitchFamily="34" charset="0"/>
              <a:buChar char="•"/>
            </a:pPr>
            <a:r>
              <a:rPr lang="en-US" b="1" i="0" dirty="0">
                <a:solidFill>
                  <a:srgbClr val="4D5968"/>
                </a:solidFill>
                <a:effectLst/>
                <a:latin typeface="Nunito Sans"/>
              </a:rPr>
              <a:t>Presentation Layer:</a:t>
            </a:r>
            <a:r>
              <a:rPr lang="en-US" b="0" i="0" dirty="0">
                <a:solidFill>
                  <a:srgbClr val="4D5968"/>
                </a:solidFill>
                <a:effectLst/>
                <a:latin typeface="Nunito Sans"/>
              </a:rPr>
              <a:t> The Graphic User Interface layer handles the Hypertext Transfer Protocol (HTTP) requests using HTML or XML/JSON.</a:t>
            </a:r>
          </a:p>
          <a:p>
            <a:pPr algn="l">
              <a:buFont typeface="Arial" panose="020B0604020202020204" pitchFamily="34" charset="0"/>
              <a:buChar char="•"/>
            </a:pPr>
            <a:endParaRPr lang="en-US" b="0" i="0" dirty="0">
              <a:solidFill>
                <a:srgbClr val="4D5968"/>
              </a:solidFill>
              <a:effectLst/>
              <a:latin typeface="Nunito Sans"/>
            </a:endParaRPr>
          </a:p>
          <a:p>
            <a:pPr algn="l">
              <a:buFont typeface="Arial" panose="020B0604020202020204" pitchFamily="34" charset="0"/>
              <a:buChar char="•"/>
            </a:pPr>
            <a:r>
              <a:rPr lang="en-US" b="1" i="0" dirty="0">
                <a:solidFill>
                  <a:srgbClr val="4D5968"/>
                </a:solidFill>
                <a:effectLst/>
                <a:latin typeface="Nunito Sans"/>
              </a:rPr>
              <a:t>Business Logic Layer:</a:t>
            </a:r>
            <a:r>
              <a:rPr lang="en-US" b="0" i="0" dirty="0">
                <a:solidFill>
                  <a:srgbClr val="4D5968"/>
                </a:solidFill>
                <a:effectLst/>
                <a:latin typeface="Nunito Sans"/>
              </a:rPr>
              <a:t> The business logic of the application is present in this layer.</a:t>
            </a:r>
          </a:p>
          <a:p>
            <a:pPr algn="l">
              <a:buFont typeface="Arial" panose="020B0604020202020204" pitchFamily="34" charset="0"/>
              <a:buChar char="•"/>
            </a:pPr>
            <a:endParaRPr lang="en-US" b="0" i="0" dirty="0">
              <a:solidFill>
                <a:srgbClr val="4D5968"/>
              </a:solidFill>
              <a:effectLst/>
              <a:latin typeface="Nunito Sans"/>
            </a:endParaRPr>
          </a:p>
          <a:p>
            <a:pPr algn="l">
              <a:buFont typeface="Arial" panose="020B0604020202020204" pitchFamily="34" charset="0"/>
              <a:buChar char="•"/>
            </a:pPr>
            <a:r>
              <a:rPr lang="en-US" b="1" i="0" dirty="0">
                <a:solidFill>
                  <a:srgbClr val="4D5968"/>
                </a:solidFill>
                <a:effectLst/>
                <a:latin typeface="Nunito Sans"/>
              </a:rPr>
              <a:t>Database Access Layer:</a:t>
            </a:r>
            <a:r>
              <a:rPr lang="en-US" b="0" i="0" dirty="0">
                <a:solidFill>
                  <a:srgbClr val="4D5968"/>
                </a:solidFill>
                <a:effectLst/>
                <a:latin typeface="Nunito Sans"/>
              </a:rPr>
              <a:t> All the database accesses, including both SQL and NoSQL, of the applications, happens in this layer.</a:t>
            </a:r>
          </a:p>
          <a:p>
            <a:pPr algn="l">
              <a:buFont typeface="Arial" panose="020B0604020202020204" pitchFamily="34" charset="0"/>
              <a:buChar char="•"/>
            </a:pPr>
            <a:endParaRPr lang="en-US" b="0" i="0" dirty="0">
              <a:solidFill>
                <a:srgbClr val="4D5968"/>
              </a:solidFill>
              <a:effectLst/>
              <a:latin typeface="Nunito Sans"/>
            </a:endParaRPr>
          </a:p>
          <a:p>
            <a:pPr algn="l">
              <a:buFont typeface="Arial" panose="020B0604020202020204" pitchFamily="34" charset="0"/>
              <a:buChar char="•"/>
            </a:pPr>
            <a:r>
              <a:rPr lang="en-US" b="1" i="0" dirty="0">
                <a:solidFill>
                  <a:srgbClr val="4D5968"/>
                </a:solidFill>
                <a:effectLst/>
                <a:latin typeface="Nunito Sans"/>
              </a:rPr>
              <a:t>Application Integration Layer</a:t>
            </a:r>
            <a:r>
              <a:rPr lang="en-US" b="0" i="0" dirty="0">
                <a:solidFill>
                  <a:srgbClr val="4D5968"/>
                </a:solidFill>
                <a:effectLst/>
                <a:latin typeface="Nunito Sans"/>
              </a:rPr>
              <a:t>: All software integrations with other systems happen in this layer.</a:t>
            </a:r>
          </a:p>
          <a:p>
            <a:pPr algn="l"/>
            <a:endParaRPr lang="en-US" b="0" i="0" dirty="0">
              <a:solidFill>
                <a:srgbClr val="4D5968"/>
              </a:solidFill>
              <a:effectLst/>
              <a:latin typeface="Nunito Sans"/>
            </a:endParaRPr>
          </a:p>
          <a:p>
            <a:pPr algn="l"/>
            <a:r>
              <a:rPr lang="en-US" b="0" i="0" dirty="0">
                <a:solidFill>
                  <a:srgbClr val="4D5968"/>
                </a:solidFill>
                <a:effectLst/>
                <a:latin typeface="Nunito Sans"/>
              </a:rPr>
              <a:t>Even though Monolithic Architecture has a logical layered architecture, the final applications will be packaged into a single monolith and then deployed. Monolithic applications lack proper modularity, and it has only a single code base.</a:t>
            </a:r>
          </a:p>
        </p:txBody>
      </p:sp>
    </p:spTree>
    <p:extLst>
      <p:ext uri="{BB962C8B-B14F-4D97-AF65-F5344CB8AC3E}">
        <p14:creationId xmlns:p14="http://schemas.microsoft.com/office/powerpoint/2010/main" val="34789357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7CEF74F-A8C0-4E23-85BF-1C25AD89ABB1}"/>
              </a:ext>
            </a:extLst>
          </p:cNvPr>
          <p:cNvSpPr txBox="1"/>
          <p:nvPr/>
        </p:nvSpPr>
        <p:spPr>
          <a:xfrm>
            <a:off x="132522" y="0"/>
            <a:ext cx="11553341" cy="6463308"/>
          </a:xfrm>
          <a:prstGeom prst="rect">
            <a:avLst/>
          </a:prstGeom>
          <a:noFill/>
        </p:spPr>
        <p:txBody>
          <a:bodyPr wrap="square">
            <a:spAutoFit/>
          </a:bodyPr>
          <a:lstStyle/>
          <a:p>
            <a:pPr algn="l"/>
            <a:r>
              <a:rPr lang="en-US" b="1" i="0" dirty="0">
                <a:solidFill>
                  <a:srgbClr val="232C39"/>
                </a:solidFill>
                <a:effectLst/>
                <a:latin typeface="Nunito Sans"/>
              </a:rPr>
              <a:t>What is a Microservice Architecture?</a:t>
            </a:r>
          </a:p>
          <a:p>
            <a:pPr algn="l"/>
            <a:endParaRPr lang="en-US" b="1" i="0" dirty="0">
              <a:solidFill>
                <a:srgbClr val="232C39"/>
              </a:solidFill>
              <a:effectLst/>
              <a:latin typeface="Nunito Sans"/>
            </a:endParaRPr>
          </a:p>
          <a:p>
            <a:pPr marL="285750" indent="-285750" algn="l">
              <a:buFont typeface="Wingdings" panose="05000000000000000000" pitchFamily="2" charset="2"/>
              <a:buChar char="Ø"/>
            </a:pPr>
            <a:r>
              <a:rPr lang="en-US" b="0" i="0" dirty="0">
                <a:solidFill>
                  <a:srgbClr val="4D5968"/>
                </a:solidFill>
                <a:effectLst/>
                <a:latin typeface="Nunito Sans"/>
              </a:rPr>
              <a:t>On the other hand, Microservice architecture follows a modular approach to develop various applications. </a:t>
            </a:r>
          </a:p>
          <a:p>
            <a:pPr marL="285750" indent="-285750" algn="l">
              <a:buFont typeface="Wingdings" panose="05000000000000000000" pitchFamily="2" charset="2"/>
              <a:buChar char="Ø"/>
            </a:pPr>
            <a:endParaRPr lang="en-US" dirty="0">
              <a:solidFill>
                <a:srgbClr val="4D5968"/>
              </a:solidFill>
              <a:latin typeface="Nunito Sans"/>
            </a:endParaRPr>
          </a:p>
          <a:p>
            <a:pPr marL="285750" indent="-285750" algn="l">
              <a:buFont typeface="Wingdings" panose="05000000000000000000" pitchFamily="2" charset="2"/>
              <a:buChar char="Ø"/>
            </a:pPr>
            <a:r>
              <a:rPr lang="en-US" b="0" i="0" dirty="0">
                <a:solidFill>
                  <a:srgbClr val="4D5968"/>
                </a:solidFill>
                <a:effectLst/>
                <a:latin typeface="Nunito Sans"/>
              </a:rPr>
              <a:t>A Microservice Architecture comprises a set of small, independent, and autonomous modules which does various services. </a:t>
            </a:r>
          </a:p>
          <a:p>
            <a:pPr marL="285750" indent="-285750" algn="l">
              <a:buFont typeface="Wingdings" panose="05000000000000000000" pitchFamily="2" charset="2"/>
              <a:buChar char="Ø"/>
            </a:pPr>
            <a:endParaRPr lang="en-US" dirty="0">
              <a:solidFill>
                <a:srgbClr val="4D5968"/>
              </a:solidFill>
              <a:latin typeface="Nunito Sans"/>
            </a:endParaRPr>
          </a:p>
          <a:p>
            <a:pPr marL="285750" indent="-285750" algn="l">
              <a:buFont typeface="Wingdings" panose="05000000000000000000" pitchFamily="2" charset="2"/>
              <a:buChar char="Ø"/>
            </a:pPr>
            <a:r>
              <a:rPr lang="en-US" b="0" i="0" dirty="0">
                <a:solidFill>
                  <a:srgbClr val="4D5968"/>
                </a:solidFill>
                <a:effectLst/>
                <a:latin typeface="Nunito Sans"/>
              </a:rPr>
              <a:t>Every service should have the capability of independent implementation of its corresponding business units. Monolithic architecture is a single unit. </a:t>
            </a:r>
          </a:p>
          <a:p>
            <a:pPr marL="285750" indent="-285750" algn="l">
              <a:buFont typeface="Wingdings" panose="05000000000000000000" pitchFamily="2" charset="2"/>
              <a:buChar char="Ø"/>
            </a:pPr>
            <a:endParaRPr lang="en-US" b="0" i="0" dirty="0">
              <a:solidFill>
                <a:srgbClr val="4D5968"/>
              </a:solidFill>
              <a:effectLst/>
              <a:latin typeface="Nunito Sans"/>
            </a:endParaRPr>
          </a:p>
          <a:p>
            <a:pPr marL="285750" indent="-285750" algn="l">
              <a:buFont typeface="Wingdings" panose="05000000000000000000" pitchFamily="2" charset="2"/>
              <a:buChar char="Ø"/>
            </a:pPr>
            <a:r>
              <a:rPr lang="en-US" b="0" i="0" dirty="0">
                <a:solidFill>
                  <a:srgbClr val="4D5968"/>
                </a:solidFill>
                <a:effectLst/>
                <a:latin typeface="Nunito Sans"/>
              </a:rPr>
              <a:t>But the Microservice architecture has a group of small independent units, which collectively works as a single application. </a:t>
            </a:r>
          </a:p>
          <a:p>
            <a:pPr marL="285750" indent="-285750" algn="l">
              <a:buFont typeface="Wingdings" panose="05000000000000000000" pitchFamily="2" charset="2"/>
              <a:buChar char="Ø"/>
            </a:pPr>
            <a:endParaRPr lang="en-US" b="0" i="0" dirty="0">
              <a:solidFill>
                <a:srgbClr val="4D5968"/>
              </a:solidFill>
              <a:effectLst/>
              <a:latin typeface="Nunito Sans"/>
            </a:endParaRPr>
          </a:p>
          <a:p>
            <a:pPr marL="285750" indent="-285750" algn="l">
              <a:buFont typeface="Wingdings" panose="05000000000000000000" pitchFamily="2" charset="2"/>
              <a:buChar char="Ø"/>
            </a:pPr>
            <a:r>
              <a:rPr lang="en-US" b="0" i="0" dirty="0">
                <a:solidFill>
                  <a:srgbClr val="4D5968"/>
                </a:solidFill>
                <a:effectLst/>
                <a:latin typeface="Nunito Sans"/>
              </a:rPr>
              <a:t>The whole functionalities of an application are broken into separate and independent deployable modules that talk to each other by methods called Application Programming Interfaces (APIs). </a:t>
            </a:r>
          </a:p>
          <a:p>
            <a:pPr marL="285750" indent="-285750" algn="l">
              <a:buFont typeface="Wingdings" panose="05000000000000000000" pitchFamily="2" charset="2"/>
              <a:buChar char="Ø"/>
            </a:pPr>
            <a:endParaRPr lang="en-US" dirty="0">
              <a:solidFill>
                <a:srgbClr val="4D5968"/>
              </a:solidFill>
              <a:latin typeface="Nunito Sans"/>
            </a:endParaRPr>
          </a:p>
          <a:p>
            <a:pPr marL="285750" indent="-285750" algn="l">
              <a:buFont typeface="Wingdings" panose="05000000000000000000" pitchFamily="2" charset="2"/>
              <a:buChar char="Ø"/>
            </a:pPr>
            <a:r>
              <a:rPr lang="en-US" b="0" i="0" dirty="0">
                <a:solidFill>
                  <a:srgbClr val="4D5968"/>
                </a:solidFill>
                <a:effectLst/>
                <a:latin typeface="Nunito Sans"/>
              </a:rPr>
              <a:t>Each of the services in a Microservices architecture can be independently scaled, deployed, and updated easily.</a:t>
            </a:r>
          </a:p>
          <a:p>
            <a:pPr marL="285750" indent="-285750" algn="l">
              <a:buFont typeface="Wingdings" panose="05000000000000000000" pitchFamily="2" charset="2"/>
              <a:buChar char="Ø"/>
            </a:pPr>
            <a:endParaRPr lang="en-US" b="0" i="0" dirty="0">
              <a:solidFill>
                <a:srgbClr val="4D5968"/>
              </a:solidFill>
              <a:effectLst/>
              <a:latin typeface="Nunito Sans"/>
            </a:endParaRPr>
          </a:p>
          <a:p>
            <a:pPr marL="285750" indent="-285750" algn="l">
              <a:buFont typeface="Wingdings" panose="05000000000000000000" pitchFamily="2" charset="2"/>
              <a:buChar char="Ø"/>
            </a:pPr>
            <a:r>
              <a:rPr lang="en-US" b="0" i="0" dirty="0">
                <a:solidFill>
                  <a:srgbClr val="4D5968"/>
                </a:solidFill>
                <a:effectLst/>
                <a:latin typeface="Nunito Sans"/>
              </a:rPr>
              <a:t>The Microservice architecture is loosely-coupled; each component is independent with respect to the other.</a:t>
            </a:r>
          </a:p>
          <a:p>
            <a:pPr marL="285750" indent="-285750" algn="l">
              <a:buFont typeface="Wingdings" panose="05000000000000000000" pitchFamily="2" charset="2"/>
              <a:buChar char="Ø"/>
            </a:pPr>
            <a:endParaRPr lang="en-US" dirty="0">
              <a:solidFill>
                <a:srgbClr val="4D5968"/>
              </a:solidFill>
              <a:latin typeface="Nunito Sans"/>
            </a:endParaRPr>
          </a:p>
          <a:p>
            <a:pPr marL="285750" indent="-285750" algn="l">
              <a:buFont typeface="Wingdings" panose="05000000000000000000" pitchFamily="2" charset="2"/>
              <a:buChar char="Ø"/>
            </a:pPr>
            <a:r>
              <a:rPr lang="en-US" b="0" i="0" dirty="0">
                <a:solidFill>
                  <a:srgbClr val="4D5968"/>
                </a:solidFill>
                <a:effectLst/>
                <a:latin typeface="Nunito Sans"/>
              </a:rPr>
              <a:t> Multiple programming languages can be used for coding them. Also, they can use a different storage type for data storage.</a:t>
            </a:r>
          </a:p>
        </p:txBody>
      </p:sp>
    </p:spTree>
    <p:extLst>
      <p:ext uri="{BB962C8B-B14F-4D97-AF65-F5344CB8AC3E}">
        <p14:creationId xmlns:p14="http://schemas.microsoft.com/office/powerpoint/2010/main" val="425147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EF1C522-2A66-4685-9D3B-653FF4680F3E}"/>
              </a:ext>
            </a:extLst>
          </p:cNvPr>
          <p:cNvSpPr txBox="1"/>
          <p:nvPr/>
        </p:nvSpPr>
        <p:spPr>
          <a:xfrm>
            <a:off x="176168" y="436444"/>
            <a:ext cx="11839663" cy="6740307"/>
          </a:xfrm>
          <a:prstGeom prst="rect">
            <a:avLst/>
          </a:prstGeom>
          <a:noFill/>
        </p:spPr>
        <p:txBody>
          <a:bodyPr wrap="square">
            <a:spAutoFit/>
          </a:bodyPr>
          <a:lstStyle/>
          <a:p>
            <a:pPr algn="l"/>
            <a:r>
              <a:rPr lang="en-US" b="1" i="0" dirty="0">
                <a:solidFill>
                  <a:srgbClr val="1375B0"/>
                </a:solidFill>
                <a:effectLst/>
                <a:latin typeface="Nunito Sans"/>
              </a:rPr>
              <a:t>1. Commitment to Technology</a:t>
            </a:r>
          </a:p>
          <a:p>
            <a:pPr algn="l"/>
            <a:r>
              <a:rPr lang="en-US" b="1" i="0" dirty="0">
                <a:solidFill>
                  <a:srgbClr val="4D5968"/>
                </a:solidFill>
                <a:effectLst/>
                <a:latin typeface="Nunito Sans"/>
              </a:rPr>
              <a:t>Microservice:</a:t>
            </a:r>
            <a:endParaRPr lang="en-US" b="0" i="0" dirty="0">
              <a:solidFill>
                <a:srgbClr val="4D5968"/>
              </a:solidFill>
              <a:effectLst/>
              <a:latin typeface="Nunito Sans"/>
            </a:endParaRPr>
          </a:p>
          <a:p>
            <a:pPr algn="l">
              <a:buFont typeface="Arial" panose="020B0604020202020204" pitchFamily="34" charset="0"/>
              <a:buChar char="•"/>
            </a:pPr>
            <a:r>
              <a:rPr lang="en-US" b="0" i="0" dirty="0">
                <a:solidFill>
                  <a:srgbClr val="4D5968"/>
                </a:solidFill>
                <a:effectLst/>
                <a:latin typeface="Nunito Sans"/>
              </a:rPr>
              <a:t>The advantage of developing an application that follows Microservices architecture is that developers have a wide variety of options for various technologies like operating systems, frameworks, programming languages, etc., for building an application.</a:t>
            </a:r>
          </a:p>
          <a:p>
            <a:pPr algn="l">
              <a:buFont typeface="Arial" panose="020B0604020202020204" pitchFamily="34" charset="0"/>
              <a:buChar char="•"/>
            </a:pPr>
            <a:endParaRPr lang="en-US" b="0" i="0" dirty="0">
              <a:solidFill>
                <a:srgbClr val="4D5968"/>
              </a:solidFill>
              <a:effectLst/>
              <a:latin typeface="Nunito Sans"/>
            </a:endParaRPr>
          </a:p>
          <a:p>
            <a:pPr algn="l">
              <a:buFont typeface="Arial" panose="020B0604020202020204" pitchFamily="34" charset="0"/>
              <a:buChar char="•"/>
            </a:pPr>
            <a:r>
              <a:rPr lang="en-US" b="0" i="0" dirty="0">
                <a:solidFill>
                  <a:srgbClr val="4D5968"/>
                </a:solidFill>
                <a:effectLst/>
                <a:latin typeface="Nunito Sans"/>
              </a:rPr>
              <a:t>Continual commitment and dependency can be eliminated using a single stack of technology.</a:t>
            </a:r>
          </a:p>
          <a:p>
            <a:pPr algn="l"/>
            <a:endParaRPr lang="en-US" b="0" i="0" dirty="0">
              <a:solidFill>
                <a:srgbClr val="4D5968"/>
              </a:solidFill>
              <a:effectLst/>
              <a:latin typeface="Nunito Sans"/>
            </a:endParaRPr>
          </a:p>
          <a:p>
            <a:pPr algn="l">
              <a:buFont typeface="Arial" panose="020B0604020202020204" pitchFamily="34" charset="0"/>
              <a:buChar char="•"/>
            </a:pPr>
            <a:r>
              <a:rPr lang="en-US" b="0" i="0" dirty="0">
                <a:solidFill>
                  <a:srgbClr val="4D5968"/>
                </a:solidFill>
                <a:effectLst/>
                <a:latin typeface="Nunito Sans"/>
              </a:rPr>
              <a:t>A better and a new stack of technology can be adopted whenever new services are built, or existing services are updated.</a:t>
            </a:r>
          </a:p>
          <a:p>
            <a:pPr algn="l"/>
            <a:endParaRPr lang="en-US" b="0" i="0" dirty="0">
              <a:solidFill>
                <a:srgbClr val="4D5968"/>
              </a:solidFill>
              <a:effectLst/>
              <a:latin typeface="Nunito Sans"/>
            </a:endParaRPr>
          </a:p>
          <a:p>
            <a:pPr algn="l">
              <a:buFont typeface="Arial" panose="020B0604020202020204" pitchFamily="34" charset="0"/>
              <a:buChar char="•"/>
            </a:pPr>
            <a:r>
              <a:rPr lang="en-US" b="0" i="0" dirty="0">
                <a:solidFill>
                  <a:srgbClr val="4D5968"/>
                </a:solidFill>
                <a:effectLst/>
                <a:latin typeface="Nunito Sans"/>
              </a:rPr>
              <a:t>Dependencies of the development team on resources to build or to update services are eliminated.</a:t>
            </a:r>
          </a:p>
          <a:p>
            <a:pPr algn="l">
              <a:buFont typeface="Arial" panose="020B0604020202020204" pitchFamily="34" charset="0"/>
              <a:buChar char="•"/>
            </a:pPr>
            <a:endParaRPr lang="en-US" b="0" i="0" dirty="0">
              <a:solidFill>
                <a:srgbClr val="4D5968"/>
              </a:solidFill>
              <a:effectLst/>
              <a:latin typeface="Nunito Sans"/>
            </a:endParaRPr>
          </a:p>
          <a:p>
            <a:pPr algn="l"/>
            <a:r>
              <a:rPr lang="en-US" b="1" i="0" dirty="0">
                <a:solidFill>
                  <a:srgbClr val="4D5968"/>
                </a:solidFill>
                <a:effectLst/>
                <a:latin typeface="Nunito Sans"/>
              </a:rPr>
              <a:t>Monolithic:</a:t>
            </a:r>
            <a:endParaRPr lang="en-US" b="0" i="0" dirty="0">
              <a:solidFill>
                <a:srgbClr val="4D5968"/>
              </a:solidFill>
              <a:effectLst/>
              <a:latin typeface="Nunito Sans"/>
            </a:endParaRPr>
          </a:p>
          <a:p>
            <a:pPr algn="l">
              <a:lnSpc>
                <a:spcPct val="150000"/>
              </a:lnSpc>
              <a:buFont typeface="Arial" panose="020B0604020202020204" pitchFamily="34" charset="0"/>
              <a:buChar char="•"/>
            </a:pPr>
            <a:r>
              <a:rPr lang="en-US" b="0" i="0" dirty="0">
                <a:solidFill>
                  <a:srgbClr val="4D5968"/>
                </a:solidFill>
                <a:effectLst/>
                <a:latin typeface="Nunito Sans"/>
              </a:rPr>
              <a:t>In Monolithic architecture, developers are forced to use only one technology, no matter whatever its limitations are.</a:t>
            </a:r>
          </a:p>
          <a:p>
            <a:pPr algn="l">
              <a:lnSpc>
                <a:spcPct val="150000"/>
              </a:lnSpc>
              <a:buFont typeface="Arial" panose="020B0604020202020204" pitchFamily="34" charset="0"/>
              <a:buChar char="•"/>
            </a:pPr>
            <a:r>
              <a:rPr lang="en-US" b="0" i="0" dirty="0">
                <a:solidFill>
                  <a:srgbClr val="4D5968"/>
                </a:solidFill>
                <a:effectLst/>
                <a:latin typeface="Nunito Sans"/>
              </a:rPr>
              <a:t>For example, when your application’s framework is outdated, migration to a new, better framework will be very difficult and challenging.</a:t>
            </a:r>
          </a:p>
          <a:p>
            <a:pPr algn="l">
              <a:lnSpc>
                <a:spcPct val="150000"/>
              </a:lnSpc>
              <a:buFont typeface="Arial" panose="020B0604020202020204" pitchFamily="34" charset="0"/>
              <a:buChar char="•"/>
            </a:pPr>
            <a:r>
              <a:rPr lang="en-US" b="0" i="0" dirty="0">
                <a:solidFill>
                  <a:srgbClr val="4D5968"/>
                </a:solidFill>
                <a:effectLst/>
                <a:latin typeface="Nunito Sans"/>
              </a:rPr>
              <a:t>In such situations, developers should rewrite the whole application in a different programming language and on a new framework, making it riskier and more time-consuming.</a:t>
            </a:r>
          </a:p>
          <a:p>
            <a:pPr algn="l"/>
            <a:endParaRPr lang="en-US" b="0" i="0" dirty="0">
              <a:solidFill>
                <a:srgbClr val="4D5968"/>
              </a:solidFill>
              <a:effectLst/>
              <a:latin typeface="Nunito Sans"/>
            </a:endParaRPr>
          </a:p>
        </p:txBody>
      </p:sp>
      <p:sp>
        <p:nvSpPr>
          <p:cNvPr id="5" name="TextBox 4">
            <a:extLst>
              <a:ext uri="{FF2B5EF4-FFF2-40B4-BE49-F238E27FC236}">
                <a16:creationId xmlns:a16="http://schemas.microsoft.com/office/drawing/2014/main" id="{A03F9B65-4205-4BA1-81A1-057DFA4E42D3}"/>
              </a:ext>
            </a:extLst>
          </p:cNvPr>
          <p:cNvSpPr txBox="1"/>
          <p:nvPr/>
        </p:nvSpPr>
        <p:spPr>
          <a:xfrm>
            <a:off x="176169" y="67112"/>
            <a:ext cx="8965734" cy="369332"/>
          </a:xfrm>
          <a:prstGeom prst="rect">
            <a:avLst/>
          </a:prstGeom>
          <a:noFill/>
        </p:spPr>
        <p:txBody>
          <a:bodyPr wrap="square">
            <a:spAutoFit/>
          </a:bodyPr>
          <a:lstStyle/>
          <a:p>
            <a:pPr algn="l"/>
            <a:r>
              <a:rPr lang="en-US" b="1" i="0" dirty="0">
                <a:solidFill>
                  <a:srgbClr val="232C39"/>
                </a:solidFill>
                <a:effectLst/>
                <a:latin typeface="Nunito Sans"/>
              </a:rPr>
              <a:t>Key Differences Between Microservice vs Monolithic</a:t>
            </a:r>
          </a:p>
        </p:txBody>
      </p:sp>
    </p:spTree>
    <p:extLst>
      <p:ext uri="{BB962C8B-B14F-4D97-AF65-F5344CB8AC3E}">
        <p14:creationId xmlns:p14="http://schemas.microsoft.com/office/powerpoint/2010/main" val="36855196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B4F3DFE-78C5-402A-9DE6-309CEE71E1A2}"/>
              </a:ext>
            </a:extLst>
          </p:cNvPr>
          <p:cNvSpPr txBox="1"/>
          <p:nvPr/>
        </p:nvSpPr>
        <p:spPr>
          <a:xfrm>
            <a:off x="0" y="92765"/>
            <a:ext cx="12046226" cy="6844181"/>
          </a:xfrm>
          <a:prstGeom prst="rect">
            <a:avLst/>
          </a:prstGeom>
          <a:noFill/>
        </p:spPr>
        <p:txBody>
          <a:bodyPr wrap="square">
            <a:spAutoFit/>
          </a:bodyPr>
          <a:lstStyle/>
          <a:p>
            <a:pPr algn="l"/>
            <a:r>
              <a:rPr lang="en-US" b="1" i="0" dirty="0">
                <a:solidFill>
                  <a:srgbClr val="1375B0"/>
                </a:solidFill>
                <a:effectLst/>
                <a:latin typeface="Nunito Sans"/>
              </a:rPr>
              <a:t>2. Isolation of Faults</a:t>
            </a:r>
          </a:p>
          <a:p>
            <a:pPr algn="l">
              <a:lnSpc>
                <a:spcPct val="150000"/>
              </a:lnSpc>
            </a:pPr>
            <a:r>
              <a:rPr lang="en-US" b="1" i="0" dirty="0">
                <a:solidFill>
                  <a:srgbClr val="4D5968"/>
                </a:solidFill>
                <a:effectLst/>
                <a:latin typeface="Nunito Sans"/>
              </a:rPr>
              <a:t>Microservice: </a:t>
            </a:r>
            <a:r>
              <a:rPr lang="en-US" b="0" i="0" dirty="0">
                <a:solidFill>
                  <a:srgbClr val="4D5968"/>
                </a:solidFill>
                <a:effectLst/>
                <a:latin typeface="Nunito Sans"/>
              </a:rPr>
              <a:t>Even if there is an error in any of the processes, the rest of the processes will be unaffected and can be run as all the services are independent and isolated from each other.</a:t>
            </a:r>
          </a:p>
          <a:p>
            <a:pPr algn="l">
              <a:lnSpc>
                <a:spcPct val="150000"/>
              </a:lnSpc>
            </a:pPr>
            <a:r>
              <a:rPr lang="en-US" b="1" i="0" dirty="0">
                <a:solidFill>
                  <a:srgbClr val="4D5968"/>
                </a:solidFill>
                <a:effectLst/>
                <a:latin typeface="Nunito Sans"/>
              </a:rPr>
              <a:t>Monolithic: </a:t>
            </a:r>
            <a:r>
              <a:rPr lang="en-US" b="0" i="0" dirty="0">
                <a:solidFill>
                  <a:srgbClr val="4D5968"/>
                </a:solidFill>
                <a:effectLst/>
                <a:latin typeface="Nunito Sans"/>
              </a:rPr>
              <a:t>On the contrary, in Monolithic architecture, any kind of misbehavior in any of the components may severely affect the working of the entire application.</a:t>
            </a:r>
          </a:p>
          <a:p>
            <a:pPr algn="l">
              <a:lnSpc>
                <a:spcPct val="150000"/>
              </a:lnSpc>
            </a:pPr>
            <a:endParaRPr lang="en-US" dirty="0">
              <a:solidFill>
                <a:srgbClr val="4D5968"/>
              </a:solidFill>
              <a:latin typeface="Nunito Sans"/>
            </a:endParaRPr>
          </a:p>
          <a:p>
            <a:pPr algn="l"/>
            <a:r>
              <a:rPr lang="en-US" b="1" i="0" dirty="0">
                <a:solidFill>
                  <a:srgbClr val="1375B0"/>
                </a:solidFill>
                <a:effectLst/>
                <a:latin typeface="Nunito Sans"/>
              </a:rPr>
              <a:t>3. Management of Code</a:t>
            </a:r>
          </a:p>
          <a:p>
            <a:pPr algn="l">
              <a:lnSpc>
                <a:spcPct val="150000"/>
              </a:lnSpc>
            </a:pPr>
            <a:r>
              <a:rPr lang="en-US" b="1" i="0" dirty="0">
                <a:solidFill>
                  <a:srgbClr val="4D5968"/>
                </a:solidFill>
                <a:effectLst/>
                <a:latin typeface="Nunito Sans"/>
              </a:rPr>
              <a:t>Microservice:</a:t>
            </a:r>
            <a:endParaRPr lang="en-US" b="0" i="0" dirty="0">
              <a:solidFill>
                <a:srgbClr val="4D5968"/>
              </a:solidFill>
              <a:effectLst/>
              <a:latin typeface="Nunito Sans"/>
            </a:endParaRPr>
          </a:p>
          <a:p>
            <a:pPr algn="l">
              <a:lnSpc>
                <a:spcPct val="150000"/>
              </a:lnSpc>
              <a:buFont typeface="Arial" panose="020B0604020202020204" pitchFamily="34" charset="0"/>
              <a:buChar char="•"/>
            </a:pPr>
            <a:r>
              <a:rPr lang="en-US" b="0" i="0" dirty="0">
                <a:solidFill>
                  <a:srgbClr val="4D5968"/>
                </a:solidFill>
                <a:effectLst/>
                <a:latin typeface="Nunito Sans"/>
              </a:rPr>
              <a:t>On the other hand, Microservice has a divided codebase.(</a:t>
            </a:r>
            <a:r>
              <a:rPr lang="en-US" b="0" i="0" dirty="0">
                <a:solidFill>
                  <a:srgbClr val="202124"/>
                </a:solidFill>
                <a:effectLst/>
                <a:latin typeface="arial" panose="020B0604020202020204" pitchFamily="34" charset="0"/>
              </a:rPr>
              <a:t>Codebase is </a:t>
            </a:r>
            <a:r>
              <a:rPr lang="en-US" b="1" i="0" dirty="0">
                <a:solidFill>
                  <a:srgbClr val="202124"/>
                </a:solidFill>
                <a:effectLst/>
                <a:latin typeface="arial" panose="020B0604020202020204" pitchFamily="34" charset="0"/>
              </a:rPr>
              <a:t>the complete source code required to maintain application functionality</a:t>
            </a:r>
            <a:r>
              <a:rPr lang="en-US" b="0" i="0" dirty="0">
                <a:solidFill>
                  <a:srgbClr val="4D5968"/>
                </a:solidFill>
                <a:effectLst/>
                <a:latin typeface="Nunito Sans"/>
              </a:rPr>
              <a:t>)</a:t>
            </a:r>
          </a:p>
          <a:p>
            <a:pPr algn="l">
              <a:lnSpc>
                <a:spcPct val="150000"/>
              </a:lnSpc>
              <a:buFont typeface="Arial" panose="020B0604020202020204" pitchFamily="34" charset="0"/>
              <a:buChar char="•"/>
            </a:pPr>
            <a:r>
              <a:rPr lang="en-US" b="0" i="0" dirty="0">
                <a:solidFill>
                  <a:srgbClr val="4D5968"/>
                </a:solidFill>
                <a:effectLst/>
                <a:latin typeface="Nunito Sans"/>
              </a:rPr>
              <a:t>Codebases in microservices are broken into multiple code units, which makes them easy to manage and update.</a:t>
            </a:r>
          </a:p>
          <a:p>
            <a:pPr algn="l">
              <a:lnSpc>
                <a:spcPct val="150000"/>
              </a:lnSpc>
            </a:pPr>
            <a:r>
              <a:rPr lang="en-US" b="1" i="0" dirty="0">
                <a:solidFill>
                  <a:srgbClr val="4D5968"/>
                </a:solidFill>
                <a:effectLst/>
                <a:latin typeface="Nunito Sans"/>
              </a:rPr>
              <a:t>Monolithic:</a:t>
            </a:r>
          </a:p>
          <a:p>
            <a:pPr algn="l">
              <a:lnSpc>
                <a:spcPct val="150000"/>
              </a:lnSpc>
              <a:buFont typeface="Arial" panose="020B0604020202020204" pitchFamily="34" charset="0"/>
              <a:buChar char="•"/>
            </a:pPr>
            <a:r>
              <a:rPr lang="en-US" b="0" i="0" dirty="0">
                <a:solidFill>
                  <a:srgbClr val="4D5968"/>
                </a:solidFill>
                <a:effectLst/>
                <a:latin typeface="Nunito Sans"/>
              </a:rPr>
              <a:t>Monolithic code base sizes are huge.</a:t>
            </a:r>
          </a:p>
          <a:p>
            <a:pPr algn="l">
              <a:lnSpc>
                <a:spcPct val="150000"/>
              </a:lnSpc>
              <a:buFont typeface="Arial" panose="020B0604020202020204" pitchFamily="34" charset="0"/>
              <a:buChar char="•"/>
            </a:pPr>
            <a:r>
              <a:rPr lang="en-US" b="0" i="0" dirty="0">
                <a:solidFill>
                  <a:srgbClr val="4D5968"/>
                </a:solidFill>
                <a:effectLst/>
                <a:latin typeface="Nunito Sans"/>
              </a:rPr>
              <a:t>Due to the large size of monolithic codebases, it is very difficult for development teams for understanding and managing it properly.</a:t>
            </a:r>
          </a:p>
          <a:p>
            <a:pPr algn="l">
              <a:lnSpc>
                <a:spcPct val="150000"/>
              </a:lnSpc>
              <a:buFont typeface="Arial" panose="020B0604020202020204" pitchFamily="34" charset="0"/>
              <a:buChar char="•"/>
            </a:pPr>
            <a:r>
              <a:rPr lang="en-US" b="0" i="0" dirty="0">
                <a:solidFill>
                  <a:srgbClr val="4D5968"/>
                </a:solidFill>
                <a:effectLst/>
                <a:latin typeface="Nunito Sans"/>
              </a:rPr>
              <a:t>This further leads to the slowing down of the development processes.</a:t>
            </a:r>
          </a:p>
          <a:p>
            <a:pPr algn="l">
              <a:lnSpc>
                <a:spcPct val="150000"/>
              </a:lnSpc>
            </a:pPr>
            <a:endParaRPr lang="en-US" b="0" i="0" dirty="0">
              <a:solidFill>
                <a:srgbClr val="4D5968"/>
              </a:solidFill>
              <a:effectLst/>
              <a:latin typeface="Nunito Sans"/>
            </a:endParaRPr>
          </a:p>
        </p:txBody>
      </p:sp>
    </p:spTree>
    <p:extLst>
      <p:ext uri="{BB962C8B-B14F-4D97-AF65-F5344CB8AC3E}">
        <p14:creationId xmlns:p14="http://schemas.microsoft.com/office/powerpoint/2010/main" val="8897453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3A2DDD-6F4E-431D-83FC-5322ABCB1A44}"/>
              </a:ext>
            </a:extLst>
          </p:cNvPr>
          <p:cNvSpPr txBox="1"/>
          <p:nvPr/>
        </p:nvSpPr>
        <p:spPr>
          <a:xfrm>
            <a:off x="285226" y="92279"/>
            <a:ext cx="11845255" cy="5182188"/>
          </a:xfrm>
          <a:prstGeom prst="rect">
            <a:avLst/>
          </a:prstGeom>
          <a:noFill/>
        </p:spPr>
        <p:txBody>
          <a:bodyPr wrap="square">
            <a:spAutoFit/>
          </a:bodyPr>
          <a:lstStyle/>
          <a:p>
            <a:pPr algn="l"/>
            <a:endParaRPr lang="en-US" b="0" i="0" dirty="0">
              <a:solidFill>
                <a:srgbClr val="4D5968"/>
              </a:solidFill>
              <a:effectLst/>
              <a:latin typeface="Nunito Sans"/>
            </a:endParaRPr>
          </a:p>
          <a:p>
            <a:pPr algn="l"/>
            <a:r>
              <a:rPr lang="en-US" b="1" i="0" dirty="0">
                <a:solidFill>
                  <a:srgbClr val="1375B0"/>
                </a:solidFill>
                <a:effectLst/>
                <a:latin typeface="Nunito Sans"/>
              </a:rPr>
              <a:t>4. Developments and Deployments are Continuous</a:t>
            </a:r>
          </a:p>
          <a:p>
            <a:pPr algn="l"/>
            <a:r>
              <a:rPr lang="en-US" b="1" i="0" dirty="0">
                <a:solidFill>
                  <a:srgbClr val="4D5968"/>
                </a:solidFill>
                <a:effectLst/>
                <a:latin typeface="Nunito Sans"/>
              </a:rPr>
              <a:t>Microservice:</a:t>
            </a:r>
            <a:endParaRPr lang="en-US" b="0" i="0" dirty="0">
              <a:solidFill>
                <a:srgbClr val="4D5968"/>
              </a:solidFill>
              <a:effectLst/>
              <a:latin typeface="Nunito Sans"/>
            </a:endParaRPr>
          </a:p>
          <a:p>
            <a:pPr algn="l">
              <a:lnSpc>
                <a:spcPct val="150000"/>
              </a:lnSpc>
              <a:buFont typeface="Arial" panose="020B0604020202020204" pitchFamily="34" charset="0"/>
              <a:buChar char="•"/>
            </a:pPr>
            <a:r>
              <a:rPr lang="en-US" b="0" i="0" dirty="0">
                <a:solidFill>
                  <a:srgbClr val="4D5968"/>
                </a:solidFill>
                <a:effectLst/>
                <a:latin typeface="Nunito Sans"/>
              </a:rPr>
              <a:t>Development, deployment, operation, and scaling of every component of Microservices application are independent.</a:t>
            </a:r>
          </a:p>
          <a:p>
            <a:pPr algn="l">
              <a:lnSpc>
                <a:spcPct val="150000"/>
              </a:lnSpc>
              <a:buFont typeface="Arial" panose="020B0604020202020204" pitchFamily="34" charset="0"/>
              <a:buChar char="•"/>
            </a:pPr>
            <a:r>
              <a:rPr lang="en-US" b="0" i="0" dirty="0">
                <a:solidFill>
                  <a:srgbClr val="4D5968"/>
                </a:solidFill>
                <a:effectLst/>
                <a:latin typeface="Nunito Sans"/>
              </a:rPr>
              <a:t>Any update in any services of the application will not affect any other services.</a:t>
            </a:r>
          </a:p>
          <a:p>
            <a:pPr algn="l">
              <a:lnSpc>
                <a:spcPct val="150000"/>
              </a:lnSpc>
              <a:buFont typeface="Arial" panose="020B0604020202020204" pitchFamily="34" charset="0"/>
              <a:buChar char="•"/>
            </a:pPr>
            <a:r>
              <a:rPr lang="en-US" b="0" i="0" dirty="0">
                <a:solidFill>
                  <a:srgbClr val="4D5968"/>
                </a:solidFill>
                <a:effectLst/>
                <a:latin typeface="Nunito Sans"/>
              </a:rPr>
              <a:t>Also, there is no sharing of implementation or codebase between services.</a:t>
            </a:r>
          </a:p>
          <a:p>
            <a:pPr algn="l">
              <a:lnSpc>
                <a:spcPct val="150000"/>
              </a:lnSpc>
              <a:buFont typeface="Arial" panose="020B0604020202020204" pitchFamily="34" charset="0"/>
              <a:buChar char="•"/>
            </a:pPr>
            <a:r>
              <a:rPr lang="en-US" b="0" i="0" dirty="0">
                <a:solidFill>
                  <a:srgbClr val="4D5968"/>
                </a:solidFill>
                <a:effectLst/>
                <a:latin typeface="Nunito Sans"/>
              </a:rPr>
              <a:t>This leads to the ease of continuous development and the deployment of complex and huge applications.</a:t>
            </a:r>
          </a:p>
          <a:p>
            <a:pPr algn="l"/>
            <a:endParaRPr lang="en-US" b="0" i="0" dirty="0">
              <a:solidFill>
                <a:srgbClr val="4D5968"/>
              </a:solidFill>
              <a:effectLst/>
              <a:latin typeface="Nunito Sans"/>
            </a:endParaRPr>
          </a:p>
          <a:p>
            <a:pPr algn="l"/>
            <a:r>
              <a:rPr lang="en-US" b="1" i="0" dirty="0">
                <a:solidFill>
                  <a:srgbClr val="4D5968"/>
                </a:solidFill>
                <a:effectLst/>
                <a:latin typeface="Nunito Sans"/>
              </a:rPr>
              <a:t>Monolithic:</a:t>
            </a:r>
            <a:endParaRPr lang="en-US" b="0" i="0" dirty="0">
              <a:solidFill>
                <a:srgbClr val="4D5968"/>
              </a:solidFill>
              <a:effectLst/>
              <a:latin typeface="Nunito Sans"/>
            </a:endParaRPr>
          </a:p>
          <a:p>
            <a:pPr algn="l">
              <a:lnSpc>
                <a:spcPct val="150000"/>
              </a:lnSpc>
              <a:buFont typeface="Arial" panose="020B0604020202020204" pitchFamily="34" charset="0"/>
              <a:buChar char="•"/>
            </a:pPr>
            <a:r>
              <a:rPr lang="en-US" b="0" i="0" dirty="0">
                <a:solidFill>
                  <a:srgbClr val="4D5968"/>
                </a:solidFill>
                <a:effectLst/>
                <a:latin typeface="Nunito Sans"/>
              </a:rPr>
              <a:t>Its codebases are large, and the components are interdependent.</a:t>
            </a:r>
          </a:p>
          <a:p>
            <a:pPr algn="l">
              <a:lnSpc>
                <a:spcPct val="150000"/>
              </a:lnSpc>
              <a:buFont typeface="Arial" panose="020B0604020202020204" pitchFamily="34" charset="0"/>
              <a:buChar char="•"/>
            </a:pPr>
            <a:r>
              <a:rPr lang="en-US" b="0" i="0" dirty="0">
                <a:solidFill>
                  <a:srgbClr val="4D5968"/>
                </a:solidFill>
                <a:effectLst/>
                <a:latin typeface="Nunito Sans"/>
              </a:rPr>
              <a:t>This leads to the limitation of continuous deployment and development because a complete application must be redeployed to update any component.</a:t>
            </a:r>
          </a:p>
          <a:p>
            <a:pPr algn="l">
              <a:lnSpc>
                <a:spcPct val="150000"/>
              </a:lnSpc>
              <a:buFont typeface="Arial" panose="020B0604020202020204" pitchFamily="34" charset="0"/>
              <a:buChar char="•"/>
            </a:pPr>
            <a:r>
              <a:rPr lang="en-US" b="0" i="0" dirty="0">
                <a:solidFill>
                  <a:srgbClr val="4D5968"/>
                </a:solidFill>
                <a:effectLst/>
                <a:latin typeface="Nunito Sans"/>
              </a:rPr>
              <a:t>It is risky and affects all the background tasks, and connected service functions are also impacted.</a:t>
            </a:r>
          </a:p>
        </p:txBody>
      </p:sp>
    </p:spTree>
    <p:extLst>
      <p:ext uri="{BB962C8B-B14F-4D97-AF65-F5344CB8AC3E}">
        <p14:creationId xmlns:p14="http://schemas.microsoft.com/office/powerpoint/2010/main" val="23291193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0AEA656-3BBA-4257-B826-F5DF2C1F7B32}"/>
              </a:ext>
            </a:extLst>
          </p:cNvPr>
          <p:cNvSpPr txBox="1"/>
          <p:nvPr/>
        </p:nvSpPr>
        <p:spPr>
          <a:xfrm>
            <a:off x="260058" y="243282"/>
            <a:ext cx="10981189" cy="4489691"/>
          </a:xfrm>
          <a:prstGeom prst="rect">
            <a:avLst/>
          </a:prstGeom>
          <a:noFill/>
        </p:spPr>
        <p:txBody>
          <a:bodyPr wrap="square">
            <a:spAutoFit/>
          </a:bodyPr>
          <a:lstStyle/>
          <a:p>
            <a:pPr algn="l"/>
            <a:r>
              <a:rPr lang="en-US" b="1" i="0" dirty="0">
                <a:solidFill>
                  <a:srgbClr val="1375B0"/>
                </a:solidFill>
                <a:effectLst/>
                <a:latin typeface="Nunito Sans"/>
              </a:rPr>
              <a:t>5. Scaling of Application</a:t>
            </a:r>
          </a:p>
          <a:p>
            <a:pPr algn="l"/>
            <a:r>
              <a:rPr lang="en-US" b="1" i="0" dirty="0">
                <a:solidFill>
                  <a:srgbClr val="4D5968"/>
                </a:solidFill>
                <a:effectLst/>
                <a:latin typeface="Nunito Sans"/>
              </a:rPr>
              <a:t>Microservice:</a:t>
            </a:r>
            <a:endParaRPr lang="en-US" b="0" i="0" dirty="0">
              <a:solidFill>
                <a:srgbClr val="4D5968"/>
              </a:solidFill>
              <a:effectLst/>
              <a:latin typeface="Nunito Sans"/>
            </a:endParaRPr>
          </a:p>
          <a:p>
            <a:pPr algn="l">
              <a:lnSpc>
                <a:spcPct val="150000"/>
              </a:lnSpc>
              <a:buFont typeface="Arial" panose="020B0604020202020204" pitchFamily="34" charset="0"/>
              <a:buChar char="•"/>
            </a:pPr>
            <a:r>
              <a:rPr lang="en-US" b="0" i="0" dirty="0">
                <a:solidFill>
                  <a:srgbClr val="4D5968"/>
                </a:solidFill>
                <a:effectLst/>
                <a:latin typeface="Nunito Sans"/>
              </a:rPr>
              <a:t>All the services of Microservices applications are built as different modules.</a:t>
            </a:r>
          </a:p>
          <a:p>
            <a:pPr algn="l">
              <a:lnSpc>
                <a:spcPct val="150000"/>
              </a:lnSpc>
              <a:buFont typeface="Arial" panose="020B0604020202020204" pitchFamily="34" charset="0"/>
              <a:buChar char="•"/>
            </a:pPr>
            <a:r>
              <a:rPr lang="en-US" b="0" i="0" dirty="0">
                <a:solidFill>
                  <a:srgbClr val="4D5968"/>
                </a:solidFill>
                <a:effectLst/>
                <a:latin typeface="Nunito Sans"/>
              </a:rPr>
              <a:t>This leads to the team’s division to different work, which further helps them change and update production easily.</a:t>
            </a:r>
          </a:p>
          <a:p>
            <a:pPr algn="l">
              <a:lnSpc>
                <a:spcPct val="150000"/>
              </a:lnSpc>
              <a:buFont typeface="Arial" panose="020B0604020202020204" pitchFamily="34" charset="0"/>
              <a:buChar char="•"/>
            </a:pPr>
            <a:r>
              <a:rPr lang="en-US" b="0" i="0" dirty="0">
                <a:solidFill>
                  <a:srgbClr val="4D5968"/>
                </a:solidFill>
                <a:effectLst/>
                <a:latin typeface="Nunito Sans"/>
              </a:rPr>
              <a:t>This makes the scaling of application easier.</a:t>
            </a:r>
          </a:p>
          <a:p>
            <a:pPr algn="l">
              <a:buFont typeface="Arial" panose="020B0604020202020204" pitchFamily="34" charset="0"/>
              <a:buChar char="•"/>
            </a:pPr>
            <a:endParaRPr lang="en-US" b="0" i="0" dirty="0">
              <a:solidFill>
                <a:srgbClr val="4D5968"/>
              </a:solidFill>
              <a:effectLst/>
              <a:latin typeface="Nunito Sans"/>
            </a:endParaRPr>
          </a:p>
          <a:p>
            <a:pPr algn="l"/>
            <a:r>
              <a:rPr lang="en-US" b="1" i="0" dirty="0">
                <a:solidFill>
                  <a:srgbClr val="4D5968"/>
                </a:solidFill>
                <a:effectLst/>
                <a:latin typeface="Nunito Sans"/>
              </a:rPr>
              <a:t>Monolithic:</a:t>
            </a:r>
            <a:endParaRPr lang="en-US" b="0" i="0" dirty="0">
              <a:solidFill>
                <a:srgbClr val="4D5968"/>
              </a:solidFill>
              <a:effectLst/>
              <a:latin typeface="Nunito Sans"/>
            </a:endParaRPr>
          </a:p>
          <a:p>
            <a:pPr algn="l">
              <a:lnSpc>
                <a:spcPct val="150000"/>
              </a:lnSpc>
              <a:buFont typeface="Arial" panose="020B0604020202020204" pitchFamily="34" charset="0"/>
              <a:buChar char="•"/>
            </a:pPr>
            <a:r>
              <a:rPr lang="en-US" b="0" i="0" dirty="0">
                <a:solidFill>
                  <a:srgbClr val="4D5968"/>
                </a:solidFill>
                <a:effectLst/>
                <a:latin typeface="Nunito Sans"/>
              </a:rPr>
              <a:t>The scaling of monolithic architecture applications is a challenge to developers as it is a single package unit.</a:t>
            </a:r>
          </a:p>
          <a:p>
            <a:pPr algn="l">
              <a:lnSpc>
                <a:spcPct val="150000"/>
              </a:lnSpc>
              <a:buFont typeface="Arial" panose="020B0604020202020204" pitchFamily="34" charset="0"/>
              <a:buChar char="•"/>
            </a:pPr>
            <a:r>
              <a:rPr lang="en-US" b="0" i="0" dirty="0">
                <a:solidFill>
                  <a:srgbClr val="4D5968"/>
                </a:solidFill>
                <a:effectLst/>
                <a:latin typeface="Nunito Sans"/>
              </a:rPr>
              <a:t>The developers can’t work on separate modules.</a:t>
            </a:r>
          </a:p>
          <a:p>
            <a:pPr algn="l">
              <a:lnSpc>
                <a:spcPct val="150000"/>
              </a:lnSpc>
              <a:buFont typeface="Arial" panose="020B0604020202020204" pitchFamily="34" charset="0"/>
              <a:buChar char="•"/>
            </a:pPr>
            <a:r>
              <a:rPr lang="en-US" b="0" i="0" dirty="0">
                <a:solidFill>
                  <a:srgbClr val="4D5968"/>
                </a:solidFill>
                <a:effectLst/>
                <a:latin typeface="Nunito Sans"/>
              </a:rPr>
              <a:t>If it is possible, heavy coordination will be required during deployment and development.</a:t>
            </a:r>
          </a:p>
        </p:txBody>
      </p:sp>
    </p:spTree>
    <p:extLst>
      <p:ext uri="{BB962C8B-B14F-4D97-AF65-F5344CB8AC3E}">
        <p14:creationId xmlns:p14="http://schemas.microsoft.com/office/powerpoint/2010/main" val="6007460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551C5D-CAFF-4E81-B731-25B20C7F722C}"/>
              </a:ext>
            </a:extLst>
          </p:cNvPr>
          <p:cNvSpPr txBox="1"/>
          <p:nvPr/>
        </p:nvSpPr>
        <p:spPr>
          <a:xfrm>
            <a:off x="276838" y="293615"/>
            <a:ext cx="11484528" cy="4801314"/>
          </a:xfrm>
          <a:prstGeom prst="rect">
            <a:avLst/>
          </a:prstGeom>
          <a:noFill/>
        </p:spPr>
        <p:txBody>
          <a:bodyPr wrap="square">
            <a:spAutoFit/>
          </a:bodyPr>
          <a:lstStyle/>
          <a:p>
            <a:pPr algn="l"/>
            <a:r>
              <a:rPr lang="en-US" b="1" i="0" dirty="0">
                <a:solidFill>
                  <a:srgbClr val="000000"/>
                </a:solidFill>
                <a:effectLst/>
                <a:latin typeface="Nunito Sans"/>
              </a:rPr>
              <a:t>Difference Between Microservices vs Monolithic</a:t>
            </a:r>
          </a:p>
          <a:p>
            <a:pPr algn="l"/>
            <a:endParaRPr lang="en-US" b="1" i="0" dirty="0">
              <a:solidFill>
                <a:srgbClr val="000000"/>
              </a:solidFill>
              <a:effectLst/>
              <a:latin typeface="Nunito Sans"/>
            </a:endParaRPr>
          </a:p>
          <a:p>
            <a:pPr marL="285750" indent="-285750" algn="l">
              <a:buFont typeface="Wingdings" panose="05000000000000000000" pitchFamily="2" charset="2"/>
              <a:buChar char="Ø"/>
            </a:pPr>
            <a:r>
              <a:rPr lang="en-US" b="0" i="0" dirty="0">
                <a:solidFill>
                  <a:srgbClr val="4D5968"/>
                </a:solidFill>
                <a:effectLst/>
                <a:latin typeface="Nunito Sans"/>
              </a:rPr>
              <a:t>Microservice vs Monolithic is the comparison between two standard approaches or architecture for software design and development. </a:t>
            </a:r>
          </a:p>
          <a:p>
            <a:pPr marL="285750" indent="-285750" algn="l">
              <a:buFont typeface="Wingdings" panose="05000000000000000000" pitchFamily="2" charset="2"/>
              <a:buChar char="Ø"/>
            </a:pPr>
            <a:endParaRPr lang="en-US" dirty="0">
              <a:solidFill>
                <a:srgbClr val="4D5968"/>
              </a:solidFill>
              <a:latin typeface="Nunito Sans"/>
            </a:endParaRPr>
          </a:p>
          <a:p>
            <a:pPr marL="285750" indent="-285750" algn="l">
              <a:buFont typeface="Wingdings" panose="05000000000000000000" pitchFamily="2" charset="2"/>
              <a:buChar char="Ø"/>
            </a:pPr>
            <a:r>
              <a:rPr lang="en-US" b="0" i="0" dirty="0">
                <a:solidFill>
                  <a:srgbClr val="4D5968"/>
                </a:solidFill>
                <a:effectLst/>
                <a:latin typeface="Nunito Sans"/>
              </a:rPr>
              <a:t>Microservice is a present trend in the software industry that utilized some of the latest technologies and programming languages for software development. Whereas monolithic is an industry-standard approach that is implemented for several years. </a:t>
            </a:r>
          </a:p>
          <a:p>
            <a:pPr marL="285750" indent="-285750" algn="l">
              <a:buFont typeface="Wingdings" panose="05000000000000000000" pitchFamily="2" charset="2"/>
              <a:buChar char="Ø"/>
            </a:pPr>
            <a:endParaRPr lang="en-US" dirty="0">
              <a:solidFill>
                <a:srgbClr val="4D5968"/>
              </a:solidFill>
              <a:latin typeface="Nunito Sans"/>
            </a:endParaRPr>
          </a:p>
          <a:p>
            <a:pPr marL="285750" indent="-285750" algn="l">
              <a:buFont typeface="Wingdings" panose="05000000000000000000" pitchFamily="2" charset="2"/>
              <a:buChar char="Ø"/>
            </a:pPr>
            <a:r>
              <a:rPr lang="en-US" b="0" i="0" dirty="0">
                <a:solidFill>
                  <a:srgbClr val="4D5968"/>
                </a:solidFill>
                <a:effectLst/>
                <a:latin typeface="Nunito Sans"/>
              </a:rPr>
              <a:t>Microservice architecture based applications can be implemented with multiple programming languages as independent services. </a:t>
            </a:r>
          </a:p>
          <a:p>
            <a:pPr marL="285750" indent="-285750" algn="l">
              <a:buFont typeface="Wingdings" panose="05000000000000000000" pitchFamily="2" charset="2"/>
              <a:buChar char="Ø"/>
            </a:pPr>
            <a:endParaRPr lang="en-US" dirty="0">
              <a:solidFill>
                <a:srgbClr val="4D5968"/>
              </a:solidFill>
              <a:latin typeface="Nunito Sans"/>
            </a:endParaRPr>
          </a:p>
          <a:p>
            <a:pPr marL="285750" indent="-285750" algn="l">
              <a:buFont typeface="Wingdings" panose="05000000000000000000" pitchFamily="2" charset="2"/>
              <a:buChar char="Ø"/>
            </a:pPr>
            <a:r>
              <a:rPr lang="en-US" b="0" i="0" dirty="0">
                <a:solidFill>
                  <a:srgbClr val="4D5968"/>
                </a:solidFill>
                <a:effectLst/>
                <a:latin typeface="Nunito Sans"/>
              </a:rPr>
              <a:t>Whereas the monolithic application is based upon a single programing language. Microservice is known for its change adaptability and scalability. </a:t>
            </a:r>
          </a:p>
          <a:p>
            <a:pPr marL="285750" indent="-285750" algn="l">
              <a:buFont typeface="Wingdings" panose="05000000000000000000" pitchFamily="2" charset="2"/>
              <a:buChar char="Ø"/>
            </a:pPr>
            <a:endParaRPr lang="en-US" dirty="0">
              <a:solidFill>
                <a:srgbClr val="4D5968"/>
              </a:solidFill>
              <a:latin typeface="Nunito Sans"/>
            </a:endParaRPr>
          </a:p>
          <a:p>
            <a:pPr marL="285750" indent="-285750" algn="l">
              <a:buFont typeface="Wingdings" panose="05000000000000000000" pitchFamily="2" charset="2"/>
              <a:buChar char="Ø"/>
            </a:pPr>
            <a:r>
              <a:rPr lang="en-US" b="0" i="0" dirty="0">
                <a:solidFill>
                  <a:srgbClr val="4D5968"/>
                </a:solidFill>
                <a:effectLst/>
                <a:latin typeface="Nunito Sans"/>
              </a:rPr>
              <a:t>Whereas monolithic apps are less scalable and change requires rebuilding the whole application code and redeployment.</a:t>
            </a:r>
          </a:p>
        </p:txBody>
      </p:sp>
    </p:spTree>
    <p:extLst>
      <p:ext uri="{BB962C8B-B14F-4D97-AF65-F5344CB8AC3E}">
        <p14:creationId xmlns:p14="http://schemas.microsoft.com/office/powerpoint/2010/main" val="28397715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0BA0DA-2431-4E02-A6DE-B0AEBDCF0471}"/>
              </a:ext>
            </a:extLst>
          </p:cNvPr>
          <p:cNvPicPr>
            <a:picLocks noChangeAspect="1"/>
          </p:cNvPicPr>
          <p:nvPr/>
        </p:nvPicPr>
        <p:blipFill>
          <a:blip r:embed="rId2"/>
          <a:stretch>
            <a:fillRect/>
          </a:stretch>
        </p:blipFill>
        <p:spPr>
          <a:xfrm>
            <a:off x="1868556" y="310501"/>
            <a:ext cx="7861477" cy="6954697"/>
          </a:xfrm>
          <a:prstGeom prst="rect">
            <a:avLst/>
          </a:prstGeom>
        </p:spPr>
      </p:pic>
      <p:sp>
        <p:nvSpPr>
          <p:cNvPr id="5" name="TextBox 4">
            <a:extLst>
              <a:ext uri="{FF2B5EF4-FFF2-40B4-BE49-F238E27FC236}">
                <a16:creationId xmlns:a16="http://schemas.microsoft.com/office/drawing/2014/main" id="{7552051C-F5C4-450B-B608-AE70336F652C}"/>
              </a:ext>
            </a:extLst>
          </p:cNvPr>
          <p:cNvSpPr txBox="1"/>
          <p:nvPr/>
        </p:nvSpPr>
        <p:spPr>
          <a:xfrm>
            <a:off x="385894" y="125835"/>
            <a:ext cx="8756009" cy="369332"/>
          </a:xfrm>
          <a:prstGeom prst="rect">
            <a:avLst/>
          </a:prstGeom>
          <a:noFill/>
        </p:spPr>
        <p:txBody>
          <a:bodyPr wrap="square">
            <a:spAutoFit/>
          </a:bodyPr>
          <a:lstStyle/>
          <a:p>
            <a:pPr algn="l"/>
            <a:r>
              <a:rPr lang="en-SG" b="1" i="0" dirty="0">
                <a:solidFill>
                  <a:srgbClr val="232C39"/>
                </a:solidFill>
                <a:effectLst/>
                <a:latin typeface="Nunito Sans"/>
              </a:rPr>
              <a:t>Microservice vs Monolithic Comparison Table</a:t>
            </a:r>
          </a:p>
        </p:txBody>
      </p:sp>
    </p:spTree>
    <p:extLst>
      <p:ext uri="{BB962C8B-B14F-4D97-AF65-F5344CB8AC3E}">
        <p14:creationId xmlns:p14="http://schemas.microsoft.com/office/powerpoint/2010/main" val="20588087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7B5C91-71A9-45CD-8280-0B325F305FB2}"/>
              </a:ext>
            </a:extLst>
          </p:cNvPr>
          <p:cNvPicPr>
            <a:picLocks noChangeAspect="1"/>
          </p:cNvPicPr>
          <p:nvPr/>
        </p:nvPicPr>
        <p:blipFill>
          <a:blip r:embed="rId2"/>
          <a:stretch>
            <a:fillRect/>
          </a:stretch>
        </p:blipFill>
        <p:spPr>
          <a:xfrm>
            <a:off x="2124075" y="90487"/>
            <a:ext cx="7943850" cy="6677025"/>
          </a:xfrm>
          <a:prstGeom prst="rect">
            <a:avLst/>
          </a:prstGeom>
        </p:spPr>
      </p:pic>
    </p:spTree>
    <p:extLst>
      <p:ext uri="{BB962C8B-B14F-4D97-AF65-F5344CB8AC3E}">
        <p14:creationId xmlns:p14="http://schemas.microsoft.com/office/powerpoint/2010/main" val="41730828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3AED90A-6D9F-4B69-BD09-83B5DA70AB35}"/>
              </a:ext>
            </a:extLst>
          </p:cNvPr>
          <p:cNvPicPr>
            <a:picLocks noChangeAspect="1"/>
          </p:cNvPicPr>
          <p:nvPr/>
        </p:nvPicPr>
        <p:blipFill>
          <a:blip r:embed="rId2"/>
          <a:stretch>
            <a:fillRect/>
          </a:stretch>
        </p:blipFill>
        <p:spPr>
          <a:xfrm>
            <a:off x="2124075" y="261937"/>
            <a:ext cx="7943850" cy="6334125"/>
          </a:xfrm>
          <a:prstGeom prst="rect">
            <a:avLst/>
          </a:prstGeom>
        </p:spPr>
      </p:pic>
    </p:spTree>
    <p:extLst>
      <p:ext uri="{BB962C8B-B14F-4D97-AF65-F5344CB8AC3E}">
        <p14:creationId xmlns:p14="http://schemas.microsoft.com/office/powerpoint/2010/main" val="12443438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9DAB914-50F3-4CCD-AFDC-689209B4B3CC}"/>
              </a:ext>
            </a:extLst>
          </p:cNvPr>
          <p:cNvPicPr>
            <a:picLocks noChangeAspect="1"/>
          </p:cNvPicPr>
          <p:nvPr/>
        </p:nvPicPr>
        <p:blipFill>
          <a:blip r:embed="rId2"/>
          <a:stretch>
            <a:fillRect/>
          </a:stretch>
        </p:blipFill>
        <p:spPr>
          <a:xfrm>
            <a:off x="2085975" y="276225"/>
            <a:ext cx="8020050" cy="6305550"/>
          </a:xfrm>
          <a:prstGeom prst="rect">
            <a:avLst/>
          </a:prstGeom>
        </p:spPr>
      </p:pic>
    </p:spTree>
    <p:extLst>
      <p:ext uri="{BB962C8B-B14F-4D97-AF65-F5344CB8AC3E}">
        <p14:creationId xmlns:p14="http://schemas.microsoft.com/office/powerpoint/2010/main" val="26647381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80B669F-DCA6-4C47-8560-FEF22E038DFD}"/>
              </a:ext>
            </a:extLst>
          </p:cNvPr>
          <p:cNvPicPr>
            <a:picLocks noChangeAspect="1"/>
          </p:cNvPicPr>
          <p:nvPr/>
        </p:nvPicPr>
        <p:blipFill>
          <a:blip r:embed="rId2"/>
          <a:stretch>
            <a:fillRect/>
          </a:stretch>
        </p:blipFill>
        <p:spPr>
          <a:xfrm>
            <a:off x="2109787" y="252412"/>
            <a:ext cx="7972425" cy="6353175"/>
          </a:xfrm>
          <a:prstGeom prst="rect">
            <a:avLst/>
          </a:prstGeom>
        </p:spPr>
      </p:pic>
    </p:spTree>
    <p:extLst>
      <p:ext uri="{BB962C8B-B14F-4D97-AF65-F5344CB8AC3E}">
        <p14:creationId xmlns:p14="http://schemas.microsoft.com/office/powerpoint/2010/main" val="13875911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TotalTime>
  <Words>1026</Words>
  <Application>Microsoft Office PowerPoint</Application>
  <PresentationFormat>Widescreen</PresentationFormat>
  <Paragraphs>91</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Arial</vt:lpstr>
      <vt:lpstr>Calibri</vt:lpstr>
      <vt:lpstr>Calibri Light</vt:lpstr>
      <vt:lpstr>Nunito Sans</vt:lpstr>
      <vt:lpstr>Times New Roman</vt:lpstr>
      <vt:lpstr>Wingdings</vt:lpstr>
      <vt:lpstr>Office Theme</vt:lpstr>
      <vt:lpstr>The monolithic scenario, Microservices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monolithic scenario, Microservices</dc:title>
  <dc:creator>SPThota</dc:creator>
  <cp:lastModifiedBy>SAI CHARAN THOTA</cp:lastModifiedBy>
  <cp:revision>6</cp:revision>
  <dcterms:created xsi:type="dcterms:W3CDTF">2021-09-08T17:20:29Z</dcterms:created>
  <dcterms:modified xsi:type="dcterms:W3CDTF">2021-09-09T14:21:22Z</dcterms:modified>
</cp:coreProperties>
</file>