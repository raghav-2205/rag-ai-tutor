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8" r:id="rId3"/>
    <p:sldId id="275" r:id="rId4"/>
    <p:sldId id="276" r:id="rId5"/>
    <p:sldId id="320" r:id="rId6"/>
    <p:sldId id="257" r:id="rId7"/>
    <p:sldId id="326" r:id="rId8"/>
    <p:sldId id="328" r:id="rId9"/>
    <p:sldId id="327" r:id="rId10"/>
    <p:sldId id="273" r:id="rId11"/>
    <p:sldId id="274" r:id="rId12"/>
    <p:sldId id="277" r:id="rId13"/>
    <p:sldId id="270" r:id="rId14"/>
    <p:sldId id="321" r:id="rId15"/>
    <p:sldId id="310" r:id="rId16"/>
    <p:sldId id="309" r:id="rId17"/>
    <p:sldId id="311" r:id="rId18"/>
    <p:sldId id="312" r:id="rId19"/>
    <p:sldId id="313" r:id="rId20"/>
    <p:sldId id="314" r:id="rId21"/>
    <p:sldId id="315" r:id="rId22"/>
    <p:sldId id="316" r:id="rId23"/>
    <p:sldId id="317" r:id="rId24"/>
    <p:sldId id="265" r:id="rId25"/>
    <p:sldId id="266" r:id="rId26"/>
    <p:sldId id="318" r:id="rId27"/>
    <p:sldId id="268" r:id="rId28"/>
    <p:sldId id="319" r:id="rId29"/>
    <p:sldId id="267" r:id="rId30"/>
    <p:sldId id="269" r:id="rId31"/>
    <p:sldId id="279" r:id="rId32"/>
    <p:sldId id="322" r:id="rId33"/>
    <p:sldId id="323" r:id="rId34"/>
    <p:sldId id="324" r:id="rId35"/>
    <p:sldId id="280" r:id="rId36"/>
    <p:sldId id="325" r:id="rId37"/>
    <p:sldId id="281" r:id="rId38"/>
    <p:sldId id="282" r:id="rId39"/>
    <p:sldId id="286" r:id="rId40"/>
    <p:sldId id="285" r:id="rId41"/>
    <p:sldId id="283" r:id="rId42"/>
    <p:sldId id="284" r:id="rId43"/>
    <p:sldId id="287" r:id="rId44"/>
    <p:sldId id="288" r:id="rId45"/>
    <p:sldId id="329" r:id="rId46"/>
    <p:sldId id="330" r:id="rId47"/>
    <p:sldId id="331" r:id="rId48"/>
    <p:sldId id="332" r:id="rId49"/>
    <p:sldId id="333" r:id="rId50"/>
    <p:sldId id="335" r:id="rId51"/>
    <p:sldId id="336" r:id="rId52"/>
    <p:sldId id="337" r:id="rId53"/>
    <p:sldId id="338" r:id="rId54"/>
    <p:sldId id="305" r:id="rId55"/>
    <p:sldId id="306" r:id="rId56"/>
    <p:sldId id="334" r:id="rId57"/>
    <p:sldId id="339" r:id="rId58"/>
    <p:sldId id="262" r:id="rId59"/>
    <p:sldId id="340" r:id="rId60"/>
    <p:sldId id="261" r:id="rId61"/>
    <p:sldId id="341" r:id="rId62"/>
    <p:sldId id="307" r:id="rId63"/>
    <p:sldId id="298" r:id="rId64"/>
    <p:sldId id="300" r:id="rId65"/>
    <p:sldId id="290" r:id="rId66"/>
    <p:sldId id="299" r:id="rId67"/>
    <p:sldId id="293" r:id="rId68"/>
    <p:sldId id="291" r:id="rId69"/>
    <p:sldId id="357" r:id="rId70"/>
    <p:sldId id="359" r:id="rId71"/>
    <p:sldId id="360" r:id="rId72"/>
    <p:sldId id="361" r:id="rId73"/>
    <p:sldId id="345" r:id="rId74"/>
    <p:sldId id="346" r:id="rId75"/>
    <p:sldId id="347" r:id="rId76"/>
    <p:sldId id="348" r:id="rId77"/>
    <p:sldId id="349" r:id="rId78"/>
    <p:sldId id="350" r:id="rId79"/>
    <p:sldId id="351" r:id="rId80"/>
    <p:sldId id="301" r:id="rId81"/>
    <p:sldId id="363" r:id="rId82"/>
    <p:sldId id="258" r:id="rId83"/>
    <p:sldId id="364" r:id="rId84"/>
    <p:sldId id="278" r:id="rId85"/>
    <p:sldId id="365" r:id="rId86"/>
    <p:sldId id="366" r:id="rId87"/>
    <p:sldId id="354" r:id="rId88"/>
    <p:sldId id="259" r:id="rId89"/>
    <p:sldId id="355" r:id="rId90"/>
    <p:sldId id="342" r:id="rId91"/>
    <p:sldId id="343" r:id="rId92"/>
    <p:sldId id="344" r:id="rId93"/>
    <p:sldId id="367" r:id="rId94"/>
    <p:sldId id="356"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53E34-75EE-4F68-ADC6-7C4DD3FC06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5AF3E5-9162-4FD7-8FDA-D1513FAFE9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0DF40D-E916-4349-8D9C-F44026FFA294}"/>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5" name="Footer Placeholder 4">
            <a:extLst>
              <a:ext uri="{FF2B5EF4-FFF2-40B4-BE49-F238E27FC236}">
                <a16:creationId xmlns:a16="http://schemas.microsoft.com/office/drawing/2014/main" id="{EBC53BD6-1116-4C36-9F85-F7AC212449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BA4769-7B70-4B68-A64B-3A376CF1D31F}"/>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921428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796C8-6ABF-43D6-A8B6-BF07BF2726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D82014-0AEC-4282-A1A9-4D372D623E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3A2135-620C-4611-B71F-9AC53264E813}"/>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5" name="Footer Placeholder 4">
            <a:extLst>
              <a:ext uri="{FF2B5EF4-FFF2-40B4-BE49-F238E27FC236}">
                <a16:creationId xmlns:a16="http://schemas.microsoft.com/office/drawing/2014/main" id="{C8783EF5-CD8E-4C53-9ABE-8FC553C8DA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B87720-9213-4C76-BC1A-CE8354F2BA22}"/>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4116951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D8CB3-0B23-43E1-83A0-9877CC11EB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02B557-BDD1-4D3D-B260-6F6F153EE1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1F5F50-0D40-4842-B660-30B3C447AC93}"/>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5" name="Footer Placeholder 4">
            <a:extLst>
              <a:ext uri="{FF2B5EF4-FFF2-40B4-BE49-F238E27FC236}">
                <a16:creationId xmlns:a16="http://schemas.microsoft.com/office/drawing/2014/main" id="{80449F36-B185-4A96-BDA0-AD6E3371C1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442673-7A23-4043-9181-994413C5F10D}"/>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3537898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E919-BA76-4A49-8C59-D8EC6F17C3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881D25-6968-46E2-900E-44698CC3D5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85DA37-D76A-49CB-ADA2-2B051EF9C8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231F7F-407E-42E3-B48E-FD8AAC19CDF9}"/>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6" name="Footer Placeholder 5">
            <a:extLst>
              <a:ext uri="{FF2B5EF4-FFF2-40B4-BE49-F238E27FC236}">
                <a16:creationId xmlns:a16="http://schemas.microsoft.com/office/drawing/2014/main" id="{195CAE85-CF3B-4182-BCC2-5FB4184910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43BCBC-B8F1-4655-AAA0-17693C4D41BD}"/>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2923167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65C1B-5AE6-4D7A-9EE8-9B7A3314DB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5268CC-500A-402C-AC6A-14CE5598C4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A55D67-3CC3-4A5E-9C4F-498F94734E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969640-6857-48C9-8ED4-61C187D619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3A9629-497B-45D1-B88F-28007F7654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E146A9-D23B-453D-BA05-0011A6854C32}"/>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8" name="Footer Placeholder 7">
            <a:extLst>
              <a:ext uri="{FF2B5EF4-FFF2-40B4-BE49-F238E27FC236}">
                <a16:creationId xmlns:a16="http://schemas.microsoft.com/office/drawing/2014/main" id="{5EC306B3-0CA3-41D1-92BE-637DCE50BA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B22850-BFB6-4445-B389-ABE5692A9FC4}"/>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1973611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A76E8-35E2-4F88-8A72-3FB9D4D49A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B809F5-149F-49D1-8148-19EF6E67D324}"/>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4" name="Footer Placeholder 3">
            <a:extLst>
              <a:ext uri="{FF2B5EF4-FFF2-40B4-BE49-F238E27FC236}">
                <a16:creationId xmlns:a16="http://schemas.microsoft.com/office/drawing/2014/main" id="{3DC0C825-1A2A-41BC-A446-BD36CCE9CC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6CB939-EDD1-4BD8-AA39-E96AA714D762}"/>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606877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C1FF8C-A358-4390-98B7-266CB6D694BB}"/>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3" name="Footer Placeholder 2">
            <a:extLst>
              <a:ext uri="{FF2B5EF4-FFF2-40B4-BE49-F238E27FC236}">
                <a16:creationId xmlns:a16="http://schemas.microsoft.com/office/drawing/2014/main" id="{2555C41A-62FB-4824-AA8F-40ACF998FB0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996D31-6838-4F35-9072-2BF7C11B2349}"/>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2723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F0E5A-FEF2-4824-ACC4-4DF0684814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560AA98-D12D-47AC-A9E5-37AD6D0293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1A814C-2959-4D89-907A-C219A39FDB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E792D-22A8-420B-888A-C506791777AA}"/>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6" name="Footer Placeholder 5">
            <a:extLst>
              <a:ext uri="{FF2B5EF4-FFF2-40B4-BE49-F238E27FC236}">
                <a16:creationId xmlns:a16="http://schemas.microsoft.com/office/drawing/2014/main" id="{891D1A91-BE72-432E-9685-A8BC6F02F5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815801-7A61-4E4B-B783-3DB4F0679BBC}"/>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158142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BB13B-D96B-4C42-A5F9-0974714546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26DD426-E22F-4C39-9F01-5E0F326E7D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44BA5F-16DA-42FE-8260-04BD36995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93E706-F824-4830-9DFF-8BD935249DB2}"/>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6" name="Footer Placeholder 5">
            <a:extLst>
              <a:ext uri="{FF2B5EF4-FFF2-40B4-BE49-F238E27FC236}">
                <a16:creationId xmlns:a16="http://schemas.microsoft.com/office/drawing/2014/main" id="{BD3DB2C4-B910-4C68-9EA2-55A846A861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3943EB-E66D-4923-B699-67C4D7C5746B}"/>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3906484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EE31-E9AB-4CA9-B031-4809DE2868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840FB4-3E2A-441D-9DA6-B18C9F85B7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13A1B-4861-4E62-8D37-133497BF0CAA}"/>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5" name="Footer Placeholder 4">
            <a:extLst>
              <a:ext uri="{FF2B5EF4-FFF2-40B4-BE49-F238E27FC236}">
                <a16:creationId xmlns:a16="http://schemas.microsoft.com/office/drawing/2014/main" id="{E76D2547-23DD-4AC9-B327-14DB1C008C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E0041D-F7C0-423F-9A25-A7838DE12959}"/>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3816392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E6D41C-A74F-4AFC-9D91-3616B22159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EFEB09-FEFE-48DA-8222-06B8FE975F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BF6F31-5236-47E3-90A8-87CCE01BB28B}"/>
              </a:ext>
            </a:extLst>
          </p:cNvPr>
          <p:cNvSpPr>
            <a:spLocks noGrp="1"/>
          </p:cNvSpPr>
          <p:nvPr>
            <p:ph type="dt" sz="half" idx="10"/>
          </p:nvPr>
        </p:nvSpPr>
        <p:spPr/>
        <p:txBody>
          <a:bodyPr/>
          <a:lstStyle/>
          <a:p>
            <a:fld id="{A6477345-8672-44CF-989C-6485F188EEA7}" type="datetimeFigureOut">
              <a:rPr lang="en-IN" smtClean="0"/>
              <a:t>08-11-2021</a:t>
            </a:fld>
            <a:endParaRPr lang="en-IN"/>
          </a:p>
        </p:txBody>
      </p:sp>
      <p:sp>
        <p:nvSpPr>
          <p:cNvPr id="5" name="Footer Placeholder 4">
            <a:extLst>
              <a:ext uri="{FF2B5EF4-FFF2-40B4-BE49-F238E27FC236}">
                <a16:creationId xmlns:a16="http://schemas.microsoft.com/office/drawing/2014/main" id="{AC781DB7-5510-4EBC-A49E-F9BE0CE156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12D856-E0B6-49BC-96AD-FD50679D60E8}"/>
              </a:ext>
            </a:extLst>
          </p:cNvPr>
          <p:cNvSpPr>
            <a:spLocks noGrp="1"/>
          </p:cNvSpPr>
          <p:nvPr>
            <p:ph type="sldNum" sz="quarter" idx="12"/>
          </p:nvPr>
        </p:nvSpPr>
        <p:spPr/>
        <p:txBody>
          <a:bodyPr/>
          <a:lstStyle/>
          <a:p>
            <a:fld id="{03DED15E-8F4C-474C-AE89-773E2769F3E1}" type="slidenum">
              <a:rPr lang="en-IN" smtClean="0"/>
              <a:t>‹#›</a:t>
            </a:fld>
            <a:endParaRPr lang="en-IN"/>
          </a:p>
        </p:txBody>
      </p:sp>
    </p:spTree>
    <p:extLst>
      <p:ext uri="{BB962C8B-B14F-4D97-AF65-F5344CB8AC3E}">
        <p14:creationId xmlns:p14="http://schemas.microsoft.com/office/powerpoint/2010/main" val="1401053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3CB495-6E6F-4035-8794-9CF7B773C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922661-3190-43BE-8F70-44C5A2DF1E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EDBE0D-D415-4561-8BF0-6D4A06B0E2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77345-8672-44CF-989C-6485F188EEA7}" type="datetimeFigureOut">
              <a:rPr lang="en-IN" smtClean="0"/>
              <a:t>08-11-2021</a:t>
            </a:fld>
            <a:endParaRPr lang="en-IN"/>
          </a:p>
        </p:txBody>
      </p:sp>
      <p:sp>
        <p:nvSpPr>
          <p:cNvPr id="5" name="Footer Placeholder 4">
            <a:extLst>
              <a:ext uri="{FF2B5EF4-FFF2-40B4-BE49-F238E27FC236}">
                <a16:creationId xmlns:a16="http://schemas.microsoft.com/office/drawing/2014/main" id="{2ADF9E94-205C-4B4A-954D-5891FB6EF6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0F170B-8B0B-4ECD-B12D-31C31B5A80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DED15E-8F4C-474C-AE89-773E2769F3E1}" type="slidenum">
              <a:rPr lang="en-IN" smtClean="0"/>
              <a:t>‹#›</a:t>
            </a:fld>
            <a:endParaRPr lang="en-IN"/>
          </a:p>
        </p:txBody>
      </p:sp>
    </p:spTree>
    <p:extLst>
      <p:ext uri="{BB962C8B-B14F-4D97-AF65-F5344CB8AC3E}">
        <p14:creationId xmlns:p14="http://schemas.microsoft.com/office/powerpoint/2010/main" val="1875890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www.edureka.co/devops"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hyperlink" Target="https://www.vedantatree.com/2012/06/how-to-manage-inter-project.html"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s://plugins.jenkins.io/dashboard-view" TargetMode="External"/><Relationship Id="rId2" Type="http://schemas.openxmlformats.org/officeDocument/2006/relationships/hyperlink" Target="https://www.computerhope.com/jargon/s/software.htm"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plugins.jenkins.io/cloudbees-folder" TargetMode="External"/><Relationship Id="rId2" Type="http://schemas.openxmlformats.org/officeDocument/2006/relationships/hyperlink" Target="https://plugins.jenkins.io/view-job-filters" TargetMode="External"/><Relationship Id="rId1" Type="http://schemas.openxmlformats.org/officeDocument/2006/relationships/slideLayout" Target="../slideLayouts/slideLayout7.xml"/><Relationship Id="rId4" Type="http://schemas.openxmlformats.org/officeDocument/2006/relationships/hyperlink" Target="https://plugins.jenkins.io/monitoring"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plugins.jenkins.io/perfpublisher" TargetMode="External"/><Relationship Id="rId2" Type="http://schemas.openxmlformats.org/officeDocument/2006/relationships/hyperlink" Target="https://plugins.jenkins.io/performance" TargetMode="External"/><Relationship Id="rId1" Type="http://schemas.openxmlformats.org/officeDocument/2006/relationships/slideLayout" Target="../slideLayouts/slideLayout7.xml"/><Relationship Id="rId4" Type="http://schemas.openxmlformats.org/officeDocument/2006/relationships/hyperlink" Target="https://plugins.jenkins.io/amazon-ecs"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plugins.jenkins.io/jenkins-multijob-plugin" TargetMode="External"/><Relationship Id="rId2" Type="http://schemas.openxmlformats.org/officeDocument/2006/relationships/hyperlink" Target="https://plugins.jenkins.io/build-pipeline-plugin" TargetMode="External"/><Relationship Id="rId1" Type="http://schemas.openxmlformats.org/officeDocument/2006/relationships/slideLayout" Target="../slideLayouts/slideLayout7.xml"/><Relationship Id="rId4" Type="http://schemas.openxmlformats.org/officeDocument/2006/relationships/hyperlink" Target="https://plugins.jenkins.io/workflow-aggregator"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hyperlink" Target="https://www.cuelogic.com/blog/devops-a-team-responsibility-not-just-a-role" TargetMode="Externa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hyperlink" Target="https://about.gitlab.com/" TargetMode="Externa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hyperlink" Target="https://travis-ci.org/" TargetMode="External"/><Relationship Id="rId2" Type="http://schemas.openxmlformats.org/officeDocument/2006/relationships/hyperlink" Target="https://circleci.com/" TargetMode="External"/><Relationship Id="rId1" Type="http://schemas.openxmlformats.org/officeDocument/2006/relationships/slideLayout" Target="../slideLayouts/slideLayout7.xml"/><Relationship Id="rId4" Type="http://schemas.openxmlformats.org/officeDocument/2006/relationships/hyperlink" Target="https://inedo.com/buildmaster"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www.youtube.com/watch?v=gT9qnZi3f74" TargetMode="External"/><Relationship Id="rId2" Type="http://schemas.openxmlformats.org/officeDocument/2006/relationships/hyperlink" Target="https://www.youtube.com/watch?v=dDFv5cSyHNs" TargetMode="External"/><Relationship Id="rId1" Type="http://schemas.openxmlformats.org/officeDocument/2006/relationships/slideLayout" Target="../slideLayouts/slideLayout7.xml"/><Relationship Id="rId5" Type="http://schemas.openxmlformats.org/officeDocument/2006/relationships/hyperlink" Target="https://www.youtube.com/watch?v=1ji_9scA2C4" TargetMode="External"/><Relationship Id="rId4" Type="http://schemas.openxmlformats.org/officeDocument/2006/relationships/hyperlink" Target="https://www.youtube.com/watch?v=mk2FBuTMwD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A486C-3C87-4F35-93A8-969582150ADD}"/>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5D032253-FF9A-470A-881B-A7C8696D1118}"/>
              </a:ext>
            </a:extLst>
          </p:cNvPr>
          <p:cNvSpPr>
            <a:spLocks noGrp="1"/>
          </p:cNvSpPr>
          <p:nvPr>
            <p:ph type="subTitle" idx="1"/>
          </p:nvPr>
        </p:nvSpPr>
        <p:spPr/>
        <p:txBody>
          <a:bodyPr/>
          <a:lstStyle/>
          <a:p>
            <a:endParaRPr lang="en-IN"/>
          </a:p>
        </p:txBody>
      </p:sp>
      <p:pic>
        <p:nvPicPr>
          <p:cNvPr id="7" name="Picture 6">
            <a:extLst>
              <a:ext uri="{FF2B5EF4-FFF2-40B4-BE49-F238E27FC236}">
                <a16:creationId xmlns:a16="http://schemas.microsoft.com/office/drawing/2014/main" id="{E9731301-8CE3-4DF7-9F96-B9AA530505E6}"/>
              </a:ext>
            </a:extLst>
          </p:cNvPr>
          <p:cNvPicPr>
            <a:picLocks noChangeAspect="1"/>
          </p:cNvPicPr>
          <p:nvPr/>
        </p:nvPicPr>
        <p:blipFill>
          <a:blip r:embed="rId2"/>
          <a:stretch>
            <a:fillRect/>
          </a:stretch>
        </p:blipFill>
        <p:spPr>
          <a:xfrm>
            <a:off x="106018" y="0"/>
            <a:ext cx="12085982" cy="6858000"/>
          </a:xfrm>
          <a:prstGeom prst="rect">
            <a:avLst/>
          </a:prstGeom>
        </p:spPr>
      </p:pic>
    </p:spTree>
    <p:extLst>
      <p:ext uri="{BB962C8B-B14F-4D97-AF65-F5344CB8AC3E}">
        <p14:creationId xmlns:p14="http://schemas.microsoft.com/office/powerpoint/2010/main" val="318395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797C9F-82AF-4443-8C2C-EA98E7A7664C}"/>
              </a:ext>
            </a:extLst>
          </p:cNvPr>
          <p:cNvPicPr>
            <a:picLocks noChangeAspect="1"/>
          </p:cNvPicPr>
          <p:nvPr/>
        </p:nvPicPr>
        <p:blipFill>
          <a:blip r:embed="rId2"/>
          <a:stretch>
            <a:fillRect/>
          </a:stretch>
        </p:blipFill>
        <p:spPr>
          <a:xfrm>
            <a:off x="437321" y="92765"/>
            <a:ext cx="11357113" cy="6573078"/>
          </a:xfrm>
          <a:prstGeom prst="rect">
            <a:avLst/>
          </a:prstGeom>
        </p:spPr>
      </p:pic>
    </p:spTree>
    <p:extLst>
      <p:ext uri="{BB962C8B-B14F-4D97-AF65-F5344CB8AC3E}">
        <p14:creationId xmlns:p14="http://schemas.microsoft.com/office/powerpoint/2010/main" val="3701037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E777EB-0810-4BE7-A644-898FAB32761B}"/>
              </a:ext>
            </a:extLst>
          </p:cNvPr>
          <p:cNvPicPr>
            <a:picLocks noChangeAspect="1"/>
          </p:cNvPicPr>
          <p:nvPr/>
        </p:nvPicPr>
        <p:blipFill>
          <a:blip r:embed="rId2"/>
          <a:stretch>
            <a:fillRect/>
          </a:stretch>
        </p:blipFill>
        <p:spPr>
          <a:xfrm>
            <a:off x="-145774" y="-106016"/>
            <a:ext cx="12708835" cy="6964016"/>
          </a:xfrm>
          <a:prstGeom prst="rect">
            <a:avLst/>
          </a:prstGeom>
        </p:spPr>
      </p:pic>
    </p:spTree>
    <p:extLst>
      <p:ext uri="{BB962C8B-B14F-4D97-AF65-F5344CB8AC3E}">
        <p14:creationId xmlns:p14="http://schemas.microsoft.com/office/powerpoint/2010/main" val="2383811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61293E-16BB-4AAB-A794-CC0E5F4750B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08548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7B3114-A8E2-40E5-BEAD-6C8D2B35013D}"/>
              </a:ext>
            </a:extLst>
          </p:cNvPr>
          <p:cNvSpPr txBox="1"/>
          <p:nvPr/>
        </p:nvSpPr>
        <p:spPr>
          <a:xfrm>
            <a:off x="198783" y="106018"/>
            <a:ext cx="11993217" cy="3357137"/>
          </a:xfrm>
          <a:prstGeom prst="rect">
            <a:avLst/>
          </a:prstGeom>
          <a:noFill/>
        </p:spPr>
        <p:txBody>
          <a:bodyPr wrap="square">
            <a:spAutoFit/>
          </a:bodyPr>
          <a:lstStyle/>
          <a:p>
            <a:pPr algn="just">
              <a:lnSpc>
                <a:spcPct val="150000"/>
              </a:lnSpc>
            </a:pPr>
            <a:r>
              <a:rPr lang="en-US" sz="2400" b="1" i="0" dirty="0">
                <a:solidFill>
                  <a:srgbClr val="FF0000"/>
                </a:solidFill>
                <a:effectLst/>
                <a:latin typeface="Times New Roman" panose="02020603050405020304" pitchFamily="18" charset="0"/>
                <a:cs typeface="Times New Roman" panose="02020603050405020304" pitchFamily="18" charset="0"/>
              </a:rPr>
              <a:t>What is Continuous Integration? </a:t>
            </a:r>
            <a:r>
              <a:rPr lang="en-US" sz="2400" b="0" i="0" dirty="0">
                <a:solidFill>
                  <a:srgbClr val="4A4A4A"/>
                </a:solidFill>
                <a:effectLst/>
                <a:latin typeface="Times New Roman" panose="02020603050405020304" pitchFamily="18" charset="0"/>
                <a:cs typeface="Times New Roman" panose="02020603050405020304" pitchFamily="18" charset="0"/>
              </a:rPr>
              <a:t>Continuous Integration is a development practice in which the developers are required to commit changes to the source code in a shared repository several times a day or more frequently. Every commit made in the repository is then built. This allows the teams to detect the problems early. Apart from this, depending on the Continuous Integration tool, there are several other functions like deploying the build application on the test server, providing the concerned teams with the build and test results, etc.</a:t>
            </a:r>
            <a:endParaRPr lang="en-IN" sz="2400" dirty="0"/>
          </a:p>
        </p:txBody>
      </p:sp>
    </p:spTree>
    <p:extLst>
      <p:ext uri="{BB962C8B-B14F-4D97-AF65-F5344CB8AC3E}">
        <p14:creationId xmlns:p14="http://schemas.microsoft.com/office/powerpoint/2010/main" val="81312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305169-D3D7-498B-814F-3A0729BBC20C}"/>
              </a:ext>
            </a:extLst>
          </p:cNvPr>
          <p:cNvPicPr>
            <a:picLocks noChangeAspect="1"/>
          </p:cNvPicPr>
          <p:nvPr/>
        </p:nvPicPr>
        <p:blipFill>
          <a:blip r:embed="rId2"/>
          <a:stretch>
            <a:fillRect/>
          </a:stretch>
        </p:blipFill>
        <p:spPr>
          <a:xfrm>
            <a:off x="0" y="278296"/>
            <a:ext cx="5791199" cy="3056282"/>
          </a:xfrm>
          <a:prstGeom prst="rect">
            <a:avLst/>
          </a:prstGeom>
        </p:spPr>
      </p:pic>
      <p:pic>
        <p:nvPicPr>
          <p:cNvPr id="4" name="Picture 3">
            <a:extLst>
              <a:ext uri="{FF2B5EF4-FFF2-40B4-BE49-F238E27FC236}">
                <a16:creationId xmlns:a16="http://schemas.microsoft.com/office/drawing/2014/main" id="{D9B8D74F-EC09-4DD3-B3CF-7BD7FFD8A7D1}"/>
              </a:ext>
            </a:extLst>
          </p:cNvPr>
          <p:cNvPicPr>
            <a:picLocks noChangeAspect="1"/>
          </p:cNvPicPr>
          <p:nvPr/>
        </p:nvPicPr>
        <p:blipFill>
          <a:blip r:embed="rId3"/>
          <a:stretch>
            <a:fillRect/>
          </a:stretch>
        </p:blipFill>
        <p:spPr>
          <a:xfrm>
            <a:off x="6175512" y="228808"/>
            <a:ext cx="5476047" cy="3200192"/>
          </a:xfrm>
          <a:prstGeom prst="rect">
            <a:avLst/>
          </a:prstGeom>
        </p:spPr>
      </p:pic>
      <p:pic>
        <p:nvPicPr>
          <p:cNvPr id="5" name="Picture 4">
            <a:extLst>
              <a:ext uri="{FF2B5EF4-FFF2-40B4-BE49-F238E27FC236}">
                <a16:creationId xmlns:a16="http://schemas.microsoft.com/office/drawing/2014/main" id="{14AA03A2-A573-4DB5-A023-2B1F8040E1F9}"/>
              </a:ext>
            </a:extLst>
          </p:cNvPr>
          <p:cNvPicPr>
            <a:picLocks noChangeAspect="1"/>
          </p:cNvPicPr>
          <p:nvPr/>
        </p:nvPicPr>
        <p:blipFill>
          <a:blip r:embed="rId4"/>
          <a:stretch>
            <a:fillRect/>
          </a:stretch>
        </p:blipFill>
        <p:spPr>
          <a:xfrm>
            <a:off x="166358" y="3543403"/>
            <a:ext cx="5465815" cy="3200192"/>
          </a:xfrm>
          <a:prstGeom prst="rect">
            <a:avLst/>
          </a:prstGeom>
        </p:spPr>
      </p:pic>
      <p:pic>
        <p:nvPicPr>
          <p:cNvPr id="6" name="Picture 5">
            <a:extLst>
              <a:ext uri="{FF2B5EF4-FFF2-40B4-BE49-F238E27FC236}">
                <a16:creationId xmlns:a16="http://schemas.microsoft.com/office/drawing/2014/main" id="{19109C42-B6CF-4410-9428-8D3E94F4ECB1}"/>
              </a:ext>
            </a:extLst>
          </p:cNvPr>
          <p:cNvPicPr>
            <a:picLocks noChangeAspect="1"/>
          </p:cNvPicPr>
          <p:nvPr/>
        </p:nvPicPr>
        <p:blipFill>
          <a:blip r:embed="rId5"/>
          <a:stretch>
            <a:fillRect/>
          </a:stretch>
        </p:blipFill>
        <p:spPr>
          <a:xfrm>
            <a:off x="6255026" y="3657806"/>
            <a:ext cx="5317021" cy="2971385"/>
          </a:xfrm>
          <a:prstGeom prst="rect">
            <a:avLst/>
          </a:prstGeom>
        </p:spPr>
      </p:pic>
    </p:spTree>
    <p:extLst>
      <p:ext uri="{BB962C8B-B14F-4D97-AF65-F5344CB8AC3E}">
        <p14:creationId xmlns:p14="http://schemas.microsoft.com/office/powerpoint/2010/main" val="4294504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223B05-5800-4C43-BD76-968E2740C04F}"/>
              </a:ext>
            </a:extLst>
          </p:cNvPr>
          <p:cNvPicPr>
            <a:picLocks noChangeAspect="1"/>
          </p:cNvPicPr>
          <p:nvPr/>
        </p:nvPicPr>
        <p:blipFill>
          <a:blip r:embed="rId2"/>
          <a:stretch>
            <a:fillRect/>
          </a:stretch>
        </p:blipFill>
        <p:spPr>
          <a:xfrm>
            <a:off x="530088" y="169963"/>
            <a:ext cx="9910141" cy="6138072"/>
          </a:xfrm>
          <a:prstGeom prst="rect">
            <a:avLst/>
          </a:prstGeom>
        </p:spPr>
      </p:pic>
    </p:spTree>
    <p:extLst>
      <p:ext uri="{BB962C8B-B14F-4D97-AF65-F5344CB8AC3E}">
        <p14:creationId xmlns:p14="http://schemas.microsoft.com/office/powerpoint/2010/main" val="3314440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5B50FB-7CB3-4BDB-A034-DD7A10353CED}"/>
              </a:ext>
            </a:extLst>
          </p:cNvPr>
          <p:cNvSpPr txBox="1"/>
          <p:nvPr/>
        </p:nvSpPr>
        <p:spPr>
          <a:xfrm>
            <a:off x="132522" y="185530"/>
            <a:ext cx="12059478" cy="6370975"/>
          </a:xfrm>
          <a:prstGeom prst="rect">
            <a:avLst/>
          </a:prstGeom>
          <a:noFill/>
        </p:spPr>
        <p:txBody>
          <a:bodyPr wrap="square">
            <a:spAutoFit/>
          </a:bodyPr>
          <a:lstStyle/>
          <a:p>
            <a:endParaRPr lang="en-US" sz="2400" dirty="0">
              <a:latin typeface="Times New Roman" panose="02020603050405020304" pitchFamily="18" charset="0"/>
              <a:cs typeface="Times New Roman" panose="02020603050405020304" pitchFamily="18" charset="0"/>
            </a:endParaRPr>
          </a:p>
          <a:p>
            <a:pPr algn="l"/>
            <a:r>
              <a:rPr lang="en-US" sz="2400" b="0" i="0" dirty="0">
                <a:solidFill>
                  <a:srgbClr val="FF0000"/>
                </a:solidFill>
                <a:effectLst/>
                <a:latin typeface="Times New Roman" panose="02020603050405020304" pitchFamily="18" charset="0"/>
                <a:cs typeface="Times New Roman" panose="02020603050405020304" pitchFamily="18" charset="0"/>
              </a:rPr>
              <a:t>What is a build server? </a:t>
            </a:r>
            <a:r>
              <a:rPr lang="en-US" sz="2400" b="0" i="0" dirty="0">
                <a:solidFill>
                  <a:srgbClr val="202124"/>
                </a:solidFill>
                <a:effectLst/>
                <a:latin typeface="Times New Roman" panose="02020603050405020304" pitchFamily="18" charset="0"/>
                <a:cs typeface="Times New Roman" panose="02020603050405020304" pitchFamily="18" charset="0"/>
              </a:rPr>
              <a:t>A build server, also called a continuous integration server (CI server), is </a:t>
            </a:r>
            <a:r>
              <a:rPr lang="en-US" sz="2400" b="1" i="0" dirty="0">
                <a:solidFill>
                  <a:srgbClr val="202124"/>
                </a:solidFill>
                <a:effectLst/>
                <a:latin typeface="Times New Roman" panose="02020603050405020304" pitchFamily="18" charset="0"/>
                <a:cs typeface="Times New Roman" panose="02020603050405020304" pitchFamily="18" charset="0"/>
              </a:rPr>
              <a:t>a centralized, stable and reliable environment for building distributed development projects</a:t>
            </a:r>
            <a:r>
              <a:rPr lang="en-US" sz="2400" b="0" i="0" dirty="0">
                <a:solidFill>
                  <a:srgbClr val="202124"/>
                </a:solidFill>
                <a:effectLst/>
                <a:latin typeface="Times New Roman" panose="02020603050405020304" pitchFamily="18" charset="0"/>
                <a:cs typeface="Times New Roman" panose="02020603050405020304" pitchFamily="18" charset="0"/>
              </a:rPr>
              <a:t>. ... A build server can also speed the development process by freeing up resources on developers' local machines.</a:t>
            </a:r>
          </a:p>
          <a:p>
            <a:pPr algn="l"/>
            <a:endParaRPr lang="en-US" sz="2400" dirty="0">
              <a:solidFill>
                <a:srgbClr val="202124"/>
              </a:solidFill>
              <a:latin typeface="Times New Roman" panose="02020603050405020304" pitchFamily="18" charset="0"/>
              <a:cs typeface="Times New Roman" panose="02020603050405020304" pitchFamily="18" charset="0"/>
            </a:endParaRPr>
          </a:p>
          <a:p>
            <a:pPr algn="l"/>
            <a:endParaRPr lang="en-US" sz="2400" b="0" i="0" dirty="0">
              <a:solidFill>
                <a:srgbClr val="202124"/>
              </a:solidFill>
              <a:effectLst/>
              <a:latin typeface="Times New Roman" panose="02020603050405020304" pitchFamily="18" charset="0"/>
              <a:cs typeface="Times New Roman" panose="02020603050405020304" pitchFamily="18" charset="0"/>
            </a:endParaRPr>
          </a:p>
          <a:p>
            <a:pPr algn="l"/>
            <a:endParaRPr lang="en-US" sz="2400" dirty="0">
              <a:solidFill>
                <a:srgbClr val="202124"/>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Jenkins, a continuous build tool, enables teams to focus on their work by automating the build, artifact management, and deployment processes Jenkins’ core functionality and flexibility allow it to fit in a variety of environments and can help streamline the development process for all stakeholders involved </a:t>
            </a:r>
          </a:p>
          <a:p>
            <a:pPr algn="l"/>
            <a:endParaRPr lang="en-US" sz="2400" b="0" i="0" dirty="0">
              <a:solidFill>
                <a:srgbClr val="202124"/>
              </a:solidFill>
              <a:effectLst/>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3027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43EE1B-73EB-473F-AEF2-6F35C75BAA74}"/>
              </a:ext>
            </a:extLst>
          </p:cNvPr>
          <p:cNvPicPr>
            <a:picLocks noChangeAspect="1"/>
          </p:cNvPicPr>
          <p:nvPr/>
        </p:nvPicPr>
        <p:blipFill>
          <a:blip r:embed="rId2"/>
          <a:stretch>
            <a:fillRect/>
          </a:stretch>
        </p:blipFill>
        <p:spPr>
          <a:xfrm>
            <a:off x="666880" y="918865"/>
            <a:ext cx="4978546" cy="5746979"/>
          </a:xfrm>
          <a:prstGeom prst="rect">
            <a:avLst/>
          </a:prstGeom>
        </p:spPr>
        <p:style>
          <a:lnRef idx="2">
            <a:schemeClr val="accent1">
              <a:shade val="50000"/>
            </a:schemeClr>
          </a:lnRef>
          <a:fillRef idx="1">
            <a:schemeClr val="accent1"/>
          </a:fillRef>
          <a:effectRef idx="0">
            <a:schemeClr val="accent1"/>
          </a:effectRef>
          <a:fontRef idx="minor">
            <a:schemeClr val="lt1"/>
          </a:fontRef>
        </p:style>
      </p:pic>
      <p:pic>
        <p:nvPicPr>
          <p:cNvPr id="13" name="Picture 12">
            <a:extLst>
              <a:ext uri="{FF2B5EF4-FFF2-40B4-BE49-F238E27FC236}">
                <a16:creationId xmlns:a16="http://schemas.microsoft.com/office/drawing/2014/main" id="{B6B3AE8A-E5E9-4BB2-822C-7FA802A3A767}"/>
              </a:ext>
            </a:extLst>
          </p:cNvPr>
          <p:cNvPicPr>
            <a:picLocks noChangeAspect="1"/>
          </p:cNvPicPr>
          <p:nvPr/>
        </p:nvPicPr>
        <p:blipFill>
          <a:blip r:embed="rId3"/>
          <a:stretch>
            <a:fillRect/>
          </a:stretch>
        </p:blipFill>
        <p:spPr>
          <a:xfrm>
            <a:off x="6228521" y="918865"/>
            <a:ext cx="5844209" cy="5486400"/>
          </a:xfrm>
          <a:prstGeom prst="rect">
            <a:avLst/>
          </a:prstGeom>
        </p:spPr>
      </p:pic>
      <p:sp>
        <p:nvSpPr>
          <p:cNvPr id="16" name="Arrow: Curved Down 15">
            <a:extLst>
              <a:ext uri="{FF2B5EF4-FFF2-40B4-BE49-F238E27FC236}">
                <a16:creationId xmlns:a16="http://schemas.microsoft.com/office/drawing/2014/main" id="{08C0F04F-1CCC-42F7-A001-21AFC0600D22}"/>
              </a:ext>
            </a:extLst>
          </p:cNvPr>
          <p:cNvSpPr/>
          <p:nvPr/>
        </p:nvSpPr>
        <p:spPr>
          <a:xfrm>
            <a:off x="2822712" y="344558"/>
            <a:ext cx="5844209" cy="168302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43944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081446-778A-4BAE-A6CA-5B45D21C0CB7}"/>
              </a:ext>
            </a:extLst>
          </p:cNvPr>
          <p:cNvPicPr>
            <a:picLocks noChangeAspect="1"/>
          </p:cNvPicPr>
          <p:nvPr/>
        </p:nvPicPr>
        <p:blipFill>
          <a:blip r:embed="rId2"/>
          <a:stretch>
            <a:fillRect/>
          </a:stretch>
        </p:blipFill>
        <p:spPr>
          <a:xfrm>
            <a:off x="-496108" y="-119269"/>
            <a:ext cx="13790545" cy="7341704"/>
          </a:xfrm>
          <a:prstGeom prst="rect">
            <a:avLst/>
          </a:prstGeom>
        </p:spPr>
      </p:pic>
    </p:spTree>
    <p:extLst>
      <p:ext uri="{BB962C8B-B14F-4D97-AF65-F5344CB8AC3E}">
        <p14:creationId xmlns:p14="http://schemas.microsoft.com/office/powerpoint/2010/main" val="1967754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063F37-76D3-4180-A6B7-8366D087D569}"/>
              </a:ext>
            </a:extLst>
          </p:cNvPr>
          <p:cNvPicPr>
            <a:picLocks noChangeAspect="1"/>
          </p:cNvPicPr>
          <p:nvPr/>
        </p:nvPicPr>
        <p:blipFill>
          <a:blip r:embed="rId2"/>
          <a:stretch>
            <a:fillRect/>
          </a:stretch>
        </p:blipFill>
        <p:spPr>
          <a:xfrm>
            <a:off x="1" y="0"/>
            <a:ext cx="12192000" cy="6983895"/>
          </a:xfrm>
          <a:prstGeom prst="rect">
            <a:avLst/>
          </a:prstGeom>
        </p:spPr>
      </p:pic>
    </p:spTree>
    <p:extLst>
      <p:ext uri="{BB962C8B-B14F-4D97-AF65-F5344CB8AC3E}">
        <p14:creationId xmlns:p14="http://schemas.microsoft.com/office/powerpoint/2010/main" val="3044518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EDDB14-499D-4C1D-AACB-60E2BDC9B65A}"/>
              </a:ext>
            </a:extLst>
          </p:cNvPr>
          <p:cNvPicPr>
            <a:picLocks noChangeAspect="1"/>
          </p:cNvPicPr>
          <p:nvPr/>
        </p:nvPicPr>
        <p:blipFill>
          <a:blip r:embed="rId2"/>
          <a:stretch>
            <a:fillRect/>
          </a:stretch>
        </p:blipFill>
        <p:spPr>
          <a:xfrm>
            <a:off x="0" y="0"/>
            <a:ext cx="12747430" cy="6732104"/>
          </a:xfrm>
          <a:prstGeom prst="rect">
            <a:avLst/>
          </a:prstGeom>
        </p:spPr>
      </p:pic>
    </p:spTree>
    <p:extLst>
      <p:ext uri="{BB962C8B-B14F-4D97-AF65-F5344CB8AC3E}">
        <p14:creationId xmlns:p14="http://schemas.microsoft.com/office/powerpoint/2010/main" val="2329813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E33197-19B0-4755-9616-0C2F44C45B94}"/>
              </a:ext>
            </a:extLst>
          </p:cNvPr>
          <p:cNvSpPr txBox="1"/>
          <p:nvPr/>
        </p:nvSpPr>
        <p:spPr>
          <a:xfrm>
            <a:off x="145773" y="1"/>
            <a:ext cx="11781183" cy="6001643"/>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Continuous Integration Example: Nokia</a:t>
            </a:r>
          </a:p>
          <a:p>
            <a:pPr algn="just"/>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I am pretty sure you all have used </a:t>
            </a:r>
            <a:r>
              <a:rPr lang="en-US" sz="2400" b="1" i="0" dirty="0">
                <a:solidFill>
                  <a:srgbClr val="4A4A4A"/>
                </a:solidFill>
                <a:effectLst/>
                <a:latin typeface="Times New Roman" panose="02020603050405020304" pitchFamily="18" charset="0"/>
                <a:cs typeface="Times New Roman" panose="02020603050405020304" pitchFamily="18" charset="0"/>
              </a:rPr>
              <a:t>Nokia</a:t>
            </a:r>
            <a:r>
              <a:rPr lang="en-US" sz="2400" b="0" i="0" dirty="0">
                <a:solidFill>
                  <a:srgbClr val="4A4A4A"/>
                </a:solidFill>
                <a:effectLst/>
                <a:latin typeface="Times New Roman" panose="02020603050405020304" pitchFamily="18" charset="0"/>
                <a:cs typeface="Times New Roman" panose="02020603050405020304" pitchFamily="18" charset="0"/>
              </a:rPr>
              <a:t> phones at some point in your life. In a software product development project at Nokia, there was a process called </a:t>
            </a:r>
            <a:r>
              <a:rPr lang="en-US" sz="2400" b="1" i="0" dirty="0">
                <a:solidFill>
                  <a:srgbClr val="4A4A4A"/>
                </a:solidFill>
                <a:effectLst/>
                <a:latin typeface="Times New Roman" panose="02020603050405020304" pitchFamily="18" charset="0"/>
                <a:cs typeface="Times New Roman" panose="02020603050405020304" pitchFamily="18" charset="0"/>
              </a:rPr>
              <a:t>Nightly builds</a:t>
            </a:r>
            <a:r>
              <a:rPr lang="en-US" sz="2400" b="0" i="0" dirty="0">
                <a:solidFill>
                  <a:srgbClr val="4A4A4A"/>
                </a:solidFill>
                <a:effectLst/>
                <a:latin typeface="Times New Roman" panose="02020603050405020304" pitchFamily="18" charset="0"/>
                <a:cs typeface="Times New Roman" panose="02020603050405020304" pitchFamily="18" charset="0"/>
              </a:rPr>
              <a:t>. </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Nightly builds can be thought of as a predecessor to Continuous Integration. </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It means that every night an automated system pulls the code added to the shared repository throughout the day and builds that code. The idea is quite similar to Continuous Integration, but since the code that was built at night was quite large, locating and fixing of bugs was a real pain. </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Due to this, Nokia adopted Continuous Integration (CI). As a result, every commit made to the source code in the repository was built. If the build result shows that there is a bug in the code, then the developers only need to check that particular commit. This significantly reduced the time required to release new software.</a:t>
            </a:r>
          </a:p>
        </p:txBody>
      </p:sp>
    </p:spTree>
    <p:extLst>
      <p:ext uri="{BB962C8B-B14F-4D97-AF65-F5344CB8AC3E}">
        <p14:creationId xmlns:p14="http://schemas.microsoft.com/office/powerpoint/2010/main" val="3116870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A33BCE-DB54-4DFE-B857-17E7DA545DD1}"/>
              </a:ext>
            </a:extLst>
          </p:cNvPr>
          <p:cNvPicPr>
            <a:picLocks noChangeAspect="1"/>
          </p:cNvPicPr>
          <p:nvPr/>
        </p:nvPicPr>
        <p:blipFill>
          <a:blip r:embed="rId2"/>
          <a:stretch>
            <a:fillRect/>
          </a:stretch>
        </p:blipFill>
        <p:spPr>
          <a:xfrm>
            <a:off x="1205948" y="914400"/>
            <a:ext cx="9992139" cy="5512904"/>
          </a:xfrm>
          <a:prstGeom prst="rect">
            <a:avLst/>
          </a:prstGeom>
        </p:spPr>
      </p:pic>
    </p:spTree>
    <p:extLst>
      <p:ext uri="{BB962C8B-B14F-4D97-AF65-F5344CB8AC3E}">
        <p14:creationId xmlns:p14="http://schemas.microsoft.com/office/powerpoint/2010/main" val="3838560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F7C6A3-F845-4B7B-A3C1-C6F839ECE751}"/>
              </a:ext>
            </a:extLst>
          </p:cNvPr>
          <p:cNvPicPr>
            <a:picLocks noChangeAspect="1"/>
          </p:cNvPicPr>
          <p:nvPr/>
        </p:nvPicPr>
        <p:blipFill>
          <a:blip r:embed="rId2"/>
          <a:stretch>
            <a:fillRect/>
          </a:stretch>
        </p:blipFill>
        <p:spPr>
          <a:xfrm>
            <a:off x="2171700" y="1128712"/>
            <a:ext cx="7848600" cy="4600575"/>
          </a:xfrm>
          <a:prstGeom prst="rect">
            <a:avLst/>
          </a:prstGeom>
        </p:spPr>
      </p:pic>
    </p:spTree>
    <p:extLst>
      <p:ext uri="{BB962C8B-B14F-4D97-AF65-F5344CB8AC3E}">
        <p14:creationId xmlns:p14="http://schemas.microsoft.com/office/powerpoint/2010/main" val="2938081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4532A7-8F93-4D9D-B952-29A1E2EBC729}"/>
              </a:ext>
            </a:extLst>
          </p:cNvPr>
          <p:cNvPicPr>
            <a:picLocks noChangeAspect="1"/>
          </p:cNvPicPr>
          <p:nvPr/>
        </p:nvPicPr>
        <p:blipFill>
          <a:blip r:embed="rId2"/>
          <a:stretch>
            <a:fillRect/>
          </a:stretch>
        </p:blipFill>
        <p:spPr>
          <a:xfrm>
            <a:off x="1924050" y="1285875"/>
            <a:ext cx="8343900" cy="4286250"/>
          </a:xfrm>
          <a:prstGeom prst="rect">
            <a:avLst/>
          </a:prstGeom>
        </p:spPr>
      </p:pic>
    </p:spTree>
    <p:extLst>
      <p:ext uri="{BB962C8B-B14F-4D97-AF65-F5344CB8AC3E}">
        <p14:creationId xmlns:p14="http://schemas.microsoft.com/office/powerpoint/2010/main" val="1052618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8CEBE5-67CB-4D4F-9F82-2472DCAC0119}"/>
              </a:ext>
            </a:extLst>
          </p:cNvPr>
          <p:cNvPicPr>
            <a:picLocks noChangeAspect="1"/>
          </p:cNvPicPr>
          <p:nvPr/>
        </p:nvPicPr>
        <p:blipFill>
          <a:blip r:embed="rId2"/>
          <a:stretch>
            <a:fillRect/>
          </a:stretch>
        </p:blipFill>
        <p:spPr>
          <a:xfrm>
            <a:off x="1857375" y="995362"/>
            <a:ext cx="8477250" cy="4867275"/>
          </a:xfrm>
          <a:prstGeom prst="rect">
            <a:avLst/>
          </a:prstGeom>
        </p:spPr>
      </p:pic>
    </p:spTree>
    <p:extLst>
      <p:ext uri="{BB962C8B-B14F-4D97-AF65-F5344CB8AC3E}">
        <p14:creationId xmlns:p14="http://schemas.microsoft.com/office/powerpoint/2010/main" val="806946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56D29-29BF-4672-A498-3DA5D41481B2}"/>
              </a:ext>
            </a:extLst>
          </p:cNvPr>
          <p:cNvPicPr>
            <a:picLocks noChangeAspect="1"/>
          </p:cNvPicPr>
          <p:nvPr/>
        </p:nvPicPr>
        <p:blipFill>
          <a:blip r:embed="rId2"/>
          <a:stretch>
            <a:fillRect/>
          </a:stretch>
        </p:blipFill>
        <p:spPr>
          <a:xfrm>
            <a:off x="331304" y="543339"/>
            <a:ext cx="11622157" cy="5764695"/>
          </a:xfrm>
          <a:prstGeom prst="rect">
            <a:avLst/>
          </a:prstGeom>
        </p:spPr>
      </p:pic>
    </p:spTree>
    <p:extLst>
      <p:ext uri="{BB962C8B-B14F-4D97-AF65-F5344CB8AC3E}">
        <p14:creationId xmlns:p14="http://schemas.microsoft.com/office/powerpoint/2010/main" val="42223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302A91-499B-4DD5-B530-AAFB7F953955}"/>
              </a:ext>
            </a:extLst>
          </p:cNvPr>
          <p:cNvPicPr>
            <a:picLocks noChangeAspect="1"/>
          </p:cNvPicPr>
          <p:nvPr/>
        </p:nvPicPr>
        <p:blipFill>
          <a:blip r:embed="rId2"/>
          <a:stretch>
            <a:fillRect/>
          </a:stretch>
        </p:blipFill>
        <p:spPr>
          <a:xfrm>
            <a:off x="1868558" y="808382"/>
            <a:ext cx="9613002" cy="5579165"/>
          </a:xfrm>
          <a:prstGeom prst="rect">
            <a:avLst/>
          </a:prstGeom>
        </p:spPr>
      </p:pic>
    </p:spTree>
    <p:extLst>
      <p:ext uri="{BB962C8B-B14F-4D97-AF65-F5344CB8AC3E}">
        <p14:creationId xmlns:p14="http://schemas.microsoft.com/office/powerpoint/2010/main" val="938405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27653A-DEA7-4E6D-9495-0E03CAD8B32B}"/>
              </a:ext>
            </a:extLst>
          </p:cNvPr>
          <p:cNvPicPr>
            <a:picLocks noChangeAspect="1"/>
          </p:cNvPicPr>
          <p:nvPr/>
        </p:nvPicPr>
        <p:blipFill>
          <a:blip r:embed="rId2"/>
          <a:stretch>
            <a:fillRect/>
          </a:stretch>
        </p:blipFill>
        <p:spPr>
          <a:xfrm>
            <a:off x="463826" y="636104"/>
            <a:ext cx="11025809" cy="5751444"/>
          </a:xfrm>
          <a:prstGeom prst="rect">
            <a:avLst/>
          </a:prstGeom>
        </p:spPr>
      </p:pic>
    </p:spTree>
    <p:extLst>
      <p:ext uri="{BB962C8B-B14F-4D97-AF65-F5344CB8AC3E}">
        <p14:creationId xmlns:p14="http://schemas.microsoft.com/office/powerpoint/2010/main" val="539884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E2328B-F924-4801-9EB2-CCC83ACF3F13}"/>
              </a:ext>
            </a:extLst>
          </p:cNvPr>
          <p:cNvPicPr>
            <a:picLocks noChangeAspect="1"/>
          </p:cNvPicPr>
          <p:nvPr/>
        </p:nvPicPr>
        <p:blipFill>
          <a:blip r:embed="rId2"/>
          <a:stretch>
            <a:fillRect/>
          </a:stretch>
        </p:blipFill>
        <p:spPr>
          <a:xfrm>
            <a:off x="105424" y="163773"/>
            <a:ext cx="11918254" cy="6170766"/>
          </a:xfrm>
          <a:prstGeom prst="rect">
            <a:avLst/>
          </a:prstGeom>
        </p:spPr>
      </p:pic>
    </p:spTree>
    <p:extLst>
      <p:ext uri="{BB962C8B-B14F-4D97-AF65-F5344CB8AC3E}">
        <p14:creationId xmlns:p14="http://schemas.microsoft.com/office/powerpoint/2010/main" val="2256360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AAAD12-8921-42C6-B36A-EB6987E79827}"/>
              </a:ext>
            </a:extLst>
          </p:cNvPr>
          <p:cNvPicPr>
            <a:picLocks noChangeAspect="1"/>
          </p:cNvPicPr>
          <p:nvPr/>
        </p:nvPicPr>
        <p:blipFill>
          <a:blip r:embed="rId2"/>
          <a:stretch>
            <a:fillRect/>
          </a:stretch>
        </p:blipFill>
        <p:spPr>
          <a:xfrm>
            <a:off x="1948069" y="871330"/>
            <a:ext cx="9952383" cy="5115339"/>
          </a:xfrm>
          <a:prstGeom prst="rect">
            <a:avLst/>
          </a:prstGeom>
        </p:spPr>
      </p:pic>
    </p:spTree>
    <p:extLst>
      <p:ext uri="{BB962C8B-B14F-4D97-AF65-F5344CB8AC3E}">
        <p14:creationId xmlns:p14="http://schemas.microsoft.com/office/powerpoint/2010/main" val="3959176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B7FA68-C95A-499F-895B-17F4F0D7D84B}"/>
              </a:ext>
            </a:extLst>
          </p:cNvPr>
          <p:cNvPicPr>
            <a:picLocks noChangeAspect="1"/>
          </p:cNvPicPr>
          <p:nvPr/>
        </p:nvPicPr>
        <p:blipFill>
          <a:blip r:embed="rId2"/>
          <a:stretch>
            <a:fillRect/>
          </a:stretch>
        </p:blipFill>
        <p:spPr>
          <a:xfrm>
            <a:off x="145774" y="357809"/>
            <a:ext cx="11622155" cy="5830956"/>
          </a:xfrm>
          <a:prstGeom prst="rect">
            <a:avLst/>
          </a:prstGeom>
        </p:spPr>
      </p:pic>
    </p:spTree>
    <p:extLst>
      <p:ext uri="{BB962C8B-B14F-4D97-AF65-F5344CB8AC3E}">
        <p14:creationId xmlns:p14="http://schemas.microsoft.com/office/powerpoint/2010/main" val="1345623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8D5640-0864-421E-A61A-63C5DE837FF7}"/>
              </a:ext>
            </a:extLst>
          </p:cNvPr>
          <p:cNvSpPr txBox="1"/>
          <p:nvPr/>
        </p:nvSpPr>
        <p:spPr>
          <a:xfrm>
            <a:off x="397565" y="357809"/>
            <a:ext cx="11635409" cy="6001643"/>
          </a:xfrm>
          <a:prstGeom prst="rect">
            <a:avLst/>
          </a:prstGeom>
          <a:noFill/>
        </p:spPr>
        <p:txBody>
          <a:bodyPr wrap="square">
            <a:spAutoFit/>
          </a:bodyPr>
          <a:lstStyle/>
          <a:p>
            <a:pPr algn="l"/>
            <a:endParaRPr lang="en-US" sz="2400" b="0" i="0" dirty="0">
              <a:solidFill>
                <a:srgbClr val="272C37"/>
              </a:solidFill>
              <a:effectLst/>
              <a:latin typeface="Times New Roman" panose="02020603050405020304" pitchFamily="18" charset="0"/>
              <a:cs typeface="Times New Roman" panose="02020603050405020304" pitchFamily="18" charset="0"/>
            </a:endParaRPr>
          </a:p>
          <a:p>
            <a:pPr algn="l"/>
            <a:r>
              <a:rPr lang="en-US" sz="2400" b="0" i="0" dirty="0">
                <a:solidFill>
                  <a:srgbClr val="4A4A4A"/>
                </a:solidFill>
                <a:effectLst/>
                <a:latin typeface="Times New Roman" panose="02020603050405020304" pitchFamily="18" charset="0"/>
                <a:cs typeface="Times New Roman" panose="02020603050405020304" pitchFamily="18" charset="0"/>
              </a:rPr>
              <a:t>Continuous Integration is the most important part of DevOps that is used to integrate various </a:t>
            </a:r>
            <a:r>
              <a:rPr lang="en-US" sz="2400" b="1" i="1" u="none" strike="noStrike" dirty="0">
                <a:solidFill>
                  <a:srgbClr val="007BFF"/>
                </a:solidFill>
                <a:effectLst/>
                <a:latin typeface="Times New Roman" panose="02020603050405020304" pitchFamily="18" charset="0"/>
                <a:cs typeface="Times New Roman" panose="02020603050405020304" pitchFamily="18" charset="0"/>
                <a:hlinkClick r:id="rId2"/>
              </a:rPr>
              <a:t>DevOps stages</a:t>
            </a:r>
            <a:r>
              <a:rPr lang="en-US" sz="2400" b="0" i="0" dirty="0">
                <a:solidFill>
                  <a:srgbClr val="4A4A4A"/>
                </a:solidFill>
                <a:effectLst/>
                <a:latin typeface="Times New Roman" panose="02020603050405020304" pitchFamily="18" charset="0"/>
                <a:cs typeface="Times New Roman" panose="02020603050405020304" pitchFamily="18" charset="0"/>
              </a:rPr>
              <a:t>. </a:t>
            </a:r>
            <a:r>
              <a:rPr lang="en-US" sz="2400" b="0" i="0" dirty="0">
                <a:solidFill>
                  <a:srgbClr val="FF0000"/>
                </a:solidFill>
                <a:effectLst/>
                <a:latin typeface="Times New Roman" panose="02020603050405020304" pitchFamily="18" charset="0"/>
                <a:cs typeface="Times New Roman" panose="02020603050405020304" pitchFamily="18" charset="0"/>
              </a:rPr>
              <a:t>Jenkins is the most famous Continuous Integration tool</a:t>
            </a:r>
            <a:endParaRPr lang="en-US" sz="2400" dirty="0">
              <a:solidFill>
                <a:srgbClr val="FF0000"/>
              </a:solidFill>
              <a:latin typeface="Times New Roman" panose="02020603050405020304" pitchFamily="18" charset="0"/>
              <a:cs typeface="Times New Roman" panose="02020603050405020304" pitchFamily="18" charset="0"/>
            </a:endParaRPr>
          </a:p>
          <a:p>
            <a:pPr algn="l"/>
            <a:endParaRPr lang="en-US" sz="2400" b="0" i="0" dirty="0">
              <a:solidFill>
                <a:srgbClr val="272C37"/>
              </a:solidFill>
              <a:effectLst/>
              <a:latin typeface="Times New Roman" panose="02020603050405020304" pitchFamily="18" charset="0"/>
              <a:cs typeface="Times New Roman" panose="02020603050405020304" pitchFamily="18" charset="0"/>
            </a:endParaRPr>
          </a:p>
          <a:p>
            <a:pPr algn="l"/>
            <a:endParaRPr lang="en-US" sz="2400" dirty="0">
              <a:solidFill>
                <a:srgbClr val="272C37"/>
              </a:solidFill>
              <a:latin typeface="Times New Roman" panose="02020603050405020304" pitchFamily="18" charset="0"/>
              <a:cs typeface="Times New Roman" panose="02020603050405020304" pitchFamily="18" charset="0"/>
            </a:endParaRPr>
          </a:p>
          <a:p>
            <a:pPr algn="l"/>
            <a:r>
              <a:rPr lang="en-US" sz="2400" b="0" i="0" dirty="0">
                <a:solidFill>
                  <a:srgbClr val="FF0000"/>
                </a:solidFill>
                <a:effectLst/>
                <a:latin typeface="Times New Roman" panose="02020603050405020304" pitchFamily="18" charset="0"/>
                <a:cs typeface="Times New Roman" panose="02020603050405020304" pitchFamily="18" charset="0"/>
              </a:rPr>
              <a:t>What is Jenkins?</a:t>
            </a:r>
          </a:p>
          <a:p>
            <a:pPr algn="l"/>
            <a:r>
              <a:rPr lang="en-US" sz="2400" b="0" i="0" dirty="0">
                <a:solidFill>
                  <a:srgbClr val="51565E"/>
                </a:solidFill>
                <a:effectLst/>
                <a:latin typeface="Times New Roman" panose="02020603050405020304" pitchFamily="18" charset="0"/>
                <a:cs typeface="Times New Roman" panose="02020603050405020304" pitchFamily="18" charset="0"/>
              </a:rPr>
              <a:t>Jenkins to the rescue! As a Continuous Integration tool, Jenkins allows seamless, ongoing development, testing, and deployment of newly created code. </a:t>
            </a:r>
          </a:p>
          <a:p>
            <a:pPr algn="l"/>
            <a:endParaRPr lang="en-US" sz="2400" dirty="0">
              <a:solidFill>
                <a:srgbClr val="51565E"/>
              </a:solidFill>
              <a:latin typeface="Times New Roman" panose="02020603050405020304" pitchFamily="18" charset="0"/>
              <a:cs typeface="Times New Roman" panose="02020603050405020304" pitchFamily="18" charset="0"/>
            </a:endParaRPr>
          </a:p>
          <a:p>
            <a:pPr algn="l"/>
            <a:r>
              <a:rPr lang="en-US" sz="2400" b="0" i="0" dirty="0">
                <a:solidFill>
                  <a:srgbClr val="51565E"/>
                </a:solidFill>
                <a:effectLst/>
                <a:latin typeface="Times New Roman" panose="02020603050405020304" pitchFamily="18" charset="0"/>
                <a:cs typeface="Times New Roman" panose="02020603050405020304" pitchFamily="18" charset="0"/>
              </a:rPr>
              <a:t>Continuous Integration is a process wherein developers commit changes to source code from a shared repository, and all the changes to the source code are built continuously. </a:t>
            </a:r>
          </a:p>
          <a:p>
            <a:pPr algn="l"/>
            <a:endParaRPr lang="en-US" sz="2400" dirty="0">
              <a:solidFill>
                <a:srgbClr val="51565E"/>
              </a:solidFill>
              <a:latin typeface="Times New Roman" panose="02020603050405020304" pitchFamily="18" charset="0"/>
              <a:cs typeface="Times New Roman" panose="02020603050405020304" pitchFamily="18" charset="0"/>
            </a:endParaRPr>
          </a:p>
          <a:p>
            <a:pPr algn="l"/>
            <a:r>
              <a:rPr lang="en-US" sz="2400" b="0" i="0" dirty="0">
                <a:solidFill>
                  <a:srgbClr val="51565E"/>
                </a:solidFill>
                <a:effectLst/>
                <a:latin typeface="Times New Roman" panose="02020603050405020304" pitchFamily="18" charset="0"/>
                <a:cs typeface="Times New Roman" panose="02020603050405020304" pitchFamily="18" charset="0"/>
              </a:rPr>
              <a:t>This can occur multiple times daily. Each commit is continuously monitored by the CI Server, increasing the efficiency of code builds and verification. </a:t>
            </a:r>
          </a:p>
          <a:p>
            <a:pPr algn="l"/>
            <a:endParaRPr lang="en-US" sz="2400" dirty="0">
              <a:solidFill>
                <a:srgbClr val="51565E"/>
              </a:solidFill>
              <a:latin typeface="Times New Roman" panose="02020603050405020304" pitchFamily="18" charset="0"/>
              <a:cs typeface="Times New Roman" panose="02020603050405020304" pitchFamily="18" charset="0"/>
            </a:endParaRPr>
          </a:p>
          <a:p>
            <a:pPr algn="l"/>
            <a:r>
              <a:rPr lang="en-US" sz="2400" b="0" i="0" dirty="0">
                <a:solidFill>
                  <a:srgbClr val="51565E"/>
                </a:solidFill>
                <a:effectLst/>
                <a:latin typeface="Times New Roman" panose="02020603050405020304" pitchFamily="18" charset="0"/>
                <a:cs typeface="Times New Roman" panose="02020603050405020304" pitchFamily="18" charset="0"/>
              </a:rPr>
              <a:t>This removes the testers' burdens, permitting quicker integration and fewer wasted resources.</a:t>
            </a:r>
          </a:p>
        </p:txBody>
      </p:sp>
    </p:spTree>
    <p:extLst>
      <p:ext uri="{BB962C8B-B14F-4D97-AF65-F5344CB8AC3E}">
        <p14:creationId xmlns:p14="http://schemas.microsoft.com/office/powerpoint/2010/main" val="3164605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1BEAAC-2E96-4818-80A4-1219A1B161D0}"/>
              </a:ext>
            </a:extLst>
          </p:cNvPr>
          <p:cNvSpPr txBox="1"/>
          <p:nvPr/>
        </p:nvSpPr>
        <p:spPr>
          <a:xfrm>
            <a:off x="0" y="0"/>
            <a:ext cx="12192000" cy="6370975"/>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What is Jenkins and why we use it?</a:t>
            </a:r>
          </a:p>
          <a:p>
            <a:pPr algn="just"/>
            <a:endParaRPr lang="en-US" sz="2400" b="0" i="0" dirty="0">
              <a:solidFill>
                <a:srgbClr val="FF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Jenkins is an open-source automation tool written in Java with plugins built for Continuous Integration purposes.</a:t>
            </a:r>
          </a:p>
          <a:p>
            <a:pPr marL="342900" indent="-34290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 </a:t>
            </a:r>
            <a:r>
              <a:rPr lang="en-US" sz="2400" b="0" i="0" dirty="0">
                <a:solidFill>
                  <a:srgbClr val="FF0000"/>
                </a:solidFill>
                <a:effectLst/>
                <a:latin typeface="Times New Roman" panose="02020603050405020304" pitchFamily="18" charset="0"/>
                <a:cs typeface="Times New Roman" panose="02020603050405020304" pitchFamily="18" charset="0"/>
              </a:rPr>
              <a:t>Jenkins is used to build and test your software projects continuously making it easier for developers to integrate changes to the project, and making it easier for users to obtain a fresh build. It also allows you to continuously deliver your software by integrating with a large number of testing and deployment technologies.</a:t>
            </a:r>
          </a:p>
          <a:p>
            <a:pPr marL="342900" indent="-34290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With Jenkins, organizations can accelerate the software development process through automation. Jenkins integrates development life-cycle processes of all kinds, including build, document, test, package, stage, deploy, static analysis, and much more.</a:t>
            </a:r>
          </a:p>
          <a:p>
            <a:pPr marL="342900" indent="-342900" algn="just">
              <a:buFont typeface="Wingdings" panose="05000000000000000000" pitchFamily="2" charset="2"/>
              <a:buChar char="Ø"/>
            </a:pPr>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Jenkins achieves Continuous Integration with the help of plugins. Plugins allow the integration of Various DevOps stages. </a:t>
            </a:r>
          </a:p>
          <a:p>
            <a:pPr marL="342900" indent="-34290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194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5807C7-1A63-42FE-8159-545B58475072}"/>
              </a:ext>
            </a:extLst>
          </p:cNvPr>
          <p:cNvPicPr>
            <a:picLocks noChangeAspect="1"/>
          </p:cNvPicPr>
          <p:nvPr/>
        </p:nvPicPr>
        <p:blipFill>
          <a:blip r:embed="rId2"/>
          <a:stretch>
            <a:fillRect/>
          </a:stretch>
        </p:blipFill>
        <p:spPr>
          <a:xfrm>
            <a:off x="170870" y="0"/>
            <a:ext cx="12021130" cy="6639339"/>
          </a:xfrm>
          <a:prstGeom prst="rect">
            <a:avLst/>
          </a:prstGeom>
        </p:spPr>
      </p:pic>
    </p:spTree>
    <p:extLst>
      <p:ext uri="{BB962C8B-B14F-4D97-AF65-F5344CB8AC3E}">
        <p14:creationId xmlns:p14="http://schemas.microsoft.com/office/powerpoint/2010/main" val="1806975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108B6D-C560-4360-B817-C937673B2372}"/>
              </a:ext>
            </a:extLst>
          </p:cNvPr>
          <p:cNvSpPr txBox="1"/>
          <p:nvPr/>
        </p:nvSpPr>
        <p:spPr>
          <a:xfrm>
            <a:off x="516835" y="424070"/>
            <a:ext cx="11343861" cy="3719288"/>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Advantages of Jenkins include:</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2400" b="0" i="0" dirty="0">
                <a:solidFill>
                  <a:srgbClr val="4A4A4A"/>
                </a:solidFill>
                <a:effectLst/>
                <a:latin typeface="Times New Roman" panose="02020603050405020304" pitchFamily="18" charset="0"/>
                <a:cs typeface="Times New Roman" panose="02020603050405020304" pitchFamily="18" charset="0"/>
              </a:rPr>
              <a:t>It is an open-source tool with great community support.</a:t>
            </a:r>
          </a:p>
          <a:p>
            <a:pPr marL="342900" indent="-342900" algn="just">
              <a:lnSpc>
                <a:spcPct val="150000"/>
              </a:lnSpc>
              <a:buFont typeface="Wingdings" panose="05000000000000000000" pitchFamily="2" charset="2"/>
              <a:buChar char="ü"/>
            </a:pPr>
            <a:r>
              <a:rPr lang="en-US" sz="2400" b="0" i="0" dirty="0">
                <a:solidFill>
                  <a:srgbClr val="4A4A4A"/>
                </a:solidFill>
                <a:effectLst/>
                <a:latin typeface="Times New Roman" panose="02020603050405020304" pitchFamily="18" charset="0"/>
                <a:cs typeface="Times New Roman" panose="02020603050405020304" pitchFamily="18" charset="0"/>
              </a:rPr>
              <a:t>It is easy to install.</a:t>
            </a:r>
          </a:p>
          <a:p>
            <a:pPr marL="342900" indent="-342900" algn="just">
              <a:lnSpc>
                <a:spcPct val="150000"/>
              </a:lnSpc>
              <a:buFont typeface="Wingdings" panose="05000000000000000000" pitchFamily="2" charset="2"/>
              <a:buChar char="ü"/>
            </a:pPr>
            <a:r>
              <a:rPr lang="en-US" sz="2400" b="0" i="0" dirty="0">
                <a:solidFill>
                  <a:srgbClr val="4A4A4A"/>
                </a:solidFill>
                <a:effectLst/>
                <a:latin typeface="Times New Roman" panose="02020603050405020304" pitchFamily="18" charset="0"/>
                <a:cs typeface="Times New Roman" panose="02020603050405020304" pitchFamily="18" charset="0"/>
              </a:rPr>
              <a:t>It has 1000+ plugins to ease your work. If a plugin does not exist, you can code it and share it with the community.</a:t>
            </a:r>
          </a:p>
          <a:p>
            <a:pPr marL="342900" indent="-342900" algn="just">
              <a:lnSpc>
                <a:spcPct val="150000"/>
              </a:lnSpc>
              <a:buFont typeface="Wingdings" panose="05000000000000000000" pitchFamily="2" charset="2"/>
              <a:buChar char="ü"/>
            </a:pPr>
            <a:r>
              <a:rPr lang="en-US" sz="2400" b="0" i="0" dirty="0">
                <a:solidFill>
                  <a:srgbClr val="4A4A4A"/>
                </a:solidFill>
                <a:effectLst/>
                <a:latin typeface="Times New Roman" panose="02020603050405020304" pitchFamily="18" charset="0"/>
                <a:cs typeface="Times New Roman" panose="02020603050405020304" pitchFamily="18" charset="0"/>
              </a:rPr>
              <a:t>It is free of cost.</a:t>
            </a:r>
          </a:p>
          <a:p>
            <a:pPr marL="342900" indent="-342900" algn="just">
              <a:lnSpc>
                <a:spcPct val="150000"/>
              </a:lnSpc>
              <a:buFont typeface="Wingdings" panose="05000000000000000000" pitchFamily="2" charset="2"/>
              <a:buChar char="ü"/>
            </a:pPr>
            <a:r>
              <a:rPr lang="en-US" sz="2400" b="0" i="0" dirty="0">
                <a:solidFill>
                  <a:srgbClr val="4A4A4A"/>
                </a:solidFill>
                <a:effectLst/>
                <a:latin typeface="Times New Roman" panose="02020603050405020304" pitchFamily="18" charset="0"/>
                <a:cs typeface="Times New Roman" panose="02020603050405020304" pitchFamily="18" charset="0"/>
              </a:rPr>
              <a:t>It is built with Java and hence, it is portable to all the major platforms.</a:t>
            </a:r>
          </a:p>
        </p:txBody>
      </p:sp>
    </p:spTree>
    <p:extLst>
      <p:ext uri="{BB962C8B-B14F-4D97-AF65-F5344CB8AC3E}">
        <p14:creationId xmlns:p14="http://schemas.microsoft.com/office/powerpoint/2010/main" val="2730388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110A83-6F89-446E-B928-DE0E2BE10361}"/>
              </a:ext>
            </a:extLst>
          </p:cNvPr>
          <p:cNvPicPr>
            <a:picLocks noChangeAspect="1"/>
          </p:cNvPicPr>
          <p:nvPr/>
        </p:nvPicPr>
        <p:blipFill>
          <a:blip r:embed="rId2"/>
          <a:stretch>
            <a:fillRect/>
          </a:stretch>
        </p:blipFill>
        <p:spPr>
          <a:xfrm>
            <a:off x="753488" y="715617"/>
            <a:ext cx="10892896" cy="5119066"/>
          </a:xfrm>
          <a:prstGeom prst="rect">
            <a:avLst/>
          </a:prstGeom>
        </p:spPr>
      </p:pic>
    </p:spTree>
    <p:extLst>
      <p:ext uri="{BB962C8B-B14F-4D97-AF65-F5344CB8AC3E}">
        <p14:creationId xmlns:p14="http://schemas.microsoft.com/office/powerpoint/2010/main" val="3357659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enkins integration-What is Jenkins - Edureka">
            <a:extLst>
              <a:ext uri="{FF2B5EF4-FFF2-40B4-BE49-F238E27FC236}">
                <a16:creationId xmlns:a16="http://schemas.microsoft.com/office/drawing/2014/main" id="{2117AAA9-0201-427A-9881-3D371A513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505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E42487-F410-4756-87D8-C7498513D58F}"/>
              </a:ext>
            </a:extLst>
          </p:cNvPr>
          <p:cNvSpPr txBox="1"/>
          <p:nvPr/>
        </p:nvSpPr>
        <p:spPr>
          <a:xfrm>
            <a:off x="0" y="0"/>
            <a:ext cx="12192000" cy="6119945"/>
          </a:xfrm>
          <a:prstGeom prst="rect">
            <a:avLst/>
          </a:prstGeom>
          <a:noFill/>
        </p:spPr>
        <p:txBody>
          <a:bodyPr wrap="square">
            <a:spAutoFit/>
          </a:bodyPr>
          <a:lstStyle/>
          <a:p>
            <a:pPr algn="just">
              <a:lnSpc>
                <a:spcPct val="150000"/>
              </a:lnSpc>
            </a:pPr>
            <a:r>
              <a:rPr lang="en-US" sz="2400" b="1" i="0" dirty="0">
                <a:solidFill>
                  <a:srgbClr val="FF0000"/>
                </a:solidFill>
                <a:effectLst/>
                <a:latin typeface="Times New Roman" panose="02020603050405020304" pitchFamily="18" charset="0"/>
                <a:cs typeface="Times New Roman" panose="02020603050405020304" pitchFamily="18" charset="0"/>
              </a:rPr>
              <a:t>Jenkins Features</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just">
              <a:lnSpc>
                <a:spcPct val="150000"/>
              </a:lnSpc>
            </a:pPr>
            <a:r>
              <a:rPr lang="en-US" sz="2400" b="0" i="0" dirty="0">
                <a:solidFill>
                  <a:srgbClr val="4A4A4A"/>
                </a:solidFill>
                <a:effectLst/>
                <a:latin typeface="Times New Roman" panose="02020603050405020304" pitchFamily="18" charset="0"/>
                <a:cs typeface="Times New Roman" panose="02020603050405020304" pitchFamily="18" charset="0"/>
              </a:rPr>
              <a:t>The following are some facts about Jenkins that makes it better than other Continuous Integration tools:</a:t>
            </a:r>
          </a:p>
          <a:p>
            <a:pPr algn="just">
              <a:lnSpc>
                <a:spcPct val="150000"/>
              </a:lnSpc>
              <a:buFont typeface="Arial" panose="020B0604020202020204" pitchFamily="34" charset="0"/>
              <a:buChar char="•"/>
            </a:pPr>
            <a:r>
              <a:rPr lang="en-US" sz="2400" b="1" i="0" dirty="0">
                <a:solidFill>
                  <a:srgbClr val="FF0000"/>
                </a:solidFill>
                <a:effectLst/>
                <a:latin typeface="Times New Roman" panose="02020603050405020304" pitchFamily="18" charset="0"/>
                <a:cs typeface="Times New Roman" panose="02020603050405020304" pitchFamily="18" charset="0"/>
              </a:rPr>
              <a:t>Adoption:</a:t>
            </a:r>
            <a:r>
              <a:rPr lang="en-US" sz="2400" b="0" i="0" dirty="0">
                <a:solidFill>
                  <a:srgbClr val="FF0000"/>
                </a:solidFill>
                <a:effectLst/>
                <a:latin typeface="Times New Roman" panose="02020603050405020304" pitchFamily="18" charset="0"/>
                <a:cs typeface="Times New Roman" panose="02020603050405020304" pitchFamily="18" charset="0"/>
              </a:rPr>
              <a:t> </a:t>
            </a:r>
            <a:r>
              <a:rPr lang="en-US" sz="2400" b="0" i="0" dirty="0">
                <a:solidFill>
                  <a:srgbClr val="4A4A4A"/>
                </a:solidFill>
                <a:effectLst/>
                <a:latin typeface="Times New Roman" panose="02020603050405020304" pitchFamily="18" charset="0"/>
                <a:cs typeface="Times New Roman" panose="02020603050405020304" pitchFamily="18" charset="0"/>
              </a:rPr>
              <a:t>Jenkins is widespread, with more than 147,000 active installations and over 1 million users around the world.</a:t>
            </a:r>
          </a:p>
          <a:p>
            <a:pPr algn="just">
              <a:lnSpc>
                <a:spcPct val="150000"/>
              </a:lnSpc>
              <a:buFont typeface="Arial" panose="020B0604020202020204" pitchFamily="34" charset="0"/>
              <a:buChar char="•"/>
            </a:pPr>
            <a:r>
              <a:rPr lang="en-US" sz="2400" b="1" i="0" dirty="0">
                <a:solidFill>
                  <a:srgbClr val="FF0000"/>
                </a:solidFill>
                <a:effectLst/>
                <a:latin typeface="Times New Roman" panose="02020603050405020304" pitchFamily="18" charset="0"/>
                <a:cs typeface="Times New Roman" panose="02020603050405020304" pitchFamily="18" charset="0"/>
              </a:rPr>
              <a:t>Plugins:</a:t>
            </a:r>
            <a:r>
              <a:rPr lang="en-US" sz="2400" b="0" i="0" dirty="0">
                <a:solidFill>
                  <a:srgbClr val="FF0000"/>
                </a:solidFill>
                <a:effectLst/>
                <a:latin typeface="Times New Roman" panose="02020603050405020304" pitchFamily="18" charset="0"/>
                <a:cs typeface="Times New Roman" panose="02020603050405020304" pitchFamily="18" charset="0"/>
              </a:rPr>
              <a:t> </a:t>
            </a:r>
            <a:r>
              <a:rPr lang="en-US" sz="2400" b="0" i="0" dirty="0">
                <a:solidFill>
                  <a:srgbClr val="4A4A4A"/>
                </a:solidFill>
                <a:effectLst/>
                <a:latin typeface="Times New Roman" panose="02020603050405020304" pitchFamily="18" charset="0"/>
                <a:cs typeface="Times New Roman" panose="02020603050405020304" pitchFamily="18" charset="0"/>
              </a:rPr>
              <a:t>Jenkins is interconnected with well over 1,000 plugins that allow it to integrate with most of the development, testing and deployment tools.</a:t>
            </a:r>
          </a:p>
          <a:p>
            <a:pPr algn="just">
              <a:lnSpc>
                <a:spcPct val="150000"/>
              </a:lnSpc>
            </a:pPr>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just">
              <a:lnSpc>
                <a:spcPct val="150000"/>
              </a:lnSpc>
            </a:pPr>
            <a:r>
              <a:rPr lang="en-US" sz="2400" b="0" i="0" dirty="0">
                <a:solidFill>
                  <a:srgbClr val="4A4A4A"/>
                </a:solidFill>
                <a:effectLst/>
                <a:latin typeface="Times New Roman" panose="02020603050405020304" pitchFamily="18" charset="0"/>
                <a:cs typeface="Times New Roman" panose="02020603050405020304" pitchFamily="18" charset="0"/>
              </a:rPr>
              <a:t>It is evident from the above points that Jenkins has a very high demand globally. Before we dive into Jenkins it is important to know what is Continuous Integration and why it was introduced.</a:t>
            </a:r>
          </a:p>
          <a:p>
            <a:pPr algn="just">
              <a:lnSpc>
                <a:spcPct val="150000"/>
              </a:lnSpc>
            </a:pPr>
            <a:endParaRPr lang="en-US" sz="2400" b="0" i="0" dirty="0">
              <a:solidFill>
                <a:srgbClr val="4A4A4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6732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22DECF-7ACD-4423-AAD6-3A411752EFB0}"/>
              </a:ext>
            </a:extLst>
          </p:cNvPr>
          <p:cNvPicPr>
            <a:picLocks noChangeAspect="1"/>
          </p:cNvPicPr>
          <p:nvPr/>
        </p:nvPicPr>
        <p:blipFill>
          <a:blip r:embed="rId2"/>
          <a:stretch>
            <a:fillRect/>
          </a:stretch>
        </p:blipFill>
        <p:spPr>
          <a:xfrm>
            <a:off x="0" y="-99391"/>
            <a:ext cx="12284765" cy="6957391"/>
          </a:xfrm>
          <a:prstGeom prst="rect">
            <a:avLst/>
          </a:prstGeom>
        </p:spPr>
      </p:pic>
    </p:spTree>
    <p:extLst>
      <p:ext uri="{BB962C8B-B14F-4D97-AF65-F5344CB8AC3E}">
        <p14:creationId xmlns:p14="http://schemas.microsoft.com/office/powerpoint/2010/main" val="296306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05DB2-666C-411D-8166-549C6C9A5844}"/>
              </a:ext>
            </a:extLst>
          </p:cNvPr>
          <p:cNvSpPr txBox="1"/>
          <p:nvPr/>
        </p:nvSpPr>
        <p:spPr>
          <a:xfrm>
            <a:off x="119271" y="0"/>
            <a:ext cx="11834190" cy="5262979"/>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This single Jenkins server was not enough to meet certain requirements like:</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Sometimes you might need several different environments to test your builds. This cannot be done by a single Jenkins server.</a:t>
            </a:r>
          </a:p>
          <a:p>
            <a:pPr marL="342900" indent="-342900" algn="just">
              <a:buFont typeface="Wingdings" panose="05000000000000000000" pitchFamily="2" charset="2"/>
              <a:buChar char="Ø"/>
            </a:pPr>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If larger and heavier projects get built on a regular basis then a single Jenkins server cannot simply handle the entire load.</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To address the above-stated needs, Jenkins distributed architecture came into the picture.</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Jenkins Distributed Architecture</a:t>
            </a:r>
          </a:p>
          <a:p>
            <a:pPr algn="l"/>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Jenkins uses a Master-Slave architecture to manage distributed builds. In this architecture, Master and Slave communicate through TCP/IP protocol.</a:t>
            </a:r>
          </a:p>
        </p:txBody>
      </p:sp>
    </p:spTree>
    <p:extLst>
      <p:ext uri="{BB962C8B-B14F-4D97-AF65-F5344CB8AC3E}">
        <p14:creationId xmlns:p14="http://schemas.microsoft.com/office/powerpoint/2010/main" val="2396158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06B460-B766-410F-BD5C-B82A23897C97}"/>
              </a:ext>
            </a:extLst>
          </p:cNvPr>
          <p:cNvSpPr txBox="1"/>
          <p:nvPr/>
        </p:nvSpPr>
        <p:spPr>
          <a:xfrm>
            <a:off x="119270" y="0"/>
            <a:ext cx="12218504" cy="4524315"/>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Jenkins Master/</a:t>
            </a:r>
            <a:r>
              <a:rPr lang="en-IN" sz="2400" b="1" i="0" u="none" strike="noStrike" baseline="0" dirty="0">
                <a:solidFill>
                  <a:srgbClr val="7030A0"/>
                </a:solidFill>
                <a:latin typeface="Times New Roman" panose="02020603050405020304" pitchFamily="18" charset="0"/>
                <a:cs typeface="Times New Roman" panose="02020603050405020304" pitchFamily="18" charset="0"/>
              </a:rPr>
              <a:t>The host server </a:t>
            </a:r>
            <a:endParaRPr lang="en-US" sz="2400" b="0" i="0" dirty="0">
              <a:solidFill>
                <a:srgbClr val="7030A0"/>
              </a:solidFill>
              <a:effectLst/>
              <a:latin typeface="Times New Roman" panose="02020603050405020304" pitchFamily="18" charset="0"/>
              <a:cs typeface="Times New Roman" panose="02020603050405020304" pitchFamily="18" charset="0"/>
            </a:endParaRPr>
          </a:p>
          <a:p>
            <a:pPr algn="just"/>
            <a:r>
              <a:rPr lang="en-US" sz="2400" b="1" i="0" dirty="0">
                <a:solidFill>
                  <a:srgbClr val="FF0000"/>
                </a:solidFill>
                <a:effectLst/>
                <a:latin typeface="Times New Roman" panose="02020603050405020304" pitchFamily="18" charset="0"/>
                <a:cs typeface="Times New Roman" panose="02020603050405020304" pitchFamily="18" charset="0"/>
              </a:rPr>
              <a:t>Your main Jenkins server is the Master. The Master’s job is to handle:</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Scheduling build jobs.</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Dispatching builds to the slaves for the actual execution.</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Monitor the slaves (possibly taking them online and offline as required).</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Recording and presenting the build results.</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A Master instance of Jenkins can also execute build jobs directly.</a:t>
            </a:r>
          </a:p>
          <a:p>
            <a:pPr marL="285750" indent="-285750" algn="just">
              <a:lnSpc>
                <a:spcPct val="150000"/>
              </a:lnSpc>
              <a:buFont typeface="Wingdings" panose="05000000000000000000" pitchFamily="2" charset="2"/>
              <a:buChar char="Ø"/>
            </a:pPr>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l"/>
            <a:endParaRPr lang="en-US" sz="2400" b="0" i="0" dirty="0">
              <a:solidFill>
                <a:srgbClr val="4A4A4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8331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F81F95-284E-425C-98F7-954B3F4F90BB}"/>
              </a:ext>
            </a:extLst>
          </p:cNvPr>
          <p:cNvSpPr txBox="1"/>
          <p:nvPr/>
        </p:nvSpPr>
        <p:spPr>
          <a:xfrm>
            <a:off x="0" y="119270"/>
            <a:ext cx="12192000" cy="6865790"/>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Jenkins Slave</a:t>
            </a:r>
          </a:p>
          <a:p>
            <a:pPr algn="l"/>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just"/>
            <a:r>
              <a:rPr lang="en-US" sz="2400" b="0" i="0" dirty="0">
                <a:solidFill>
                  <a:srgbClr val="FF0000"/>
                </a:solidFill>
                <a:effectLst/>
                <a:latin typeface="Times New Roman" panose="02020603050405020304" pitchFamily="18" charset="0"/>
                <a:cs typeface="Times New Roman" panose="02020603050405020304" pitchFamily="18" charset="0"/>
              </a:rPr>
              <a:t>A Slave is a Java executable that runs on a remote machine. Following are the characteristics of Jenkins Slaves:</a:t>
            </a:r>
          </a:p>
          <a:p>
            <a:pPr algn="just"/>
            <a:endParaRPr lang="en-US" sz="2400" b="0" i="0" dirty="0">
              <a:solidFill>
                <a:srgbClr val="FF0000"/>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It hears requests from the Jenkins Master instance.</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Slaves can run on a variety of operating systems.</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The job of a Slave is to do as they are told to, which involves executing build jobs dispatched by the Master.</a:t>
            </a:r>
          </a:p>
          <a:p>
            <a:pPr marL="285750" indent="-285750" algn="just">
              <a:lnSpc>
                <a:spcPct val="150000"/>
              </a:lnSpc>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You can configure a project to always run on a particular Slave machine or a particular type of Slave machine, or simply let Jenkins pick the next available Slave.</a:t>
            </a:r>
          </a:p>
          <a:p>
            <a:pPr algn="just">
              <a:lnSpc>
                <a:spcPct val="150000"/>
              </a:lnSpc>
            </a:pPr>
            <a:endParaRPr lang="en-US" sz="2400" b="0" i="0" dirty="0">
              <a:solidFill>
                <a:srgbClr val="4A4A4A"/>
              </a:solidFill>
              <a:effectLst/>
              <a:latin typeface="Times New Roman" panose="02020603050405020304" pitchFamily="18" charset="0"/>
              <a:cs typeface="Times New Roman" panose="02020603050405020304" pitchFamily="18" charset="0"/>
            </a:endParaRPr>
          </a:p>
          <a:p>
            <a:pPr algn="l">
              <a:lnSpc>
                <a:spcPct val="150000"/>
              </a:lnSpc>
            </a:pPr>
            <a:r>
              <a:rPr lang="en-US" sz="2400" b="0" i="0" dirty="0">
                <a:solidFill>
                  <a:srgbClr val="FF0000"/>
                </a:solidFill>
                <a:effectLst/>
                <a:latin typeface="Times New Roman" panose="02020603050405020304" pitchFamily="18" charset="0"/>
                <a:cs typeface="Times New Roman" panose="02020603050405020304" pitchFamily="18" charset="0"/>
              </a:rPr>
              <a:t>The diagram is self-explanatory. It consists of a Jenkins Master which is managing three Jenkins Slave.</a:t>
            </a:r>
            <a:endParaRPr lang="en-IN" sz="2400" dirty="0">
              <a:solidFill>
                <a:srgbClr val="FF0000"/>
              </a:solidFill>
            </a:endParaRPr>
          </a:p>
        </p:txBody>
      </p:sp>
    </p:spTree>
    <p:extLst>
      <p:ext uri="{BB962C8B-B14F-4D97-AF65-F5344CB8AC3E}">
        <p14:creationId xmlns:p14="http://schemas.microsoft.com/office/powerpoint/2010/main" val="1499255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289D3E-A5A8-4729-9AF8-C7218C3E5805}"/>
              </a:ext>
            </a:extLst>
          </p:cNvPr>
          <p:cNvPicPr>
            <a:picLocks noChangeAspect="1"/>
          </p:cNvPicPr>
          <p:nvPr/>
        </p:nvPicPr>
        <p:blipFill>
          <a:blip r:embed="rId2"/>
          <a:stretch>
            <a:fillRect/>
          </a:stretch>
        </p:blipFill>
        <p:spPr>
          <a:xfrm>
            <a:off x="0" y="0"/>
            <a:ext cx="12085983" cy="7050157"/>
          </a:xfrm>
          <a:prstGeom prst="rect">
            <a:avLst/>
          </a:prstGeom>
        </p:spPr>
      </p:pic>
    </p:spTree>
    <p:extLst>
      <p:ext uri="{BB962C8B-B14F-4D97-AF65-F5344CB8AC3E}">
        <p14:creationId xmlns:p14="http://schemas.microsoft.com/office/powerpoint/2010/main" val="2301595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878D6F-3C50-4C8A-8E46-49395203FDB2}"/>
              </a:ext>
            </a:extLst>
          </p:cNvPr>
          <p:cNvSpPr txBox="1"/>
          <p:nvPr/>
        </p:nvSpPr>
        <p:spPr>
          <a:xfrm>
            <a:off x="-1" y="145774"/>
            <a:ext cx="11834191" cy="2308324"/>
          </a:xfrm>
          <a:prstGeom prst="rect">
            <a:avLst/>
          </a:prstGeom>
          <a:noFill/>
        </p:spPr>
        <p:txBody>
          <a:bodyPr wrap="square">
            <a:spAutoFit/>
          </a:bodyPr>
          <a:lstStyle/>
          <a:p>
            <a:pPr algn="l"/>
            <a:r>
              <a:rPr lang="en-US" b="1" i="0" dirty="0">
                <a:solidFill>
                  <a:srgbClr val="FF0000"/>
                </a:solidFill>
                <a:effectLst/>
                <a:latin typeface="Open Sans" panose="020B0606030504020204" pitchFamily="34" charset="0"/>
              </a:rPr>
              <a:t>How Jenkins Master and Slave Architecture works?</a:t>
            </a:r>
          </a:p>
          <a:p>
            <a:pPr algn="l"/>
            <a:endParaRPr lang="en-US" b="0" i="0" dirty="0">
              <a:solidFill>
                <a:srgbClr val="FF0000"/>
              </a:solidFill>
              <a:effectLst/>
              <a:latin typeface="Open Sans" panose="020B0606030504020204" pitchFamily="34" charset="0"/>
            </a:endParaRPr>
          </a:p>
          <a:p>
            <a:pPr algn="l"/>
            <a:r>
              <a:rPr lang="en-US" b="0" i="0" dirty="0">
                <a:solidFill>
                  <a:srgbClr val="4A4A4A"/>
                </a:solidFill>
                <a:effectLst/>
                <a:latin typeface="Open Sans" panose="020B0606030504020204" pitchFamily="34" charset="0"/>
              </a:rPr>
              <a:t>Now let us look at an example in which we use Jenkins for testing in different environments like Ubuntu, MAC, Windows, etc.</a:t>
            </a:r>
          </a:p>
          <a:p>
            <a:pPr algn="l"/>
            <a:r>
              <a:rPr lang="en-US" b="0" i="0" dirty="0">
                <a:solidFill>
                  <a:srgbClr val="4A4A4A"/>
                </a:solidFill>
                <a:effectLst/>
                <a:latin typeface="Open Sans" panose="020B0606030504020204" pitchFamily="34" charset="0"/>
              </a:rPr>
              <a:t>The diagram below represents the same:</a:t>
            </a:r>
          </a:p>
          <a:p>
            <a:pPr algn="l"/>
            <a:endParaRPr lang="en-US" dirty="0">
              <a:solidFill>
                <a:srgbClr val="4A4A4A"/>
              </a:solidFill>
              <a:latin typeface="Open Sans" panose="020B0606030504020204" pitchFamily="34" charset="0"/>
            </a:endParaRPr>
          </a:p>
          <a:p>
            <a:pPr algn="l"/>
            <a:endParaRPr lang="en-US" b="0" i="0" dirty="0">
              <a:solidFill>
                <a:srgbClr val="4A4A4A"/>
              </a:solidFill>
              <a:effectLst/>
              <a:latin typeface="Open Sans" panose="020B0606030504020204" pitchFamily="34" charset="0"/>
            </a:endParaRPr>
          </a:p>
          <a:p>
            <a:pPr algn="l"/>
            <a:endParaRPr lang="en-US" b="0" i="0" dirty="0">
              <a:solidFill>
                <a:srgbClr val="4A4A4A"/>
              </a:solidFill>
              <a:effectLst/>
              <a:latin typeface="Open Sans" panose="020B0606030504020204" pitchFamily="34" charset="0"/>
            </a:endParaRPr>
          </a:p>
        </p:txBody>
      </p:sp>
      <p:pic>
        <p:nvPicPr>
          <p:cNvPr id="4" name="Picture 3">
            <a:extLst>
              <a:ext uri="{FF2B5EF4-FFF2-40B4-BE49-F238E27FC236}">
                <a16:creationId xmlns:a16="http://schemas.microsoft.com/office/drawing/2014/main" id="{2FA44145-242A-46D7-8758-F42DD8BB6E9D}"/>
              </a:ext>
            </a:extLst>
          </p:cNvPr>
          <p:cNvPicPr>
            <a:picLocks noChangeAspect="1"/>
          </p:cNvPicPr>
          <p:nvPr/>
        </p:nvPicPr>
        <p:blipFill>
          <a:blip r:embed="rId2"/>
          <a:stretch>
            <a:fillRect/>
          </a:stretch>
        </p:blipFill>
        <p:spPr>
          <a:xfrm>
            <a:off x="-1" y="1652141"/>
            <a:ext cx="11569149" cy="5782329"/>
          </a:xfrm>
          <a:prstGeom prst="rect">
            <a:avLst/>
          </a:prstGeom>
        </p:spPr>
      </p:pic>
    </p:spTree>
    <p:extLst>
      <p:ext uri="{BB962C8B-B14F-4D97-AF65-F5344CB8AC3E}">
        <p14:creationId xmlns:p14="http://schemas.microsoft.com/office/powerpoint/2010/main" val="1299472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6E470F-D624-40AA-AD3C-A4E12C6F37D5}"/>
              </a:ext>
            </a:extLst>
          </p:cNvPr>
          <p:cNvSpPr txBox="1"/>
          <p:nvPr/>
        </p:nvSpPr>
        <p:spPr>
          <a:xfrm>
            <a:off x="145774" y="357810"/>
            <a:ext cx="12046226" cy="3785652"/>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The above image represents the following functions:</a:t>
            </a:r>
          </a:p>
          <a:p>
            <a:pPr algn="just"/>
            <a:endParaRPr lang="en-US" sz="2400" b="0" i="0" dirty="0">
              <a:solidFill>
                <a:srgbClr val="FF0000"/>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Jenkins checks the Git repository at periodic intervals for any changes made in the source code.</a:t>
            </a:r>
          </a:p>
          <a:p>
            <a:pPr marL="285750" indent="-285750" algn="just">
              <a:buFont typeface="Wingdings" panose="05000000000000000000" pitchFamily="2" charset="2"/>
              <a:buChar char="Ø"/>
            </a:pPr>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Each builds requires a different testing environment which is not possible for a single Jenkins server. In order to perform testing in different environments, Jenkins uses various Slaves as shown in the diagram.</a:t>
            </a:r>
          </a:p>
          <a:p>
            <a:pPr marL="285750" indent="-285750" algn="just">
              <a:buFont typeface="Wingdings" panose="05000000000000000000" pitchFamily="2" charset="2"/>
              <a:buChar char="Ø"/>
            </a:pPr>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Jenkins Master requests these Slaves to perform testing and to generate test reports.</a:t>
            </a:r>
          </a:p>
        </p:txBody>
      </p:sp>
    </p:spTree>
    <p:extLst>
      <p:ext uri="{BB962C8B-B14F-4D97-AF65-F5344CB8AC3E}">
        <p14:creationId xmlns:p14="http://schemas.microsoft.com/office/powerpoint/2010/main" val="25622327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A18B6C-6D42-4683-B1D5-58F9F9775AC6}"/>
              </a:ext>
            </a:extLst>
          </p:cNvPr>
          <p:cNvPicPr>
            <a:picLocks noChangeAspect="1"/>
          </p:cNvPicPr>
          <p:nvPr/>
        </p:nvPicPr>
        <p:blipFill>
          <a:blip r:embed="rId2"/>
          <a:stretch>
            <a:fillRect/>
          </a:stretch>
        </p:blipFill>
        <p:spPr>
          <a:xfrm>
            <a:off x="-34580" y="-145773"/>
            <a:ext cx="12054302" cy="7156174"/>
          </a:xfrm>
          <a:prstGeom prst="rect">
            <a:avLst/>
          </a:prstGeom>
        </p:spPr>
      </p:pic>
    </p:spTree>
    <p:extLst>
      <p:ext uri="{BB962C8B-B14F-4D97-AF65-F5344CB8AC3E}">
        <p14:creationId xmlns:p14="http://schemas.microsoft.com/office/powerpoint/2010/main" val="3949365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47EB0B-72F8-4D38-B723-D1D038FA809E}"/>
              </a:ext>
            </a:extLst>
          </p:cNvPr>
          <p:cNvPicPr>
            <a:picLocks noChangeAspect="1"/>
          </p:cNvPicPr>
          <p:nvPr/>
        </p:nvPicPr>
        <p:blipFill>
          <a:blip r:embed="rId2"/>
          <a:stretch>
            <a:fillRect/>
          </a:stretch>
        </p:blipFill>
        <p:spPr>
          <a:xfrm>
            <a:off x="0" y="172277"/>
            <a:ext cx="12192000" cy="6453809"/>
          </a:xfrm>
          <a:prstGeom prst="rect">
            <a:avLst/>
          </a:prstGeom>
        </p:spPr>
      </p:pic>
    </p:spTree>
    <p:extLst>
      <p:ext uri="{BB962C8B-B14F-4D97-AF65-F5344CB8AC3E}">
        <p14:creationId xmlns:p14="http://schemas.microsoft.com/office/powerpoint/2010/main" val="1782541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F87333-6FD3-4D3A-AC3D-F94596C3BF69}"/>
              </a:ext>
            </a:extLst>
          </p:cNvPr>
          <p:cNvPicPr>
            <a:picLocks noChangeAspect="1"/>
          </p:cNvPicPr>
          <p:nvPr/>
        </p:nvPicPr>
        <p:blipFill>
          <a:blip r:embed="rId2"/>
          <a:stretch>
            <a:fillRect/>
          </a:stretch>
        </p:blipFill>
        <p:spPr>
          <a:xfrm>
            <a:off x="0" y="0"/>
            <a:ext cx="12019722" cy="6858000"/>
          </a:xfrm>
          <a:prstGeom prst="rect">
            <a:avLst/>
          </a:prstGeom>
        </p:spPr>
      </p:pic>
    </p:spTree>
    <p:extLst>
      <p:ext uri="{BB962C8B-B14F-4D97-AF65-F5344CB8AC3E}">
        <p14:creationId xmlns:p14="http://schemas.microsoft.com/office/powerpoint/2010/main" val="32169561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FBAAE8-310D-423E-A85C-98DA6F49CDB4}"/>
              </a:ext>
            </a:extLst>
          </p:cNvPr>
          <p:cNvPicPr>
            <a:picLocks noChangeAspect="1"/>
          </p:cNvPicPr>
          <p:nvPr/>
        </p:nvPicPr>
        <p:blipFill>
          <a:blip r:embed="rId2"/>
          <a:stretch>
            <a:fillRect/>
          </a:stretch>
        </p:blipFill>
        <p:spPr>
          <a:xfrm>
            <a:off x="424070" y="278296"/>
            <a:ext cx="11436625" cy="6414051"/>
          </a:xfrm>
          <a:prstGeom prst="rect">
            <a:avLst/>
          </a:prstGeom>
        </p:spPr>
      </p:pic>
    </p:spTree>
    <p:extLst>
      <p:ext uri="{BB962C8B-B14F-4D97-AF65-F5344CB8AC3E}">
        <p14:creationId xmlns:p14="http://schemas.microsoft.com/office/powerpoint/2010/main" val="10625443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EFCDE3-4B5D-47BC-836B-D3F5D92A321E}"/>
              </a:ext>
            </a:extLst>
          </p:cNvPr>
          <p:cNvPicPr>
            <a:picLocks noChangeAspect="1"/>
          </p:cNvPicPr>
          <p:nvPr/>
        </p:nvPicPr>
        <p:blipFill>
          <a:blip r:embed="rId2"/>
          <a:stretch>
            <a:fillRect/>
          </a:stretch>
        </p:blipFill>
        <p:spPr>
          <a:xfrm>
            <a:off x="145775" y="-76979"/>
            <a:ext cx="11847442" cy="6934979"/>
          </a:xfrm>
          <a:prstGeom prst="rect">
            <a:avLst/>
          </a:prstGeom>
        </p:spPr>
      </p:pic>
    </p:spTree>
    <p:extLst>
      <p:ext uri="{BB962C8B-B14F-4D97-AF65-F5344CB8AC3E}">
        <p14:creationId xmlns:p14="http://schemas.microsoft.com/office/powerpoint/2010/main" val="3706061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89DB5F-A53C-459A-902B-090F208EFC79}"/>
              </a:ext>
            </a:extLst>
          </p:cNvPr>
          <p:cNvPicPr>
            <a:picLocks noChangeAspect="1"/>
          </p:cNvPicPr>
          <p:nvPr/>
        </p:nvPicPr>
        <p:blipFill>
          <a:blip r:embed="rId2"/>
          <a:stretch>
            <a:fillRect/>
          </a:stretch>
        </p:blipFill>
        <p:spPr>
          <a:xfrm>
            <a:off x="0" y="0"/>
            <a:ext cx="11887200" cy="6685722"/>
          </a:xfrm>
          <a:prstGeom prst="rect">
            <a:avLst/>
          </a:prstGeom>
        </p:spPr>
      </p:pic>
    </p:spTree>
    <p:extLst>
      <p:ext uri="{BB962C8B-B14F-4D97-AF65-F5344CB8AC3E}">
        <p14:creationId xmlns:p14="http://schemas.microsoft.com/office/powerpoint/2010/main" val="2347409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DF5E94-D543-45EA-A146-A8E157B801C4}"/>
              </a:ext>
            </a:extLst>
          </p:cNvPr>
          <p:cNvPicPr>
            <a:picLocks noChangeAspect="1"/>
          </p:cNvPicPr>
          <p:nvPr/>
        </p:nvPicPr>
        <p:blipFill>
          <a:blip r:embed="rId2"/>
          <a:stretch>
            <a:fillRect/>
          </a:stretch>
        </p:blipFill>
        <p:spPr>
          <a:xfrm>
            <a:off x="1" y="92764"/>
            <a:ext cx="12298016" cy="6904383"/>
          </a:xfrm>
          <a:prstGeom prst="rect">
            <a:avLst/>
          </a:prstGeom>
        </p:spPr>
      </p:pic>
    </p:spTree>
    <p:extLst>
      <p:ext uri="{BB962C8B-B14F-4D97-AF65-F5344CB8AC3E}">
        <p14:creationId xmlns:p14="http://schemas.microsoft.com/office/powerpoint/2010/main" val="2639951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F13895-71CD-4BFA-8ADF-E62FD9D24E6F}"/>
              </a:ext>
            </a:extLst>
          </p:cNvPr>
          <p:cNvSpPr txBox="1"/>
          <p:nvPr/>
        </p:nvSpPr>
        <p:spPr>
          <a:xfrm>
            <a:off x="0" y="119270"/>
            <a:ext cx="8905461" cy="369332"/>
          </a:xfrm>
          <a:prstGeom prst="rect">
            <a:avLst/>
          </a:prstGeom>
          <a:noFill/>
        </p:spPr>
        <p:txBody>
          <a:bodyPr wrap="square">
            <a:spAutoFit/>
          </a:bodyPr>
          <a:lstStyle/>
          <a:p>
            <a:r>
              <a:rPr lang="en-IN" sz="1800" b="1" i="0" u="none" strike="noStrike" baseline="0" dirty="0">
                <a:solidFill>
                  <a:srgbClr val="000000"/>
                </a:solidFill>
                <a:latin typeface="Arial" panose="020B0604020202020204" pitchFamily="34" charset="0"/>
              </a:rPr>
              <a:t>The Jenkins build server</a:t>
            </a:r>
            <a:endParaRPr lang="en-IN" dirty="0">
              <a:solidFill>
                <a:srgbClr val="FF0000"/>
              </a:solidFill>
            </a:endParaRPr>
          </a:p>
        </p:txBody>
      </p:sp>
      <p:sp>
        <p:nvSpPr>
          <p:cNvPr id="5" name="TextBox 4">
            <a:extLst>
              <a:ext uri="{FF2B5EF4-FFF2-40B4-BE49-F238E27FC236}">
                <a16:creationId xmlns:a16="http://schemas.microsoft.com/office/drawing/2014/main" id="{455137E3-F1C2-429E-8F15-A1CBC417A68D}"/>
              </a:ext>
            </a:extLst>
          </p:cNvPr>
          <p:cNvSpPr txBox="1"/>
          <p:nvPr/>
        </p:nvSpPr>
        <p:spPr>
          <a:xfrm>
            <a:off x="238539" y="636104"/>
            <a:ext cx="11953461" cy="1754326"/>
          </a:xfrm>
          <a:prstGeom prst="rect">
            <a:avLst/>
          </a:prstGeom>
          <a:noFill/>
        </p:spPr>
        <p:txBody>
          <a:bodyPr wrap="square">
            <a:spAutoFit/>
          </a:bodyPr>
          <a:lstStyle/>
          <a:p>
            <a:pPr algn="just"/>
            <a:r>
              <a:rPr lang="en-US" b="0" i="0" dirty="0">
                <a:solidFill>
                  <a:srgbClr val="000000"/>
                </a:solidFill>
                <a:effectLst/>
                <a:latin typeface="Arial" panose="020B0604020202020204" pitchFamily="34" charset="0"/>
              </a:rPr>
              <a:t>For this exercise, we will create a job in Jenkins which picks up a simple HelloWorld application, builds and runs the java program.</a:t>
            </a:r>
          </a:p>
          <a:p>
            <a:pPr algn="just"/>
            <a:endParaRPr lang="en-US" b="0" i="0" dirty="0">
              <a:solidFill>
                <a:srgbClr val="000000"/>
              </a:solidFill>
              <a:effectLst/>
              <a:latin typeface="Arial" panose="020B0604020202020204" pitchFamily="34" charset="0"/>
            </a:endParaRPr>
          </a:p>
          <a:p>
            <a:pPr algn="just"/>
            <a:r>
              <a:rPr lang="en-US" b="1" i="0" dirty="0">
                <a:solidFill>
                  <a:srgbClr val="000000"/>
                </a:solidFill>
                <a:effectLst/>
                <a:latin typeface="Arial" panose="020B0604020202020204" pitchFamily="34" charset="0"/>
              </a:rPr>
              <a:t>Step 1</a:t>
            </a:r>
            <a:r>
              <a:rPr lang="en-US" b="0" i="0" dirty="0">
                <a:solidFill>
                  <a:srgbClr val="000000"/>
                </a:solidFill>
                <a:effectLst/>
                <a:latin typeface="Arial" panose="020B0604020202020204" pitchFamily="34" charset="0"/>
              </a:rPr>
              <a:t> − Go to the Jenkins dashboard and Click on New Item</a:t>
            </a:r>
          </a:p>
          <a:p>
            <a:pPr algn="just"/>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p:txBody>
      </p:sp>
      <p:pic>
        <p:nvPicPr>
          <p:cNvPr id="1028" name="Picture 4" descr="Setup Build Jobs">
            <a:extLst>
              <a:ext uri="{FF2B5EF4-FFF2-40B4-BE49-F238E27FC236}">
                <a16:creationId xmlns:a16="http://schemas.microsoft.com/office/drawing/2014/main" id="{963CEA02-EE9C-4F1D-B4E3-2070AAE5E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975" y="2054088"/>
            <a:ext cx="9819860" cy="4684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7626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3E6DD-D9B4-49FF-A613-8CFF2914ACA1}"/>
              </a:ext>
            </a:extLst>
          </p:cNvPr>
          <p:cNvSpPr txBox="1"/>
          <p:nvPr/>
        </p:nvSpPr>
        <p:spPr>
          <a:xfrm>
            <a:off x="185529" y="0"/>
            <a:ext cx="11900453" cy="646331"/>
          </a:xfrm>
          <a:prstGeom prst="rect">
            <a:avLst/>
          </a:prstGeom>
          <a:noFill/>
        </p:spPr>
        <p:txBody>
          <a:bodyPr wrap="square">
            <a:spAutoFit/>
          </a:bodyPr>
          <a:lstStyle/>
          <a:p>
            <a:r>
              <a:rPr lang="en-US" b="1" i="0" dirty="0">
                <a:solidFill>
                  <a:srgbClr val="000000"/>
                </a:solidFill>
                <a:effectLst/>
                <a:latin typeface="Arial" panose="020B0604020202020204" pitchFamily="34" charset="0"/>
              </a:rPr>
              <a:t>Step 2</a:t>
            </a:r>
            <a:r>
              <a:rPr lang="en-US" b="0" i="0" dirty="0">
                <a:solidFill>
                  <a:srgbClr val="000000"/>
                </a:solidFill>
                <a:effectLst/>
                <a:latin typeface="Arial" panose="020B0604020202020204" pitchFamily="34" charset="0"/>
              </a:rPr>
              <a:t> − In the next screen, enter the Item name, in this case we have named it </a:t>
            </a:r>
            <a:r>
              <a:rPr lang="en-US" b="0" i="0" dirty="0" err="1">
                <a:solidFill>
                  <a:srgbClr val="000000"/>
                </a:solidFill>
                <a:effectLst/>
                <a:latin typeface="Arial" panose="020B0604020202020204" pitchFamily="34" charset="0"/>
              </a:rPr>
              <a:t>Helloworld</a:t>
            </a:r>
            <a:r>
              <a:rPr lang="en-US" b="0" i="0" dirty="0">
                <a:solidFill>
                  <a:srgbClr val="000000"/>
                </a:solidFill>
                <a:effectLst/>
                <a:latin typeface="Arial" panose="020B0604020202020204" pitchFamily="34" charset="0"/>
              </a:rPr>
              <a:t>. Choose the ‘Freestyle project option’</a:t>
            </a:r>
            <a:endParaRPr lang="en-IN" dirty="0"/>
          </a:p>
        </p:txBody>
      </p:sp>
      <p:pic>
        <p:nvPicPr>
          <p:cNvPr id="2050" name="Picture 2" descr="Helloworld">
            <a:extLst>
              <a:ext uri="{FF2B5EF4-FFF2-40B4-BE49-F238E27FC236}">
                <a16:creationId xmlns:a16="http://schemas.microsoft.com/office/drawing/2014/main" id="{D6D8E442-2622-4A9C-8DB8-DFA2FE4AA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18" y="528198"/>
            <a:ext cx="12205251" cy="6329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1066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3A83F8-DD54-4101-A93F-E76752D0E1C6}"/>
              </a:ext>
            </a:extLst>
          </p:cNvPr>
          <p:cNvSpPr txBox="1"/>
          <p:nvPr/>
        </p:nvSpPr>
        <p:spPr>
          <a:xfrm>
            <a:off x="-1" y="145774"/>
            <a:ext cx="11781183" cy="369332"/>
          </a:xfrm>
          <a:prstGeom prst="rect">
            <a:avLst/>
          </a:prstGeom>
          <a:noFill/>
        </p:spPr>
        <p:txBody>
          <a:bodyPr wrap="square">
            <a:spAutoFit/>
          </a:bodyPr>
          <a:lstStyle/>
          <a:p>
            <a:r>
              <a:rPr lang="en-US" b="1" i="0" dirty="0">
                <a:solidFill>
                  <a:srgbClr val="000000"/>
                </a:solidFill>
                <a:effectLst/>
                <a:latin typeface="Arial" panose="020B0604020202020204" pitchFamily="34" charset="0"/>
              </a:rPr>
              <a:t>Step 3</a:t>
            </a:r>
            <a:r>
              <a:rPr lang="en-US" b="0" i="0" dirty="0">
                <a:solidFill>
                  <a:srgbClr val="000000"/>
                </a:solidFill>
                <a:effectLst/>
                <a:latin typeface="Arial" panose="020B0604020202020204" pitchFamily="34" charset="0"/>
              </a:rPr>
              <a:t> − The following screen will come up in which you can specify the details of the job</a:t>
            </a:r>
            <a:endParaRPr lang="en-IN" dirty="0"/>
          </a:p>
        </p:txBody>
      </p:sp>
      <p:pic>
        <p:nvPicPr>
          <p:cNvPr id="3074" name="Picture 2" descr="Helloworld Config">
            <a:extLst>
              <a:ext uri="{FF2B5EF4-FFF2-40B4-BE49-F238E27FC236}">
                <a16:creationId xmlns:a16="http://schemas.microsoft.com/office/drawing/2014/main" id="{616D2665-5783-4E36-B95D-92F01DCE6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702364"/>
            <a:ext cx="12192001" cy="6286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356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F2A86D-97A0-40ED-B0BE-50E44BD0D80B}"/>
              </a:ext>
            </a:extLst>
          </p:cNvPr>
          <p:cNvSpPr txBox="1"/>
          <p:nvPr/>
        </p:nvSpPr>
        <p:spPr>
          <a:xfrm>
            <a:off x="0" y="0"/>
            <a:ext cx="12192000" cy="2031325"/>
          </a:xfrm>
          <a:prstGeom prst="rect">
            <a:avLst/>
          </a:prstGeom>
          <a:noFill/>
        </p:spPr>
        <p:txBody>
          <a:bodyPr wrap="square">
            <a:spAutoFit/>
          </a:bodyPr>
          <a:lstStyle/>
          <a:p>
            <a:pPr algn="just"/>
            <a:r>
              <a:rPr lang="en-US" b="1" i="0" dirty="0">
                <a:solidFill>
                  <a:srgbClr val="000000"/>
                </a:solidFill>
                <a:effectLst/>
                <a:latin typeface="Arial" panose="020B0604020202020204" pitchFamily="34" charset="0"/>
              </a:rPr>
              <a:t>Step 4</a:t>
            </a:r>
            <a:r>
              <a:rPr lang="en-US" b="0" i="0" dirty="0">
                <a:solidFill>
                  <a:srgbClr val="000000"/>
                </a:solidFill>
                <a:effectLst/>
                <a:latin typeface="Arial" panose="020B0604020202020204" pitchFamily="34" charset="0"/>
              </a:rPr>
              <a:t> − We need to specify the location of files which need to be built. In this example, we will assume that a local git repository(E:\Program) has been setup which contains a ‘HelloWorld.java’ file. Hence scroll down and click on the Git option and enter the URL of the local git repository.</a:t>
            </a:r>
          </a:p>
          <a:p>
            <a:pPr algn="just"/>
            <a:endParaRPr lang="en-US" b="0" i="0" dirty="0">
              <a:solidFill>
                <a:srgbClr val="000000"/>
              </a:solidFill>
              <a:effectLst/>
              <a:latin typeface="Arial" panose="020B0604020202020204" pitchFamily="34" charset="0"/>
            </a:endParaRPr>
          </a:p>
          <a:p>
            <a:pPr algn="just"/>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 If you repository if hosted on </a:t>
            </a:r>
            <a:r>
              <a:rPr lang="en-US" b="0" i="0" dirty="0" err="1">
                <a:solidFill>
                  <a:srgbClr val="000000"/>
                </a:solidFill>
                <a:effectLst/>
                <a:latin typeface="Arial" panose="020B0604020202020204" pitchFamily="34" charset="0"/>
              </a:rPr>
              <a:t>Github</a:t>
            </a:r>
            <a:r>
              <a:rPr lang="en-US" b="0" i="0" dirty="0">
                <a:solidFill>
                  <a:srgbClr val="000000"/>
                </a:solidFill>
                <a:effectLst/>
                <a:latin typeface="Arial" panose="020B0604020202020204" pitchFamily="34" charset="0"/>
              </a:rPr>
              <a:t>, you can also enter the </a:t>
            </a:r>
            <a:r>
              <a:rPr lang="en-US" b="0" i="0" dirty="0" err="1">
                <a:solidFill>
                  <a:srgbClr val="000000"/>
                </a:solidFill>
                <a:effectLst/>
                <a:latin typeface="Arial" panose="020B0604020202020204" pitchFamily="34" charset="0"/>
              </a:rPr>
              <a:t>url</a:t>
            </a:r>
            <a:r>
              <a:rPr lang="en-US" b="0" i="0" dirty="0">
                <a:solidFill>
                  <a:srgbClr val="000000"/>
                </a:solidFill>
                <a:effectLst/>
                <a:latin typeface="Arial" panose="020B0604020202020204" pitchFamily="34" charset="0"/>
              </a:rPr>
              <a:t> of that repository here. In addition to this, you would need to click on the Add button for the credentials to add a user name and password to the </a:t>
            </a:r>
            <a:r>
              <a:rPr lang="en-US" b="0" i="0" dirty="0" err="1">
                <a:solidFill>
                  <a:srgbClr val="000000"/>
                </a:solidFill>
                <a:effectLst/>
                <a:latin typeface="Arial" panose="020B0604020202020204" pitchFamily="34" charset="0"/>
              </a:rPr>
              <a:t>github</a:t>
            </a:r>
            <a:r>
              <a:rPr lang="en-US" b="0" i="0" dirty="0">
                <a:solidFill>
                  <a:srgbClr val="000000"/>
                </a:solidFill>
                <a:effectLst/>
                <a:latin typeface="Arial" panose="020B0604020202020204" pitchFamily="34" charset="0"/>
              </a:rPr>
              <a:t> repository so that the code can be picked up from the remote repository.</a:t>
            </a:r>
          </a:p>
        </p:txBody>
      </p:sp>
      <p:pic>
        <p:nvPicPr>
          <p:cNvPr id="4098" name="Picture 2" descr="Git Repository">
            <a:extLst>
              <a:ext uri="{FF2B5EF4-FFF2-40B4-BE49-F238E27FC236}">
                <a16:creationId xmlns:a16="http://schemas.microsoft.com/office/drawing/2014/main" id="{C2872145-D5FF-4F96-9692-5265C4029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16" y="2133600"/>
            <a:ext cx="12085983" cy="4593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7773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FD59FC-70B9-40CA-A493-53D056CD1E6C}"/>
              </a:ext>
            </a:extLst>
          </p:cNvPr>
          <p:cNvSpPr txBox="1"/>
          <p:nvPr/>
        </p:nvSpPr>
        <p:spPr>
          <a:xfrm>
            <a:off x="0" y="92766"/>
            <a:ext cx="12364278" cy="1200329"/>
          </a:xfrm>
          <a:prstGeom prst="rect">
            <a:avLst/>
          </a:prstGeom>
          <a:noFill/>
        </p:spPr>
        <p:txBody>
          <a:bodyPr wrap="square">
            <a:spAutoFit/>
          </a:bodyPr>
          <a:lstStyle/>
          <a:p>
            <a:r>
              <a:rPr lang="en-US" b="1" i="0" dirty="0">
                <a:solidFill>
                  <a:srgbClr val="000000"/>
                </a:solidFill>
                <a:effectLst/>
                <a:latin typeface="Arial" panose="020B0604020202020204" pitchFamily="34" charset="0"/>
              </a:rPr>
              <a:t>Step 5</a:t>
            </a:r>
            <a:r>
              <a:rPr lang="en-US" b="0" i="0" dirty="0">
                <a:solidFill>
                  <a:srgbClr val="000000"/>
                </a:solidFill>
                <a:effectLst/>
                <a:latin typeface="Arial" panose="020B0604020202020204" pitchFamily="34" charset="0"/>
              </a:rPr>
              <a:t> − Now go to the Build section and click on Add build step → Execute Windows batch command</a:t>
            </a:r>
          </a:p>
          <a:p>
            <a:endParaRPr lang="en-US" dirty="0">
              <a:solidFill>
                <a:srgbClr val="000000"/>
              </a:solidFill>
              <a:latin typeface="Arial" panose="020B0604020202020204" pitchFamily="34" charset="0"/>
            </a:endParaRPr>
          </a:p>
          <a:p>
            <a:endParaRPr lang="en-US" dirty="0">
              <a:solidFill>
                <a:srgbClr val="000000"/>
              </a:solidFill>
              <a:latin typeface="Arial" panose="020B0604020202020204" pitchFamily="34" charset="0"/>
            </a:endParaRPr>
          </a:p>
          <a:p>
            <a:endParaRPr lang="en-IN" dirty="0"/>
          </a:p>
        </p:txBody>
      </p:sp>
      <p:pic>
        <p:nvPicPr>
          <p:cNvPr id="5124" name="Picture 4" descr="Execute Windows Batch Command">
            <a:extLst>
              <a:ext uri="{FF2B5EF4-FFF2-40B4-BE49-F238E27FC236}">
                <a16:creationId xmlns:a16="http://schemas.microsoft.com/office/drawing/2014/main" id="{77215877-D4B6-4978-B20D-74F607827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97" y="927652"/>
            <a:ext cx="11012556" cy="5930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59510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93AC75-1DC3-4220-ADDE-1315C645F22D}"/>
              </a:ext>
            </a:extLst>
          </p:cNvPr>
          <p:cNvSpPr txBox="1"/>
          <p:nvPr/>
        </p:nvSpPr>
        <p:spPr>
          <a:xfrm>
            <a:off x="92765" y="0"/>
            <a:ext cx="11966713" cy="1200329"/>
          </a:xfrm>
          <a:prstGeom prst="rect">
            <a:avLst/>
          </a:prstGeom>
          <a:noFill/>
        </p:spPr>
        <p:txBody>
          <a:bodyPr wrap="square">
            <a:spAutoFit/>
          </a:bodyPr>
          <a:lstStyle/>
          <a:p>
            <a:r>
              <a:rPr lang="en-US" b="1" i="0" dirty="0">
                <a:solidFill>
                  <a:srgbClr val="000000"/>
                </a:solidFill>
                <a:effectLst/>
                <a:latin typeface="Arial" panose="020B0604020202020204" pitchFamily="34" charset="0"/>
              </a:rPr>
              <a:t>Step 6</a:t>
            </a:r>
            <a:r>
              <a:rPr lang="en-US" b="0" i="0" dirty="0">
                <a:solidFill>
                  <a:srgbClr val="000000"/>
                </a:solidFill>
                <a:effectLst/>
                <a:latin typeface="Arial" panose="020B0604020202020204" pitchFamily="34" charset="0"/>
              </a:rPr>
              <a:t> − In the command window, enter the following commands and then click on the Save button.</a:t>
            </a:r>
          </a:p>
          <a:p>
            <a:endParaRPr lang="en-US" dirty="0">
              <a:solidFill>
                <a:srgbClr val="000000"/>
              </a:solidFill>
              <a:latin typeface="Arial" panose="020B0604020202020204" pitchFamily="34" charset="0"/>
            </a:endParaRPr>
          </a:p>
          <a:p>
            <a:endParaRPr lang="en-US" dirty="0">
              <a:solidFill>
                <a:srgbClr val="000000"/>
              </a:solidFill>
              <a:latin typeface="Arial" panose="020B0604020202020204" pitchFamily="34" charset="0"/>
            </a:endParaRPr>
          </a:p>
          <a:p>
            <a:endParaRPr lang="en-IN" dirty="0"/>
          </a:p>
        </p:txBody>
      </p:sp>
      <p:sp>
        <p:nvSpPr>
          <p:cNvPr id="7" name="AutoShape 5" descr="Save">
            <a:extLst>
              <a:ext uri="{FF2B5EF4-FFF2-40B4-BE49-F238E27FC236}">
                <a16:creationId xmlns:a16="http://schemas.microsoft.com/office/drawing/2014/main" id="{BD9EACA9-8579-47DD-B25E-F25535BB52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E7946B58-B93A-469D-89D4-F5E631186BBD}"/>
              </a:ext>
            </a:extLst>
          </p:cNvPr>
          <p:cNvPicPr>
            <a:picLocks noChangeAspect="1"/>
          </p:cNvPicPr>
          <p:nvPr/>
        </p:nvPicPr>
        <p:blipFill>
          <a:blip r:embed="rId2"/>
          <a:stretch>
            <a:fillRect/>
          </a:stretch>
        </p:blipFill>
        <p:spPr>
          <a:xfrm>
            <a:off x="1232452" y="833437"/>
            <a:ext cx="9250018" cy="6269728"/>
          </a:xfrm>
          <a:prstGeom prst="rect">
            <a:avLst/>
          </a:prstGeom>
        </p:spPr>
      </p:pic>
    </p:spTree>
    <p:extLst>
      <p:ext uri="{BB962C8B-B14F-4D97-AF65-F5344CB8AC3E}">
        <p14:creationId xmlns:p14="http://schemas.microsoft.com/office/powerpoint/2010/main" val="11966132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Build Now">
            <a:extLst>
              <a:ext uri="{FF2B5EF4-FFF2-40B4-BE49-F238E27FC236}">
                <a16:creationId xmlns:a16="http://schemas.microsoft.com/office/drawing/2014/main" id="{191F5BB6-E778-4FF5-AACE-638D9CD0646F}"/>
              </a:ext>
            </a:extLst>
          </p:cNvPr>
          <p:cNvSpPr>
            <a:spLocks noChangeAspect="1" noChangeArrowheads="1"/>
          </p:cNvSpPr>
          <p:nvPr/>
        </p:nvSpPr>
        <p:spPr bwMode="auto">
          <a:xfrm>
            <a:off x="127000" y="-539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Rectangle 4">
            <a:extLst>
              <a:ext uri="{FF2B5EF4-FFF2-40B4-BE49-F238E27FC236}">
                <a16:creationId xmlns:a16="http://schemas.microsoft.com/office/drawing/2014/main" id="{40A5C9BE-C9D7-4482-9FCE-51F9E8A84101}"/>
              </a:ext>
            </a:extLst>
          </p:cNvPr>
          <p:cNvSpPr>
            <a:spLocks noChangeArrowheads="1"/>
          </p:cNvSpPr>
          <p:nvPr/>
        </p:nvSpPr>
        <p:spPr bwMode="auto">
          <a:xfrm>
            <a:off x="0" y="36239"/>
            <a:ext cx="521297"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392DFB75-3AD8-4013-99EB-5222D6DDE192}"/>
              </a:ext>
            </a:extLst>
          </p:cNvPr>
          <p:cNvPicPr>
            <a:picLocks noChangeAspect="1"/>
          </p:cNvPicPr>
          <p:nvPr/>
        </p:nvPicPr>
        <p:blipFill>
          <a:blip r:embed="rId2"/>
          <a:stretch>
            <a:fillRect/>
          </a:stretch>
        </p:blipFill>
        <p:spPr>
          <a:xfrm>
            <a:off x="431800" y="696806"/>
            <a:ext cx="11442148" cy="5884555"/>
          </a:xfrm>
          <a:prstGeom prst="rect">
            <a:avLst/>
          </a:prstGeom>
        </p:spPr>
      </p:pic>
    </p:spTree>
    <p:extLst>
      <p:ext uri="{BB962C8B-B14F-4D97-AF65-F5344CB8AC3E}">
        <p14:creationId xmlns:p14="http://schemas.microsoft.com/office/powerpoint/2010/main" val="1227654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E76996-A285-478B-AEA5-914DCAB3BA6B}"/>
              </a:ext>
            </a:extLst>
          </p:cNvPr>
          <p:cNvPicPr>
            <a:picLocks noChangeAspect="1"/>
          </p:cNvPicPr>
          <p:nvPr/>
        </p:nvPicPr>
        <p:blipFill>
          <a:blip r:embed="rId2"/>
          <a:stretch>
            <a:fillRect/>
          </a:stretch>
        </p:blipFill>
        <p:spPr>
          <a:xfrm>
            <a:off x="662609" y="914400"/>
            <a:ext cx="10084904" cy="5029200"/>
          </a:xfrm>
          <a:prstGeom prst="rect">
            <a:avLst/>
          </a:prstGeom>
        </p:spPr>
      </p:pic>
    </p:spTree>
    <p:extLst>
      <p:ext uri="{BB962C8B-B14F-4D97-AF65-F5344CB8AC3E}">
        <p14:creationId xmlns:p14="http://schemas.microsoft.com/office/powerpoint/2010/main" val="19532847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119237-DDFC-46D6-ADF5-9CCA99F26803}"/>
              </a:ext>
            </a:extLst>
          </p:cNvPr>
          <p:cNvPicPr>
            <a:picLocks noChangeAspect="1"/>
          </p:cNvPicPr>
          <p:nvPr/>
        </p:nvPicPr>
        <p:blipFill>
          <a:blip r:embed="rId2"/>
          <a:stretch>
            <a:fillRect/>
          </a:stretch>
        </p:blipFill>
        <p:spPr>
          <a:xfrm>
            <a:off x="0" y="-37654"/>
            <a:ext cx="12191999" cy="6895654"/>
          </a:xfrm>
          <a:prstGeom prst="rect">
            <a:avLst/>
          </a:prstGeom>
        </p:spPr>
      </p:pic>
    </p:spTree>
    <p:extLst>
      <p:ext uri="{BB962C8B-B14F-4D97-AF65-F5344CB8AC3E}">
        <p14:creationId xmlns:p14="http://schemas.microsoft.com/office/powerpoint/2010/main" val="15457476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225821-7EC6-4A87-B9D1-1688DA341528}"/>
              </a:ext>
            </a:extLst>
          </p:cNvPr>
          <p:cNvSpPr txBox="1"/>
          <p:nvPr/>
        </p:nvSpPr>
        <p:spPr>
          <a:xfrm>
            <a:off x="92765" y="145773"/>
            <a:ext cx="11913705" cy="4893647"/>
          </a:xfrm>
          <a:prstGeom prst="rect">
            <a:avLst/>
          </a:prstGeom>
          <a:noFill/>
        </p:spPr>
        <p:txBody>
          <a:bodyPr wrap="square">
            <a:spAutoFit/>
          </a:bodyPr>
          <a:lstStyle/>
          <a:p>
            <a:pPr algn="l"/>
            <a:r>
              <a:rPr lang="en-US" sz="2400" b="1" i="0" u="none" strike="noStrike" dirty="0">
                <a:solidFill>
                  <a:srgbClr val="FF0000"/>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How to Manage Inter-Project Dependencies using Jenkins</a:t>
            </a:r>
            <a:endParaRPr lang="en-US" sz="2400" b="1" i="0" dirty="0">
              <a:solidFill>
                <a:srgbClr val="FF0000"/>
              </a:solidFill>
              <a:effectLst/>
              <a:latin typeface="Times New Roman" panose="02020603050405020304" pitchFamily="18" charset="0"/>
              <a:cs typeface="Times New Roman" panose="02020603050405020304" pitchFamily="18" charset="0"/>
            </a:endParaRPr>
          </a:p>
          <a:p>
            <a:pPr algn="l" rtl="0"/>
            <a:br>
              <a:rPr lang="en-US" b="0" i="0" dirty="0">
                <a:solidFill>
                  <a:srgbClr val="333333"/>
                </a:solidFill>
                <a:effectLst/>
                <a:latin typeface="arial" panose="020B0604020202020204" pitchFamily="34" charset="0"/>
              </a:rPr>
            </a:br>
            <a:r>
              <a:rPr lang="en-US" b="0" i="0" dirty="0">
                <a:solidFill>
                  <a:srgbClr val="333333"/>
                </a:solidFill>
                <a:effectLst/>
                <a:latin typeface="arial" panose="020B0604020202020204" pitchFamily="34" charset="0"/>
              </a:rPr>
              <a:t>how Jenkins can be used to work with inter-dependent projects. </a:t>
            </a:r>
          </a:p>
          <a:p>
            <a:pPr algn="l" rtl="0"/>
            <a:endParaRPr lang="en-US" dirty="0">
              <a:solidFill>
                <a:srgbClr val="333333"/>
              </a:solidFill>
              <a:latin typeface="arial" panose="020B0604020202020204" pitchFamily="34" charset="0"/>
            </a:endParaRPr>
          </a:p>
          <a:p>
            <a:pPr marL="285750" indent="-285750" algn="l" rtl="0">
              <a:buFont typeface="Wingdings" panose="05000000000000000000" pitchFamily="2" charset="2"/>
              <a:buChar char="Ø"/>
            </a:pPr>
            <a:r>
              <a:rPr lang="en-US" b="0" i="0" dirty="0">
                <a:solidFill>
                  <a:srgbClr val="333333"/>
                </a:solidFill>
                <a:effectLst/>
                <a:latin typeface="arial" panose="020B0604020202020204" pitchFamily="34" charset="0"/>
              </a:rPr>
              <a:t>Managing the CI environment with multiple inter-dependent projects is quite important, as it is general scenario with projects.</a:t>
            </a:r>
            <a:br>
              <a:rPr lang="en-US" b="0" i="0" dirty="0">
                <a:solidFill>
                  <a:srgbClr val="333333"/>
                </a:solidFill>
                <a:effectLst/>
                <a:latin typeface="arial" panose="020B0604020202020204" pitchFamily="34" charset="0"/>
              </a:rPr>
            </a:br>
            <a:br>
              <a:rPr lang="en-US" b="0" i="0" dirty="0">
                <a:solidFill>
                  <a:srgbClr val="333333"/>
                </a:solidFill>
                <a:effectLst/>
                <a:latin typeface="arial" panose="020B0604020202020204" pitchFamily="34" charset="0"/>
              </a:rPr>
            </a:br>
            <a:r>
              <a:rPr lang="en-US" b="0" i="0" dirty="0">
                <a:solidFill>
                  <a:srgbClr val="333333"/>
                </a:solidFill>
                <a:effectLst/>
                <a:latin typeface="arial" panose="020B0604020202020204" pitchFamily="34" charset="0"/>
              </a:rPr>
              <a:t>If there are multiple projects having dependencies, then requirements would be:</a:t>
            </a:r>
          </a:p>
          <a:p>
            <a:pPr marL="285750" indent="-285750" algn="l" rtl="0">
              <a:buFont typeface="Wingdings" panose="05000000000000000000" pitchFamily="2" charset="2"/>
              <a:buChar char="Ø"/>
            </a:pPr>
            <a:br>
              <a:rPr lang="en-US" b="0" i="0" dirty="0">
                <a:solidFill>
                  <a:srgbClr val="333333"/>
                </a:solidFill>
                <a:effectLst/>
                <a:latin typeface="arial" panose="020B0604020202020204" pitchFamily="34" charset="0"/>
              </a:rPr>
            </a:br>
            <a:r>
              <a:rPr lang="en-US" b="0" i="0" dirty="0">
                <a:solidFill>
                  <a:srgbClr val="333333"/>
                </a:solidFill>
                <a:effectLst/>
                <a:latin typeface="arial" panose="020B0604020202020204" pitchFamily="34" charset="0"/>
              </a:rPr>
              <a:t>If Project A is dependent on Project B, then a successful build of Project B should trigger the build for Project A also.</a:t>
            </a:r>
          </a:p>
          <a:p>
            <a:pPr marL="285750" indent="-285750" algn="l" rtl="0">
              <a:buFont typeface="Wingdings" panose="05000000000000000000" pitchFamily="2" charset="2"/>
              <a:buChar char="Ø"/>
            </a:pPr>
            <a:endParaRPr lang="en-US" dirty="0">
              <a:solidFill>
                <a:srgbClr val="333333"/>
              </a:solidFill>
              <a:latin typeface="arial" panose="020B0604020202020204" pitchFamily="34" charset="0"/>
            </a:endParaRPr>
          </a:p>
          <a:p>
            <a:pPr marL="285750" indent="-285750" algn="l" rtl="0">
              <a:buFont typeface="Wingdings" panose="05000000000000000000" pitchFamily="2" charset="2"/>
              <a:buChar char="Ø"/>
            </a:pPr>
            <a:r>
              <a:rPr lang="en-US" b="0" i="0" dirty="0">
                <a:solidFill>
                  <a:srgbClr val="333333"/>
                </a:solidFill>
                <a:effectLst/>
                <a:latin typeface="arial" panose="020B0604020202020204" pitchFamily="34" charset="0"/>
              </a:rPr>
              <a:t>In generic words, the build of current project should trigger the build for other dependent projects also. It is required to ensure the integrity of whole project dependency chain after any change.</a:t>
            </a:r>
          </a:p>
          <a:p>
            <a:pPr marL="285750" indent="-285750" algn="l" rtl="0">
              <a:buFont typeface="Wingdings" panose="05000000000000000000" pitchFamily="2" charset="2"/>
              <a:buChar char="Ø"/>
            </a:pPr>
            <a:endParaRPr lang="en-US" b="0" i="0" dirty="0">
              <a:solidFill>
                <a:srgbClr val="333333"/>
              </a:solidFill>
              <a:effectLst/>
              <a:latin typeface="arial" panose="020B0604020202020204" pitchFamily="34" charset="0"/>
            </a:endParaRPr>
          </a:p>
          <a:p>
            <a:pPr marL="285750" indent="-285750" algn="l" rtl="0">
              <a:buFont typeface="Wingdings" panose="05000000000000000000" pitchFamily="2" charset="2"/>
              <a:buChar char="Ø"/>
            </a:pPr>
            <a:r>
              <a:rPr lang="en-US" b="0" i="0" dirty="0">
                <a:solidFill>
                  <a:srgbClr val="333333"/>
                </a:solidFill>
                <a:effectLst/>
                <a:latin typeface="arial" panose="020B0604020202020204" pitchFamily="34" charset="0"/>
              </a:rPr>
              <a:t>The dependent projects should be able to pick the latest jars from Projects on which these are dependent. </a:t>
            </a:r>
          </a:p>
          <a:p>
            <a:pPr algn="l" rtl="0"/>
            <a:endParaRPr lang="en-US" dirty="0">
              <a:solidFill>
                <a:srgbClr val="333333"/>
              </a:solidFill>
              <a:latin typeface="arial" panose="020B0604020202020204" pitchFamily="34" charset="0"/>
            </a:endParaRPr>
          </a:p>
        </p:txBody>
      </p:sp>
    </p:spTree>
    <p:extLst>
      <p:ext uri="{BB962C8B-B14F-4D97-AF65-F5344CB8AC3E}">
        <p14:creationId xmlns:p14="http://schemas.microsoft.com/office/powerpoint/2010/main" val="23550570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207D2D-5E5F-4776-9B62-1EF9D5CD7E86}"/>
              </a:ext>
            </a:extLst>
          </p:cNvPr>
          <p:cNvSpPr txBox="1"/>
          <p:nvPr/>
        </p:nvSpPr>
        <p:spPr>
          <a:xfrm>
            <a:off x="0" y="0"/>
            <a:ext cx="12192000" cy="6370975"/>
          </a:xfrm>
          <a:prstGeom prst="rect">
            <a:avLst/>
          </a:prstGeom>
          <a:noFill/>
        </p:spPr>
        <p:txBody>
          <a:bodyPr wrap="square">
            <a:spAutoFit/>
          </a:bodyPr>
          <a:lstStyle/>
          <a:p>
            <a:pPr algn="l" rtl="0"/>
            <a:r>
              <a:rPr lang="en-US" sz="2400" b="0" i="0" dirty="0">
                <a:solidFill>
                  <a:srgbClr val="7030A0"/>
                </a:solidFill>
                <a:effectLst/>
                <a:latin typeface="Times New Roman" panose="02020603050405020304" pitchFamily="18" charset="0"/>
                <a:cs typeface="Times New Roman" panose="02020603050405020304" pitchFamily="18" charset="0"/>
              </a:rPr>
              <a:t>This way, finally whole project chain will be built again on change in any of the project (from down to up)</a:t>
            </a:r>
          </a:p>
          <a:p>
            <a:pPr algn="l" rtl="0"/>
            <a:br>
              <a:rPr lang="en-US" sz="2400" b="0" i="0" dirty="0">
                <a:solidFill>
                  <a:srgbClr val="7030A0"/>
                </a:solidFill>
                <a:effectLst/>
                <a:latin typeface="Times New Roman" panose="02020603050405020304" pitchFamily="18" charset="0"/>
                <a:cs typeface="Times New Roman" panose="02020603050405020304" pitchFamily="18" charset="0"/>
              </a:rPr>
            </a:br>
            <a:r>
              <a:rPr lang="en-US" sz="2400" b="0" i="0" dirty="0">
                <a:solidFill>
                  <a:srgbClr val="7030A0"/>
                </a:solidFill>
                <a:effectLst/>
                <a:latin typeface="Times New Roman" panose="02020603050405020304" pitchFamily="18" charset="0"/>
                <a:cs typeface="Times New Roman" panose="02020603050405020304" pitchFamily="18" charset="0"/>
              </a:rPr>
              <a:t>Now, how we can achieve these requirements in Jenkins. </a:t>
            </a:r>
          </a:p>
          <a:p>
            <a:pPr algn="l" rtl="0"/>
            <a:endParaRPr lang="en-US" sz="2400" dirty="0">
              <a:solidFill>
                <a:srgbClr val="7030A0"/>
              </a:solidFill>
              <a:latin typeface="Times New Roman" panose="02020603050405020304" pitchFamily="18" charset="0"/>
              <a:cs typeface="Times New Roman" panose="02020603050405020304" pitchFamily="18" charset="0"/>
            </a:endParaRPr>
          </a:p>
          <a:p>
            <a:pPr algn="l" rtl="0"/>
            <a:r>
              <a:rPr lang="en-US" sz="2400" b="0" i="0" dirty="0">
                <a:solidFill>
                  <a:srgbClr val="7030A0"/>
                </a:solidFill>
                <a:effectLst/>
                <a:latin typeface="Times New Roman" panose="02020603050405020304" pitchFamily="18" charset="0"/>
                <a:cs typeface="Times New Roman" panose="02020603050405020304" pitchFamily="18" charset="0"/>
              </a:rPr>
              <a:t>Here we are describing this with an example.</a:t>
            </a:r>
          </a:p>
          <a:p>
            <a:pPr algn="l" rtl="0"/>
            <a:br>
              <a:rPr lang="en-US" sz="2400" b="0" i="0" dirty="0">
                <a:solidFill>
                  <a:srgbClr val="333333"/>
                </a:solidFill>
                <a:effectLst/>
                <a:latin typeface="arial" panose="020B0604020202020204" pitchFamily="34" charset="0"/>
              </a:rPr>
            </a:br>
            <a:r>
              <a:rPr lang="en-US" sz="2400" b="0" i="0" dirty="0">
                <a:solidFill>
                  <a:srgbClr val="333333"/>
                </a:solidFill>
                <a:effectLst/>
                <a:latin typeface="arial" panose="020B0604020202020204" pitchFamily="34" charset="0"/>
              </a:rPr>
              <a:t>Suppose there are three projects, Project 1, Project 2 and Project 3. </a:t>
            </a:r>
          </a:p>
          <a:p>
            <a:pPr algn="l" rtl="0"/>
            <a:endParaRPr lang="en-US" sz="2400" b="0" i="0" dirty="0">
              <a:solidFill>
                <a:srgbClr val="333333"/>
              </a:solidFill>
              <a:effectLst/>
              <a:latin typeface="arial" panose="020B0604020202020204" pitchFamily="34" charset="0"/>
            </a:endParaRPr>
          </a:p>
          <a:p>
            <a:pPr algn="l" rtl="0">
              <a:buFont typeface="Arial" panose="020B0604020202020204" pitchFamily="34" charset="0"/>
              <a:buChar char="•"/>
            </a:pPr>
            <a:r>
              <a:rPr lang="en-US" sz="2400" b="0" i="0" dirty="0">
                <a:solidFill>
                  <a:srgbClr val="333333"/>
                </a:solidFill>
                <a:effectLst/>
                <a:latin typeface="arial" panose="020B0604020202020204" pitchFamily="34" charset="0"/>
              </a:rPr>
              <a:t>Project 1 is dependent on Project 2. Project 2 is dependent on Project 3.</a:t>
            </a:r>
          </a:p>
          <a:p>
            <a:pPr algn="l" rtl="0"/>
            <a:endParaRPr lang="en-US" sz="2400" b="0" i="0" dirty="0">
              <a:solidFill>
                <a:srgbClr val="333333"/>
              </a:solidFill>
              <a:effectLst/>
              <a:latin typeface="arial" panose="020B0604020202020204" pitchFamily="34" charset="0"/>
            </a:endParaRPr>
          </a:p>
          <a:p>
            <a:pPr algn="l" rtl="0">
              <a:buFont typeface="Arial" panose="020B0604020202020204" pitchFamily="34" charset="0"/>
              <a:buChar char="•"/>
            </a:pPr>
            <a:r>
              <a:rPr lang="en-US" sz="2400" b="0" i="0" dirty="0">
                <a:solidFill>
                  <a:srgbClr val="7030A0"/>
                </a:solidFill>
                <a:effectLst/>
                <a:latin typeface="arial" panose="020B0604020202020204" pitchFamily="34" charset="0"/>
              </a:rPr>
              <a:t>Assumption is that build of every project produce the distribute-able jar </a:t>
            </a:r>
            <a:r>
              <a:rPr lang="en-US" sz="2400" b="0" i="0" dirty="0" err="1">
                <a:solidFill>
                  <a:srgbClr val="7030A0"/>
                </a:solidFill>
                <a:effectLst/>
                <a:latin typeface="arial" panose="020B0604020202020204" pitchFamily="34" charset="0"/>
              </a:rPr>
              <a:t>etc</a:t>
            </a:r>
            <a:r>
              <a:rPr lang="en-US" sz="2400" b="0" i="0" dirty="0">
                <a:solidFill>
                  <a:srgbClr val="7030A0"/>
                </a:solidFill>
                <a:effectLst/>
                <a:latin typeface="arial" panose="020B0604020202020204" pitchFamily="34" charset="0"/>
              </a:rPr>
              <a:t> in a specific folder</a:t>
            </a:r>
          </a:p>
          <a:p>
            <a:pPr algn="l" rtl="0">
              <a:buFont typeface="Arial" panose="020B0604020202020204" pitchFamily="34" charset="0"/>
              <a:buChar char="•"/>
            </a:pPr>
            <a:endParaRPr lang="en-US" sz="2400" b="0" i="0" dirty="0">
              <a:solidFill>
                <a:srgbClr val="333333"/>
              </a:solidFill>
              <a:effectLst/>
              <a:latin typeface="arial" panose="020B0604020202020204" pitchFamily="34" charset="0"/>
            </a:endParaRPr>
          </a:p>
          <a:p>
            <a:pPr algn="l" rtl="0">
              <a:buFont typeface="Arial" panose="020B0604020202020204" pitchFamily="34" charset="0"/>
              <a:buChar char="•"/>
            </a:pPr>
            <a:r>
              <a:rPr lang="en-US" sz="2400" b="0" i="0" dirty="0">
                <a:solidFill>
                  <a:srgbClr val="333333"/>
                </a:solidFill>
                <a:effectLst/>
                <a:latin typeface="arial" panose="020B0604020202020204" pitchFamily="34" charset="0"/>
              </a:rPr>
              <a:t>Now update the 'build' for Project 3 in a way, so that before compiling its own code base, it picks the output of Project 2 build from its output folder and synchronize it in its own library folders. </a:t>
            </a:r>
          </a:p>
        </p:txBody>
      </p:sp>
    </p:spTree>
    <p:extLst>
      <p:ext uri="{BB962C8B-B14F-4D97-AF65-F5344CB8AC3E}">
        <p14:creationId xmlns:p14="http://schemas.microsoft.com/office/powerpoint/2010/main" val="4974465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1AAF0E-F209-48BF-880A-50159B173319}"/>
              </a:ext>
            </a:extLst>
          </p:cNvPr>
          <p:cNvSpPr txBox="1"/>
          <p:nvPr/>
        </p:nvSpPr>
        <p:spPr>
          <a:xfrm>
            <a:off x="0" y="0"/>
            <a:ext cx="12085982" cy="6740307"/>
          </a:xfrm>
          <a:prstGeom prst="rect">
            <a:avLst/>
          </a:prstGeom>
          <a:noFill/>
        </p:spPr>
        <p:txBody>
          <a:bodyPr wrap="square">
            <a:spAutoFit/>
          </a:bodyPr>
          <a:lstStyle/>
          <a:p>
            <a:pPr algn="l" rtl="0">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Similarly update the 'build' for Project 2 in a way, that before compiling its own code base, it picks the output of Project 1 'build' from its output folder and synchronize it in own library folders.</a:t>
            </a:r>
          </a:p>
          <a:p>
            <a:pPr algn="l" rtl="0">
              <a:buFont typeface="Arial" panose="020B0604020202020204" pitchFamily="34" charset="0"/>
              <a:buChar char="•"/>
            </a:pPr>
            <a:r>
              <a:rPr lang="en-US" sz="2400" b="0" i="0" dirty="0">
                <a:solidFill>
                  <a:srgbClr val="7030A0"/>
                </a:solidFill>
                <a:effectLst/>
                <a:latin typeface="Times New Roman" panose="02020603050405020304" pitchFamily="18" charset="0"/>
                <a:cs typeface="Times New Roman" panose="02020603050405020304" pitchFamily="18" charset="0"/>
              </a:rPr>
              <a:t>Create a Job in Jenkins for Project1, as described with previous article</a:t>
            </a:r>
          </a:p>
          <a:p>
            <a:pPr algn="l" rtl="0">
              <a:buFont typeface="Arial" panose="020B0604020202020204" pitchFamily="34" charset="0"/>
              <a:buChar char="•"/>
            </a:pPr>
            <a:r>
              <a:rPr lang="en-US" sz="2400" b="0" i="0" dirty="0">
                <a:solidFill>
                  <a:srgbClr val="7030A0"/>
                </a:solidFill>
                <a:effectLst/>
                <a:latin typeface="Times New Roman" panose="02020603050405020304" pitchFamily="18" charset="0"/>
                <a:cs typeface="Times New Roman" panose="02020603050405020304" pitchFamily="18" charset="0"/>
              </a:rPr>
              <a:t>Add post build actions to this job to trigger the build of Project2</a:t>
            </a:r>
          </a:p>
          <a:p>
            <a:pPr algn="l" rtl="0">
              <a:buFont typeface="Arial" panose="020B0604020202020204" pitchFamily="34" charset="0"/>
              <a:buChar char="•"/>
            </a:pPr>
            <a:r>
              <a:rPr lang="en-US" sz="2400" b="0" i="0" dirty="0">
                <a:solidFill>
                  <a:srgbClr val="7030A0"/>
                </a:solidFill>
                <a:effectLst/>
                <a:latin typeface="Times New Roman" panose="02020603050405020304" pitchFamily="18" charset="0"/>
                <a:cs typeface="Times New Roman" panose="02020603050405020304" pitchFamily="18" charset="0"/>
              </a:rPr>
              <a:t>Create a Job for Project2</a:t>
            </a:r>
          </a:p>
          <a:p>
            <a:pPr algn="l" rtl="0">
              <a:buFont typeface="Arial" panose="020B0604020202020204" pitchFamily="34" charset="0"/>
              <a:buChar char="•"/>
            </a:pPr>
            <a:r>
              <a:rPr lang="en-US" sz="2400" b="0" i="0" dirty="0">
                <a:solidFill>
                  <a:srgbClr val="7030A0"/>
                </a:solidFill>
                <a:effectLst/>
                <a:latin typeface="Times New Roman" panose="02020603050405020304" pitchFamily="18" charset="0"/>
                <a:cs typeface="Times New Roman" panose="02020603050405020304" pitchFamily="18" charset="0"/>
              </a:rPr>
              <a:t>Add post build actions to this job to trigger the build of Project 3</a:t>
            </a:r>
          </a:p>
          <a:p>
            <a:pPr algn="l" rtl="0">
              <a:buFont typeface="Arial" panose="020B0604020202020204" pitchFamily="34" charset="0"/>
              <a:buChar char="•"/>
            </a:pPr>
            <a:r>
              <a:rPr lang="en-US" sz="2400" b="0" i="0" dirty="0">
                <a:solidFill>
                  <a:srgbClr val="7030A0"/>
                </a:solidFill>
                <a:effectLst/>
                <a:latin typeface="Times New Roman" panose="02020603050405020304" pitchFamily="18" charset="0"/>
                <a:cs typeface="Times New Roman" panose="02020603050405020304" pitchFamily="18" charset="0"/>
              </a:rPr>
              <a:t>Create job for Project3</a:t>
            </a:r>
          </a:p>
          <a:p>
            <a:pPr algn="l" rtl="0">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Using this setup, whenever Project1 will be build, it will trigger the job for Project2</a:t>
            </a:r>
          </a:p>
          <a:p>
            <a:pPr algn="l" rtl="0">
              <a:buFont typeface="Arial" panose="020B0604020202020204" pitchFamily="34" charset="0"/>
              <a:buChar char="•"/>
            </a:pPr>
            <a:r>
              <a:rPr lang="en-US" sz="2400" b="0" i="0" dirty="0">
                <a:solidFill>
                  <a:srgbClr val="7030A0"/>
                </a:solidFill>
                <a:effectLst/>
                <a:latin typeface="Times New Roman" panose="02020603050405020304" pitchFamily="18" charset="0"/>
                <a:cs typeface="Times New Roman" panose="02020603050405020304" pitchFamily="18" charset="0"/>
              </a:rPr>
              <a:t>Project 2 will pick the dependencies from Project1 output folder and will build its own code base. </a:t>
            </a:r>
          </a:p>
          <a:p>
            <a:pPr algn="l" rtl="0">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Build will place the output files in some specific folder.</a:t>
            </a:r>
          </a:p>
          <a:p>
            <a:pPr algn="l" rtl="0">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Similarly Project3 build will be triggered and it will pick the dependencies from Project2 output folders</a:t>
            </a:r>
          </a:p>
          <a:p>
            <a:pPr algn="l" rtl="0"/>
            <a:r>
              <a:rPr lang="en-US" sz="2400" b="0" i="0" dirty="0">
                <a:solidFill>
                  <a:srgbClr val="333333"/>
                </a:solidFill>
                <a:effectLst/>
                <a:latin typeface="Times New Roman" panose="02020603050405020304" pitchFamily="18" charset="0"/>
                <a:cs typeface="Times New Roman" panose="02020603050405020304" pitchFamily="18" charset="0"/>
              </a:rPr>
              <a:t>Using this approach, we shall be able to have a perfectly integrated build system and will be able to track if any of the project in whole dependency chain breaks due to any commit. On change in any project, it will trigger the build of all dependent projects. Inter-project dependencies will be synchronized automatically.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86290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C62C66-06A2-4D78-B461-C5DE4B96D5C5}"/>
              </a:ext>
            </a:extLst>
          </p:cNvPr>
          <p:cNvSpPr txBox="1"/>
          <p:nvPr/>
        </p:nvSpPr>
        <p:spPr>
          <a:xfrm>
            <a:off x="1" y="0"/>
            <a:ext cx="11993216" cy="7000506"/>
          </a:xfrm>
          <a:prstGeom prst="rect">
            <a:avLst/>
          </a:prstGeom>
          <a:noFill/>
        </p:spPr>
        <p:txBody>
          <a:bodyPr wrap="square">
            <a:spAutoFit/>
          </a:bodyPr>
          <a:lstStyle/>
          <a:p>
            <a:r>
              <a:rPr lang="en-IN" sz="2400" b="1" i="0" u="none" strike="noStrike" baseline="0" dirty="0">
                <a:solidFill>
                  <a:srgbClr val="FF0000"/>
                </a:solidFill>
                <a:latin typeface="Times New Roman" panose="02020603050405020304" pitchFamily="18" charset="0"/>
                <a:cs typeface="Times New Roman" panose="02020603050405020304" pitchFamily="18" charset="0"/>
              </a:rPr>
              <a:t>Jenkins plugins </a:t>
            </a:r>
            <a:endParaRPr lang="en-IN" sz="2400" b="0" i="0" u="none" strike="noStrike" baseline="0" dirty="0">
              <a:solidFill>
                <a:srgbClr val="FF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Jenkins has a plugin system to add functionality to the build server. </a:t>
            </a:r>
          </a:p>
          <a:p>
            <a:endParaRPr lang="en-US" sz="2400" dirty="0">
              <a:solidFill>
                <a:srgbClr val="000000"/>
              </a:solidFill>
              <a:latin typeface="Times New Roman" panose="02020603050405020304" pitchFamily="18" charset="0"/>
              <a:cs typeface="Times New Roman" panose="02020603050405020304" pitchFamily="18" charset="0"/>
            </a:endParaRPr>
          </a:p>
          <a:p>
            <a:r>
              <a:rPr lang="en-US" sz="2400" b="0" i="0" dirty="0">
                <a:solidFill>
                  <a:srgbClr val="00B050"/>
                </a:solidFill>
                <a:effectLst/>
                <a:latin typeface="Times New Roman" panose="02020603050405020304" pitchFamily="18" charset="0"/>
                <a:cs typeface="Times New Roman" panose="02020603050405020304" pitchFamily="18" charset="0"/>
              </a:rPr>
              <a:t>A </a:t>
            </a:r>
            <a:r>
              <a:rPr lang="en-US" sz="2400" b="1" i="0" dirty="0">
                <a:solidFill>
                  <a:srgbClr val="00B050"/>
                </a:solidFill>
                <a:effectLst/>
                <a:latin typeface="Times New Roman" panose="02020603050405020304" pitchFamily="18" charset="0"/>
                <a:cs typeface="Times New Roman" panose="02020603050405020304" pitchFamily="18" charset="0"/>
              </a:rPr>
              <a:t>plugin</a:t>
            </a:r>
            <a:r>
              <a:rPr lang="en-US" sz="2400" b="0" i="0" dirty="0">
                <a:solidFill>
                  <a:srgbClr val="00B050"/>
                </a:solidFill>
                <a:effectLst/>
                <a:latin typeface="Times New Roman" panose="02020603050405020304" pitchFamily="18" charset="0"/>
                <a:cs typeface="Times New Roman" panose="02020603050405020304" pitchFamily="18" charset="0"/>
              </a:rPr>
              <a:t> is a </a:t>
            </a:r>
            <a:r>
              <a:rPr lang="en-US" sz="2400" b="0" i="0" u="none" strike="noStrike" dirty="0">
                <a:solidFill>
                  <a:srgbClr val="00B050"/>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software</a:t>
            </a:r>
            <a:r>
              <a:rPr lang="en-US" sz="2400" b="0" i="0" dirty="0">
                <a:solidFill>
                  <a:srgbClr val="00B050"/>
                </a:solidFill>
                <a:effectLst/>
                <a:latin typeface="Times New Roman" panose="02020603050405020304" pitchFamily="18" charset="0"/>
                <a:cs typeface="Times New Roman" panose="02020603050405020304" pitchFamily="18" charset="0"/>
              </a:rPr>
              <a:t> add-on that is installed on a program, enhancing its capabilities. For example, if you wanted to watch a video on a website, you may need a plugin to do so. If the plugin is not installed, your browser will not understand how to play the video.</a:t>
            </a:r>
            <a:endParaRPr lang="en-US" sz="2400" dirty="0">
              <a:solidFill>
                <a:srgbClr val="00B05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There are many different plugins available, and they can be installed from within the Jenkins web interface.</a:t>
            </a:r>
          </a:p>
          <a:p>
            <a:endParaRPr lang="en-US" sz="2400" dirty="0">
              <a:solidFill>
                <a:srgbClr val="000000"/>
              </a:solidFill>
              <a:latin typeface="Times New Roman" panose="02020603050405020304" pitchFamily="18" charset="0"/>
              <a:cs typeface="Times New Roman" panose="02020603050405020304" pitchFamily="18" charset="0"/>
            </a:endParaRPr>
          </a:p>
          <a:p>
            <a:pPr fontAlgn="base">
              <a:lnSpc>
                <a:spcPct val="107000"/>
              </a:lnSpc>
              <a:spcAft>
                <a:spcPts val="800"/>
              </a:spcAft>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 Many of them can be installed without even restarting Jenkins. </a:t>
            </a: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Productivity</a:t>
            </a:r>
          </a:p>
          <a:p>
            <a:pPr fontAlgn="base">
              <a:lnSpc>
                <a:spcPct val="107000"/>
              </a:lnSpc>
              <a:spcAft>
                <a:spcPts val="800"/>
              </a:spcAft>
            </a:pPr>
            <a:r>
              <a:rPr lang="en-IN" sz="2400" b="1" u="sng"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1. Dashboard View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The ‘Dashboard view plugin’ provides a new Jenkins dashboard that allows you to monitor the </a:t>
            </a:r>
            <a:r>
              <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status of all the tasks. </a:t>
            </a: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Ideally, this also has time tracking capabilities for the </a:t>
            </a:r>
            <a:r>
              <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duration taken by each job </a:t>
            </a: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and also shows the entire time execution. These are fundamentals that help you manage Jenkins.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3551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7191BC-9244-4364-A7F4-2E657E781564}"/>
              </a:ext>
            </a:extLst>
          </p:cNvPr>
          <p:cNvSpPr txBox="1"/>
          <p:nvPr/>
        </p:nvSpPr>
        <p:spPr>
          <a:xfrm>
            <a:off x="185530" y="159026"/>
            <a:ext cx="12006470" cy="6396175"/>
          </a:xfrm>
          <a:prstGeom prst="rect">
            <a:avLst/>
          </a:prstGeom>
          <a:noFill/>
        </p:spPr>
        <p:txBody>
          <a:bodyPr wrap="square">
            <a:spAutoFit/>
          </a:bodyPr>
          <a:lstStyle/>
          <a:p>
            <a:pPr fontAlgn="base">
              <a:lnSpc>
                <a:spcPct val="107000"/>
              </a:lnSpc>
              <a:spcAft>
                <a:spcPts val="800"/>
              </a:spcAft>
            </a:pPr>
            <a:r>
              <a:rPr lang="en-IN" sz="2400" b="1" u="sng"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2. View Job Filters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The ‘View Job Filters plugin’ is an method to build different views for all your Jenkins jobs. Whether it’s build status or trends and triggers, with the ‘View Job Filters plugin,’ you will find all these filtering options in addition to many others.</a:t>
            </a:r>
          </a:p>
          <a:p>
            <a:pPr fontAlgn="base">
              <a:lnSpc>
                <a:spcPct val="107000"/>
              </a:lnSpc>
              <a:spcAft>
                <a:spcPts val="800"/>
              </a:spcAft>
            </a:pPr>
            <a:r>
              <a:rPr lang="en-IN" sz="2400" b="1" u="sng"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3. Folders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The ‘Folder’s plugin’ is a great method for grouping your Jenkins tasks. Furthermore, organize your CI server can be arranged perfectly with the nestable folders available in this plugin.</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2400" b="1"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Monitoring</a:t>
            </a:r>
          </a:p>
          <a:p>
            <a:pPr fontAlgn="base">
              <a:lnSpc>
                <a:spcPct val="107000"/>
              </a:lnSpc>
              <a:spcAft>
                <a:spcPts val="800"/>
              </a:spcAft>
            </a:pPr>
            <a:r>
              <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4. Monitoring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US" sz="2400" b="0" i="0" dirty="0">
                <a:solidFill>
                  <a:srgbClr val="202124"/>
                </a:solidFill>
                <a:effectLst/>
                <a:latin typeface="Times New Roman" panose="02020603050405020304" pitchFamily="18" charset="0"/>
                <a:cs typeface="Times New Roman" panose="02020603050405020304" pitchFamily="18" charset="0"/>
              </a:rPr>
              <a:t>The Monitoring plugin provides </a:t>
            </a:r>
            <a:r>
              <a:rPr lang="en-US" sz="2400" b="1" i="0" dirty="0">
                <a:solidFill>
                  <a:srgbClr val="202124"/>
                </a:solidFill>
                <a:effectLst/>
                <a:latin typeface="Times New Roman" panose="02020603050405020304" pitchFamily="18" charset="0"/>
                <a:cs typeface="Times New Roman" panose="02020603050405020304" pitchFamily="18" charset="0"/>
              </a:rPr>
              <a:t>charts for CPU, memory, system load average, HTTP response time</a:t>
            </a:r>
            <a:r>
              <a:rPr lang="en-US" sz="2400" b="0" i="0" dirty="0">
                <a:solidFill>
                  <a:srgbClr val="202124"/>
                </a:solidFill>
                <a:effectLst/>
                <a:latin typeface="Times New Roman" panose="02020603050405020304" pitchFamily="18" charset="0"/>
                <a:cs typeface="Times New Roman" panose="02020603050405020304" pitchFamily="18" charset="0"/>
              </a:rPr>
              <a:t>, and so on.  </a:t>
            </a:r>
            <a:r>
              <a:rPr lang="en-IN"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Performance Enhancers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12982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C5C4A8-6164-44A3-9375-B7C5E0FB2578}"/>
              </a:ext>
            </a:extLst>
          </p:cNvPr>
          <p:cNvSpPr txBox="1"/>
          <p:nvPr/>
        </p:nvSpPr>
        <p:spPr>
          <a:xfrm>
            <a:off x="185531" y="132522"/>
            <a:ext cx="11781182" cy="7750968"/>
          </a:xfrm>
          <a:prstGeom prst="rect">
            <a:avLst/>
          </a:prstGeom>
          <a:noFill/>
        </p:spPr>
        <p:txBody>
          <a:bodyPr wrap="square">
            <a:spAutoFit/>
          </a:bodyPr>
          <a:lstStyle/>
          <a:p>
            <a:pPr fontAlgn="base">
              <a:lnSpc>
                <a:spcPct val="107000"/>
              </a:lnSpc>
              <a:spcAft>
                <a:spcPts val="800"/>
              </a:spcAft>
            </a:pPr>
            <a:r>
              <a:rPr lang="en-IN"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5</a:t>
            </a:r>
            <a:r>
              <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 Performance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You can watch your project’s performance via trend reports and graphs, and set your build status to either right, unstable or failed.</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6</a:t>
            </a:r>
            <a:r>
              <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 Performance Publisher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An outstanding feature of Performance Published plugin is that it is designed to work with every testing tool by generating trend and global reports for test result analysis. </a:t>
            </a:r>
          </a:p>
          <a:p>
            <a:pPr fontAlgn="base">
              <a:lnSpc>
                <a:spcPct val="107000"/>
              </a:lnSpc>
              <a:spcAft>
                <a:spcPts val="800"/>
              </a:spcAft>
            </a:pPr>
            <a:r>
              <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7. Amazon ECS Container Service</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Use the ‘Amazon ECS Container Service’ plugin to manage Jenkins cloud slaves and deploy Docker-based applications on a cluster.</a:t>
            </a:r>
          </a:p>
          <a:p>
            <a:pPr fontAlgn="base">
              <a:lnSpc>
                <a:spcPct val="107000"/>
              </a:lnSpc>
              <a:spcAft>
                <a:spcPts val="800"/>
              </a:spcAft>
            </a:pPr>
            <a:r>
              <a:rPr lang="en-IN" sz="2400" b="1" u="sng"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8</a:t>
            </a:r>
            <a:r>
              <a:rPr lang="en-IN" sz="2400" b="1" u="sng"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.Tests Analysis Plugins</a:t>
            </a:r>
            <a:endParaRPr lang="en-IN" sz="2400" u="sng"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Jenkins is the ultimate companion for performing your tests as part of CI. However, Jenkins doesn’t provide any way of studying test results after execution, which is an essential aspect of testing.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10314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082A4B-851A-49CA-A190-F4397B485EB9}"/>
              </a:ext>
            </a:extLst>
          </p:cNvPr>
          <p:cNvSpPr txBox="1"/>
          <p:nvPr/>
        </p:nvSpPr>
        <p:spPr>
          <a:xfrm>
            <a:off x="397565" y="212035"/>
            <a:ext cx="11436626" cy="5923481"/>
          </a:xfrm>
          <a:prstGeom prst="rect">
            <a:avLst/>
          </a:prstGeom>
          <a:noFill/>
        </p:spPr>
        <p:txBody>
          <a:bodyPr wrap="square">
            <a:spAutoFit/>
          </a:bodyPr>
          <a:lstStyle/>
          <a:p>
            <a:pPr fontAlgn="base">
              <a:lnSpc>
                <a:spcPct val="107000"/>
              </a:lnSpc>
              <a:spcAft>
                <a:spcPts val="800"/>
              </a:spcAft>
            </a:pPr>
            <a:r>
              <a:rPr lang="en-IN" sz="2400" b="1"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Pipeline / Flow</a:t>
            </a:r>
          </a:p>
          <a:p>
            <a:pPr fontAlgn="base">
              <a:lnSpc>
                <a:spcPct val="107000"/>
              </a:lnSpc>
              <a:spcAft>
                <a:spcPts val="800"/>
              </a:spcAft>
            </a:pPr>
            <a:r>
              <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9.Build Pipeline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This plugin provides a view of the jobs that make up your build pipeline, upstream and also downstream. </a:t>
            </a:r>
          </a:p>
          <a:p>
            <a:pPr fontAlgn="base">
              <a:lnSpc>
                <a:spcPct val="107000"/>
              </a:lnSpc>
              <a:spcAft>
                <a:spcPts val="2100"/>
              </a:spcAft>
            </a:pPr>
            <a:r>
              <a:rPr lang="en-IN"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10.Multijob Plugin</a:t>
            </a:r>
            <a:endParaRPr lang="en-IN" sz="2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This plugin allows you to express complex tasks and then organize them according to their structures in the Jenkins. You can use this plugin whenever you need to clean up the mess for chain definitions with upstream or downstream jobs. You may also use it when you need </a:t>
            </a:r>
            <a:r>
              <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to create a hierarchy of tasks to be executed sequentially.</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11.Pipeline Plugin</a:t>
            </a:r>
            <a:endParaRPr lang="en-IN"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spcAft>
                <a:spcPts val="2100"/>
              </a:spcAft>
            </a:pPr>
            <a:r>
              <a:rPr lang="en-IN" sz="2400" dirty="0">
                <a:solidFill>
                  <a:srgbClr val="374046"/>
                </a:solidFill>
                <a:effectLst/>
                <a:latin typeface="Times New Roman" panose="02020603050405020304" pitchFamily="18" charset="0"/>
                <a:ea typeface="Times New Roman" panose="02020603050405020304" pitchFamily="18" charset="0"/>
                <a:cs typeface="Times New Roman" panose="02020603050405020304" pitchFamily="18" charset="0"/>
              </a:rPr>
              <a:t>‘Pipeline’ attempts to automate your continuous delivery pipeline and performs other complex tasks in Jenkins using traditional plugins and freestyle projects.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8075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7683EA-E30D-4AA0-9B25-5F5B1BBBC58C}"/>
              </a:ext>
            </a:extLst>
          </p:cNvPr>
          <p:cNvSpPr txBox="1"/>
          <p:nvPr/>
        </p:nvSpPr>
        <p:spPr>
          <a:xfrm>
            <a:off x="-2" y="0"/>
            <a:ext cx="12192001" cy="6555641"/>
          </a:xfrm>
          <a:prstGeom prst="rect">
            <a:avLst/>
          </a:prstGeom>
          <a:noFill/>
        </p:spPr>
        <p:txBody>
          <a:bodyPr wrap="square">
            <a:spAutoFit/>
          </a:bodyPr>
          <a:lstStyle/>
          <a:p>
            <a:r>
              <a:rPr lang="en-US" sz="2100" b="1" dirty="0">
                <a:solidFill>
                  <a:srgbClr val="FF0000"/>
                </a:solidFill>
                <a:latin typeface="Times New Roman" panose="02020603050405020304" pitchFamily="18" charset="0"/>
                <a:cs typeface="Times New Roman" panose="02020603050405020304" pitchFamily="18" charset="0"/>
              </a:rPr>
              <a:t>T</a:t>
            </a:r>
            <a:r>
              <a:rPr lang="en-US" sz="2100" b="1" i="0" u="none" strike="noStrike" baseline="0" dirty="0">
                <a:solidFill>
                  <a:srgbClr val="FF0000"/>
                </a:solidFill>
                <a:latin typeface="Times New Roman" panose="02020603050405020304" pitchFamily="18" charset="0"/>
                <a:cs typeface="Times New Roman" panose="02020603050405020304" pitchFamily="18" charset="0"/>
              </a:rPr>
              <a:t>he Jenkins filesystem layout </a:t>
            </a:r>
          </a:p>
          <a:p>
            <a:r>
              <a:rPr lang="en-US" sz="2100" b="0" i="0" u="none" strike="noStrike" baseline="0" dirty="0">
                <a:solidFill>
                  <a:srgbClr val="000000"/>
                </a:solidFill>
                <a:latin typeface="Times New Roman" panose="02020603050405020304" pitchFamily="18" charset="0"/>
                <a:cs typeface="Times New Roman" panose="02020603050405020304" pitchFamily="18" charset="0"/>
              </a:rPr>
              <a:t>It is often useful to know where builds wind up in the filesystem. </a:t>
            </a:r>
          </a:p>
          <a:p>
            <a:r>
              <a:rPr lang="en-US" sz="2100" b="0" i="0" u="none" strike="noStrike" baseline="0" dirty="0">
                <a:solidFill>
                  <a:srgbClr val="000000"/>
                </a:solidFill>
                <a:latin typeface="Times New Roman" panose="02020603050405020304" pitchFamily="18" charset="0"/>
                <a:cs typeface="Times New Roman" panose="02020603050405020304" pitchFamily="18" charset="0"/>
              </a:rPr>
              <a:t>the Jenkins jobs are stored here: </a:t>
            </a:r>
          </a:p>
          <a:p>
            <a:endParaRPr lang="en-US" sz="2100" b="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100" b="0" i="0" u="none" strike="noStrike" baseline="0" dirty="0">
                <a:solidFill>
                  <a:srgbClr val="FF0000"/>
                </a:solidFill>
                <a:latin typeface="Times New Roman" panose="02020603050405020304" pitchFamily="18" charset="0"/>
                <a:cs typeface="Times New Roman" panose="02020603050405020304" pitchFamily="18" charset="0"/>
              </a:rPr>
              <a:t>/var/lib/</a:t>
            </a:r>
            <a:r>
              <a:rPr lang="en-IN" sz="2100" b="0" i="0" u="none" strike="noStrike" baseline="0" dirty="0" err="1">
                <a:solidFill>
                  <a:srgbClr val="FF0000"/>
                </a:solidFill>
                <a:latin typeface="Times New Roman" panose="02020603050405020304" pitchFamily="18" charset="0"/>
                <a:cs typeface="Times New Roman" panose="02020603050405020304" pitchFamily="18" charset="0"/>
              </a:rPr>
              <a:t>jenkins</a:t>
            </a:r>
            <a:r>
              <a:rPr lang="en-IN" sz="2100" b="0" i="0" u="none" strike="noStrike" baseline="0" dirty="0">
                <a:solidFill>
                  <a:srgbClr val="FF0000"/>
                </a:solidFill>
                <a:latin typeface="Times New Roman" panose="02020603050405020304" pitchFamily="18" charset="0"/>
                <a:cs typeface="Times New Roman" panose="02020603050405020304" pitchFamily="18" charset="0"/>
              </a:rPr>
              <a:t>/jobs </a:t>
            </a:r>
          </a:p>
          <a:p>
            <a:endParaRPr lang="en-IN" sz="2100" b="0" i="0" u="none" strike="noStrike" baseline="0" dirty="0">
              <a:solidFill>
                <a:srgbClr val="FF0000"/>
              </a:solidFill>
              <a:latin typeface="Times New Roman" panose="02020603050405020304" pitchFamily="18" charset="0"/>
              <a:cs typeface="Times New Roman" panose="02020603050405020304" pitchFamily="18" charset="0"/>
            </a:endParaRPr>
          </a:p>
          <a:p>
            <a:r>
              <a:rPr lang="en-US" sz="2100" b="0" i="0" u="none" strike="noStrike" baseline="0" dirty="0">
                <a:solidFill>
                  <a:srgbClr val="000000"/>
                </a:solidFill>
                <a:latin typeface="Times New Roman" panose="02020603050405020304" pitchFamily="18" charset="0"/>
                <a:cs typeface="Times New Roman" panose="02020603050405020304" pitchFamily="18" charset="0"/>
              </a:rPr>
              <a:t>Each job gets its own directory, and the job description XML is stored in this directory as well as a directory for the build called workspace. </a:t>
            </a:r>
          </a:p>
          <a:p>
            <a:endParaRPr lang="en-US" sz="2100" dirty="0">
              <a:solidFill>
                <a:srgbClr val="000000"/>
              </a:solidFill>
              <a:latin typeface="Times New Roman" panose="02020603050405020304" pitchFamily="18" charset="0"/>
              <a:cs typeface="Times New Roman" panose="02020603050405020304" pitchFamily="18" charset="0"/>
            </a:endParaRPr>
          </a:p>
          <a:p>
            <a:r>
              <a:rPr lang="en-US" sz="2100" b="0" i="0" u="none" strike="noStrike" baseline="0" dirty="0">
                <a:solidFill>
                  <a:srgbClr val="000000"/>
                </a:solidFill>
                <a:latin typeface="Times New Roman" panose="02020603050405020304" pitchFamily="18" charset="0"/>
                <a:cs typeface="Times New Roman" panose="02020603050405020304" pitchFamily="18" charset="0"/>
              </a:rPr>
              <a:t>The job's XML files can be backed up to another server in order to be able to rebuild the Jenkins server in the event of a catastrophic failure. </a:t>
            </a:r>
          </a:p>
          <a:p>
            <a:endParaRPr lang="en-US" sz="2100" dirty="0">
              <a:solidFill>
                <a:srgbClr val="000000"/>
              </a:solidFill>
              <a:latin typeface="Times New Roman" panose="02020603050405020304" pitchFamily="18" charset="0"/>
              <a:cs typeface="Times New Roman" panose="02020603050405020304" pitchFamily="18" charset="0"/>
            </a:endParaRPr>
          </a:p>
          <a:p>
            <a:r>
              <a:rPr lang="en-US" sz="2100" b="0" i="0" u="none" strike="noStrike" baseline="0" dirty="0">
                <a:solidFill>
                  <a:srgbClr val="000000"/>
                </a:solidFill>
                <a:latin typeface="Times New Roman" panose="02020603050405020304" pitchFamily="18" charset="0"/>
                <a:cs typeface="Times New Roman" panose="02020603050405020304" pitchFamily="18" charset="0"/>
              </a:rPr>
              <a:t>There are dedicated backup plugins for this purpose as well.</a:t>
            </a:r>
          </a:p>
          <a:p>
            <a:endParaRPr lang="en-US" sz="2100" b="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100" b="0" i="1" u="none" strike="noStrike" baseline="0" dirty="0">
                <a:solidFill>
                  <a:srgbClr val="FF0000"/>
                </a:solidFill>
                <a:latin typeface="Times New Roman" panose="02020603050405020304" pitchFamily="18" charset="0"/>
                <a:cs typeface="Times New Roman" panose="02020603050405020304" pitchFamily="18" charset="0"/>
              </a:rPr>
              <a:t>Building the Code </a:t>
            </a:r>
          </a:p>
          <a:p>
            <a:endParaRPr lang="en-IN" sz="21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100" b="0" i="0" u="none" strike="noStrike" baseline="0" dirty="0">
                <a:solidFill>
                  <a:srgbClr val="000000"/>
                </a:solidFill>
                <a:latin typeface="Times New Roman" panose="02020603050405020304" pitchFamily="18" charset="0"/>
                <a:cs typeface="Times New Roman" panose="02020603050405020304" pitchFamily="18" charset="0"/>
              </a:rPr>
              <a:t>Builds can consume a lot of space, so it may sometimes happen that you need to clean out this space manually. </a:t>
            </a:r>
          </a:p>
          <a:p>
            <a:endParaRPr lang="en-US" sz="21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100" b="0" i="0" u="none" strike="noStrike" baseline="0" dirty="0">
                <a:solidFill>
                  <a:srgbClr val="000000"/>
                </a:solidFill>
                <a:latin typeface="Times New Roman" panose="02020603050405020304" pitchFamily="18" charset="0"/>
                <a:cs typeface="Times New Roman" panose="02020603050405020304" pitchFamily="18" charset="0"/>
              </a:rPr>
              <a:t>This shouldn't be the normal case, of course. You should configure Jenkins to only leave the number of builds you have space for. You can also configure your configuration management tool to clear out space if needed. </a:t>
            </a:r>
            <a:r>
              <a:rPr lang="en-US" sz="2100" b="1" i="0" u="none" strike="noStrike" baseline="0" dirty="0">
                <a:solidFill>
                  <a:srgbClr val="000000"/>
                </a:solidFill>
                <a:latin typeface="Times New Roman" panose="02020603050405020304" pitchFamily="18" charset="0"/>
                <a:cs typeface="Times New Roman" panose="02020603050405020304" pitchFamily="18" charset="0"/>
              </a:rPr>
              <a:t> </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73221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EED186-1000-493C-A3D7-742B2826509C}"/>
              </a:ext>
            </a:extLst>
          </p:cNvPr>
          <p:cNvSpPr txBox="1"/>
          <p:nvPr/>
        </p:nvSpPr>
        <p:spPr>
          <a:xfrm>
            <a:off x="191069" y="251792"/>
            <a:ext cx="12000931" cy="3785652"/>
          </a:xfrm>
          <a:prstGeom prst="rect">
            <a:avLst/>
          </a:prstGeom>
          <a:noFill/>
        </p:spPr>
        <p:txBody>
          <a:bodyPr wrap="square">
            <a:spAutoFit/>
          </a:bodyPr>
          <a:lstStyle/>
          <a:p>
            <a:r>
              <a:rPr lang="en-IN" sz="2400" i="0" u="none" strike="noStrike" baseline="0" dirty="0">
                <a:solidFill>
                  <a:srgbClr val="FF0000"/>
                </a:solidFill>
                <a:latin typeface="Times New Roman" panose="02020603050405020304" pitchFamily="18" charset="0"/>
                <a:cs typeface="Times New Roman" panose="02020603050405020304" pitchFamily="18" charset="0"/>
              </a:rPr>
              <a:t>Software on the host </a:t>
            </a: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Depending on the complexity of your builds, you might need to install many different types of build tool on your build server. Remember that Jenkins is mostly used to trigger builds, not perform the builds themselves. </a:t>
            </a:r>
          </a:p>
          <a:p>
            <a:endParaRPr lang="en-US" sz="240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it's most convenient to have a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Linux-based host operating system</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Most of the build systems are available in the distribution repositories, so it's very convenient to install them from there.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To keep your build server up to date, you can use the same deployment servers that you use to keep your application servers up to date.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31869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D0EDFA-5631-4347-8BD6-2C0FC54ACE4B}"/>
              </a:ext>
            </a:extLst>
          </p:cNvPr>
          <p:cNvSpPr txBox="1"/>
          <p:nvPr/>
        </p:nvSpPr>
        <p:spPr>
          <a:xfrm>
            <a:off x="251792" y="424070"/>
            <a:ext cx="11785534" cy="5632311"/>
          </a:xfrm>
          <a:prstGeom prst="rect">
            <a:avLst/>
          </a:prstGeom>
          <a:noFill/>
        </p:spPr>
        <p:txBody>
          <a:bodyPr wrap="square">
            <a:spAutoFit/>
          </a:bodyPr>
          <a:lstStyle/>
          <a:p>
            <a:r>
              <a:rPr lang="en-IN" sz="2400" i="0" u="none" strike="noStrike" baseline="0" dirty="0">
                <a:solidFill>
                  <a:srgbClr val="FF0000"/>
                </a:solidFill>
                <a:latin typeface="Times New Roman" panose="02020603050405020304" pitchFamily="18" charset="0"/>
                <a:cs typeface="Times New Roman" panose="02020603050405020304" pitchFamily="18" charset="0"/>
              </a:rPr>
              <a:t>Triggers </a:t>
            </a:r>
          </a:p>
          <a:p>
            <a:endParaRPr lang="en-IN" sz="2400" i="0" u="none" strike="noStrike" baseline="0" dirty="0">
              <a:solidFill>
                <a:srgbClr val="FF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You can either use a timer to trigger builds, or you can poll the code repository for changes and build if there were changes.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It can be useful to use both methods at the same time: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Git repository polling can be used most of the time so that every check in triggers a build.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Nightly builds can be triggered, which are more stringent than continuous builds, and thus take a longer time. Since these builds happen at night when nobody is supposed to work, it doesn't matter if they are slow.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An upstream build can trigger a downstream build. You can also let the successful build of one job trigger another job.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73731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2CE46E-78DF-4D1A-A0F4-1F1A4B4EA9FC}"/>
              </a:ext>
            </a:extLst>
          </p:cNvPr>
          <p:cNvSpPr txBox="1"/>
          <p:nvPr/>
        </p:nvSpPr>
        <p:spPr>
          <a:xfrm>
            <a:off x="163772" y="95534"/>
            <a:ext cx="11846257" cy="5078313"/>
          </a:xfrm>
          <a:prstGeom prst="rect">
            <a:avLst/>
          </a:prstGeom>
          <a:noFill/>
        </p:spPr>
        <p:txBody>
          <a:bodyPr wrap="square">
            <a:spAutoFit/>
          </a:bodyPr>
          <a:lstStyle/>
          <a:p>
            <a:pPr algn="l"/>
            <a:r>
              <a:rPr lang="en-US" b="1" i="0" dirty="0">
                <a:solidFill>
                  <a:srgbClr val="292929"/>
                </a:solidFill>
                <a:effectLst/>
                <a:latin typeface="sohne"/>
              </a:rPr>
              <a:t>JOB Chaining process with Jenkins.</a:t>
            </a:r>
          </a:p>
          <a:p>
            <a:pPr algn="l"/>
            <a:endParaRPr lang="en-US" b="1" dirty="0">
              <a:solidFill>
                <a:srgbClr val="292929"/>
              </a:solidFill>
              <a:latin typeface="sohne"/>
            </a:endParaRPr>
          </a:p>
          <a:p>
            <a:pPr algn="l">
              <a:lnSpc>
                <a:spcPct val="150000"/>
              </a:lnSpc>
            </a:pPr>
            <a:r>
              <a:rPr lang="en-US" b="0" i="0" dirty="0">
                <a:solidFill>
                  <a:srgbClr val="292929"/>
                </a:solidFill>
                <a:effectLst/>
                <a:latin typeface="charter"/>
              </a:rPr>
              <a:t>1. Create container image that’s has Jenkins installed using </a:t>
            </a:r>
            <a:r>
              <a:rPr lang="en-US" b="0" i="0" dirty="0" err="1">
                <a:solidFill>
                  <a:srgbClr val="292929"/>
                </a:solidFill>
                <a:effectLst/>
                <a:latin typeface="charter"/>
              </a:rPr>
              <a:t>dockerfile</a:t>
            </a:r>
            <a:endParaRPr lang="en-US" b="0" i="0" dirty="0">
              <a:solidFill>
                <a:srgbClr val="292929"/>
              </a:solidFill>
              <a:effectLst/>
              <a:latin typeface="charter"/>
            </a:endParaRPr>
          </a:p>
          <a:p>
            <a:pPr algn="l">
              <a:lnSpc>
                <a:spcPct val="150000"/>
              </a:lnSpc>
            </a:pPr>
            <a:r>
              <a:rPr lang="en-US" b="0" i="0" dirty="0">
                <a:solidFill>
                  <a:srgbClr val="292929"/>
                </a:solidFill>
                <a:effectLst/>
                <a:latin typeface="charter"/>
              </a:rPr>
              <a:t>2. When we launch this image, it should automatically starts Jenkins service in the container.</a:t>
            </a:r>
          </a:p>
          <a:p>
            <a:pPr algn="l">
              <a:lnSpc>
                <a:spcPct val="150000"/>
              </a:lnSpc>
            </a:pPr>
            <a:r>
              <a:rPr lang="en-US" b="0" i="0" dirty="0">
                <a:solidFill>
                  <a:srgbClr val="292929"/>
                </a:solidFill>
                <a:effectLst/>
                <a:latin typeface="charter"/>
              </a:rPr>
              <a:t>3</a:t>
            </a:r>
            <a:r>
              <a:rPr lang="en-US" b="0" i="0" dirty="0">
                <a:solidFill>
                  <a:srgbClr val="FF0000"/>
                </a:solidFill>
                <a:effectLst/>
                <a:latin typeface="charter"/>
              </a:rPr>
              <a:t>. Create a job chain of job1, job2, job3 and job4 using build pipeline plugin in Jenkins</a:t>
            </a:r>
          </a:p>
          <a:p>
            <a:pPr algn="l">
              <a:lnSpc>
                <a:spcPct val="150000"/>
              </a:lnSpc>
            </a:pPr>
            <a:r>
              <a:rPr lang="en-US" b="0" i="0" dirty="0">
                <a:solidFill>
                  <a:srgbClr val="292929"/>
                </a:solidFill>
                <a:effectLst/>
                <a:latin typeface="charter"/>
              </a:rPr>
              <a:t>4. Job1 : Pull the </a:t>
            </a:r>
            <a:r>
              <a:rPr lang="en-US" b="0" i="0" dirty="0" err="1">
                <a:solidFill>
                  <a:srgbClr val="292929"/>
                </a:solidFill>
                <a:effectLst/>
                <a:latin typeface="charter"/>
              </a:rPr>
              <a:t>Github</a:t>
            </a:r>
            <a:r>
              <a:rPr lang="en-US" b="0" i="0" dirty="0">
                <a:solidFill>
                  <a:srgbClr val="292929"/>
                </a:solidFill>
                <a:effectLst/>
                <a:latin typeface="charter"/>
              </a:rPr>
              <a:t> repo automatically when some developers push repo to </a:t>
            </a:r>
            <a:r>
              <a:rPr lang="en-US" b="0" i="0" dirty="0" err="1">
                <a:solidFill>
                  <a:srgbClr val="292929"/>
                </a:solidFill>
                <a:effectLst/>
                <a:latin typeface="charter"/>
              </a:rPr>
              <a:t>Github</a:t>
            </a:r>
            <a:r>
              <a:rPr lang="en-US" b="0" i="0" dirty="0">
                <a:solidFill>
                  <a:srgbClr val="292929"/>
                </a:solidFill>
                <a:effectLst/>
                <a:latin typeface="charter"/>
              </a:rPr>
              <a:t>.</a:t>
            </a:r>
          </a:p>
          <a:p>
            <a:pPr algn="l">
              <a:lnSpc>
                <a:spcPct val="150000"/>
              </a:lnSpc>
            </a:pPr>
            <a:r>
              <a:rPr lang="en-US" b="0" i="0" dirty="0">
                <a:solidFill>
                  <a:srgbClr val="292929"/>
                </a:solidFill>
                <a:effectLst/>
                <a:latin typeface="charter"/>
              </a:rPr>
              <a:t>5. Job2 : By looking at the code or program file, Jenkins should automatically start the respective language interpreter install image container to deploy code ( </a:t>
            </a:r>
            <a:r>
              <a:rPr lang="en-US" b="0" i="0" dirty="0" err="1">
                <a:solidFill>
                  <a:srgbClr val="292929"/>
                </a:solidFill>
                <a:effectLst/>
                <a:latin typeface="charter"/>
              </a:rPr>
              <a:t>eg.</a:t>
            </a:r>
            <a:r>
              <a:rPr lang="en-US" b="0" i="0" dirty="0">
                <a:solidFill>
                  <a:srgbClr val="292929"/>
                </a:solidFill>
                <a:effectLst/>
                <a:latin typeface="charter"/>
              </a:rPr>
              <a:t> If code is of PHP, then Jenkins should start the container that has PHP already installed ).</a:t>
            </a:r>
          </a:p>
          <a:p>
            <a:pPr algn="l">
              <a:lnSpc>
                <a:spcPct val="150000"/>
              </a:lnSpc>
            </a:pPr>
            <a:r>
              <a:rPr lang="en-US" b="0" i="0" dirty="0">
                <a:solidFill>
                  <a:srgbClr val="292929"/>
                </a:solidFill>
                <a:effectLst/>
                <a:latin typeface="charter"/>
              </a:rPr>
              <a:t>6. Job3 : Test your app if it is working or not.</a:t>
            </a:r>
          </a:p>
          <a:p>
            <a:pPr algn="l">
              <a:lnSpc>
                <a:spcPct val="150000"/>
              </a:lnSpc>
            </a:pPr>
            <a:r>
              <a:rPr lang="en-US" b="0" i="0" dirty="0">
                <a:solidFill>
                  <a:srgbClr val="292929"/>
                </a:solidFill>
                <a:effectLst/>
                <a:latin typeface="charter"/>
              </a:rPr>
              <a:t>7. Job4 : if app is not working , then send email to developer with error messages.</a:t>
            </a:r>
          </a:p>
          <a:p>
            <a:pPr algn="l">
              <a:lnSpc>
                <a:spcPct val="150000"/>
              </a:lnSpc>
            </a:pPr>
            <a:r>
              <a:rPr lang="en-US" b="0" i="0" dirty="0">
                <a:solidFill>
                  <a:srgbClr val="292929"/>
                </a:solidFill>
                <a:effectLst/>
                <a:latin typeface="charter"/>
              </a:rPr>
              <a:t>8. Create One extra job job5 for monitor : If container where app is running. fails due to any </a:t>
            </a:r>
            <a:r>
              <a:rPr lang="en-US" b="0" i="0" dirty="0" err="1">
                <a:solidFill>
                  <a:srgbClr val="292929"/>
                </a:solidFill>
                <a:effectLst/>
                <a:latin typeface="charter"/>
              </a:rPr>
              <a:t>reson</a:t>
            </a:r>
            <a:r>
              <a:rPr lang="en-US" b="0" i="0" dirty="0">
                <a:solidFill>
                  <a:srgbClr val="292929"/>
                </a:solidFill>
                <a:effectLst/>
                <a:latin typeface="charter"/>
              </a:rPr>
              <a:t> then this job should automatically start the container again.</a:t>
            </a:r>
          </a:p>
          <a:p>
            <a:pPr algn="l"/>
            <a:endParaRPr lang="en-US" b="1" i="0" dirty="0">
              <a:solidFill>
                <a:srgbClr val="292929"/>
              </a:solidFill>
              <a:effectLst/>
              <a:latin typeface="sohne"/>
            </a:endParaRPr>
          </a:p>
        </p:txBody>
      </p:sp>
    </p:spTree>
    <p:extLst>
      <p:ext uri="{BB962C8B-B14F-4D97-AF65-F5344CB8AC3E}">
        <p14:creationId xmlns:p14="http://schemas.microsoft.com/office/powerpoint/2010/main" val="15186555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1DFA21-F6C7-468D-B3A4-71A98E62D567}"/>
              </a:ext>
            </a:extLst>
          </p:cNvPr>
          <p:cNvPicPr>
            <a:picLocks noChangeAspect="1"/>
          </p:cNvPicPr>
          <p:nvPr/>
        </p:nvPicPr>
        <p:blipFill>
          <a:blip r:embed="rId2"/>
          <a:stretch>
            <a:fillRect/>
          </a:stretch>
        </p:blipFill>
        <p:spPr>
          <a:xfrm>
            <a:off x="0" y="-69601"/>
            <a:ext cx="12192000" cy="6828210"/>
          </a:xfrm>
          <a:prstGeom prst="rect">
            <a:avLst/>
          </a:prstGeom>
        </p:spPr>
      </p:pic>
    </p:spTree>
    <p:extLst>
      <p:ext uri="{BB962C8B-B14F-4D97-AF65-F5344CB8AC3E}">
        <p14:creationId xmlns:p14="http://schemas.microsoft.com/office/powerpoint/2010/main" val="35636315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062792-93AA-41C5-B7AE-1270D2DA0F8F}"/>
              </a:ext>
            </a:extLst>
          </p:cNvPr>
          <p:cNvSpPr txBox="1"/>
          <p:nvPr/>
        </p:nvSpPr>
        <p:spPr>
          <a:xfrm>
            <a:off x="152400" y="106018"/>
            <a:ext cx="11887199" cy="6001643"/>
          </a:xfrm>
          <a:prstGeom prst="rect">
            <a:avLst/>
          </a:prstGeom>
          <a:noFill/>
        </p:spPr>
        <p:txBody>
          <a:bodyPr wrap="square">
            <a:spAutoFit/>
          </a:bodyPr>
          <a:lstStyle/>
          <a:p>
            <a:r>
              <a:rPr lang="en-US" sz="2400" b="1" i="0" u="none" strike="noStrike" baseline="0" dirty="0">
                <a:solidFill>
                  <a:srgbClr val="FF0000"/>
                </a:solidFill>
                <a:latin typeface="Times New Roman" panose="02020603050405020304" pitchFamily="18" charset="0"/>
                <a:cs typeface="Times New Roman" panose="02020603050405020304" pitchFamily="18" charset="0"/>
              </a:rPr>
              <a:t>Job chaining and build pipelines </a:t>
            </a:r>
            <a:endParaRPr lang="en-US" sz="2400" b="0" i="0" u="none" strike="noStrike" baseline="0" dirty="0">
              <a:solidFill>
                <a:srgbClr val="FF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It's often useful to be able to chain jobs together. In its simplest form, this works by triggering a second job in the event that the first job finishes successfully. Several jobs can be cascaded this way in a chain. Such a build chain is quite often good enough for many purposes. Sometimes, a nicer visualization of the build steps as well as greater control over the details of the chain is desired.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1" i="0" u="none" strike="noStrike" baseline="0" dirty="0">
                <a:solidFill>
                  <a:srgbClr val="7030A0"/>
                </a:solidFill>
                <a:latin typeface="Times New Roman" panose="02020603050405020304" pitchFamily="18" charset="0"/>
                <a:cs typeface="Times New Roman" panose="02020603050405020304" pitchFamily="18" charset="0"/>
              </a:rPr>
              <a:t>In Jenkins terminology, the first build in a chain is called the upstream build, and the second one is called the downstream build.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While this way of chaining builds is often sufficient, there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will most likely be a need for greater control of the build chain eventually. Such a build chain is often called a pipeline or workflow</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There are many plugins that create improved pipelines for Jenkins, and the fact that there are several shows that there is indeed a great desire for improvements in this area.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16569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05A81E-C1D9-41BE-BD2D-78E78EEA46FA}"/>
              </a:ext>
            </a:extLst>
          </p:cNvPr>
          <p:cNvPicPr>
            <a:picLocks noChangeAspect="1"/>
          </p:cNvPicPr>
          <p:nvPr/>
        </p:nvPicPr>
        <p:blipFill>
          <a:blip r:embed="rId2"/>
          <a:stretch>
            <a:fillRect/>
          </a:stretch>
        </p:blipFill>
        <p:spPr>
          <a:xfrm>
            <a:off x="0" y="198783"/>
            <a:ext cx="12006470" cy="6659217"/>
          </a:xfrm>
          <a:prstGeom prst="rect">
            <a:avLst/>
          </a:prstGeom>
        </p:spPr>
      </p:pic>
    </p:spTree>
    <p:extLst>
      <p:ext uri="{BB962C8B-B14F-4D97-AF65-F5344CB8AC3E}">
        <p14:creationId xmlns:p14="http://schemas.microsoft.com/office/powerpoint/2010/main" val="10811304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A2DAED-30F2-426F-AB00-6DE76A1C54C2}"/>
              </a:ext>
            </a:extLst>
          </p:cNvPr>
          <p:cNvPicPr>
            <a:picLocks noChangeAspect="1"/>
          </p:cNvPicPr>
          <p:nvPr/>
        </p:nvPicPr>
        <p:blipFill>
          <a:blip r:embed="rId2"/>
          <a:stretch>
            <a:fillRect/>
          </a:stretch>
        </p:blipFill>
        <p:spPr>
          <a:xfrm>
            <a:off x="0" y="-103322"/>
            <a:ext cx="12192000" cy="7073966"/>
          </a:xfrm>
          <a:prstGeom prst="rect">
            <a:avLst/>
          </a:prstGeom>
        </p:spPr>
      </p:pic>
    </p:spTree>
    <p:extLst>
      <p:ext uri="{BB962C8B-B14F-4D97-AF65-F5344CB8AC3E}">
        <p14:creationId xmlns:p14="http://schemas.microsoft.com/office/powerpoint/2010/main" val="21472585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25053F-ED89-467C-8D55-EF91B288A2EC}"/>
              </a:ext>
            </a:extLst>
          </p:cNvPr>
          <p:cNvPicPr>
            <a:picLocks noChangeAspect="1"/>
          </p:cNvPicPr>
          <p:nvPr/>
        </p:nvPicPr>
        <p:blipFill>
          <a:blip r:embed="rId2"/>
          <a:stretch>
            <a:fillRect/>
          </a:stretch>
        </p:blipFill>
        <p:spPr>
          <a:xfrm>
            <a:off x="106018" y="0"/>
            <a:ext cx="12085982" cy="6857999"/>
          </a:xfrm>
          <a:prstGeom prst="rect">
            <a:avLst/>
          </a:prstGeom>
        </p:spPr>
      </p:pic>
    </p:spTree>
    <p:extLst>
      <p:ext uri="{BB962C8B-B14F-4D97-AF65-F5344CB8AC3E}">
        <p14:creationId xmlns:p14="http://schemas.microsoft.com/office/powerpoint/2010/main" val="22673720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30104"/>
          </a:xfrm>
        </p:spPr>
        <p:txBody>
          <a:bodyPr>
            <a:normAutofit fontScale="90000"/>
          </a:bodyPr>
          <a:lstStyle/>
          <a:p>
            <a:r>
              <a:rPr lang="en-IN" b="1" i="1" dirty="0">
                <a:solidFill>
                  <a:srgbClr val="FF0000"/>
                </a:solidFill>
                <a:latin typeface="Times New Roman" panose="02020603050405020304" pitchFamily="18" charset="0"/>
                <a:cs typeface="Times New Roman" panose="02020603050405020304" pitchFamily="18" charset="0"/>
              </a:rPr>
              <a:t>Infrastructure as Code (</a:t>
            </a:r>
            <a:r>
              <a:rPr lang="en-IN" b="1" i="1" dirty="0" err="1">
                <a:solidFill>
                  <a:srgbClr val="FF0000"/>
                </a:solidFill>
                <a:latin typeface="Times New Roman" panose="02020603050405020304" pitchFamily="18" charset="0"/>
                <a:cs typeface="Times New Roman" panose="02020603050405020304" pitchFamily="18" charset="0"/>
              </a:rPr>
              <a:t>IaC</a:t>
            </a:r>
            <a:r>
              <a:rPr lang="en-IN" b="1" i="1" dirty="0">
                <a:solidFill>
                  <a:srgbClr val="FF0000"/>
                </a:solidFill>
                <a:latin typeface="Times New Roman" panose="02020603050405020304" pitchFamily="18" charset="0"/>
                <a:cs typeface="Times New Roman" panose="02020603050405020304" pitchFamily="18" charset="0"/>
              </a:rPr>
              <a:t>)</a:t>
            </a:r>
            <a:endParaRPr lang="en-IN" dirty="0"/>
          </a:p>
        </p:txBody>
      </p:sp>
      <p:sp>
        <p:nvSpPr>
          <p:cNvPr id="3" name="Content Placeholder 2"/>
          <p:cNvSpPr>
            <a:spLocks noGrp="1"/>
          </p:cNvSpPr>
          <p:nvPr>
            <p:ph idx="1"/>
          </p:nvPr>
        </p:nvSpPr>
        <p:spPr>
          <a:xfrm>
            <a:off x="0" y="630104"/>
            <a:ext cx="12192000" cy="6227896"/>
          </a:xfrm>
        </p:spPr>
        <p:txBody>
          <a:bodyPr>
            <a:normAutofit lnSpcReduction="10000"/>
          </a:bodyPr>
          <a:lstStyle/>
          <a:p>
            <a:pPr algn="just"/>
            <a:r>
              <a:rPr lang="en-IN" sz="2000" dirty="0">
                <a:solidFill>
                  <a:srgbClr val="000000"/>
                </a:solidFill>
                <a:latin typeface="Times New Roman" panose="02020603050405020304" pitchFamily="18" charset="0"/>
                <a:cs typeface="Times New Roman" panose="02020603050405020304" pitchFamily="18" charset="0"/>
              </a:rPr>
              <a:t>In the past, managing IT infrastructure was a hard job. System administrators had to manually manage and configure all of the hardware and software that was needed for the applications to run.</a:t>
            </a:r>
          </a:p>
          <a:p>
            <a:pPr marL="0" indent="0" algn="just">
              <a:buNone/>
            </a:pPr>
            <a:endParaRPr lang="en-IN" sz="2000" dirty="0">
              <a:solidFill>
                <a:srgbClr val="000000"/>
              </a:solidFill>
              <a:latin typeface="Times New Roman" panose="02020603050405020304" pitchFamily="18" charset="0"/>
              <a:cs typeface="Times New Roman" panose="02020603050405020304" pitchFamily="18" charset="0"/>
            </a:endParaRPr>
          </a:p>
          <a:p>
            <a:pPr algn="just"/>
            <a:r>
              <a:rPr lang="en-IN" sz="2000" dirty="0">
                <a:solidFill>
                  <a:srgbClr val="000000"/>
                </a:solidFill>
                <a:latin typeface="Times New Roman" panose="02020603050405020304" pitchFamily="18" charset="0"/>
                <a:cs typeface="Times New Roman" panose="02020603050405020304" pitchFamily="18" charset="0"/>
              </a:rPr>
              <a:t>However, in recent years, things have changed dramatically. Trends like </a:t>
            </a:r>
            <a:r>
              <a:rPr lang="en-IN" sz="2000" dirty="0">
                <a:solidFill>
                  <a:srgbClr val="60C322"/>
                </a:solidFill>
                <a:latin typeface="Times New Roman" panose="02020603050405020304" pitchFamily="18" charset="0"/>
                <a:cs typeface="Times New Roman" panose="02020603050405020304" pitchFamily="18" charset="0"/>
              </a:rPr>
              <a:t>cloud computing</a:t>
            </a:r>
            <a:r>
              <a:rPr lang="en-IN" sz="2000" dirty="0">
                <a:solidFill>
                  <a:srgbClr val="000000"/>
                </a:solidFill>
                <a:latin typeface="Times New Roman" panose="02020603050405020304" pitchFamily="18" charset="0"/>
                <a:cs typeface="Times New Roman" panose="02020603050405020304" pitchFamily="18" charset="0"/>
              </a:rPr>
              <a:t> revolutionized—and improved—the way organizations design, develop, and maintain their IT infrastructure.</a:t>
            </a:r>
          </a:p>
          <a:p>
            <a:pPr marL="0" indent="0" algn="just">
              <a:buNone/>
            </a:pPr>
            <a:endParaRPr lang="en-IN" sz="2000" dirty="0">
              <a:solidFill>
                <a:srgbClr val="000000"/>
              </a:solidFill>
              <a:latin typeface="Times New Roman" panose="02020603050405020304" pitchFamily="18" charset="0"/>
              <a:cs typeface="Times New Roman" panose="02020603050405020304" pitchFamily="18" charset="0"/>
            </a:endParaRPr>
          </a:p>
          <a:p>
            <a:pPr algn="just"/>
            <a:r>
              <a:rPr lang="en-IN" sz="2000" dirty="0">
                <a:solidFill>
                  <a:srgbClr val="000000"/>
                </a:solidFill>
                <a:latin typeface="Times New Roman" panose="02020603050405020304" pitchFamily="18" charset="0"/>
                <a:cs typeface="Times New Roman" panose="02020603050405020304" pitchFamily="18" charset="0"/>
              </a:rPr>
              <a:t>One of the critical components of this trend is called “infrastructure as code,”</a:t>
            </a:r>
          </a:p>
          <a:p>
            <a:pPr marL="0" indent="0" algn="just">
              <a:buNone/>
            </a:pPr>
            <a:endParaRPr lang="en-IN" sz="2000" dirty="0">
              <a:solidFill>
                <a:srgbClr val="000000"/>
              </a:solidFill>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Infrastructure as Code (</a:t>
            </a:r>
            <a:r>
              <a:rPr lang="en-IN" sz="2000" dirty="0" err="1">
                <a:latin typeface="Times New Roman" panose="02020603050405020304" pitchFamily="18" charset="0"/>
                <a:cs typeface="Times New Roman" panose="02020603050405020304" pitchFamily="18" charset="0"/>
              </a:rPr>
              <a:t>IaC</a:t>
            </a:r>
            <a:r>
              <a:rPr lang="en-IN" sz="2000" dirty="0">
                <a:latin typeface="Times New Roman" panose="02020603050405020304" pitchFamily="18" charset="0"/>
                <a:cs typeface="Times New Roman" panose="02020603050405020304" pitchFamily="18" charset="0"/>
              </a:rPr>
              <a:t>) is the management of infrastructure (networks, virtual machines, load balancers, and connection topology) in a descriptive model, using the same versioning as DevOps team uses for source code.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Like the principle that the same source code generates the same binary, an </a:t>
            </a:r>
            <a:r>
              <a:rPr lang="en-IN" sz="2000" dirty="0" err="1">
                <a:latin typeface="Times New Roman" panose="02020603050405020304" pitchFamily="18" charset="0"/>
                <a:cs typeface="Times New Roman" panose="02020603050405020304" pitchFamily="18" charset="0"/>
              </a:rPr>
              <a:t>IaC</a:t>
            </a:r>
            <a:r>
              <a:rPr lang="en-IN" sz="2000" dirty="0">
                <a:latin typeface="Times New Roman" panose="02020603050405020304" pitchFamily="18" charset="0"/>
                <a:cs typeface="Times New Roman" panose="02020603050405020304" pitchFamily="18" charset="0"/>
              </a:rPr>
              <a:t> model generates the same environment every time it is applied.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infrastructure as code is the concept of managing your operations environment in the same way you do applications or other code for general release. Rather than manually making configuration changes or using one-off scripts to make infrastructure adjustments, the operations infrastructure is managed instead using the same rules and strictures that govern code development—particularly when new server instances are spun up.</a:t>
            </a:r>
          </a:p>
          <a:p>
            <a:endParaRPr lang="en-IN" dirty="0"/>
          </a:p>
          <a:p>
            <a:endParaRPr lang="en-IN" dirty="0"/>
          </a:p>
          <a:p>
            <a:endParaRPr lang="en-IN" dirty="0"/>
          </a:p>
        </p:txBody>
      </p:sp>
    </p:spTree>
    <p:extLst>
      <p:ext uri="{BB962C8B-B14F-4D97-AF65-F5344CB8AC3E}">
        <p14:creationId xmlns:p14="http://schemas.microsoft.com/office/powerpoint/2010/main" val="34055391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Infrastructure as Code enables DevOps teams to test applications in production-like environments early in the development cycle. These teams expect to provision multiple test environments reliably and on demand. Infrastructure represented as code can also be validated and tested to prevent common deployment issues. </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Teams who implement </a:t>
            </a:r>
            <a:r>
              <a:rPr lang="en-IN" sz="2000" dirty="0" err="1">
                <a:latin typeface="Times New Roman" panose="02020603050405020304" pitchFamily="18" charset="0"/>
                <a:cs typeface="Times New Roman" panose="02020603050405020304" pitchFamily="18" charset="0"/>
              </a:rPr>
              <a:t>IaC</a:t>
            </a:r>
            <a:r>
              <a:rPr lang="en-IN" sz="2000" dirty="0">
                <a:latin typeface="Times New Roman" panose="02020603050405020304" pitchFamily="18" charset="0"/>
                <a:cs typeface="Times New Roman" panose="02020603050405020304" pitchFamily="18" charset="0"/>
              </a:rPr>
              <a:t> can deliver stable environments rapidly and at scale. Teams avoid manual configuration of environments and enforce consistency by representing the desired state of their environments via code. Infrastructure deployments with </a:t>
            </a:r>
            <a:r>
              <a:rPr lang="en-IN" sz="2000" dirty="0" err="1">
                <a:latin typeface="Times New Roman" panose="02020603050405020304" pitchFamily="18" charset="0"/>
                <a:cs typeface="Times New Roman" panose="02020603050405020304" pitchFamily="18" charset="0"/>
              </a:rPr>
              <a:t>IaC</a:t>
            </a:r>
            <a:r>
              <a:rPr lang="en-IN" sz="2000" dirty="0">
                <a:latin typeface="Times New Roman" panose="02020603050405020304" pitchFamily="18" charset="0"/>
                <a:cs typeface="Times New Roman" panose="02020603050405020304" pitchFamily="18" charset="0"/>
              </a:rPr>
              <a:t> are repeatable and prevent runtime issues caused by configuration drift or missing dependencies. DevOps teams can work together with a unified set of practices and tools to deliver applications and their supporting infrastructure rapidly, reliably, and at scale.</a:t>
            </a:r>
          </a:p>
          <a:p>
            <a:pPr marL="0" indent="0" algn="just">
              <a:buNone/>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need for written documentation is also all but eliminated. The code itself is documents the state of the machine, meaning that infrastructure documentation will always be up to date. This is important because I need to ask why, probably just costs less</a:t>
            </a:r>
          </a:p>
          <a:p>
            <a:pPr marL="0" indent="0">
              <a:buNone/>
            </a:pPr>
            <a:endParaRPr lang="en-IN" dirty="0"/>
          </a:p>
          <a:p>
            <a:endParaRPr lang="en-IN" dirty="0"/>
          </a:p>
        </p:txBody>
      </p:sp>
    </p:spTree>
    <p:extLst>
      <p:ext uri="{BB962C8B-B14F-4D97-AF65-F5344CB8AC3E}">
        <p14:creationId xmlns:p14="http://schemas.microsoft.com/office/powerpoint/2010/main" val="18463999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IaC">
            <a:extLst>
              <a:ext uri="{FF2B5EF4-FFF2-40B4-BE49-F238E27FC236}">
                <a16:creationId xmlns:a16="http://schemas.microsoft.com/office/drawing/2014/main" id="{366DAC39-12C0-4F1F-9340-57773EC42E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5661" y="381995"/>
            <a:ext cx="10414715" cy="5606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0374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9B8B5D-B837-4895-8A38-B083D6FAA8DF}"/>
              </a:ext>
            </a:extLst>
          </p:cNvPr>
          <p:cNvPicPr>
            <a:picLocks noChangeAspect="1"/>
          </p:cNvPicPr>
          <p:nvPr/>
        </p:nvPicPr>
        <p:blipFill>
          <a:blip r:embed="rId2"/>
          <a:stretch>
            <a:fillRect/>
          </a:stretch>
        </p:blipFill>
        <p:spPr>
          <a:xfrm>
            <a:off x="92765" y="0"/>
            <a:ext cx="12099235" cy="6695661"/>
          </a:xfrm>
          <a:prstGeom prst="rect">
            <a:avLst/>
          </a:prstGeom>
        </p:spPr>
      </p:pic>
    </p:spTree>
    <p:extLst>
      <p:ext uri="{BB962C8B-B14F-4D97-AF65-F5344CB8AC3E}">
        <p14:creationId xmlns:p14="http://schemas.microsoft.com/office/powerpoint/2010/main" val="26592688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CA90AF-E438-463D-87CB-08445354783A}"/>
              </a:ext>
            </a:extLst>
          </p:cNvPr>
          <p:cNvPicPr>
            <a:picLocks noChangeAspect="1"/>
          </p:cNvPicPr>
          <p:nvPr/>
        </p:nvPicPr>
        <p:blipFill>
          <a:blip r:embed="rId2"/>
          <a:stretch>
            <a:fillRect/>
          </a:stretch>
        </p:blipFill>
        <p:spPr>
          <a:xfrm>
            <a:off x="0" y="78475"/>
            <a:ext cx="12252951" cy="6701049"/>
          </a:xfrm>
          <a:prstGeom prst="rect">
            <a:avLst/>
          </a:prstGeom>
        </p:spPr>
      </p:pic>
    </p:spTree>
    <p:extLst>
      <p:ext uri="{BB962C8B-B14F-4D97-AF65-F5344CB8AC3E}">
        <p14:creationId xmlns:p14="http://schemas.microsoft.com/office/powerpoint/2010/main" val="13969172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147923-5013-4C39-A1C3-6577E90B9C47}"/>
              </a:ext>
            </a:extLst>
          </p:cNvPr>
          <p:cNvPicPr>
            <a:picLocks noChangeAspect="1"/>
          </p:cNvPicPr>
          <p:nvPr/>
        </p:nvPicPr>
        <p:blipFill>
          <a:blip r:embed="rId2"/>
          <a:stretch>
            <a:fillRect/>
          </a:stretch>
        </p:blipFill>
        <p:spPr>
          <a:xfrm>
            <a:off x="0" y="0"/>
            <a:ext cx="12013096" cy="6785112"/>
          </a:xfrm>
          <a:prstGeom prst="rect">
            <a:avLst/>
          </a:prstGeom>
        </p:spPr>
      </p:pic>
    </p:spTree>
    <p:extLst>
      <p:ext uri="{BB962C8B-B14F-4D97-AF65-F5344CB8AC3E}">
        <p14:creationId xmlns:p14="http://schemas.microsoft.com/office/powerpoint/2010/main" val="39937254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A57AE1-53D3-47EC-A4A5-55386890838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929215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B66434-CA50-4D8E-ABFB-1427CCE804F0}"/>
              </a:ext>
            </a:extLst>
          </p:cNvPr>
          <p:cNvPicPr>
            <a:picLocks noChangeAspect="1"/>
          </p:cNvPicPr>
          <p:nvPr/>
        </p:nvPicPr>
        <p:blipFill>
          <a:blip r:embed="rId2"/>
          <a:stretch>
            <a:fillRect/>
          </a:stretch>
        </p:blipFill>
        <p:spPr>
          <a:xfrm>
            <a:off x="0" y="92765"/>
            <a:ext cx="12099235" cy="6765235"/>
          </a:xfrm>
          <a:prstGeom prst="rect">
            <a:avLst/>
          </a:prstGeom>
        </p:spPr>
      </p:pic>
    </p:spTree>
    <p:extLst>
      <p:ext uri="{BB962C8B-B14F-4D97-AF65-F5344CB8AC3E}">
        <p14:creationId xmlns:p14="http://schemas.microsoft.com/office/powerpoint/2010/main" val="37824837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93D114-A7FC-4C6A-BF1A-EA1128A87FD6}"/>
              </a:ext>
            </a:extLst>
          </p:cNvPr>
          <p:cNvPicPr>
            <a:picLocks noChangeAspect="1"/>
          </p:cNvPicPr>
          <p:nvPr/>
        </p:nvPicPr>
        <p:blipFill>
          <a:blip r:embed="rId2"/>
          <a:stretch>
            <a:fillRect/>
          </a:stretch>
        </p:blipFill>
        <p:spPr>
          <a:xfrm>
            <a:off x="0" y="0"/>
            <a:ext cx="11926957" cy="6858000"/>
          </a:xfrm>
          <a:prstGeom prst="rect">
            <a:avLst/>
          </a:prstGeom>
        </p:spPr>
      </p:pic>
    </p:spTree>
    <p:extLst>
      <p:ext uri="{BB962C8B-B14F-4D97-AF65-F5344CB8AC3E}">
        <p14:creationId xmlns:p14="http://schemas.microsoft.com/office/powerpoint/2010/main" val="41502303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318FF3-E8EB-470A-AE7F-23FCE83AF309}"/>
              </a:ext>
            </a:extLst>
          </p:cNvPr>
          <p:cNvPicPr>
            <a:picLocks noChangeAspect="1"/>
          </p:cNvPicPr>
          <p:nvPr/>
        </p:nvPicPr>
        <p:blipFill>
          <a:blip r:embed="rId2"/>
          <a:stretch>
            <a:fillRect/>
          </a:stretch>
        </p:blipFill>
        <p:spPr>
          <a:xfrm>
            <a:off x="1" y="0"/>
            <a:ext cx="12324522" cy="6858000"/>
          </a:xfrm>
          <a:prstGeom prst="rect">
            <a:avLst/>
          </a:prstGeom>
        </p:spPr>
      </p:pic>
    </p:spTree>
    <p:extLst>
      <p:ext uri="{BB962C8B-B14F-4D97-AF65-F5344CB8AC3E}">
        <p14:creationId xmlns:p14="http://schemas.microsoft.com/office/powerpoint/2010/main" val="898449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9B7A4B-8BC5-4440-85E8-AFF56E076A48}"/>
              </a:ext>
            </a:extLst>
          </p:cNvPr>
          <p:cNvSpPr txBox="1"/>
          <p:nvPr/>
        </p:nvSpPr>
        <p:spPr>
          <a:xfrm>
            <a:off x="0" y="225189"/>
            <a:ext cx="12192000" cy="2585323"/>
          </a:xfrm>
          <a:prstGeom prst="rect">
            <a:avLst/>
          </a:prstGeom>
          <a:noFill/>
        </p:spPr>
        <p:txBody>
          <a:bodyPr wrap="square">
            <a:spAutoFit/>
          </a:bodyPr>
          <a:lstStyle/>
          <a:p>
            <a:pPr algn="l"/>
            <a:endParaRPr lang="en-US" b="1" dirty="0">
              <a:solidFill>
                <a:srgbClr val="0A203E"/>
              </a:solidFill>
              <a:latin typeface="proxima-nova"/>
            </a:endParaRPr>
          </a:p>
          <a:p>
            <a:pPr algn="l"/>
            <a:r>
              <a:rPr lang="en-US" b="0" i="0" dirty="0">
                <a:solidFill>
                  <a:srgbClr val="0A203E"/>
                </a:solidFill>
                <a:effectLst/>
                <a:latin typeface="proxima-nova"/>
              </a:rPr>
              <a:t>Infrastructure as Code (</a:t>
            </a:r>
            <a:r>
              <a:rPr lang="en-US" b="0" i="0" dirty="0" err="1">
                <a:solidFill>
                  <a:srgbClr val="0A203E"/>
                </a:solidFill>
                <a:effectLst/>
                <a:latin typeface="proxima-nova"/>
              </a:rPr>
              <a:t>IaC</a:t>
            </a:r>
            <a:r>
              <a:rPr lang="en-US" b="0" i="0" dirty="0">
                <a:solidFill>
                  <a:srgbClr val="0A203E"/>
                </a:solidFill>
                <a:effectLst/>
                <a:latin typeface="proxima-nova"/>
              </a:rPr>
              <a:t>) refers to the process of provisioning and managing IT infrastructures such as networks, load balancers, virtual machines, data centers, and connection topology in a descriptive model through machine-readable definition files with the help of versioning being used by the </a:t>
            </a:r>
            <a:r>
              <a:rPr lang="en-US" b="0" i="0" u="none" strike="noStrike" dirty="0">
                <a:solidFill>
                  <a:srgbClr val="2D8E8B"/>
                </a:solidFill>
                <a:effectLst/>
                <a:latin typeface="proxima-nova"/>
                <a:hlinkClick r:id="rId2"/>
              </a:rPr>
              <a:t>DevOps team</a:t>
            </a:r>
            <a:r>
              <a:rPr lang="en-US" b="0" i="0" dirty="0">
                <a:solidFill>
                  <a:srgbClr val="0A203E"/>
                </a:solidFill>
                <a:effectLst/>
                <a:latin typeface="proxima-nova"/>
              </a:rPr>
              <a:t> as source code. </a:t>
            </a:r>
          </a:p>
          <a:p>
            <a:pPr algn="l"/>
            <a:endParaRPr lang="en-US" dirty="0">
              <a:solidFill>
                <a:srgbClr val="0A203E"/>
              </a:solidFill>
              <a:latin typeface="proxima-nova"/>
            </a:endParaRPr>
          </a:p>
          <a:p>
            <a:pPr algn="l"/>
            <a:r>
              <a:rPr lang="en-US" b="0" i="0" dirty="0">
                <a:solidFill>
                  <a:srgbClr val="0A203E"/>
                </a:solidFill>
                <a:effectLst/>
                <a:latin typeface="proxima-nova"/>
              </a:rPr>
              <a:t>This makes redundant the use of shared configuration tools or physical hardware configuration.</a:t>
            </a:r>
          </a:p>
          <a:p>
            <a:pPr algn="l"/>
            <a:endParaRPr lang="en-US" dirty="0">
              <a:solidFill>
                <a:srgbClr val="0A203E"/>
              </a:solidFill>
              <a:latin typeface="proxima-nova"/>
            </a:endParaRPr>
          </a:p>
          <a:p>
            <a:pPr algn="l"/>
            <a:endParaRPr lang="en-US" b="1" i="0" dirty="0">
              <a:solidFill>
                <a:srgbClr val="0A203E"/>
              </a:solidFill>
              <a:effectLst/>
              <a:latin typeface="proxima-nova"/>
            </a:endParaRPr>
          </a:p>
          <a:p>
            <a:pPr algn="l"/>
            <a:endParaRPr lang="en-US" b="1" i="0" dirty="0">
              <a:solidFill>
                <a:srgbClr val="0A203E"/>
              </a:solidFill>
              <a:effectLst/>
              <a:latin typeface="proxima-nova"/>
            </a:endParaRPr>
          </a:p>
        </p:txBody>
      </p:sp>
      <p:pic>
        <p:nvPicPr>
          <p:cNvPr id="8196" name="Picture 4" descr="IaC">
            <a:extLst>
              <a:ext uri="{FF2B5EF4-FFF2-40B4-BE49-F238E27FC236}">
                <a16:creationId xmlns:a16="http://schemas.microsoft.com/office/drawing/2014/main" id="{366DAC39-12C0-4F1F-9340-57773EC42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522" y="2350432"/>
            <a:ext cx="12059477" cy="4282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95414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Benefits of Infrastructure as Code (</a:t>
            </a:r>
            <a:r>
              <a:rPr lang="en-IN" b="1" u="sng" dirty="0" err="1">
                <a:latin typeface="Times New Roman" panose="02020603050405020304" pitchFamily="18" charset="0"/>
                <a:cs typeface="Times New Roman" panose="02020603050405020304" pitchFamily="18" charset="0"/>
              </a:rPr>
              <a:t>IaC</a:t>
            </a:r>
            <a:r>
              <a:rPr lang="en-IN" b="1" u="sng"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Improved system performance with assured risk prevention</a:t>
            </a:r>
          </a:p>
          <a:p>
            <a:r>
              <a:rPr lang="en-IN" dirty="0">
                <a:latin typeface="Times New Roman" panose="02020603050405020304" pitchFamily="18" charset="0"/>
                <a:cs typeface="Times New Roman" panose="02020603050405020304" pitchFamily="18" charset="0"/>
              </a:rPr>
              <a:t>Software delivery at high velocity</a:t>
            </a:r>
          </a:p>
          <a:p>
            <a:r>
              <a:rPr lang="en-IN" dirty="0">
                <a:latin typeface="Times New Roman" panose="02020603050405020304" pitchFamily="18" charset="0"/>
                <a:cs typeface="Times New Roman" panose="02020603050405020304" pitchFamily="18" charset="0"/>
              </a:rPr>
              <a:t>Safer and efficient change management</a:t>
            </a:r>
          </a:p>
          <a:p>
            <a:r>
              <a:rPr lang="en-IN" dirty="0">
                <a:latin typeface="Times New Roman" panose="02020603050405020304" pitchFamily="18" charset="0"/>
                <a:cs typeface="Times New Roman" panose="02020603050405020304" pitchFamily="18" charset="0"/>
              </a:rPr>
              <a:t>Scalability</a:t>
            </a:r>
          </a:p>
          <a:p>
            <a:r>
              <a:rPr lang="en-IN" dirty="0">
                <a:latin typeface="Times New Roman" panose="02020603050405020304" pitchFamily="18" charset="0"/>
                <a:cs typeface="Times New Roman" panose="02020603050405020304" pitchFamily="18" charset="0"/>
              </a:rPr>
              <a:t>Improves customer satisfaction.</a:t>
            </a: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973419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DEC43E-4328-415A-ACF2-4D68680E3321}"/>
              </a:ext>
            </a:extLst>
          </p:cNvPr>
          <p:cNvSpPr txBox="1"/>
          <p:nvPr/>
        </p:nvSpPr>
        <p:spPr>
          <a:xfrm>
            <a:off x="0" y="150125"/>
            <a:ext cx="12050973" cy="4524315"/>
          </a:xfrm>
          <a:prstGeom prst="rect">
            <a:avLst/>
          </a:prstGeom>
          <a:noFill/>
        </p:spPr>
        <p:txBody>
          <a:bodyPr wrap="square">
            <a:spAutoFit/>
          </a:bodyPr>
          <a:lstStyle/>
          <a:p>
            <a:r>
              <a:rPr lang="en-SG"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Building by dependency order</a:t>
            </a:r>
          </a:p>
          <a:p>
            <a:endParaRPr lang="en-SG" sz="2400" dirty="0">
              <a:solidFill>
                <a:srgbClr val="FF0000"/>
              </a:solidFill>
              <a:latin typeface="Times New Roman" panose="02020603050405020304" pitchFamily="18" charset="0"/>
              <a:cs typeface="Times New Roman" panose="02020603050405020304" pitchFamily="18" charset="0"/>
            </a:endParaRPr>
          </a:p>
          <a:p>
            <a:endParaRPr lang="en-SG" sz="2400" dirty="0">
              <a:solidFill>
                <a:srgbClr val="FF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Many build tools have the concept of a build tree where dependencies are built in the order required for the build to complete, since parts of the build might depend on other parts. </a:t>
            </a: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In Make-like tools, this is described explicitly; for instance, like this: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a.out</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b.o</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c.o</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r>
              <a:rPr lang="en-IN" sz="2400" b="0" i="0" u="none" strike="noStrike" baseline="0" dirty="0" err="1">
                <a:solidFill>
                  <a:srgbClr val="000000"/>
                </a:solidFill>
                <a:latin typeface="Times New Roman" panose="02020603050405020304" pitchFamily="18" charset="0"/>
                <a:cs typeface="Times New Roman" panose="02020603050405020304" pitchFamily="18" charset="0"/>
              </a:rPr>
              <a:t>b.o</a:t>
            </a:r>
            <a:r>
              <a:rPr lang="en-IN" sz="2400" b="0" i="0" u="none" strike="noStrike" baseline="0" dirty="0">
                <a:solidFill>
                  <a:srgbClr val="000000"/>
                </a:solidFill>
                <a:latin typeface="Times New Roman" panose="02020603050405020304" pitchFamily="18" charset="0"/>
                <a:cs typeface="Times New Roman" panose="02020603050405020304" pitchFamily="18" charset="0"/>
              </a:rPr>
              <a:t> : </a:t>
            </a:r>
            <a:r>
              <a:rPr lang="en-IN" sz="2400" b="0" i="0" u="none" strike="noStrike" baseline="0" dirty="0" err="1">
                <a:solidFill>
                  <a:srgbClr val="000000"/>
                </a:solidFill>
                <a:latin typeface="Times New Roman" panose="02020603050405020304" pitchFamily="18" charset="0"/>
                <a:cs typeface="Times New Roman" panose="02020603050405020304" pitchFamily="18" charset="0"/>
              </a:rPr>
              <a:t>b.c</a:t>
            </a:r>
            <a:r>
              <a:rPr lang="en-IN" sz="2400" b="0" i="0" u="none" strike="noStrike" baseline="0" dirty="0">
                <a:solidFill>
                  <a:srgbClr val="000000"/>
                </a:solidFill>
                <a:latin typeface="Times New Roman" panose="02020603050405020304" pitchFamily="18" charset="0"/>
                <a:cs typeface="Times New Roman" panose="02020603050405020304" pitchFamily="18" charset="0"/>
              </a:rPr>
              <a:t> </a:t>
            </a:r>
          </a:p>
          <a:p>
            <a:r>
              <a:rPr lang="en-IN" sz="2400" b="0" i="0" u="none" strike="noStrike" baseline="0" dirty="0" err="1">
                <a:solidFill>
                  <a:srgbClr val="000000"/>
                </a:solidFill>
                <a:latin typeface="Times New Roman" panose="02020603050405020304" pitchFamily="18" charset="0"/>
                <a:cs typeface="Times New Roman" panose="02020603050405020304" pitchFamily="18" charset="0"/>
              </a:rPr>
              <a:t>c.o</a:t>
            </a:r>
            <a:r>
              <a:rPr lang="en-IN" sz="2400" b="0" i="0" u="none" strike="noStrike" baseline="0" dirty="0">
                <a:solidFill>
                  <a:srgbClr val="000000"/>
                </a:solidFill>
                <a:latin typeface="Times New Roman" panose="02020603050405020304" pitchFamily="18" charset="0"/>
                <a:cs typeface="Times New Roman" panose="02020603050405020304" pitchFamily="18" charset="0"/>
              </a:rPr>
              <a:t> : </a:t>
            </a:r>
            <a:r>
              <a:rPr lang="en-IN" sz="2400" b="0" i="0" u="none" strike="noStrike" baseline="0" dirty="0" err="1">
                <a:solidFill>
                  <a:srgbClr val="000000"/>
                </a:solidFill>
                <a:latin typeface="Times New Roman" panose="02020603050405020304" pitchFamily="18" charset="0"/>
                <a:cs typeface="Times New Roman" panose="02020603050405020304" pitchFamily="18" charset="0"/>
              </a:rPr>
              <a:t>c.c</a:t>
            </a:r>
            <a:endParaRPr lang="en-IN" sz="2400" b="0" i="0" u="none" strike="noStrike" baseline="0" dirty="0">
              <a:solidFill>
                <a:srgbClr val="000000"/>
              </a:solidFill>
              <a:latin typeface="Times New Roman" panose="02020603050405020304" pitchFamily="18" charset="0"/>
              <a:cs typeface="Times New Roman" panose="02020603050405020304" pitchFamily="18" charset="0"/>
            </a:endParaRPr>
          </a:p>
          <a:p>
            <a:pPr algn="r"/>
            <a:r>
              <a:rPr lang="en-IN" sz="2400" b="0" i="1" u="none" strike="noStrike" baseline="0" dirty="0">
                <a:solidFill>
                  <a:srgbClr val="000000"/>
                </a:solidFill>
                <a:latin typeface="Times New Roman" panose="02020603050405020304" pitchFamily="18" charset="0"/>
                <a:cs typeface="Times New Roman" panose="02020603050405020304" pitchFamily="18" charset="0"/>
              </a:rPr>
              <a:t> </a:t>
            </a:r>
            <a:endParaRPr lang="en-IN"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So, in order to build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a.out</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b.o</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and </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c.o</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must be built first. </a:t>
            </a:r>
            <a:endParaRPr lang="en-IN"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1869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24248"/>
          </a:xfrm>
        </p:spPr>
        <p:txBody>
          <a:bodyPr>
            <a:normAutofit/>
          </a:bodyPr>
          <a:lstStyle/>
          <a:p>
            <a:r>
              <a:rPr lang="en-IN" sz="4000" b="1" i="1" dirty="0">
                <a:solidFill>
                  <a:srgbClr val="FF0000"/>
                </a:solidFill>
                <a:latin typeface="Times New Roman" panose="02020603050405020304" pitchFamily="18" charset="0"/>
                <a:cs typeface="Times New Roman" panose="02020603050405020304" pitchFamily="18" charset="0"/>
              </a:rPr>
              <a:t>Build phases</a:t>
            </a:r>
          </a:p>
        </p:txBody>
      </p:sp>
      <p:sp>
        <p:nvSpPr>
          <p:cNvPr id="3" name="Content Placeholder 2"/>
          <p:cNvSpPr>
            <a:spLocks noGrp="1"/>
          </p:cNvSpPr>
          <p:nvPr>
            <p:ph idx="1"/>
          </p:nvPr>
        </p:nvSpPr>
        <p:spPr>
          <a:xfrm>
            <a:off x="0" y="695458"/>
            <a:ext cx="12192000" cy="6162541"/>
          </a:xfrm>
        </p:spPr>
        <p:txBody>
          <a:bodyPr>
            <a:normAutofit/>
          </a:bodyPr>
          <a:lstStyle/>
          <a:p>
            <a:pPr algn="just"/>
            <a:r>
              <a:rPr lang="en-IN" sz="2000" dirty="0">
                <a:latin typeface="Times New Roman" panose="02020603050405020304" pitchFamily="18" charset="0"/>
                <a:cs typeface="Times New Roman" panose="02020603050405020304" pitchFamily="18" charset="0"/>
              </a:rPr>
              <a:t>Lets take an example of any build system or build tool and lets see the various phases or lifecycle phases involved in creating and managing builds:</a:t>
            </a:r>
          </a:p>
          <a:p>
            <a:pPr algn="just"/>
            <a:r>
              <a:rPr lang="en-IN" sz="2000" b="1" u="sng" dirty="0">
                <a:latin typeface="Times New Roman" panose="02020603050405020304" pitchFamily="18" charset="0"/>
                <a:cs typeface="Times New Roman" panose="02020603050405020304" pitchFamily="18" charset="0"/>
              </a:rPr>
              <a:t>Lets consider maven build tool:</a:t>
            </a:r>
          </a:p>
          <a:p>
            <a:pPr algn="just"/>
            <a:r>
              <a:rPr lang="en-IN" sz="2000" dirty="0">
                <a:latin typeface="Times New Roman" panose="02020603050405020304" pitchFamily="18" charset="0"/>
                <a:cs typeface="Times New Roman" panose="02020603050405020304" pitchFamily="18" charset="0"/>
              </a:rPr>
              <a:t>Maven is a powerful project management tool that is based on POM (project object model), used for projects build, dependency and documentation. It is a tool that can be used for building and managing any Java-based project. Maven makes the day-to-day work of Java developers easier and helps with the building and running of any Java-based project.</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sequence of steps which is defined in order to execute the tasks and goals of any maven project is known as build life cycle in maven. Maven 2.0 version is basically a build life cycle oriented and clearly says that these steps are well defined to get the desired output after the successful execution of the build life cycle.</a:t>
            </a: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Maven comes with 3 built-in build life cycles as shown below :</a:t>
            </a:r>
          </a:p>
          <a:p>
            <a:pPr algn="just"/>
            <a:r>
              <a:rPr lang="en-IN" sz="2000" b="1" dirty="0">
                <a:latin typeface="Times New Roman" panose="02020603050405020304" pitchFamily="18" charset="0"/>
                <a:cs typeface="Times New Roman" panose="02020603050405020304" pitchFamily="18" charset="0"/>
              </a:rPr>
              <a:t>Clean</a:t>
            </a:r>
            <a:r>
              <a:rPr lang="en-IN" sz="2000" dirty="0">
                <a:latin typeface="Times New Roman" panose="02020603050405020304" pitchFamily="18" charset="0"/>
                <a:cs typeface="Times New Roman" panose="02020603050405020304" pitchFamily="18" charset="0"/>
              </a:rPr>
              <a:t> - this phase involves cleaning of the project (for a fresh build &amp; deployment)</a:t>
            </a:r>
          </a:p>
          <a:p>
            <a:pPr algn="just"/>
            <a:r>
              <a:rPr lang="en-IN" sz="2000" b="1" dirty="0">
                <a:latin typeface="Times New Roman" panose="02020603050405020304" pitchFamily="18" charset="0"/>
                <a:cs typeface="Times New Roman" panose="02020603050405020304" pitchFamily="18" charset="0"/>
              </a:rPr>
              <a:t>Default</a:t>
            </a:r>
            <a:r>
              <a:rPr lang="en-IN" sz="2000" dirty="0">
                <a:latin typeface="Times New Roman" panose="02020603050405020304" pitchFamily="18" charset="0"/>
                <a:cs typeface="Times New Roman" panose="02020603050405020304" pitchFamily="18" charset="0"/>
              </a:rPr>
              <a:t> - this phase handles the complete deployment of the project</a:t>
            </a:r>
          </a:p>
          <a:p>
            <a:pPr algn="just"/>
            <a:r>
              <a:rPr lang="en-IN" sz="2000" b="1" dirty="0">
                <a:latin typeface="Times New Roman" panose="02020603050405020304" pitchFamily="18" charset="0"/>
                <a:cs typeface="Times New Roman" panose="02020603050405020304" pitchFamily="18" charset="0"/>
              </a:rPr>
              <a:t>Site</a:t>
            </a:r>
            <a:r>
              <a:rPr lang="en-IN" sz="2000" dirty="0">
                <a:latin typeface="Times New Roman" panose="02020603050405020304" pitchFamily="18" charset="0"/>
                <a:cs typeface="Times New Roman" panose="02020603050405020304" pitchFamily="18" charset="0"/>
              </a:rPr>
              <a:t> - this phase handles the generating the java documentation of the project.</a:t>
            </a:r>
          </a:p>
          <a:p>
            <a:endParaRPr lang="en-IN" dirty="0"/>
          </a:p>
        </p:txBody>
      </p:sp>
    </p:spTree>
    <p:extLst>
      <p:ext uri="{BB962C8B-B14F-4D97-AF65-F5344CB8AC3E}">
        <p14:creationId xmlns:p14="http://schemas.microsoft.com/office/powerpoint/2010/main" val="2408122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735651"/>
          </a:xfrm>
        </p:spPr>
        <p:txBody>
          <a:bodyPr>
            <a:normAutofit/>
          </a:bodyPr>
          <a:lstStyle/>
          <a:p>
            <a:r>
              <a:rPr lang="en-IN" sz="2000" dirty="0">
                <a:latin typeface="Times New Roman" panose="02020603050405020304" pitchFamily="18" charset="0"/>
                <a:cs typeface="Times New Roman" panose="02020603050405020304" pitchFamily="18" charset="0"/>
              </a:rPr>
              <a:t>Now we will dig more into the detailed phases involved in the above mentioned built-in build life cycles.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build lifecycle consists of several phases. When a phase command is given, Maven runs every phase in the sequence up to and including the defined phase. </a:t>
            </a:r>
          </a:p>
          <a:p>
            <a:pPr marL="0" indent="0">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power-tool for Maven lifecycle phases and goals in project management is typically used for projects documentation, dependency and build, making the life of Java developer’s day-to-day work easy and manageable. </a:t>
            </a:r>
          </a:p>
          <a:p>
            <a:pPr marL="0" indent="0">
              <a:buNone/>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open-source tool for enterprise- build takes the burden out of the build process, making it easy to maintain and reduce the time involved in script builds. Besides, it promotes standards for development that is company-wide.</a:t>
            </a:r>
          </a:p>
          <a:p>
            <a:pPr marL="0" indent="0">
              <a:buNone/>
            </a:pP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Maven build lifecycle goes through a set of stages, they are called build phases. For example, the default lifecycle is made up of the following phases.</a:t>
            </a:r>
          </a:p>
          <a:p>
            <a:pPr marL="0" indent="0">
              <a:buNone/>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Maven build phases or Lifecycle: </a:t>
            </a:r>
            <a:r>
              <a:rPr lang="en-IN" sz="2000" dirty="0">
                <a:latin typeface="Times New Roman" panose="02020603050405020304" pitchFamily="18" charset="0"/>
                <a:cs typeface="Times New Roman" panose="02020603050405020304" pitchFamily="18" charset="0"/>
              </a:rPr>
              <a:t>Below is a representation of the default Maven lifecycle and its 8 steps: Validate, Compile, Test, Package, Integration test, Verify, Install and Deployment</a:t>
            </a:r>
          </a:p>
          <a:p>
            <a:endParaRPr lang="en-IN" dirty="0"/>
          </a:p>
          <a:p>
            <a:endParaRPr lang="en-IN" dirty="0"/>
          </a:p>
        </p:txBody>
      </p:sp>
    </p:spTree>
    <p:extLst>
      <p:ext uri="{BB962C8B-B14F-4D97-AF65-F5344CB8AC3E}">
        <p14:creationId xmlns:p14="http://schemas.microsoft.com/office/powerpoint/2010/main" val="25376759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geeksforgeeks.org/wp-content/uploads/20201103220710/Capture-300x288.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797" y="244699"/>
            <a:ext cx="9144000" cy="5898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9739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algn="just" fontAlgn="base"/>
            <a:r>
              <a:rPr lang="en-IN" sz="2200" u="sng" dirty="0">
                <a:latin typeface="Times New Roman" panose="02020603050405020304" pitchFamily="18" charset="0"/>
                <a:cs typeface="Times New Roman" panose="02020603050405020304" pitchFamily="18" charset="0"/>
              </a:rPr>
              <a:t>The default Maven lifecycle consists of 8 major steps or phases for compiling, testing, building and installing a given Java project as specified below:</a:t>
            </a:r>
          </a:p>
          <a:p>
            <a:pPr marL="0" indent="0" fontAlgn="base">
              <a:buNone/>
            </a:pPr>
            <a:endParaRPr lang="en-IN" sz="2000" dirty="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Validate:</a:t>
            </a:r>
            <a:r>
              <a:rPr lang="en-IN" sz="2000" dirty="0">
                <a:latin typeface="Times New Roman" panose="02020603050405020304" pitchFamily="18" charset="0"/>
                <a:cs typeface="Times New Roman" panose="02020603050405020304" pitchFamily="18" charset="0"/>
              </a:rPr>
              <a:t> This step validates if the project structure is correct. For example – It checks if all the dependencies have been downloaded and are available in the local repository.</a:t>
            </a: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Compile:</a:t>
            </a:r>
            <a:r>
              <a:rPr lang="en-IN" sz="2000" dirty="0">
                <a:latin typeface="Times New Roman" panose="02020603050405020304" pitchFamily="18" charset="0"/>
                <a:cs typeface="Times New Roman" panose="02020603050405020304" pitchFamily="18" charset="0"/>
              </a:rPr>
              <a:t> It compiles the source code, converts the .java files to .class and stores the classes in target/classes folder.</a:t>
            </a: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Test:</a:t>
            </a:r>
            <a:r>
              <a:rPr lang="en-IN" sz="2000" dirty="0">
                <a:latin typeface="Times New Roman" panose="02020603050405020304" pitchFamily="18" charset="0"/>
                <a:cs typeface="Times New Roman" panose="02020603050405020304" pitchFamily="18" charset="0"/>
              </a:rPr>
              <a:t> It runs unit tests for the project.</a:t>
            </a: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Package:</a:t>
            </a:r>
            <a:r>
              <a:rPr lang="en-IN" sz="2000" dirty="0">
                <a:latin typeface="Times New Roman" panose="02020603050405020304" pitchFamily="18" charset="0"/>
                <a:cs typeface="Times New Roman" panose="02020603050405020304" pitchFamily="18" charset="0"/>
              </a:rPr>
              <a:t> This step packages the compiled code in distributable format like JAR or WAR.</a:t>
            </a: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Integration test:</a:t>
            </a:r>
            <a:r>
              <a:rPr lang="en-IN" sz="2000" dirty="0">
                <a:latin typeface="Times New Roman" panose="02020603050405020304" pitchFamily="18" charset="0"/>
                <a:cs typeface="Times New Roman" panose="02020603050405020304" pitchFamily="18" charset="0"/>
              </a:rPr>
              <a:t> It runs the integration tests for the project.</a:t>
            </a: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Verify:</a:t>
            </a:r>
            <a:r>
              <a:rPr lang="en-IN" sz="2000" dirty="0">
                <a:latin typeface="Times New Roman" panose="02020603050405020304" pitchFamily="18" charset="0"/>
                <a:cs typeface="Times New Roman" panose="02020603050405020304" pitchFamily="18" charset="0"/>
              </a:rPr>
              <a:t> This step runs checks to verify that the project is valid and meets the quality standards.</a:t>
            </a: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Install:</a:t>
            </a:r>
            <a:r>
              <a:rPr lang="en-IN" sz="2000" dirty="0">
                <a:latin typeface="Times New Roman" panose="02020603050405020304" pitchFamily="18" charset="0"/>
                <a:cs typeface="Times New Roman" panose="02020603050405020304" pitchFamily="18" charset="0"/>
              </a:rPr>
              <a:t> This step installs the packaged code to the local Maven repository.</a:t>
            </a:r>
          </a:p>
          <a:p>
            <a:pPr fontAlgn="base">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Deploy:</a:t>
            </a:r>
            <a:r>
              <a:rPr lang="en-IN" sz="2000" dirty="0">
                <a:latin typeface="Times New Roman" panose="02020603050405020304" pitchFamily="18" charset="0"/>
                <a:cs typeface="Times New Roman" panose="02020603050405020304" pitchFamily="18" charset="0"/>
              </a:rPr>
              <a:t> It copies the packaged code to the remote repository for sharing it with other developers.</a:t>
            </a:r>
          </a:p>
          <a:p>
            <a:pPr marL="0" indent="0" fontAlgn="base">
              <a:buNone/>
            </a:pPr>
            <a:endParaRPr lang="en-IN" sz="2000" dirty="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Maven follows a sequential order to execute the commands where if you run step </a:t>
            </a:r>
            <a:r>
              <a:rPr lang="en-IN" sz="2000" i="1" dirty="0">
                <a:latin typeface="Times New Roman" panose="02020603050405020304" pitchFamily="18" charset="0"/>
                <a:cs typeface="Times New Roman" panose="02020603050405020304" pitchFamily="18" charset="0"/>
              </a:rPr>
              <a:t>n</a:t>
            </a:r>
            <a:r>
              <a:rPr lang="en-IN" sz="2000" dirty="0">
                <a:latin typeface="Times New Roman" panose="02020603050405020304" pitchFamily="18" charset="0"/>
                <a:cs typeface="Times New Roman" panose="02020603050405020304" pitchFamily="18" charset="0"/>
              </a:rPr>
              <a:t>, all steps preceding it (Step 1 to </a:t>
            </a:r>
            <a:r>
              <a:rPr lang="en-IN" sz="2000" i="1" dirty="0">
                <a:latin typeface="Times New Roman" panose="02020603050405020304" pitchFamily="18" charset="0"/>
                <a:cs typeface="Times New Roman" panose="02020603050405020304" pitchFamily="18" charset="0"/>
              </a:rPr>
              <a:t>n-1</a:t>
            </a:r>
            <a:r>
              <a:rPr lang="en-IN" sz="2000" dirty="0">
                <a:latin typeface="Times New Roman" panose="02020603050405020304" pitchFamily="18" charset="0"/>
                <a:cs typeface="Times New Roman" panose="02020603050405020304" pitchFamily="18" charset="0"/>
              </a:rPr>
              <a:t>) are also executed. For example – if we run the Installation step (Step 7), it will validate, compile, package and verify the project along with running unit and integration tests (Step 1 to 6) before installing the built package to the local repository.</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72413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24340D-6B3B-4515-B625-7334B339C972}"/>
              </a:ext>
            </a:extLst>
          </p:cNvPr>
          <p:cNvSpPr txBox="1"/>
          <p:nvPr/>
        </p:nvSpPr>
        <p:spPr>
          <a:xfrm>
            <a:off x="1" y="1"/>
            <a:ext cx="11913704" cy="5078313"/>
          </a:xfrm>
          <a:prstGeom prst="rect">
            <a:avLst/>
          </a:prstGeom>
          <a:noFill/>
        </p:spPr>
        <p:txBody>
          <a:bodyPr wrap="square">
            <a:spAutoFit/>
          </a:bodyPr>
          <a:lstStyle/>
          <a:p>
            <a:r>
              <a:rPr lang="en-US" b="0" i="0" dirty="0">
                <a:solidFill>
                  <a:srgbClr val="FF0000"/>
                </a:solidFill>
                <a:effectLst/>
                <a:latin typeface="arial" panose="020B0604020202020204" pitchFamily="34" charset="0"/>
              </a:rPr>
              <a:t>Jenkins can use </a:t>
            </a:r>
            <a:r>
              <a:rPr lang="en-US" b="1" i="0" dirty="0">
                <a:solidFill>
                  <a:srgbClr val="FF0000"/>
                </a:solidFill>
                <a:effectLst/>
                <a:latin typeface="arial" panose="020B0604020202020204" pitchFamily="34" charset="0"/>
              </a:rPr>
              <a:t>Maven as its build tool</a:t>
            </a:r>
            <a:r>
              <a:rPr lang="en-US" b="0" i="0" dirty="0">
                <a:solidFill>
                  <a:srgbClr val="FF0000"/>
                </a:solidFill>
                <a:effectLst/>
                <a:latin typeface="arial" panose="020B0604020202020204" pitchFamily="34" charset="0"/>
              </a:rPr>
              <a:t>.</a:t>
            </a:r>
          </a:p>
          <a:p>
            <a:endParaRPr lang="en-US" dirty="0">
              <a:solidFill>
                <a:srgbClr val="202124"/>
              </a:solidFill>
              <a:latin typeface="arial" panose="020B0604020202020204" pitchFamily="34" charset="0"/>
            </a:endParaRPr>
          </a:p>
          <a:p>
            <a:r>
              <a:rPr lang="en-US" b="0" i="0" dirty="0">
                <a:solidFill>
                  <a:srgbClr val="202124"/>
                </a:solidFill>
                <a:effectLst/>
                <a:latin typeface="arial" panose="020B0604020202020204" pitchFamily="34" charset="0"/>
              </a:rPr>
              <a:t>Maven is building tool/environment. Jenkins is a CI (continuous integration) tool. </a:t>
            </a:r>
          </a:p>
          <a:p>
            <a:endParaRPr lang="en-US" b="0" i="0" dirty="0">
              <a:solidFill>
                <a:srgbClr val="202124"/>
              </a:solidFill>
              <a:effectLst/>
              <a:latin typeface="arial" panose="020B0604020202020204" pitchFamily="34" charset="0"/>
            </a:endParaRPr>
          </a:p>
          <a:p>
            <a:r>
              <a:rPr lang="en-US" b="0" i="0" dirty="0">
                <a:solidFill>
                  <a:srgbClr val="000000"/>
                </a:solidFill>
                <a:effectLst/>
                <a:latin typeface="Arial" panose="020B0604020202020204" pitchFamily="34" charset="0"/>
              </a:rPr>
              <a:t>Here phase represents a stage in life cycle. As an example, a typical </a:t>
            </a:r>
            <a:r>
              <a:rPr lang="en-US" b="1" i="0" dirty="0">
                <a:solidFill>
                  <a:srgbClr val="000000"/>
                </a:solidFill>
                <a:effectLst/>
                <a:latin typeface="Arial" panose="020B0604020202020204" pitchFamily="34" charset="0"/>
              </a:rPr>
              <a:t>Maven Build Lifecycle</a:t>
            </a:r>
            <a:r>
              <a:rPr lang="en-US" b="0" i="0" dirty="0">
                <a:solidFill>
                  <a:srgbClr val="000000"/>
                </a:solidFill>
                <a:effectLst/>
                <a:latin typeface="Arial" panose="020B0604020202020204" pitchFamily="34" charset="0"/>
              </a:rPr>
              <a:t> consists of the following sequence of phases.</a:t>
            </a:r>
            <a:endParaRPr lang="en-US" b="0" i="0" dirty="0">
              <a:solidFill>
                <a:srgbClr val="202124"/>
              </a:solidFill>
              <a:effectLst/>
              <a:latin typeface="arial" panose="020B0604020202020204" pitchFamily="34" charset="0"/>
            </a:endParaRPr>
          </a:p>
          <a:p>
            <a:pPr algn="l"/>
            <a:r>
              <a:rPr lang="en-SG"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Build phases:</a:t>
            </a:r>
          </a:p>
          <a:p>
            <a:pPr algn="l"/>
            <a:endParaRPr lang="en-US" b="0" i="0" dirty="0">
              <a:solidFill>
                <a:srgbClr val="202124"/>
              </a:solidFill>
              <a:effectLst/>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lnSpc>
                <a:spcPct val="150000"/>
              </a:lnSpc>
              <a:buFont typeface="Arial" panose="020B0604020202020204" pitchFamily="34" charset="0"/>
              <a:buChar char="•"/>
            </a:pPr>
            <a:r>
              <a:rPr lang="en-US" b="0" i="0" dirty="0">
                <a:solidFill>
                  <a:srgbClr val="202124"/>
                </a:solidFill>
                <a:effectLst/>
                <a:latin typeface="arial" panose="020B0604020202020204" pitchFamily="34" charset="0"/>
              </a:rPr>
              <a:t>validate: check if all information necessary for the build is available.</a:t>
            </a:r>
          </a:p>
          <a:p>
            <a:pPr algn="l">
              <a:lnSpc>
                <a:spcPct val="150000"/>
              </a:lnSpc>
              <a:buFont typeface="Arial" panose="020B0604020202020204" pitchFamily="34" charset="0"/>
              <a:buChar char="•"/>
            </a:pPr>
            <a:r>
              <a:rPr lang="en-US" b="0" i="0" dirty="0">
                <a:solidFill>
                  <a:srgbClr val="202124"/>
                </a:solidFill>
                <a:effectLst/>
                <a:latin typeface="arial" panose="020B0604020202020204" pitchFamily="34" charset="0"/>
              </a:rPr>
              <a:t>compile: compile the source code.</a:t>
            </a:r>
          </a:p>
          <a:p>
            <a:pPr algn="l">
              <a:lnSpc>
                <a:spcPct val="150000"/>
              </a:lnSpc>
              <a:buFont typeface="Arial" panose="020B0604020202020204" pitchFamily="34" charset="0"/>
              <a:buChar char="•"/>
            </a:pPr>
            <a:r>
              <a:rPr lang="en-US" b="0" i="0" dirty="0">
                <a:solidFill>
                  <a:srgbClr val="202124"/>
                </a:solidFill>
                <a:effectLst/>
                <a:latin typeface="arial" panose="020B0604020202020204" pitchFamily="34" charset="0"/>
              </a:rPr>
              <a:t>test-compile: compile the test source code.</a:t>
            </a:r>
          </a:p>
          <a:p>
            <a:pPr algn="l">
              <a:lnSpc>
                <a:spcPct val="150000"/>
              </a:lnSpc>
              <a:buFont typeface="Arial" panose="020B0604020202020204" pitchFamily="34" charset="0"/>
              <a:buChar char="•"/>
            </a:pPr>
            <a:r>
              <a:rPr lang="en-US" b="0" i="0" dirty="0">
                <a:solidFill>
                  <a:srgbClr val="202124"/>
                </a:solidFill>
                <a:effectLst/>
                <a:latin typeface="arial" panose="020B0604020202020204" pitchFamily="34" charset="0"/>
              </a:rPr>
              <a:t>test: run unit tests.</a:t>
            </a:r>
          </a:p>
          <a:p>
            <a:endParaRPr lang="en-US" b="0" i="0" dirty="0">
              <a:solidFill>
                <a:srgbClr val="202124"/>
              </a:solidFill>
              <a:effectLst/>
              <a:latin typeface="arial" panose="020B0604020202020204" pitchFamily="34" charset="0"/>
            </a:endParaRPr>
          </a:p>
          <a:p>
            <a:endParaRPr lang="en-US" dirty="0">
              <a:solidFill>
                <a:srgbClr val="202124"/>
              </a:solidFill>
              <a:latin typeface="arial" panose="020B0604020202020204" pitchFamily="34" charset="0"/>
            </a:endParaRPr>
          </a:p>
          <a:p>
            <a:endParaRPr lang="en-IN" dirty="0"/>
          </a:p>
        </p:txBody>
      </p:sp>
      <p:pic>
        <p:nvPicPr>
          <p:cNvPr id="5" name="Picture 4">
            <a:extLst>
              <a:ext uri="{FF2B5EF4-FFF2-40B4-BE49-F238E27FC236}">
                <a16:creationId xmlns:a16="http://schemas.microsoft.com/office/drawing/2014/main" id="{B6640436-868B-4BB7-B191-49CE9AD2763A}"/>
              </a:ext>
            </a:extLst>
          </p:cNvPr>
          <p:cNvPicPr>
            <a:picLocks noChangeAspect="1"/>
          </p:cNvPicPr>
          <p:nvPr/>
        </p:nvPicPr>
        <p:blipFill>
          <a:blip r:embed="rId2"/>
          <a:stretch>
            <a:fillRect/>
          </a:stretch>
        </p:blipFill>
        <p:spPr>
          <a:xfrm>
            <a:off x="-1" y="2174171"/>
            <a:ext cx="12191999" cy="4286263"/>
          </a:xfrm>
          <a:prstGeom prst="rect">
            <a:avLst/>
          </a:prstGeom>
        </p:spPr>
      </p:pic>
    </p:spTree>
    <p:extLst>
      <p:ext uri="{BB962C8B-B14F-4D97-AF65-F5344CB8AC3E}">
        <p14:creationId xmlns:p14="http://schemas.microsoft.com/office/powerpoint/2010/main" val="20676943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9329DB-1403-4082-8AC4-FFD179F904D2}"/>
              </a:ext>
            </a:extLst>
          </p:cNvPr>
          <p:cNvSpPr txBox="1"/>
          <p:nvPr/>
        </p:nvSpPr>
        <p:spPr>
          <a:xfrm>
            <a:off x="0" y="238539"/>
            <a:ext cx="12046226" cy="6001643"/>
          </a:xfrm>
          <a:prstGeom prst="rect">
            <a:avLst/>
          </a:prstGeom>
          <a:noFill/>
        </p:spPr>
        <p:txBody>
          <a:bodyPr wrap="square">
            <a:spAutoFit/>
          </a:bodyPr>
          <a:lstStyle/>
          <a:p>
            <a:pPr algn="l"/>
            <a:r>
              <a:rPr lang="en-US" sz="2400" i="0" dirty="0">
                <a:solidFill>
                  <a:srgbClr val="FF0000"/>
                </a:solidFill>
                <a:effectLst/>
                <a:latin typeface="Times New Roman" panose="02020603050405020304" pitchFamily="18" charset="0"/>
                <a:cs typeface="Times New Roman" panose="02020603050405020304" pitchFamily="18" charset="0"/>
              </a:rPr>
              <a:t>The Best Alternatives to Jenkins for Developers:</a:t>
            </a:r>
          </a:p>
          <a:p>
            <a:pPr algn="l"/>
            <a:endParaRPr lang="en-US" sz="2400" b="1" i="0" dirty="0">
              <a:effectLst/>
              <a:latin typeface="Times New Roman" panose="02020603050405020304" pitchFamily="18" charset="0"/>
              <a:cs typeface="Times New Roman" panose="02020603050405020304" pitchFamily="18" charset="0"/>
            </a:endParaRPr>
          </a:p>
          <a:p>
            <a:pPr algn="l"/>
            <a:r>
              <a:rPr lang="en-US" sz="24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GitLab</a:t>
            </a:r>
            <a:r>
              <a:rPr lang="en-US" sz="2400" b="0" i="0" dirty="0">
                <a:effectLst/>
                <a:latin typeface="Times New Roman" panose="02020603050405020304" pitchFamily="18" charset="0"/>
                <a:cs typeface="Times New Roman" panose="02020603050405020304" pitchFamily="18" charset="0"/>
              </a:rPr>
              <a:t> CI/CD tool is a part of GitLab and a powerful alternative to Jenkins. It is an open-source web interface that can be used to apply all the continuous methods like integration, delivery, and deployment to your project without any third-party application. It provides a user-friendly interface along with distributed version control services.</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0" i="0" dirty="0">
                <a:solidFill>
                  <a:srgbClr val="FF0000"/>
                </a:solidFill>
                <a:effectLst/>
                <a:latin typeface="Times New Roman" panose="02020603050405020304" pitchFamily="18" charset="0"/>
                <a:cs typeface="Times New Roman" panose="02020603050405020304" pitchFamily="18" charset="0"/>
              </a:rPr>
              <a:t>Some of the top features that make it one of the best alternatives to Jenkins are:</a:t>
            </a:r>
          </a:p>
          <a:p>
            <a:pPr algn="l"/>
            <a:endParaRPr lang="en-US" sz="2400" b="0" i="0" dirty="0">
              <a:effectLst/>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ü"/>
            </a:pPr>
            <a:r>
              <a:rPr lang="en-US" sz="2400" b="0" i="0" dirty="0">
                <a:effectLst/>
                <a:latin typeface="Times New Roman" panose="02020603050405020304" pitchFamily="18" charset="0"/>
                <a:cs typeface="Times New Roman" panose="02020603050405020304" pitchFamily="18" charset="0"/>
              </a:rPr>
              <a:t>Just like Jenkins, it is an open-source tool too.</a:t>
            </a:r>
          </a:p>
          <a:p>
            <a:pPr marL="342900" indent="-342900" algn="l">
              <a:lnSpc>
                <a:spcPct val="150000"/>
              </a:lnSpc>
              <a:buFont typeface="Wingdings" panose="05000000000000000000" pitchFamily="2" charset="2"/>
              <a:buChar char="ü"/>
            </a:pPr>
            <a:r>
              <a:rPr lang="en-US" sz="2400" b="0" i="0" dirty="0">
                <a:effectLst/>
                <a:latin typeface="Times New Roman" panose="02020603050405020304" pitchFamily="18" charset="0"/>
                <a:cs typeface="Times New Roman" panose="02020603050405020304" pitchFamily="18" charset="0"/>
              </a:rPr>
              <a:t>You can test your build in parallel, thereby reducing time.</a:t>
            </a:r>
          </a:p>
          <a:p>
            <a:pPr marL="342900" indent="-342900" algn="l">
              <a:lnSpc>
                <a:spcPct val="150000"/>
              </a:lnSpc>
              <a:buFont typeface="Wingdings" panose="05000000000000000000" pitchFamily="2" charset="2"/>
              <a:buChar char="ü"/>
            </a:pPr>
            <a:r>
              <a:rPr lang="en-US" sz="2400" b="0" i="0" dirty="0">
                <a:effectLst/>
                <a:latin typeface="Times New Roman" panose="02020603050405020304" pitchFamily="18" charset="0"/>
                <a:cs typeface="Times New Roman" panose="02020603050405020304" pitchFamily="18" charset="0"/>
              </a:rPr>
              <a:t>It allows docker integration and helps in automating release and application delivery.</a:t>
            </a:r>
          </a:p>
          <a:p>
            <a:pPr marL="342900" indent="-342900" algn="l">
              <a:lnSpc>
                <a:spcPct val="150000"/>
              </a:lnSpc>
              <a:buFont typeface="Wingdings" panose="05000000000000000000" pitchFamily="2" charset="2"/>
              <a:buChar char="ü"/>
            </a:pPr>
            <a:r>
              <a:rPr lang="en-US" sz="2400" b="0" i="0" dirty="0">
                <a:effectLst/>
                <a:latin typeface="Times New Roman" panose="02020603050405020304" pitchFamily="18" charset="0"/>
                <a:cs typeface="Times New Roman" panose="02020603050405020304" pitchFamily="18" charset="0"/>
              </a:rPr>
              <a:t>It provides better support.</a:t>
            </a:r>
          </a:p>
          <a:p>
            <a:pPr algn="l"/>
            <a:endParaRPr lang="en-US" sz="2400"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7562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pular Jenkins Alternatives for DevOps Developers and CI/CD - IoTEDU %">
            <a:extLst>
              <a:ext uri="{FF2B5EF4-FFF2-40B4-BE49-F238E27FC236}">
                <a16:creationId xmlns:a16="http://schemas.microsoft.com/office/drawing/2014/main" id="{CFCECFDA-A2A0-4FDE-86D8-96FBBEAEF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792" y="-1"/>
            <a:ext cx="11940208" cy="7089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8949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CF86C1-7FD8-43B6-BBB1-6E9E60FAF755}"/>
              </a:ext>
            </a:extLst>
          </p:cNvPr>
          <p:cNvSpPr txBox="1"/>
          <p:nvPr/>
        </p:nvSpPr>
        <p:spPr>
          <a:xfrm>
            <a:off x="0" y="145774"/>
            <a:ext cx="12192000" cy="7478970"/>
          </a:xfrm>
          <a:prstGeom prst="rect">
            <a:avLst/>
          </a:prstGeom>
          <a:noFill/>
        </p:spPr>
        <p:txBody>
          <a:bodyPr wrap="square">
            <a:spAutoFit/>
          </a:bodyPr>
          <a:lstStyle/>
          <a:p>
            <a:r>
              <a:rPr lang="en-IN" sz="2000" dirty="0" err="1">
                <a:solidFill>
                  <a:srgbClr val="FF0000"/>
                </a:solidFill>
                <a:latin typeface="Times New Roman" panose="02020603050405020304" pitchFamily="18" charset="0"/>
                <a:cs typeface="Times New Roman" panose="02020603050405020304" pitchFamily="18" charset="0"/>
              </a:rPr>
              <a:t>CircleCI</a:t>
            </a:r>
            <a:r>
              <a:rPr lang="en-IN" sz="2000" dirty="0">
                <a:solidFill>
                  <a:srgbClr val="FF0000"/>
                </a:solidFill>
                <a:latin typeface="Times New Roman" panose="02020603050405020304" pitchFamily="18" charset="0"/>
                <a:cs typeface="Times New Roman" panose="02020603050405020304" pitchFamily="18" charset="0"/>
              </a:rPr>
              <a:t> :</a:t>
            </a:r>
          </a:p>
          <a:p>
            <a:endParaRPr lang="en-IN" sz="2000" dirty="0">
              <a:solidFill>
                <a:srgbClr val="FF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Circle CI </a:t>
            </a:r>
            <a:r>
              <a:rPr lang="en-US" sz="2000" dirty="0">
                <a:latin typeface="Times New Roman" panose="02020603050405020304" pitchFamily="18" charset="0"/>
                <a:cs typeface="Times New Roman" panose="02020603050405020304" pitchFamily="18" charset="0"/>
              </a:rPr>
              <a:t>is a flexible tool with easy maintenance and can run in almost any environment. Every commit leads to automatic build execution. </a:t>
            </a:r>
          </a:p>
          <a:p>
            <a:endParaRPr lang="en-US" sz="2000" dirty="0">
              <a:latin typeface="Times New Roman" panose="02020603050405020304" pitchFamily="18" charset="0"/>
              <a:cs typeface="Times New Roman" panose="02020603050405020304" pitchFamily="18" charset="0"/>
            </a:endParaRPr>
          </a:p>
          <a:p>
            <a:pPr algn="l"/>
            <a:r>
              <a:rPr lang="en-IN" sz="2000" b="0" i="0" dirty="0">
                <a:solidFill>
                  <a:srgbClr val="FF0000"/>
                </a:solidFill>
                <a:effectLst/>
                <a:latin typeface="Times New Roman" panose="02020603050405020304" pitchFamily="18" charset="0"/>
                <a:cs typeface="Times New Roman" panose="02020603050405020304" pitchFamily="18" charset="0"/>
              </a:rPr>
              <a:t>Travis CI</a:t>
            </a:r>
          </a:p>
          <a:p>
            <a:pPr algn="l"/>
            <a:endParaRPr lang="en-IN" sz="2000" dirty="0">
              <a:solidFill>
                <a:srgbClr val="141412"/>
              </a:solidFill>
              <a:latin typeface="Times New Roman" panose="02020603050405020304" pitchFamily="18" charset="0"/>
              <a:cs typeface="Times New Roman" panose="02020603050405020304" pitchFamily="18" charset="0"/>
            </a:endParaRPr>
          </a:p>
          <a:p>
            <a:pPr algn="l"/>
            <a:r>
              <a:rPr lang="en-US" sz="2000" b="0" i="0" u="none"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Travis CI</a:t>
            </a:r>
            <a:r>
              <a:rPr lang="en-US" sz="2000" b="0" i="0" dirty="0">
                <a:effectLst/>
                <a:latin typeface="Times New Roman" panose="02020603050405020304" pitchFamily="18" charset="0"/>
                <a:cs typeface="Times New Roman" panose="02020603050405020304" pitchFamily="18" charset="0"/>
              </a:rPr>
              <a:t> is a continuous integration and testing CI/CD tool. It is free of cost for open source projects and provides seamless integration with GitHub. It supports more than 20 languages, like Node.js, PHP, Python, etc. along with Docker.</a:t>
            </a:r>
          </a:p>
          <a:p>
            <a:pPr algn="l"/>
            <a:endParaRPr lang="en-US" sz="2000" b="0" i="0"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Some of the key features of Travis CI includes:</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Very easy to set up with broad user community support.</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No project is merged before tests are passed successfully.</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You can easily customize the build environment as per your requirements.</a:t>
            </a:r>
          </a:p>
          <a:p>
            <a:pPr algn="l">
              <a:buFont typeface="Arial" panose="020B0604020202020204" pitchFamily="34" charset="0"/>
              <a:buChar char="•"/>
            </a:pPr>
            <a:endParaRPr lang="en-US" sz="2000" dirty="0">
              <a:solidFill>
                <a:srgbClr val="737373"/>
              </a:solidFill>
              <a:latin typeface="Times New Roman" panose="02020603050405020304" pitchFamily="18" charset="0"/>
              <a:cs typeface="Times New Roman" panose="02020603050405020304" pitchFamily="18" charset="0"/>
            </a:endParaRPr>
          </a:p>
          <a:p>
            <a:r>
              <a:rPr lang="en-IN" sz="2000" b="0" i="0" dirty="0" err="1">
                <a:solidFill>
                  <a:srgbClr val="FF0000"/>
                </a:solidFill>
                <a:effectLst/>
                <a:latin typeface="Times New Roman" panose="02020603050405020304" pitchFamily="18" charset="0"/>
                <a:cs typeface="Times New Roman" panose="02020603050405020304" pitchFamily="18" charset="0"/>
              </a:rPr>
              <a:t>BuildMaster</a:t>
            </a:r>
            <a:endParaRPr lang="en-IN" sz="2000" b="0" i="0" dirty="0">
              <a:solidFill>
                <a:srgbClr val="FF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000" b="0" i="0" u="sng" dirty="0">
              <a:solidFill>
                <a:srgbClr val="737373"/>
              </a:solidFill>
              <a:effectLst/>
              <a:latin typeface="Times New Roman" panose="02020603050405020304" pitchFamily="18" charset="0"/>
              <a:cs typeface="Times New Roman" panose="02020603050405020304" pitchFamily="18" charset="0"/>
            </a:endParaRPr>
          </a:p>
          <a:p>
            <a:pPr algn="l"/>
            <a:r>
              <a:rPr lang="en-US" sz="2000" b="0" i="0" u="sng" strike="noStrike" dirty="0">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Build Master</a:t>
            </a:r>
            <a:r>
              <a:rPr lang="en-US" sz="2000" b="0" i="0" u="sng" dirty="0">
                <a:effectLst/>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is one of the best Jenkins alternatives that offers continuous integration on different platforms. With Build Master, you can manage your apps and deploy them to the environment without any hassle. </a:t>
            </a:r>
          </a:p>
          <a:p>
            <a:endParaRPr lang="en-US" sz="2000" dirty="0">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a:p>
            <a:endParaRPr lang="en-US" sz="2000" dirty="0">
              <a:solidFill>
                <a:srgbClr val="FF0000"/>
              </a:solidFill>
              <a:latin typeface="Times New Roman" panose="02020603050405020304" pitchFamily="18" charset="0"/>
              <a:cs typeface="Times New Roman" panose="02020603050405020304" pitchFamily="18" charset="0"/>
            </a:endParaRPr>
          </a:p>
          <a:p>
            <a:pPr algn="l"/>
            <a:endParaRPr lang="en-IN" sz="2000" b="0" i="0" dirty="0">
              <a:solidFill>
                <a:srgbClr val="14141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66842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0F9EB1-9082-48E6-9106-3ADD90326AF5}"/>
              </a:ext>
            </a:extLst>
          </p:cNvPr>
          <p:cNvSpPr txBox="1"/>
          <p:nvPr/>
        </p:nvSpPr>
        <p:spPr>
          <a:xfrm>
            <a:off x="106018" y="0"/>
            <a:ext cx="11913704" cy="5632311"/>
          </a:xfrm>
          <a:prstGeom prst="rect">
            <a:avLst/>
          </a:prstGeom>
          <a:noFill/>
        </p:spPr>
        <p:txBody>
          <a:bodyPr wrap="square">
            <a:spAutoFit/>
          </a:bodyPr>
          <a:lstStyle/>
          <a:p>
            <a:r>
              <a:rPr lang="en-IN" sz="2400" i="0" u="none" strike="noStrike" baseline="0" dirty="0">
                <a:solidFill>
                  <a:srgbClr val="FF0000"/>
                </a:solidFill>
                <a:latin typeface="Times New Roman" panose="02020603050405020304" pitchFamily="18" charset="0"/>
                <a:cs typeface="Times New Roman" panose="02020603050405020304" pitchFamily="18" charset="0"/>
              </a:rPr>
              <a:t>Collating quality measures </a:t>
            </a:r>
          </a:p>
          <a:p>
            <a:endParaRPr lang="en-IN" sz="2400" i="0" u="none" strike="noStrike" baseline="0" dirty="0">
              <a:solidFill>
                <a:srgbClr val="FF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A useful thing that a build server can do is the collation of software quality metrics. Jenkins has some support for this out of the box.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Java unit tests are executed and can be visualized directly on the job page.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Another more advanced option is using the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Sonar code quality visualizer</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which is shown in the following screenshot. Sonar tests are run during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the build phase and propagated to the Sonar server, where they are stored and visualized.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A Sonar server can be a great way for a development team to see the fruits of their efforts at improving the code base.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The drawback of implementing a Sonar server is that it sometimes slows down the builds. The recommendation is to perform the Sonar builds in your nightly builds, once a day.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1568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96AC36-B708-460D-9A1A-D9BE43C946AA}"/>
              </a:ext>
            </a:extLst>
          </p:cNvPr>
          <p:cNvPicPr>
            <a:picLocks noChangeAspect="1"/>
          </p:cNvPicPr>
          <p:nvPr/>
        </p:nvPicPr>
        <p:blipFill>
          <a:blip r:embed="rId2"/>
          <a:stretch>
            <a:fillRect/>
          </a:stretch>
        </p:blipFill>
        <p:spPr>
          <a:xfrm>
            <a:off x="-291548" y="-58561"/>
            <a:ext cx="12616070" cy="6916561"/>
          </a:xfrm>
          <a:prstGeom prst="rect">
            <a:avLst/>
          </a:prstGeom>
        </p:spPr>
      </p:pic>
    </p:spTree>
    <p:extLst>
      <p:ext uri="{BB962C8B-B14F-4D97-AF65-F5344CB8AC3E}">
        <p14:creationId xmlns:p14="http://schemas.microsoft.com/office/powerpoint/2010/main" val="2291293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err="1"/>
              <a:t>SonarQube</a:t>
            </a:r>
            <a:r>
              <a:rPr lang="en-IN" dirty="0"/>
              <a:t> is an excellent application that will capture, </a:t>
            </a:r>
            <a:r>
              <a:rPr lang="en-IN" dirty="0" err="1"/>
              <a:t>analyze</a:t>
            </a:r>
            <a:r>
              <a:rPr lang="en-IN" dirty="0"/>
              <a:t>, and visualize the functional bugs and Security Vulnerabilities.</a:t>
            </a:r>
          </a:p>
          <a:p>
            <a:r>
              <a:rPr lang="en-IN" dirty="0" err="1"/>
              <a:t>SonarQube</a:t>
            </a:r>
            <a:r>
              <a:rPr lang="en-IN" dirty="0"/>
              <a:t> is an excellent tool for measuring code quality, using static analysis to find code smells, bugs, vulnerabilities, and poor test coverage. Rather than manually analysing the reports, why not automate the process by integrating </a:t>
            </a:r>
            <a:r>
              <a:rPr lang="en-IN" dirty="0" err="1"/>
              <a:t>SonarQube</a:t>
            </a:r>
            <a:r>
              <a:rPr lang="en-IN" dirty="0"/>
              <a:t> with your Jenkins continuous integration pipeline? This way, you can configure a quality gate based on your own requirements, ensuring bad code always fails the build.</a:t>
            </a:r>
          </a:p>
        </p:txBody>
      </p:sp>
    </p:spTree>
    <p:extLst>
      <p:ext uri="{BB962C8B-B14F-4D97-AF65-F5344CB8AC3E}">
        <p14:creationId xmlns:p14="http://schemas.microsoft.com/office/powerpoint/2010/main" val="24907106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A313F6-9E96-4703-9E91-A2A7ADD63743}"/>
              </a:ext>
            </a:extLst>
          </p:cNvPr>
          <p:cNvSpPr txBox="1"/>
          <p:nvPr/>
        </p:nvSpPr>
        <p:spPr>
          <a:xfrm>
            <a:off x="410816" y="649356"/>
            <a:ext cx="10270435" cy="5355312"/>
          </a:xfrm>
          <a:prstGeom prst="rect">
            <a:avLst/>
          </a:prstGeom>
          <a:noFill/>
        </p:spPr>
        <p:txBody>
          <a:bodyPr wrap="square">
            <a:spAutoFit/>
          </a:bodyPr>
          <a:lstStyle/>
          <a:p>
            <a:r>
              <a:rPr lang="en-IN" dirty="0">
                <a:solidFill>
                  <a:srgbClr val="FF0000"/>
                </a:solidFill>
              </a:rPr>
              <a:t>About Jenkins:</a:t>
            </a:r>
          </a:p>
          <a:p>
            <a:endParaRPr lang="en-IN" dirty="0"/>
          </a:p>
          <a:p>
            <a:r>
              <a:rPr lang="en-IN" dirty="0">
                <a:hlinkClick r:id="rId2"/>
              </a:rPr>
              <a:t>https://www.youtube.com/watch?v=dDFv5cSyHNs</a:t>
            </a:r>
            <a:endParaRPr lang="en-IN" dirty="0"/>
          </a:p>
          <a:p>
            <a:endParaRPr lang="en-IN" dirty="0"/>
          </a:p>
          <a:p>
            <a:endParaRPr lang="en-IN" dirty="0"/>
          </a:p>
          <a:p>
            <a:r>
              <a:rPr lang="en-IN" dirty="0"/>
              <a:t>Installation:</a:t>
            </a:r>
          </a:p>
          <a:p>
            <a:endParaRPr lang="en-IN" dirty="0"/>
          </a:p>
          <a:p>
            <a:r>
              <a:rPr lang="en-IN">
                <a:hlinkClick r:id="rId3"/>
              </a:rPr>
              <a:t>https://www.youtube.com/watch?v=gT9qnZi3f74</a:t>
            </a:r>
            <a:endParaRPr lang="en-IN"/>
          </a:p>
          <a:p>
            <a:endParaRPr lang="en-IN" dirty="0"/>
          </a:p>
          <a:p>
            <a:endParaRPr lang="en-IN" dirty="0"/>
          </a:p>
          <a:p>
            <a:r>
              <a:rPr lang="en-IN" dirty="0">
                <a:solidFill>
                  <a:srgbClr val="FF0000"/>
                </a:solidFill>
              </a:rPr>
              <a:t>About  Pipeline:</a:t>
            </a:r>
          </a:p>
          <a:p>
            <a:endParaRPr lang="en-IN" dirty="0">
              <a:solidFill>
                <a:srgbClr val="FF0000"/>
              </a:solidFill>
            </a:endParaRPr>
          </a:p>
          <a:p>
            <a:r>
              <a:rPr lang="en-IN" dirty="0">
                <a:solidFill>
                  <a:srgbClr val="FF0000"/>
                </a:solidFill>
                <a:hlinkClick r:id="rId4"/>
              </a:rPr>
              <a:t>https://www.youtube.com/watch?v=mk2FBuTMwDc</a:t>
            </a:r>
            <a:endParaRPr lang="en-IN" dirty="0">
              <a:solidFill>
                <a:srgbClr val="FF0000"/>
              </a:solidFill>
            </a:endParaRPr>
          </a:p>
          <a:p>
            <a:endParaRPr lang="en-IN" dirty="0">
              <a:solidFill>
                <a:srgbClr val="FF0000"/>
              </a:solidFill>
            </a:endParaRPr>
          </a:p>
          <a:p>
            <a:endParaRPr lang="en-IN" dirty="0">
              <a:solidFill>
                <a:srgbClr val="FF0000"/>
              </a:solidFill>
            </a:endParaRPr>
          </a:p>
          <a:p>
            <a:endParaRPr lang="en-IN" dirty="0">
              <a:solidFill>
                <a:srgbClr val="FF0000"/>
              </a:solidFill>
            </a:endParaRPr>
          </a:p>
          <a:p>
            <a:r>
              <a:rPr lang="en-IN" dirty="0">
                <a:solidFill>
                  <a:srgbClr val="FF0000"/>
                </a:solidFill>
                <a:hlinkClick r:id="rId5"/>
              </a:rPr>
              <a:t>https://www.youtube.com/watch?v=1ji_9scA2C4</a:t>
            </a:r>
            <a:endParaRPr lang="en-IN" dirty="0">
              <a:solidFill>
                <a:srgbClr val="FF0000"/>
              </a:solidFill>
            </a:endParaRPr>
          </a:p>
          <a:p>
            <a:endParaRPr lang="en-IN" dirty="0">
              <a:solidFill>
                <a:srgbClr val="FF0000"/>
              </a:solidFill>
            </a:endParaRPr>
          </a:p>
          <a:p>
            <a:endParaRPr lang="en-IN" dirty="0">
              <a:solidFill>
                <a:srgbClr val="FF0000"/>
              </a:solidFill>
            </a:endParaRPr>
          </a:p>
        </p:txBody>
      </p:sp>
    </p:spTree>
    <p:extLst>
      <p:ext uri="{BB962C8B-B14F-4D97-AF65-F5344CB8AC3E}">
        <p14:creationId xmlns:p14="http://schemas.microsoft.com/office/powerpoint/2010/main" val="3505015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1752</TotalTime>
  <Words>5183</Words>
  <Application>Microsoft Office PowerPoint</Application>
  <PresentationFormat>Widescreen</PresentationFormat>
  <Paragraphs>365</Paragraphs>
  <Slides>94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94</vt:i4>
      </vt:variant>
    </vt:vector>
  </HeadingPairs>
  <TitlesOfParts>
    <vt:vector size="105" baseType="lpstr">
      <vt:lpstr>arial</vt:lpstr>
      <vt:lpstr>arial</vt:lpstr>
      <vt:lpstr>Calibri</vt:lpstr>
      <vt:lpstr>Calibri Light</vt:lpstr>
      <vt:lpstr>charter</vt:lpstr>
      <vt:lpstr>Open Sans</vt:lpstr>
      <vt:lpstr>proxima-nova</vt:lpstr>
      <vt:lpstr>sohne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Infrastructure as Code (IaC)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Build phases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38</cp:revision>
  <dcterms:created xsi:type="dcterms:W3CDTF">2021-10-18T05:08:43Z</dcterms:created>
  <dcterms:modified xsi:type="dcterms:W3CDTF">2021-11-08T04:50:17Z</dcterms:modified>
</cp:coreProperties>
</file>