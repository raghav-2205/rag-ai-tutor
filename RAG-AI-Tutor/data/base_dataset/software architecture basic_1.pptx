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74" r:id="rId3"/>
    <p:sldId id="275" r:id="rId4"/>
    <p:sldId id="257" r:id="rId5"/>
    <p:sldId id="277" r:id="rId6"/>
    <p:sldId id="258" r:id="rId7"/>
    <p:sldId id="259" r:id="rId8"/>
    <p:sldId id="263" r:id="rId9"/>
    <p:sldId id="264" r:id="rId10"/>
    <p:sldId id="265" r:id="rId11"/>
    <p:sldId id="267" r:id="rId12"/>
    <p:sldId id="269" r:id="rId13"/>
    <p:sldId id="27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C82F1-2377-4B82-97AA-775635BCA0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AF289714-F0B4-4E7A-9D7F-D365021D94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F8DD0737-1929-4244-B7A3-4E83E41006D1}"/>
              </a:ext>
            </a:extLst>
          </p:cNvPr>
          <p:cNvSpPr>
            <a:spLocks noGrp="1"/>
          </p:cNvSpPr>
          <p:nvPr>
            <p:ph type="dt" sz="half" idx="10"/>
          </p:nvPr>
        </p:nvSpPr>
        <p:spPr/>
        <p:txBody>
          <a:bodyPr/>
          <a:lstStyle/>
          <a:p>
            <a:fld id="{DB4EF6BE-860E-44B7-B008-E99861730B87}" type="datetimeFigureOut">
              <a:rPr lang="en-SG" smtClean="0"/>
              <a:t>8/9/2021</a:t>
            </a:fld>
            <a:endParaRPr lang="en-SG"/>
          </a:p>
        </p:txBody>
      </p:sp>
      <p:sp>
        <p:nvSpPr>
          <p:cNvPr id="5" name="Footer Placeholder 4">
            <a:extLst>
              <a:ext uri="{FF2B5EF4-FFF2-40B4-BE49-F238E27FC236}">
                <a16:creationId xmlns:a16="http://schemas.microsoft.com/office/drawing/2014/main" id="{B34C7A3F-848D-44E3-81A6-51216FBFB9A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7E66D3E6-FE0A-496C-9B2B-909016E6214C}"/>
              </a:ext>
            </a:extLst>
          </p:cNvPr>
          <p:cNvSpPr>
            <a:spLocks noGrp="1"/>
          </p:cNvSpPr>
          <p:nvPr>
            <p:ph type="sldNum" sz="quarter" idx="12"/>
          </p:nvPr>
        </p:nvSpPr>
        <p:spPr/>
        <p:txBody>
          <a:bodyPr/>
          <a:lstStyle/>
          <a:p>
            <a:fld id="{2228530E-554C-4D3C-AC8C-F7F3DFCE3101}" type="slidenum">
              <a:rPr lang="en-SG" smtClean="0"/>
              <a:t>‹#›</a:t>
            </a:fld>
            <a:endParaRPr lang="en-SG"/>
          </a:p>
        </p:txBody>
      </p:sp>
    </p:spTree>
    <p:extLst>
      <p:ext uri="{BB962C8B-B14F-4D97-AF65-F5344CB8AC3E}">
        <p14:creationId xmlns:p14="http://schemas.microsoft.com/office/powerpoint/2010/main" val="39132283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C34F6-9C6D-4030-9B96-CE54AB566ABA}"/>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E9EA6EF7-4938-454E-88DD-F5547BD77F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E801C47-DC03-44AA-97FF-1D6BBACDD446}"/>
              </a:ext>
            </a:extLst>
          </p:cNvPr>
          <p:cNvSpPr>
            <a:spLocks noGrp="1"/>
          </p:cNvSpPr>
          <p:nvPr>
            <p:ph type="dt" sz="half" idx="10"/>
          </p:nvPr>
        </p:nvSpPr>
        <p:spPr/>
        <p:txBody>
          <a:bodyPr/>
          <a:lstStyle/>
          <a:p>
            <a:fld id="{DB4EF6BE-860E-44B7-B008-E99861730B87}" type="datetimeFigureOut">
              <a:rPr lang="en-SG" smtClean="0"/>
              <a:t>8/9/2021</a:t>
            </a:fld>
            <a:endParaRPr lang="en-SG"/>
          </a:p>
        </p:txBody>
      </p:sp>
      <p:sp>
        <p:nvSpPr>
          <p:cNvPr id="5" name="Footer Placeholder 4">
            <a:extLst>
              <a:ext uri="{FF2B5EF4-FFF2-40B4-BE49-F238E27FC236}">
                <a16:creationId xmlns:a16="http://schemas.microsoft.com/office/drawing/2014/main" id="{1B64184C-D280-40F7-ACA2-C785F8C48663}"/>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F44D6D37-08F3-42FA-B1CC-AE0A5ABAB87A}"/>
              </a:ext>
            </a:extLst>
          </p:cNvPr>
          <p:cNvSpPr>
            <a:spLocks noGrp="1"/>
          </p:cNvSpPr>
          <p:nvPr>
            <p:ph type="sldNum" sz="quarter" idx="12"/>
          </p:nvPr>
        </p:nvSpPr>
        <p:spPr/>
        <p:txBody>
          <a:bodyPr/>
          <a:lstStyle/>
          <a:p>
            <a:fld id="{2228530E-554C-4D3C-AC8C-F7F3DFCE3101}" type="slidenum">
              <a:rPr lang="en-SG" smtClean="0"/>
              <a:t>‹#›</a:t>
            </a:fld>
            <a:endParaRPr lang="en-SG"/>
          </a:p>
        </p:txBody>
      </p:sp>
    </p:spTree>
    <p:extLst>
      <p:ext uri="{BB962C8B-B14F-4D97-AF65-F5344CB8AC3E}">
        <p14:creationId xmlns:p14="http://schemas.microsoft.com/office/powerpoint/2010/main" val="2210303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6E9E8-E664-4695-AAEC-97A0DF6755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846751D1-966C-4A0B-BCBE-79B8EA3E3A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D9B69D-95CC-4198-A753-FBA031AC039F}"/>
              </a:ext>
            </a:extLst>
          </p:cNvPr>
          <p:cNvSpPr>
            <a:spLocks noGrp="1"/>
          </p:cNvSpPr>
          <p:nvPr>
            <p:ph type="dt" sz="half" idx="10"/>
          </p:nvPr>
        </p:nvSpPr>
        <p:spPr/>
        <p:txBody>
          <a:bodyPr/>
          <a:lstStyle/>
          <a:p>
            <a:fld id="{DB4EF6BE-860E-44B7-B008-E99861730B87}" type="datetimeFigureOut">
              <a:rPr lang="en-SG" smtClean="0"/>
              <a:t>8/9/2021</a:t>
            </a:fld>
            <a:endParaRPr lang="en-SG"/>
          </a:p>
        </p:txBody>
      </p:sp>
      <p:sp>
        <p:nvSpPr>
          <p:cNvPr id="5" name="Footer Placeholder 4">
            <a:extLst>
              <a:ext uri="{FF2B5EF4-FFF2-40B4-BE49-F238E27FC236}">
                <a16:creationId xmlns:a16="http://schemas.microsoft.com/office/drawing/2014/main" id="{8E33B966-4EDF-42A5-B4F1-638C1772490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2013C67-EE50-4C3B-ACF2-D89E448B6926}"/>
              </a:ext>
            </a:extLst>
          </p:cNvPr>
          <p:cNvSpPr>
            <a:spLocks noGrp="1"/>
          </p:cNvSpPr>
          <p:nvPr>
            <p:ph type="sldNum" sz="quarter" idx="12"/>
          </p:nvPr>
        </p:nvSpPr>
        <p:spPr/>
        <p:txBody>
          <a:bodyPr/>
          <a:lstStyle/>
          <a:p>
            <a:fld id="{2228530E-554C-4D3C-AC8C-F7F3DFCE3101}" type="slidenum">
              <a:rPr lang="en-SG" smtClean="0"/>
              <a:t>‹#›</a:t>
            </a:fld>
            <a:endParaRPr lang="en-SG"/>
          </a:p>
        </p:txBody>
      </p:sp>
    </p:spTree>
    <p:extLst>
      <p:ext uri="{BB962C8B-B14F-4D97-AF65-F5344CB8AC3E}">
        <p14:creationId xmlns:p14="http://schemas.microsoft.com/office/powerpoint/2010/main" val="836225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67EDD-261F-4BE5-A819-183C2BFBB6EE}"/>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22F7F9D0-D1C8-4ACF-93D6-A11D76EF17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70E20185-A23D-4CE2-A7D4-816D99EC21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59D1DB00-B480-4D64-9461-84DD844E79FD}"/>
              </a:ext>
            </a:extLst>
          </p:cNvPr>
          <p:cNvSpPr>
            <a:spLocks noGrp="1"/>
          </p:cNvSpPr>
          <p:nvPr>
            <p:ph type="dt" sz="half" idx="10"/>
          </p:nvPr>
        </p:nvSpPr>
        <p:spPr/>
        <p:txBody>
          <a:bodyPr/>
          <a:lstStyle/>
          <a:p>
            <a:fld id="{DB4EF6BE-860E-44B7-B008-E99861730B87}" type="datetimeFigureOut">
              <a:rPr lang="en-SG" smtClean="0"/>
              <a:t>8/9/2021</a:t>
            </a:fld>
            <a:endParaRPr lang="en-SG"/>
          </a:p>
        </p:txBody>
      </p:sp>
      <p:sp>
        <p:nvSpPr>
          <p:cNvPr id="6" name="Footer Placeholder 5">
            <a:extLst>
              <a:ext uri="{FF2B5EF4-FFF2-40B4-BE49-F238E27FC236}">
                <a16:creationId xmlns:a16="http://schemas.microsoft.com/office/drawing/2014/main" id="{815EF6C8-B9C0-4EAF-84DC-121C5A18E59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F08F2860-81F1-40C8-BF1D-5EBFF9F28343}"/>
              </a:ext>
            </a:extLst>
          </p:cNvPr>
          <p:cNvSpPr>
            <a:spLocks noGrp="1"/>
          </p:cNvSpPr>
          <p:nvPr>
            <p:ph type="sldNum" sz="quarter" idx="12"/>
          </p:nvPr>
        </p:nvSpPr>
        <p:spPr/>
        <p:txBody>
          <a:bodyPr/>
          <a:lstStyle/>
          <a:p>
            <a:fld id="{2228530E-554C-4D3C-AC8C-F7F3DFCE3101}" type="slidenum">
              <a:rPr lang="en-SG" smtClean="0"/>
              <a:t>‹#›</a:t>
            </a:fld>
            <a:endParaRPr lang="en-SG"/>
          </a:p>
        </p:txBody>
      </p:sp>
    </p:spTree>
    <p:extLst>
      <p:ext uri="{BB962C8B-B14F-4D97-AF65-F5344CB8AC3E}">
        <p14:creationId xmlns:p14="http://schemas.microsoft.com/office/powerpoint/2010/main" val="1462338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3409B-C3A1-44AD-B316-A67BB41B42F3}"/>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AE9284E6-BA47-49EC-ACF3-8417BE3CBF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ABCFF8-AC76-4442-B33A-6B27444BD7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8C59D98F-F6C0-4C56-8E47-3A8594695D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0AFB92-F6B5-4667-8324-8AE56206E1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4237D86B-31D0-454D-85DD-FDD709648AD2}"/>
              </a:ext>
            </a:extLst>
          </p:cNvPr>
          <p:cNvSpPr>
            <a:spLocks noGrp="1"/>
          </p:cNvSpPr>
          <p:nvPr>
            <p:ph type="dt" sz="half" idx="10"/>
          </p:nvPr>
        </p:nvSpPr>
        <p:spPr/>
        <p:txBody>
          <a:bodyPr/>
          <a:lstStyle/>
          <a:p>
            <a:fld id="{DB4EF6BE-860E-44B7-B008-E99861730B87}" type="datetimeFigureOut">
              <a:rPr lang="en-SG" smtClean="0"/>
              <a:t>8/9/2021</a:t>
            </a:fld>
            <a:endParaRPr lang="en-SG"/>
          </a:p>
        </p:txBody>
      </p:sp>
      <p:sp>
        <p:nvSpPr>
          <p:cNvPr id="8" name="Footer Placeholder 7">
            <a:extLst>
              <a:ext uri="{FF2B5EF4-FFF2-40B4-BE49-F238E27FC236}">
                <a16:creationId xmlns:a16="http://schemas.microsoft.com/office/drawing/2014/main" id="{4B9B5DF6-F8D8-4403-A743-32A0D2B665A2}"/>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350B69E4-2AB2-4230-BC7C-247CEC72D4E4}"/>
              </a:ext>
            </a:extLst>
          </p:cNvPr>
          <p:cNvSpPr>
            <a:spLocks noGrp="1"/>
          </p:cNvSpPr>
          <p:nvPr>
            <p:ph type="sldNum" sz="quarter" idx="12"/>
          </p:nvPr>
        </p:nvSpPr>
        <p:spPr/>
        <p:txBody>
          <a:bodyPr/>
          <a:lstStyle/>
          <a:p>
            <a:fld id="{2228530E-554C-4D3C-AC8C-F7F3DFCE3101}" type="slidenum">
              <a:rPr lang="en-SG" smtClean="0"/>
              <a:t>‹#›</a:t>
            </a:fld>
            <a:endParaRPr lang="en-SG"/>
          </a:p>
        </p:txBody>
      </p:sp>
    </p:spTree>
    <p:extLst>
      <p:ext uri="{BB962C8B-B14F-4D97-AF65-F5344CB8AC3E}">
        <p14:creationId xmlns:p14="http://schemas.microsoft.com/office/powerpoint/2010/main" val="21540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D66D0-6093-46B8-8A08-39989E39FA02}"/>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B0F69FFA-9FAF-470D-BB09-D2946089DDC0}"/>
              </a:ext>
            </a:extLst>
          </p:cNvPr>
          <p:cNvSpPr>
            <a:spLocks noGrp="1"/>
          </p:cNvSpPr>
          <p:nvPr>
            <p:ph type="dt" sz="half" idx="10"/>
          </p:nvPr>
        </p:nvSpPr>
        <p:spPr/>
        <p:txBody>
          <a:bodyPr/>
          <a:lstStyle/>
          <a:p>
            <a:fld id="{DB4EF6BE-860E-44B7-B008-E99861730B87}" type="datetimeFigureOut">
              <a:rPr lang="en-SG" smtClean="0"/>
              <a:t>8/9/2021</a:t>
            </a:fld>
            <a:endParaRPr lang="en-SG"/>
          </a:p>
        </p:txBody>
      </p:sp>
      <p:sp>
        <p:nvSpPr>
          <p:cNvPr id="4" name="Footer Placeholder 3">
            <a:extLst>
              <a:ext uri="{FF2B5EF4-FFF2-40B4-BE49-F238E27FC236}">
                <a16:creationId xmlns:a16="http://schemas.microsoft.com/office/drawing/2014/main" id="{6260131C-F8D5-434C-B191-9D3D7B9F40F1}"/>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1780A77B-8F87-43C2-97D7-8CDC360CA854}"/>
              </a:ext>
            </a:extLst>
          </p:cNvPr>
          <p:cNvSpPr>
            <a:spLocks noGrp="1"/>
          </p:cNvSpPr>
          <p:nvPr>
            <p:ph type="sldNum" sz="quarter" idx="12"/>
          </p:nvPr>
        </p:nvSpPr>
        <p:spPr/>
        <p:txBody>
          <a:bodyPr/>
          <a:lstStyle/>
          <a:p>
            <a:fld id="{2228530E-554C-4D3C-AC8C-F7F3DFCE3101}" type="slidenum">
              <a:rPr lang="en-SG" smtClean="0"/>
              <a:t>‹#›</a:t>
            </a:fld>
            <a:endParaRPr lang="en-SG"/>
          </a:p>
        </p:txBody>
      </p:sp>
    </p:spTree>
    <p:extLst>
      <p:ext uri="{BB962C8B-B14F-4D97-AF65-F5344CB8AC3E}">
        <p14:creationId xmlns:p14="http://schemas.microsoft.com/office/powerpoint/2010/main" val="1261995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FE3CEE-462B-4203-AB63-F5D6ADA55499}"/>
              </a:ext>
            </a:extLst>
          </p:cNvPr>
          <p:cNvSpPr>
            <a:spLocks noGrp="1"/>
          </p:cNvSpPr>
          <p:nvPr>
            <p:ph type="dt" sz="half" idx="10"/>
          </p:nvPr>
        </p:nvSpPr>
        <p:spPr/>
        <p:txBody>
          <a:bodyPr/>
          <a:lstStyle/>
          <a:p>
            <a:fld id="{DB4EF6BE-860E-44B7-B008-E99861730B87}" type="datetimeFigureOut">
              <a:rPr lang="en-SG" smtClean="0"/>
              <a:t>8/9/2021</a:t>
            </a:fld>
            <a:endParaRPr lang="en-SG"/>
          </a:p>
        </p:txBody>
      </p:sp>
      <p:sp>
        <p:nvSpPr>
          <p:cNvPr id="3" name="Footer Placeholder 2">
            <a:extLst>
              <a:ext uri="{FF2B5EF4-FFF2-40B4-BE49-F238E27FC236}">
                <a16:creationId xmlns:a16="http://schemas.microsoft.com/office/drawing/2014/main" id="{97AA0FCB-FCBA-4184-81D0-266C4F270998}"/>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D44ADC97-7F7B-4C98-B7EF-C8AC4EF3E676}"/>
              </a:ext>
            </a:extLst>
          </p:cNvPr>
          <p:cNvSpPr>
            <a:spLocks noGrp="1"/>
          </p:cNvSpPr>
          <p:nvPr>
            <p:ph type="sldNum" sz="quarter" idx="12"/>
          </p:nvPr>
        </p:nvSpPr>
        <p:spPr/>
        <p:txBody>
          <a:bodyPr/>
          <a:lstStyle/>
          <a:p>
            <a:fld id="{2228530E-554C-4D3C-AC8C-F7F3DFCE3101}" type="slidenum">
              <a:rPr lang="en-SG" smtClean="0"/>
              <a:t>‹#›</a:t>
            </a:fld>
            <a:endParaRPr lang="en-SG"/>
          </a:p>
        </p:txBody>
      </p:sp>
    </p:spTree>
    <p:extLst>
      <p:ext uri="{BB962C8B-B14F-4D97-AF65-F5344CB8AC3E}">
        <p14:creationId xmlns:p14="http://schemas.microsoft.com/office/powerpoint/2010/main" val="756707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29BBB-8795-4F2C-9F1C-E18E41A9D4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55FC7499-63FA-4266-9CA5-D3FE8A4183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5F330DD5-162C-4D26-8D32-C2ACE64030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4344C1-8FA6-43FD-B86E-53828CF697D2}"/>
              </a:ext>
            </a:extLst>
          </p:cNvPr>
          <p:cNvSpPr>
            <a:spLocks noGrp="1"/>
          </p:cNvSpPr>
          <p:nvPr>
            <p:ph type="dt" sz="half" idx="10"/>
          </p:nvPr>
        </p:nvSpPr>
        <p:spPr/>
        <p:txBody>
          <a:bodyPr/>
          <a:lstStyle/>
          <a:p>
            <a:fld id="{DB4EF6BE-860E-44B7-B008-E99861730B87}" type="datetimeFigureOut">
              <a:rPr lang="en-SG" smtClean="0"/>
              <a:t>8/9/2021</a:t>
            </a:fld>
            <a:endParaRPr lang="en-SG"/>
          </a:p>
        </p:txBody>
      </p:sp>
      <p:sp>
        <p:nvSpPr>
          <p:cNvPr id="6" name="Footer Placeholder 5">
            <a:extLst>
              <a:ext uri="{FF2B5EF4-FFF2-40B4-BE49-F238E27FC236}">
                <a16:creationId xmlns:a16="http://schemas.microsoft.com/office/drawing/2014/main" id="{5F4018E1-392D-408C-8941-9775126A343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4B2F69E4-353D-4188-9148-434096106707}"/>
              </a:ext>
            </a:extLst>
          </p:cNvPr>
          <p:cNvSpPr>
            <a:spLocks noGrp="1"/>
          </p:cNvSpPr>
          <p:nvPr>
            <p:ph type="sldNum" sz="quarter" idx="12"/>
          </p:nvPr>
        </p:nvSpPr>
        <p:spPr/>
        <p:txBody>
          <a:bodyPr/>
          <a:lstStyle/>
          <a:p>
            <a:fld id="{2228530E-554C-4D3C-AC8C-F7F3DFCE3101}" type="slidenum">
              <a:rPr lang="en-SG" smtClean="0"/>
              <a:t>‹#›</a:t>
            </a:fld>
            <a:endParaRPr lang="en-SG"/>
          </a:p>
        </p:txBody>
      </p:sp>
    </p:spTree>
    <p:extLst>
      <p:ext uri="{BB962C8B-B14F-4D97-AF65-F5344CB8AC3E}">
        <p14:creationId xmlns:p14="http://schemas.microsoft.com/office/powerpoint/2010/main" val="3778467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5D613-0CA1-45AE-B6C0-39AC482D79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771D6076-3446-4115-90D6-3882D8140E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B5B74363-57DE-4CA7-B0B6-2E6D0ADDF8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256FC8-C20A-4E2E-A31A-EA0D5F660811}"/>
              </a:ext>
            </a:extLst>
          </p:cNvPr>
          <p:cNvSpPr>
            <a:spLocks noGrp="1"/>
          </p:cNvSpPr>
          <p:nvPr>
            <p:ph type="dt" sz="half" idx="10"/>
          </p:nvPr>
        </p:nvSpPr>
        <p:spPr/>
        <p:txBody>
          <a:bodyPr/>
          <a:lstStyle/>
          <a:p>
            <a:fld id="{DB4EF6BE-860E-44B7-B008-E99861730B87}" type="datetimeFigureOut">
              <a:rPr lang="en-SG" smtClean="0"/>
              <a:t>8/9/2021</a:t>
            </a:fld>
            <a:endParaRPr lang="en-SG"/>
          </a:p>
        </p:txBody>
      </p:sp>
      <p:sp>
        <p:nvSpPr>
          <p:cNvPr id="6" name="Footer Placeholder 5">
            <a:extLst>
              <a:ext uri="{FF2B5EF4-FFF2-40B4-BE49-F238E27FC236}">
                <a16:creationId xmlns:a16="http://schemas.microsoft.com/office/drawing/2014/main" id="{3070946D-904A-431B-BAB9-8B3587302191}"/>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3FAB882-8F44-4062-8A8F-6190FBA76643}"/>
              </a:ext>
            </a:extLst>
          </p:cNvPr>
          <p:cNvSpPr>
            <a:spLocks noGrp="1"/>
          </p:cNvSpPr>
          <p:nvPr>
            <p:ph type="sldNum" sz="quarter" idx="12"/>
          </p:nvPr>
        </p:nvSpPr>
        <p:spPr/>
        <p:txBody>
          <a:bodyPr/>
          <a:lstStyle/>
          <a:p>
            <a:fld id="{2228530E-554C-4D3C-AC8C-F7F3DFCE3101}" type="slidenum">
              <a:rPr lang="en-SG" smtClean="0"/>
              <a:t>‹#›</a:t>
            </a:fld>
            <a:endParaRPr lang="en-SG"/>
          </a:p>
        </p:txBody>
      </p:sp>
    </p:spTree>
    <p:extLst>
      <p:ext uri="{BB962C8B-B14F-4D97-AF65-F5344CB8AC3E}">
        <p14:creationId xmlns:p14="http://schemas.microsoft.com/office/powerpoint/2010/main" val="2549578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EA1D1-3BCF-422B-9ED1-3AE0C9DEBCF0}"/>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039CE50F-33A5-47A0-987D-44DB2DB30C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5AB16DDC-8251-4E2E-86DC-C5E2D872EBC1}"/>
              </a:ext>
            </a:extLst>
          </p:cNvPr>
          <p:cNvSpPr>
            <a:spLocks noGrp="1"/>
          </p:cNvSpPr>
          <p:nvPr>
            <p:ph type="dt" sz="half" idx="10"/>
          </p:nvPr>
        </p:nvSpPr>
        <p:spPr/>
        <p:txBody>
          <a:bodyPr/>
          <a:lstStyle/>
          <a:p>
            <a:fld id="{DB4EF6BE-860E-44B7-B008-E99861730B87}" type="datetimeFigureOut">
              <a:rPr lang="en-SG" smtClean="0"/>
              <a:t>8/9/2021</a:t>
            </a:fld>
            <a:endParaRPr lang="en-SG"/>
          </a:p>
        </p:txBody>
      </p:sp>
      <p:sp>
        <p:nvSpPr>
          <p:cNvPr id="5" name="Footer Placeholder 4">
            <a:extLst>
              <a:ext uri="{FF2B5EF4-FFF2-40B4-BE49-F238E27FC236}">
                <a16:creationId xmlns:a16="http://schemas.microsoft.com/office/drawing/2014/main" id="{E5D850A5-0BD2-40DD-AA84-0EA5D48EC82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4832CF9-8942-43A2-9550-4135A706A2BE}"/>
              </a:ext>
            </a:extLst>
          </p:cNvPr>
          <p:cNvSpPr>
            <a:spLocks noGrp="1"/>
          </p:cNvSpPr>
          <p:nvPr>
            <p:ph type="sldNum" sz="quarter" idx="12"/>
          </p:nvPr>
        </p:nvSpPr>
        <p:spPr/>
        <p:txBody>
          <a:bodyPr/>
          <a:lstStyle/>
          <a:p>
            <a:fld id="{2228530E-554C-4D3C-AC8C-F7F3DFCE3101}" type="slidenum">
              <a:rPr lang="en-SG" smtClean="0"/>
              <a:t>‹#›</a:t>
            </a:fld>
            <a:endParaRPr lang="en-SG"/>
          </a:p>
        </p:txBody>
      </p:sp>
    </p:spTree>
    <p:extLst>
      <p:ext uri="{BB962C8B-B14F-4D97-AF65-F5344CB8AC3E}">
        <p14:creationId xmlns:p14="http://schemas.microsoft.com/office/powerpoint/2010/main" val="3019543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221F8C-8B83-43A9-9397-E6DE1EF1526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2A0D4259-D513-4970-8801-22DE984EBBD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E88ADBC2-42CE-4AB1-B0F3-504390A52F41}"/>
              </a:ext>
            </a:extLst>
          </p:cNvPr>
          <p:cNvSpPr>
            <a:spLocks noGrp="1"/>
          </p:cNvSpPr>
          <p:nvPr>
            <p:ph type="dt" sz="half" idx="10"/>
          </p:nvPr>
        </p:nvSpPr>
        <p:spPr/>
        <p:txBody>
          <a:bodyPr/>
          <a:lstStyle/>
          <a:p>
            <a:fld id="{DB4EF6BE-860E-44B7-B008-E99861730B87}" type="datetimeFigureOut">
              <a:rPr lang="en-SG" smtClean="0"/>
              <a:t>8/9/2021</a:t>
            </a:fld>
            <a:endParaRPr lang="en-SG"/>
          </a:p>
        </p:txBody>
      </p:sp>
      <p:sp>
        <p:nvSpPr>
          <p:cNvPr id="5" name="Footer Placeholder 4">
            <a:extLst>
              <a:ext uri="{FF2B5EF4-FFF2-40B4-BE49-F238E27FC236}">
                <a16:creationId xmlns:a16="http://schemas.microsoft.com/office/drawing/2014/main" id="{7E42F722-5F04-47DA-B3E2-C88B9C7E628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81B19DC0-A1E7-4A27-A7F8-E21B620FD4E0}"/>
              </a:ext>
            </a:extLst>
          </p:cNvPr>
          <p:cNvSpPr>
            <a:spLocks noGrp="1"/>
          </p:cNvSpPr>
          <p:nvPr>
            <p:ph type="sldNum" sz="quarter" idx="12"/>
          </p:nvPr>
        </p:nvSpPr>
        <p:spPr/>
        <p:txBody>
          <a:bodyPr/>
          <a:lstStyle/>
          <a:p>
            <a:fld id="{2228530E-554C-4D3C-AC8C-F7F3DFCE3101}" type="slidenum">
              <a:rPr lang="en-SG" smtClean="0"/>
              <a:t>‹#›</a:t>
            </a:fld>
            <a:endParaRPr lang="en-SG"/>
          </a:p>
        </p:txBody>
      </p:sp>
    </p:spTree>
    <p:extLst>
      <p:ext uri="{BB962C8B-B14F-4D97-AF65-F5344CB8AC3E}">
        <p14:creationId xmlns:p14="http://schemas.microsoft.com/office/powerpoint/2010/main" val="1769541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FC335B-DC6C-4BB5-A6A5-6374B58B24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CEF8BDF0-B227-4D26-AD80-3E96A3A01F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EEC7C9A-9DB0-4FC5-AEF1-28B2D2895D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4EF6BE-860E-44B7-B008-E99861730B87}" type="datetimeFigureOut">
              <a:rPr lang="en-SG" smtClean="0"/>
              <a:t>8/9/2021</a:t>
            </a:fld>
            <a:endParaRPr lang="en-SG"/>
          </a:p>
        </p:txBody>
      </p:sp>
      <p:sp>
        <p:nvSpPr>
          <p:cNvPr id="5" name="Footer Placeholder 4">
            <a:extLst>
              <a:ext uri="{FF2B5EF4-FFF2-40B4-BE49-F238E27FC236}">
                <a16:creationId xmlns:a16="http://schemas.microsoft.com/office/drawing/2014/main" id="{8DAF9D3C-76CE-4679-825E-E587B1087C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FDDE281B-0873-40C3-88FB-EB2F59A7C4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28530E-554C-4D3C-AC8C-F7F3DFCE3101}" type="slidenum">
              <a:rPr lang="en-SG" smtClean="0"/>
              <a:t>‹#›</a:t>
            </a:fld>
            <a:endParaRPr lang="en-SG"/>
          </a:p>
        </p:txBody>
      </p:sp>
    </p:spTree>
    <p:extLst>
      <p:ext uri="{BB962C8B-B14F-4D97-AF65-F5344CB8AC3E}">
        <p14:creationId xmlns:p14="http://schemas.microsoft.com/office/powerpoint/2010/main" val="38318181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B3ACDB-B1D4-4258-9487-9533E032F7DA}"/>
              </a:ext>
            </a:extLst>
          </p:cNvPr>
          <p:cNvSpPr txBox="1"/>
          <p:nvPr/>
        </p:nvSpPr>
        <p:spPr>
          <a:xfrm>
            <a:off x="184558" y="83890"/>
            <a:ext cx="11643919" cy="4678204"/>
          </a:xfrm>
          <a:prstGeom prst="rect">
            <a:avLst/>
          </a:prstGeom>
          <a:noFill/>
        </p:spPr>
        <p:txBody>
          <a:bodyPr wrap="square">
            <a:spAutoFit/>
          </a:bodyPr>
          <a:lstStyle/>
          <a:p>
            <a:pPr marL="0" marR="0">
              <a:spcBef>
                <a:spcPts val="2400"/>
              </a:spcBef>
              <a:spcAft>
                <a:spcPts val="0"/>
              </a:spcAft>
            </a:pPr>
            <a:r>
              <a:rPr lang="en-SG" sz="6000" b="1" spc="-5" dirty="0">
                <a:solidFill>
                  <a:srgbClr val="292929"/>
                </a:solidFill>
                <a:latin typeface="Times New Roman" panose="02020603050405020304" pitchFamily="18" charset="0"/>
                <a:ea typeface="Times New Roman" panose="02020603050405020304" pitchFamily="18" charset="0"/>
                <a:cs typeface="Times New Roman" panose="02020603050405020304" pitchFamily="18" charset="0"/>
              </a:rPr>
              <a:t>s</a:t>
            </a:r>
            <a:r>
              <a:rPr lang="en-SG" sz="1800" b="1" spc="-5" dirty="0">
                <a:solidFill>
                  <a:srgbClr val="292929"/>
                </a:solidFill>
                <a:effectLst/>
                <a:latin typeface="Times New Roman" panose="02020603050405020304" pitchFamily="18" charset="0"/>
                <a:ea typeface="Times New Roman" panose="02020603050405020304" pitchFamily="18" charset="0"/>
                <a:cs typeface="Times New Roman" panose="02020603050405020304" pitchFamily="18" charset="0"/>
              </a:rPr>
              <a:t>oftware architecture </a:t>
            </a:r>
          </a:p>
          <a:p>
            <a:pPr marL="285750" marR="0" indent="-285750">
              <a:spcBef>
                <a:spcPts val="2400"/>
              </a:spcBef>
              <a:spcAft>
                <a:spcPts val="0"/>
              </a:spcAft>
              <a:buFont typeface="Wingdings" panose="05000000000000000000" pitchFamily="2" charset="2"/>
              <a:buChar char="Ø"/>
            </a:pPr>
            <a:r>
              <a:rPr lang="en-SG" sz="1800" spc="-5" dirty="0">
                <a:solidFill>
                  <a:srgbClr val="292929"/>
                </a:solidFill>
                <a:effectLst/>
                <a:latin typeface="Times New Roman" panose="02020603050405020304" pitchFamily="18" charset="0"/>
                <a:ea typeface="Times New Roman" panose="02020603050405020304" pitchFamily="18" charset="0"/>
                <a:cs typeface="Times New Roman" panose="02020603050405020304" pitchFamily="18" charset="0"/>
              </a:rPr>
              <a:t>Software Architecture consists of word software and architecture. First, we must understand the definition of these two words, software, and architecture. </a:t>
            </a:r>
          </a:p>
          <a:p>
            <a:pPr marL="285750" marR="0" indent="-285750">
              <a:spcBef>
                <a:spcPts val="2400"/>
              </a:spcBef>
              <a:spcAft>
                <a:spcPts val="0"/>
              </a:spcAft>
              <a:buFont typeface="Wingdings" panose="05000000000000000000" pitchFamily="2" charset="2"/>
              <a:buChar char="Ø"/>
            </a:pPr>
            <a:r>
              <a:rPr lang="en-SG" sz="1800" spc="-5" dirty="0">
                <a:solidFill>
                  <a:srgbClr val="292929"/>
                </a:solidFill>
                <a:effectLst/>
                <a:latin typeface="Times New Roman" panose="02020603050405020304" pitchFamily="18" charset="0"/>
                <a:ea typeface="Calibri" panose="020F0502020204030204" pitchFamily="34" charset="0"/>
                <a:cs typeface="Times New Roman" panose="02020603050405020304" pitchFamily="18" charset="0"/>
              </a:rPr>
              <a:t>A computer program or </a:t>
            </a:r>
            <a:r>
              <a:rPr lang="en-SG" sz="1800" b="1" spc="-5" dirty="0">
                <a:solidFill>
                  <a:srgbClr val="292929"/>
                </a:solidFill>
                <a:effectLst/>
                <a:latin typeface="Times New Roman" panose="02020603050405020304" pitchFamily="18" charset="0"/>
                <a:ea typeface="Calibri" panose="020F0502020204030204" pitchFamily="34" charset="0"/>
                <a:cs typeface="Times New Roman" panose="02020603050405020304" pitchFamily="18" charset="0"/>
              </a:rPr>
              <a:t>software</a:t>
            </a:r>
            <a:r>
              <a:rPr lang="en-SG" sz="1800" spc="-5" dirty="0">
                <a:solidFill>
                  <a:srgbClr val="292929"/>
                </a:solidFill>
                <a:effectLst/>
                <a:latin typeface="Times New Roman" panose="02020603050405020304" pitchFamily="18" charset="0"/>
                <a:ea typeface="Calibri" panose="020F0502020204030204" pitchFamily="34" charset="0"/>
                <a:cs typeface="Times New Roman" panose="02020603050405020304" pitchFamily="18" charset="0"/>
              </a:rPr>
              <a:t> is a collection of computer instruction or compilation of information that tells the computer how to work and execute task or activities. </a:t>
            </a:r>
          </a:p>
          <a:p>
            <a:pPr marL="285750" indent="-285750">
              <a:buFont typeface="Wingdings" panose="05000000000000000000" pitchFamily="2" charset="2"/>
              <a:buChar char="Ø"/>
            </a:pPr>
            <a:endParaRPr lang="en-SG" spc="-5" dirty="0">
              <a:solidFill>
                <a:srgbClr val="292929"/>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SG" sz="1800" spc="-5" dirty="0">
                <a:solidFill>
                  <a:srgbClr val="292929"/>
                </a:solidFill>
                <a:effectLst/>
                <a:latin typeface="Times New Roman" panose="02020603050405020304" pitchFamily="18" charset="0"/>
                <a:ea typeface="Times New Roman" panose="02020603050405020304" pitchFamily="18" charset="0"/>
                <a:cs typeface="Times New Roman" panose="02020603050405020304" pitchFamily="18" charset="0"/>
              </a:rPr>
              <a:t>In computer science or software engineering, computer software is all information processed by computer systems, programs, and data. </a:t>
            </a:r>
          </a:p>
          <a:p>
            <a:pPr marL="285750" indent="-285750">
              <a:buFont typeface="Wingdings" panose="05000000000000000000" pitchFamily="2" charset="2"/>
              <a:buChar char="Ø"/>
            </a:pPr>
            <a:endParaRPr lang="en-SG" spc="-5" dirty="0">
              <a:solidFill>
                <a:srgbClr val="292929"/>
              </a:solidFill>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SG" sz="1800" spc="-5" dirty="0">
                <a:solidFill>
                  <a:srgbClr val="292929"/>
                </a:solidFill>
                <a:effectLst/>
                <a:latin typeface="Times New Roman" panose="02020603050405020304" pitchFamily="18" charset="0"/>
                <a:ea typeface="Times New Roman" panose="02020603050405020304" pitchFamily="18" charset="0"/>
                <a:cs typeface="Times New Roman" panose="02020603050405020304" pitchFamily="18" charset="0"/>
              </a:rPr>
              <a:t>Computer software includes computer programs, libraries, patches, and related non-executable data, such as online documentation or digital media. Computer hardware and software need each other, and they cannot be used separately.</a:t>
            </a:r>
            <a:endParaRPr lang="en-SG"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SG" spc="-5" dirty="0">
              <a:solidFill>
                <a:srgbClr val="292929"/>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8355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74F013-8ACE-4428-BF31-0D0960526B95}"/>
              </a:ext>
            </a:extLst>
          </p:cNvPr>
          <p:cNvSpPr txBox="1"/>
          <p:nvPr/>
        </p:nvSpPr>
        <p:spPr>
          <a:xfrm>
            <a:off x="226502" y="100668"/>
            <a:ext cx="11965497" cy="7294305"/>
          </a:xfrm>
          <a:prstGeom prst="rect">
            <a:avLst/>
          </a:prstGeom>
          <a:noFill/>
        </p:spPr>
        <p:txBody>
          <a:bodyPr wrap="square">
            <a:spAutoFit/>
          </a:bodyPr>
          <a:lstStyle/>
          <a:p>
            <a:pPr marL="285750" indent="-285750">
              <a:buFont typeface="Wingdings" panose="05000000000000000000" pitchFamily="2" charset="2"/>
              <a:buChar char="Ø"/>
            </a:pPr>
            <a:r>
              <a:rPr lang="en-US" b="1" i="0" dirty="0">
                <a:solidFill>
                  <a:srgbClr val="000000"/>
                </a:solidFill>
                <a:effectLst/>
                <a:latin typeface="Arial" panose="020B0604020202020204" pitchFamily="34" charset="0"/>
              </a:rPr>
              <a:t>Software Architecture</a:t>
            </a:r>
            <a:r>
              <a:rPr lang="en-US" b="0" i="0" dirty="0">
                <a:solidFill>
                  <a:srgbClr val="000000"/>
                </a:solidFill>
                <a:effectLst/>
                <a:latin typeface="Arial" panose="020B0604020202020204" pitchFamily="34" charset="0"/>
              </a:rPr>
              <a:t> typically refers to the bigger structures of a software system, and it deals with how multiple software processes cooperate to carry out their tasks. </a:t>
            </a:r>
          </a:p>
          <a:p>
            <a:pPr marL="285750" indent="-285750">
              <a:buFont typeface="Wingdings" panose="05000000000000000000" pitchFamily="2" charset="2"/>
              <a:buChar char="Ø"/>
            </a:pPr>
            <a:endParaRPr lang="en-US" dirty="0">
              <a:solidFill>
                <a:srgbClr val="000000"/>
              </a:solidFill>
              <a:latin typeface="Arial" panose="020B0604020202020204" pitchFamily="34" charset="0"/>
            </a:endParaRPr>
          </a:p>
          <a:p>
            <a:pPr marL="285750" indent="-285750">
              <a:buFont typeface="Wingdings" panose="05000000000000000000" pitchFamily="2" charset="2"/>
              <a:buChar char="Ø"/>
            </a:pPr>
            <a:r>
              <a:rPr lang="en-US" b="1" i="0" dirty="0">
                <a:solidFill>
                  <a:srgbClr val="000000"/>
                </a:solidFill>
                <a:effectLst/>
                <a:latin typeface="Arial" panose="020B0604020202020204" pitchFamily="34" charset="0"/>
              </a:rPr>
              <a:t>Software Design</a:t>
            </a:r>
            <a:r>
              <a:rPr lang="en-US" b="0" i="0" dirty="0">
                <a:solidFill>
                  <a:srgbClr val="000000"/>
                </a:solidFill>
                <a:effectLst/>
                <a:latin typeface="Arial" panose="020B0604020202020204" pitchFamily="34" charset="0"/>
              </a:rPr>
              <a:t> refers to the smaller structures and it deals with the internal design of a single software process. </a:t>
            </a:r>
          </a:p>
          <a:p>
            <a:pPr marL="285750" indent="-285750">
              <a:buFont typeface="Wingdings" panose="05000000000000000000" pitchFamily="2" charset="2"/>
              <a:buChar char="Ø"/>
            </a:pPr>
            <a:endParaRPr lang="en-US" dirty="0">
              <a:solidFill>
                <a:srgbClr val="000000"/>
              </a:solidFill>
              <a:latin typeface="Arial" panose="020B0604020202020204" pitchFamily="34" charset="0"/>
            </a:endParaRPr>
          </a:p>
          <a:p>
            <a:pPr marL="285750" indent="-285750" algn="just">
              <a:buFont typeface="Wingdings" panose="05000000000000000000" pitchFamily="2" charset="2"/>
              <a:buChar char="Ø"/>
            </a:pPr>
            <a:r>
              <a:rPr lang="en-US" b="0" i="0" dirty="0">
                <a:solidFill>
                  <a:srgbClr val="000000"/>
                </a:solidFill>
                <a:effectLst/>
                <a:latin typeface="Arial" panose="020B0604020202020204" pitchFamily="34" charset="0"/>
              </a:rPr>
              <a:t>The architecture of a system describes its major components, their relationships (structures), and how they interact with each other. </a:t>
            </a:r>
          </a:p>
          <a:p>
            <a:pPr marL="285750" indent="-285750" algn="just">
              <a:buFont typeface="Wingdings" panose="05000000000000000000" pitchFamily="2" charset="2"/>
              <a:buChar char="Ø"/>
            </a:pPr>
            <a:endParaRPr lang="en-US" dirty="0">
              <a:solidFill>
                <a:srgbClr val="000000"/>
              </a:solidFill>
              <a:latin typeface="Arial" panose="020B0604020202020204" pitchFamily="34" charset="0"/>
            </a:endParaRPr>
          </a:p>
          <a:p>
            <a:pPr marL="285750" indent="-285750" algn="just">
              <a:buFont typeface="Wingdings" panose="05000000000000000000" pitchFamily="2" charset="2"/>
              <a:buChar char="Ø"/>
            </a:pPr>
            <a:r>
              <a:rPr lang="en-US" b="0" i="0" dirty="0">
                <a:solidFill>
                  <a:srgbClr val="000000"/>
                </a:solidFill>
                <a:effectLst/>
                <a:latin typeface="Arial" panose="020B0604020202020204" pitchFamily="34" charset="0"/>
              </a:rPr>
              <a:t>Software architecture and design includes several contributory factors such as Business strategy, quality attributes, human dynamics, design, and IT environment.</a:t>
            </a:r>
          </a:p>
          <a:p>
            <a:pPr marL="285750" indent="-285750" algn="just">
              <a:buFont typeface="Wingdings" panose="05000000000000000000" pitchFamily="2" charset="2"/>
              <a:buChar char="Ø"/>
            </a:pPr>
            <a:endParaRPr lang="en-US" dirty="0">
              <a:solidFill>
                <a:srgbClr val="000000"/>
              </a:solidFill>
              <a:latin typeface="Arial" panose="020B0604020202020204" pitchFamily="34" charset="0"/>
            </a:endParaRPr>
          </a:p>
          <a:p>
            <a:pPr algn="just"/>
            <a:endParaRPr lang="en-US" b="0" i="0" dirty="0">
              <a:solidFill>
                <a:srgbClr val="000000"/>
              </a:solidFill>
              <a:effectLst/>
              <a:latin typeface="Arial" panose="020B0604020202020204" pitchFamily="34" charset="0"/>
            </a:endParaRPr>
          </a:p>
          <a:p>
            <a:pPr marL="285750" indent="-285750" algn="just">
              <a:buFont typeface="Wingdings" panose="05000000000000000000" pitchFamily="2" charset="2"/>
              <a:buChar char="Ø"/>
            </a:pPr>
            <a:r>
              <a:rPr lang="en-US" b="0" i="0" dirty="0">
                <a:solidFill>
                  <a:srgbClr val="000000"/>
                </a:solidFill>
                <a:effectLst/>
                <a:latin typeface="Arial" panose="020B0604020202020204" pitchFamily="34" charset="0"/>
              </a:rPr>
              <a:t>We can segregate Software Architecture and Design into two distinct phases: </a:t>
            </a:r>
          </a:p>
          <a:p>
            <a:pPr marL="285750" indent="-285750" algn="just">
              <a:buFont typeface="Wingdings" panose="05000000000000000000" pitchFamily="2" charset="2"/>
              <a:buChar char="Ø"/>
            </a:pPr>
            <a:endParaRPr lang="en-US" dirty="0">
              <a:solidFill>
                <a:srgbClr val="000000"/>
              </a:solidFill>
              <a:latin typeface="Arial" panose="020B0604020202020204" pitchFamily="34" charset="0"/>
            </a:endParaRPr>
          </a:p>
          <a:p>
            <a:pPr algn="just"/>
            <a:r>
              <a:rPr lang="en-US" b="1" i="0" dirty="0">
                <a:solidFill>
                  <a:srgbClr val="000000"/>
                </a:solidFill>
                <a:effectLst/>
                <a:latin typeface="Arial" panose="020B0604020202020204" pitchFamily="34" charset="0"/>
              </a:rPr>
              <a:t>Software Architecture and Software Design. </a:t>
            </a:r>
          </a:p>
          <a:p>
            <a:pPr marL="285750" indent="-285750" algn="just">
              <a:buFont typeface="Wingdings" panose="05000000000000000000" pitchFamily="2" charset="2"/>
              <a:buChar char="Ø"/>
            </a:pPr>
            <a:endParaRPr lang="en-US" dirty="0">
              <a:solidFill>
                <a:srgbClr val="000000"/>
              </a:solidFill>
              <a:latin typeface="Arial" panose="020B0604020202020204" pitchFamily="34" charset="0"/>
            </a:endParaRPr>
          </a:p>
          <a:p>
            <a:pPr algn="just"/>
            <a:endParaRPr lang="en-US" b="0" i="0" dirty="0">
              <a:solidFill>
                <a:srgbClr val="000000"/>
              </a:solidFill>
              <a:effectLst/>
              <a:latin typeface="Arial" panose="020B0604020202020204" pitchFamily="34" charset="0"/>
            </a:endParaRPr>
          </a:p>
          <a:p>
            <a:pPr algn="just"/>
            <a:endParaRPr lang="en-US" dirty="0">
              <a:solidFill>
                <a:srgbClr val="000000"/>
              </a:solidFill>
              <a:latin typeface="Arial" panose="020B0604020202020204" pitchFamily="34" charset="0"/>
            </a:endParaRPr>
          </a:p>
          <a:p>
            <a:pPr algn="just"/>
            <a:endParaRPr lang="en-US" b="0" i="0" dirty="0">
              <a:solidFill>
                <a:srgbClr val="000000"/>
              </a:solidFill>
              <a:effectLst/>
              <a:latin typeface="Arial" panose="020B0604020202020204" pitchFamily="34" charset="0"/>
            </a:endParaRPr>
          </a:p>
          <a:p>
            <a:pPr algn="just"/>
            <a:endParaRPr lang="en-US" dirty="0">
              <a:solidFill>
                <a:srgbClr val="000000"/>
              </a:solidFill>
              <a:latin typeface="Arial" panose="020B0604020202020204" pitchFamily="34" charset="0"/>
            </a:endParaRPr>
          </a:p>
          <a:p>
            <a:pPr algn="just"/>
            <a:endParaRPr lang="en-US" b="0" i="0" dirty="0">
              <a:solidFill>
                <a:srgbClr val="000000"/>
              </a:solidFill>
              <a:effectLst/>
              <a:latin typeface="Arial" panose="020B0604020202020204" pitchFamily="34" charset="0"/>
            </a:endParaRPr>
          </a:p>
          <a:p>
            <a:pPr algn="just"/>
            <a:endParaRPr lang="en-US" dirty="0">
              <a:solidFill>
                <a:srgbClr val="000000"/>
              </a:solidFill>
              <a:latin typeface="Arial" panose="020B0604020202020204" pitchFamily="34" charset="0"/>
            </a:endParaRPr>
          </a:p>
          <a:p>
            <a:pPr algn="just"/>
            <a:endParaRPr lang="en-US" b="0" i="0" dirty="0">
              <a:solidFill>
                <a:srgbClr val="000000"/>
              </a:solidFill>
              <a:effectLst/>
              <a:latin typeface="Arial" panose="020B0604020202020204" pitchFamily="34" charset="0"/>
            </a:endParaRPr>
          </a:p>
          <a:p>
            <a:br>
              <a:rPr lang="en-US" dirty="0"/>
            </a:br>
            <a:endParaRPr lang="en-SG" dirty="0"/>
          </a:p>
        </p:txBody>
      </p:sp>
    </p:spTree>
    <p:extLst>
      <p:ext uri="{BB962C8B-B14F-4D97-AF65-F5344CB8AC3E}">
        <p14:creationId xmlns:p14="http://schemas.microsoft.com/office/powerpoint/2010/main" val="1560481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oftware Architecture Types">
            <a:extLst>
              <a:ext uri="{FF2B5EF4-FFF2-40B4-BE49-F238E27FC236}">
                <a16:creationId xmlns:a16="http://schemas.microsoft.com/office/drawing/2014/main" id="{A6A49E96-C22F-47CA-9408-83EC2AF327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8190" y="695843"/>
            <a:ext cx="8422547" cy="4966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4795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810A95-3F32-4087-AE6C-2E01A886BFD4}"/>
              </a:ext>
            </a:extLst>
          </p:cNvPr>
          <p:cNvSpPr txBox="1"/>
          <p:nvPr/>
        </p:nvSpPr>
        <p:spPr>
          <a:xfrm>
            <a:off x="304800" y="197709"/>
            <a:ext cx="11648303" cy="2862322"/>
          </a:xfrm>
          <a:prstGeom prst="rect">
            <a:avLst/>
          </a:prstGeom>
          <a:noFill/>
        </p:spPr>
        <p:txBody>
          <a:bodyPr wrap="square">
            <a:spAutoFit/>
          </a:bodyPr>
          <a:lstStyle/>
          <a:p>
            <a:pPr algn="l"/>
            <a:r>
              <a:rPr lang="en-US" b="0" i="0" dirty="0">
                <a:solidFill>
                  <a:srgbClr val="000000"/>
                </a:solidFill>
                <a:effectLst/>
                <a:latin typeface="Times New Roman" panose="02020603050405020304" pitchFamily="18" charset="0"/>
                <a:cs typeface="Times New Roman" panose="02020603050405020304" pitchFamily="18" charset="0"/>
              </a:rPr>
              <a:t>What is Software Architecture Design?</a:t>
            </a:r>
          </a:p>
          <a:p>
            <a:pPr algn="l"/>
            <a:endParaRPr lang="en-US" b="0" i="0" dirty="0">
              <a:solidFill>
                <a:srgbClr val="000000"/>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b="0" i="0" u="none" strike="noStrike" dirty="0">
                <a:solidFill>
                  <a:srgbClr val="000000"/>
                </a:solidFill>
                <a:effectLst/>
                <a:latin typeface="Times New Roman" panose="02020603050405020304" pitchFamily="18" charset="0"/>
                <a:cs typeface="Times New Roman" panose="02020603050405020304" pitchFamily="18" charset="0"/>
              </a:rPr>
              <a:t>Software architecture design is a representation of system which aids in the understanding of how the system will behave.</a:t>
            </a:r>
          </a:p>
          <a:p>
            <a:pPr marL="285750" indent="-285750" algn="l">
              <a:buFont typeface="Wingdings" panose="05000000000000000000" pitchFamily="2" charset="2"/>
              <a:buChar char="Ø"/>
            </a:pPr>
            <a:endParaRPr lang="en-US" b="0" i="0" u="none" strike="noStrike" dirty="0">
              <a:solidFill>
                <a:srgbClr val="000000"/>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b="0" i="0" u="none" strike="noStrike" dirty="0">
                <a:solidFill>
                  <a:srgbClr val="000000"/>
                </a:solidFill>
                <a:effectLst/>
                <a:latin typeface="Times New Roman" panose="02020603050405020304" pitchFamily="18" charset="0"/>
                <a:cs typeface="Times New Roman" panose="02020603050405020304" pitchFamily="18" charset="0"/>
              </a:rPr>
              <a:t>It is a structured framework used to conceptualize software elements, relationships and properties.</a:t>
            </a:r>
          </a:p>
          <a:p>
            <a:pPr marL="285750" indent="-285750" algn="l">
              <a:buFont typeface="Wingdings" panose="05000000000000000000" pitchFamily="2" charset="2"/>
              <a:buChar char="Ø"/>
            </a:pPr>
            <a:endParaRPr lang="en-US" b="0" i="0" u="none" strike="noStrike" dirty="0">
              <a:solidFill>
                <a:srgbClr val="000000"/>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b="0" i="0" u="none" strike="noStrike" dirty="0">
                <a:solidFill>
                  <a:srgbClr val="000000"/>
                </a:solidFill>
                <a:effectLst/>
                <a:latin typeface="Times New Roman" panose="02020603050405020304" pitchFamily="18" charset="0"/>
                <a:cs typeface="Times New Roman" panose="02020603050405020304" pitchFamily="18" charset="0"/>
              </a:rPr>
              <a:t>It serves as the blueprint(design) for both the system and project.</a:t>
            </a:r>
          </a:p>
          <a:p>
            <a:pPr marL="285750" indent="-285750" algn="l">
              <a:buFont typeface="Wingdings" panose="05000000000000000000" pitchFamily="2" charset="2"/>
              <a:buChar char="Ø"/>
            </a:pPr>
            <a:endParaRPr lang="en-US" b="0" i="0" u="none" strike="noStrike" dirty="0">
              <a:solidFill>
                <a:srgbClr val="000000"/>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b="0" i="0" u="none" strike="noStrike" dirty="0">
                <a:solidFill>
                  <a:srgbClr val="000000"/>
                </a:solidFill>
                <a:effectLst/>
                <a:latin typeface="Times New Roman" panose="02020603050405020304" pitchFamily="18" charset="0"/>
                <a:cs typeface="Times New Roman" panose="02020603050405020304" pitchFamily="18" charset="0"/>
              </a:rPr>
              <a:t>Software architecture is used for defining and structuring of a solution which connects technical and operational requirements.</a:t>
            </a:r>
          </a:p>
        </p:txBody>
      </p:sp>
      <p:pic>
        <p:nvPicPr>
          <p:cNvPr id="1026" name="Picture 2" descr="software architecture factor">
            <a:extLst>
              <a:ext uri="{FF2B5EF4-FFF2-40B4-BE49-F238E27FC236}">
                <a16:creationId xmlns:a16="http://schemas.microsoft.com/office/drawing/2014/main" id="{09D86BD9-8AB5-410D-8D97-5F7DEF60FD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9654" y="3830594"/>
            <a:ext cx="6812692" cy="2566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7326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oftware Design">
            <a:extLst>
              <a:ext uri="{FF2B5EF4-FFF2-40B4-BE49-F238E27FC236}">
                <a16:creationId xmlns:a16="http://schemas.microsoft.com/office/drawing/2014/main" id="{52A0ABD5-5BC8-4D0D-90FD-565513E280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2663" y="738800"/>
            <a:ext cx="9546673" cy="5510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627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CE50CA-F958-41F4-8CF2-7344C8F8D66B}"/>
              </a:ext>
            </a:extLst>
          </p:cNvPr>
          <p:cNvSpPr txBox="1"/>
          <p:nvPr/>
        </p:nvSpPr>
        <p:spPr>
          <a:xfrm>
            <a:off x="148281" y="57665"/>
            <a:ext cx="11870724" cy="5632311"/>
          </a:xfrm>
          <a:prstGeom prst="rect">
            <a:avLst/>
          </a:prstGeom>
          <a:noFill/>
        </p:spPr>
        <p:txBody>
          <a:bodyPr wrap="square">
            <a:spAutoFit/>
          </a:bodyPr>
          <a:lstStyle/>
          <a:p>
            <a:endParaRPr lang="en-US" dirty="0">
              <a:solidFill>
                <a:srgbClr val="000000"/>
              </a:solidFill>
              <a:latin typeface="Verdana" panose="020B0604030504040204" pitchFamily="34" charset="0"/>
            </a:endParaRPr>
          </a:p>
          <a:p>
            <a:pPr algn="l"/>
            <a:r>
              <a:rPr lang="en-US" b="1" i="0" dirty="0">
                <a:solidFill>
                  <a:srgbClr val="000000"/>
                </a:solidFill>
                <a:effectLst/>
                <a:latin typeface="Times New Roman" panose="02020603050405020304" pitchFamily="18" charset="0"/>
                <a:cs typeface="Times New Roman" panose="02020603050405020304" pitchFamily="18" charset="0"/>
              </a:rPr>
              <a:t>Why is Software Architecture Design important?</a:t>
            </a:r>
          </a:p>
          <a:p>
            <a:pPr algn="l"/>
            <a:endParaRPr lang="en-US" b="0" i="0" dirty="0">
              <a:solidFill>
                <a:srgbClr val="000000"/>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b="0" i="0" u="none" strike="noStrike" dirty="0">
                <a:solidFill>
                  <a:srgbClr val="000000"/>
                </a:solidFill>
                <a:effectLst/>
                <a:latin typeface="Times New Roman" panose="02020603050405020304" pitchFamily="18" charset="0"/>
                <a:cs typeface="Times New Roman" panose="02020603050405020304" pitchFamily="18" charset="0"/>
              </a:rPr>
              <a:t>A software should be designed with </a:t>
            </a:r>
            <a:r>
              <a:rPr lang="en-US" b="1" i="0" u="none" strike="noStrike" dirty="0">
                <a:solidFill>
                  <a:srgbClr val="000000"/>
                </a:solidFill>
                <a:effectLst/>
                <a:latin typeface="Times New Roman" panose="02020603050405020304" pitchFamily="18" charset="0"/>
                <a:cs typeface="Times New Roman" panose="02020603050405020304" pitchFamily="18" charset="0"/>
              </a:rPr>
              <a:t>consideration for the user, system and the business goals.</a:t>
            </a:r>
          </a:p>
          <a:p>
            <a:pPr algn="l"/>
            <a:endParaRPr lang="en-US" b="0" i="0" u="none" strike="noStrike" dirty="0">
              <a:solidFill>
                <a:srgbClr val="000000"/>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b="0" i="0" u="none" strike="noStrike" dirty="0">
                <a:solidFill>
                  <a:srgbClr val="000000"/>
                </a:solidFill>
                <a:effectLst/>
                <a:latin typeface="Times New Roman" panose="02020603050405020304" pitchFamily="18" charset="0"/>
                <a:cs typeface="Times New Roman" panose="02020603050405020304" pitchFamily="18" charset="0"/>
              </a:rPr>
              <a:t>Software architecture considers </a:t>
            </a:r>
            <a:r>
              <a:rPr lang="en-US" b="1" i="0" u="none" strike="noStrike" dirty="0">
                <a:solidFill>
                  <a:srgbClr val="000000"/>
                </a:solidFill>
                <a:effectLst/>
                <a:latin typeface="Times New Roman" panose="02020603050405020304" pitchFamily="18" charset="0"/>
                <a:cs typeface="Times New Roman" panose="02020603050405020304" pitchFamily="18" charset="0"/>
              </a:rPr>
              <a:t>a design for software to implement its structure according to its rules and requirements.</a:t>
            </a:r>
          </a:p>
          <a:p>
            <a:pPr algn="l"/>
            <a:endParaRPr lang="en-US" b="0" i="0" u="none" strike="noStrike" dirty="0">
              <a:solidFill>
                <a:srgbClr val="000000"/>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b="0" i="0" u="none" strike="noStrike" dirty="0">
                <a:solidFill>
                  <a:srgbClr val="000000"/>
                </a:solidFill>
                <a:effectLst/>
                <a:latin typeface="Times New Roman" panose="02020603050405020304" pitchFamily="18" charset="0"/>
                <a:cs typeface="Times New Roman" panose="02020603050405020304" pitchFamily="18" charset="0"/>
              </a:rPr>
              <a:t>Software architecture manifests the </a:t>
            </a:r>
            <a:r>
              <a:rPr lang="en-US" b="1" i="0" u="none" strike="noStrike" dirty="0">
                <a:solidFill>
                  <a:srgbClr val="000000"/>
                </a:solidFill>
                <a:effectLst/>
                <a:latin typeface="Times New Roman" panose="02020603050405020304" pitchFamily="18" charset="0"/>
                <a:cs typeface="Times New Roman" panose="02020603050405020304" pitchFamily="18" charset="0"/>
              </a:rPr>
              <a:t>earlier design decisions</a:t>
            </a:r>
            <a:r>
              <a:rPr lang="en-US" b="0" i="0" u="none" strike="noStrike" dirty="0">
                <a:solidFill>
                  <a:srgbClr val="000000"/>
                </a:solidFill>
                <a:effectLst/>
                <a:latin typeface="Times New Roman" panose="02020603050405020304" pitchFamily="18" charset="0"/>
                <a:cs typeface="Times New Roman" panose="02020603050405020304" pitchFamily="18" charset="0"/>
              </a:rPr>
              <a:t> governing the system to be built and can be analyzed.</a:t>
            </a:r>
          </a:p>
          <a:p>
            <a:pPr algn="l"/>
            <a:endParaRPr lang="en-US" b="0" i="0" u="none" strike="noStrike" dirty="0">
              <a:solidFill>
                <a:srgbClr val="000000"/>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b="0" i="0" u="none" strike="noStrike" dirty="0">
                <a:solidFill>
                  <a:srgbClr val="000000"/>
                </a:solidFill>
                <a:effectLst/>
                <a:latin typeface="Times New Roman" panose="02020603050405020304" pitchFamily="18" charset="0"/>
                <a:cs typeface="Times New Roman" panose="02020603050405020304" pitchFamily="18" charset="0"/>
              </a:rPr>
              <a:t>Software architecture considers the </a:t>
            </a:r>
            <a:r>
              <a:rPr lang="en-US" b="1" i="0" u="none" strike="noStrike" dirty="0">
                <a:solidFill>
                  <a:srgbClr val="000000"/>
                </a:solidFill>
                <a:effectLst/>
                <a:latin typeface="Times New Roman" panose="02020603050405020304" pitchFamily="18" charset="0"/>
                <a:cs typeface="Times New Roman" panose="02020603050405020304" pitchFamily="18" charset="0"/>
              </a:rPr>
              <a:t>communication among stakeholders</a:t>
            </a:r>
            <a:r>
              <a:rPr lang="en-US" b="0" i="0" u="none" strike="noStrike" dirty="0">
                <a:solidFill>
                  <a:srgbClr val="000000"/>
                </a:solidFill>
                <a:effectLst/>
                <a:latin typeface="Times New Roman" panose="02020603050405020304" pitchFamily="18" charset="0"/>
                <a:cs typeface="Times New Roman" panose="02020603050405020304" pitchFamily="18" charset="0"/>
              </a:rPr>
              <a:t> for mutual understanding, negotiation and agreement.</a:t>
            </a:r>
          </a:p>
          <a:p>
            <a:pPr algn="l"/>
            <a:endParaRPr lang="en-US" b="0" i="0" u="none" strike="noStrike" dirty="0">
              <a:solidFill>
                <a:srgbClr val="000000"/>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b="0" i="0" u="none" strike="noStrike" dirty="0">
                <a:solidFill>
                  <a:srgbClr val="000000"/>
                </a:solidFill>
                <a:effectLst/>
                <a:latin typeface="Times New Roman" panose="02020603050405020304" pitchFamily="18" charset="0"/>
                <a:cs typeface="Times New Roman" panose="02020603050405020304" pitchFamily="18" charset="0"/>
              </a:rPr>
              <a:t>Software architecture constitutes</a:t>
            </a:r>
            <a:r>
              <a:rPr lang="en-US" b="1" i="0" u="none" strike="noStrike" dirty="0">
                <a:solidFill>
                  <a:srgbClr val="000000"/>
                </a:solidFill>
                <a:effectLst/>
                <a:latin typeface="Times New Roman" panose="02020603050405020304" pitchFamily="18" charset="0"/>
                <a:cs typeface="Times New Roman" panose="02020603050405020304" pitchFamily="18" charset="0"/>
              </a:rPr>
              <a:t> transferable abstraction</a:t>
            </a:r>
            <a:r>
              <a:rPr lang="en-US" b="0" i="0" u="none" strike="noStrike" dirty="0">
                <a:solidFill>
                  <a:srgbClr val="000000"/>
                </a:solidFill>
                <a:effectLst/>
                <a:latin typeface="Times New Roman" panose="02020603050405020304" pitchFamily="18" charset="0"/>
                <a:cs typeface="Times New Roman" panose="02020603050405020304" pitchFamily="18" charset="0"/>
              </a:rPr>
              <a:t> of a system and can promote large scale reuse.</a:t>
            </a:r>
          </a:p>
          <a:p>
            <a:pPr algn="l"/>
            <a:endParaRPr lang="en-US" b="0" i="0" u="none" strike="noStrike" dirty="0">
              <a:solidFill>
                <a:srgbClr val="000000"/>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b="0" i="0" u="none" strike="noStrike" dirty="0">
                <a:solidFill>
                  <a:srgbClr val="000000"/>
                </a:solidFill>
                <a:effectLst/>
                <a:latin typeface="Times New Roman" panose="02020603050405020304" pitchFamily="18" charset="0"/>
                <a:cs typeface="Times New Roman" panose="02020603050405020304" pitchFamily="18" charset="0"/>
              </a:rPr>
              <a:t>It provides a common language in which different concerns can be expressed.</a:t>
            </a:r>
          </a:p>
          <a:p>
            <a:pPr algn="l"/>
            <a:endParaRPr lang="en-US" b="0" i="0" u="none" strike="noStrike" dirty="0">
              <a:solidFill>
                <a:srgbClr val="000000"/>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b="0" i="0" u="none" strike="noStrike" dirty="0">
                <a:solidFill>
                  <a:srgbClr val="000000"/>
                </a:solidFill>
                <a:effectLst/>
                <a:latin typeface="Times New Roman" panose="02020603050405020304" pitchFamily="18" charset="0"/>
                <a:cs typeface="Times New Roman" panose="02020603050405020304" pitchFamily="18" charset="0"/>
              </a:rPr>
              <a:t>Software architecture focuses on how the major elements and components within an application are used or interacted within the application.</a:t>
            </a:r>
          </a:p>
          <a:p>
            <a:endParaRPr lang="en-SG" dirty="0"/>
          </a:p>
        </p:txBody>
      </p:sp>
    </p:spTree>
    <p:extLst>
      <p:ext uri="{BB962C8B-B14F-4D97-AF65-F5344CB8AC3E}">
        <p14:creationId xmlns:p14="http://schemas.microsoft.com/office/powerpoint/2010/main" val="4180061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BE4FE4-F5B1-45EC-B703-F676F1F75210}"/>
              </a:ext>
            </a:extLst>
          </p:cNvPr>
          <p:cNvSpPr txBox="1"/>
          <p:nvPr/>
        </p:nvSpPr>
        <p:spPr>
          <a:xfrm>
            <a:off x="140043" y="148282"/>
            <a:ext cx="11953103" cy="6463308"/>
          </a:xfrm>
          <a:prstGeom prst="rect">
            <a:avLst/>
          </a:prstGeom>
          <a:noFill/>
        </p:spPr>
        <p:txBody>
          <a:bodyPr wrap="square">
            <a:spAutoFit/>
          </a:bodyPr>
          <a:lstStyle/>
          <a:p>
            <a:pPr algn="l"/>
            <a:r>
              <a:rPr lang="en-US" b="1" i="0" dirty="0">
                <a:solidFill>
                  <a:srgbClr val="000000"/>
                </a:solidFill>
                <a:effectLst/>
                <a:latin typeface="Verdana" panose="020B0604030504040204" pitchFamily="34" charset="0"/>
              </a:rPr>
              <a:t>Goals of Software Architecture Design</a:t>
            </a:r>
          </a:p>
          <a:p>
            <a:pPr algn="l"/>
            <a:endParaRPr lang="en-US" b="0" i="0" dirty="0">
              <a:solidFill>
                <a:srgbClr val="000000"/>
              </a:solidFill>
              <a:effectLst/>
              <a:latin typeface="Verdana" panose="020B0604030504040204" pitchFamily="34" charset="0"/>
            </a:endParaRPr>
          </a:p>
          <a:p>
            <a:pPr marL="285750" indent="-285750">
              <a:buFont typeface="Wingdings" panose="05000000000000000000" pitchFamily="2" charset="2"/>
              <a:buChar char="Ø"/>
            </a:pPr>
            <a:r>
              <a:rPr lang="en-US" b="0" i="0" dirty="0">
                <a:solidFill>
                  <a:srgbClr val="000000"/>
                </a:solidFill>
                <a:effectLst/>
                <a:latin typeface="Verdana" panose="020B0604030504040204" pitchFamily="34" charset="0"/>
              </a:rPr>
              <a:t>Software architecture design improves the common quality attributes such as performance, security and manageability.</a:t>
            </a:r>
            <a:br>
              <a:rPr lang="en-US" dirty="0"/>
            </a:br>
            <a:br>
              <a:rPr lang="en-US" dirty="0"/>
            </a:br>
            <a:r>
              <a:rPr lang="en-US" b="0" i="0" dirty="0">
                <a:solidFill>
                  <a:srgbClr val="000000"/>
                </a:solidFill>
                <a:effectLst/>
                <a:latin typeface="Verdana" panose="020B0604030504040204" pitchFamily="34" charset="0"/>
              </a:rPr>
              <a:t>Good design and architecture reduces the business risks and is flexible to handle the changes which occur over time in hardware and software technology.</a:t>
            </a:r>
          </a:p>
          <a:p>
            <a:endParaRPr lang="en-US" dirty="0">
              <a:solidFill>
                <a:srgbClr val="000000"/>
              </a:solidFill>
              <a:latin typeface="Verdana" panose="020B0604030504040204" pitchFamily="34" charset="0"/>
            </a:endParaRPr>
          </a:p>
          <a:p>
            <a:pPr algn="l"/>
            <a:r>
              <a:rPr lang="en-US" b="1" i="0" dirty="0">
                <a:solidFill>
                  <a:srgbClr val="000000"/>
                </a:solidFill>
                <a:effectLst/>
                <a:latin typeface="Verdana" panose="020B0604030504040204" pitchFamily="34" charset="0"/>
              </a:rPr>
              <a:t>Software Architecture Design has following goals:</a:t>
            </a:r>
          </a:p>
          <a:p>
            <a:pPr algn="l">
              <a:buFont typeface="Arial" panose="020B0604020202020204" pitchFamily="34" charset="0"/>
              <a:buChar char="•"/>
            </a:pPr>
            <a:endParaRPr lang="en-US" b="1" u="none" strike="noStrike" dirty="0">
              <a:solidFill>
                <a:srgbClr val="000000"/>
              </a:solidFill>
              <a:latin typeface="Verdana" panose="020B0604030504040204" pitchFamily="34" charset="0"/>
            </a:endParaRPr>
          </a:p>
          <a:p>
            <a:pPr marL="285750" indent="-285750" algn="l">
              <a:buFont typeface="Wingdings" panose="05000000000000000000" pitchFamily="2" charset="2"/>
              <a:buChar char="ü"/>
            </a:pPr>
            <a:r>
              <a:rPr lang="en-US" b="0" i="0" u="none" strike="noStrike" dirty="0">
                <a:solidFill>
                  <a:srgbClr val="000000"/>
                </a:solidFill>
                <a:effectLst/>
                <a:latin typeface="Verdana" panose="020B0604030504040204" pitchFamily="34" charset="0"/>
              </a:rPr>
              <a:t>The main important goal of software architecture design is to build the bridge between business and technical requirements.</a:t>
            </a:r>
          </a:p>
          <a:p>
            <a:pPr algn="l"/>
            <a:endParaRPr lang="en-US" b="0" i="0" u="none" strike="noStrike" dirty="0">
              <a:solidFill>
                <a:srgbClr val="000000"/>
              </a:solidFill>
              <a:effectLst/>
              <a:latin typeface="Verdana" panose="020B0604030504040204" pitchFamily="34" charset="0"/>
            </a:endParaRPr>
          </a:p>
          <a:p>
            <a:pPr marL="285750" indent="-285750" algn="l">
              <a:buFont typeface="Wingdings" panose="05000000000000000000" pitchFamily="2" charset="2"/>
              <a:buChar char="ü"/>
            </a:pPr>
            <a:r>
              <a:rPr lang="en-US" b="0" i="0" u="none" strike="noStrike" dirty="0">
                <a:solidFill>
                  <a:srgbClr val="000000"/>
                </a:solidFill>
                <a:effectLst/>
                <a:latin typeface="Verdana" panose="020B0604030504040204" pitchFamily="34" charset="0"/>
              </a:rPr>
              <a:t>To identify the requirements which affect the basic structure of the application.</a:t>
            </a:r>
          </a:p>
          <a:p>
            <a:pPr algn="l"/>
            <a:endParaRPr lang="en-US" b="0" i="0" u="none" strike="noStrike" dirty="0">
              <a:solidFill>
                <a:srgbClr val="000000"/>
              </a:solidFill>
              <a:effectLst/>
              <a:latin typeface="Verdana" panose="020B0604030504040204" pitchFamily="34" charset="0"/>
            </a:endParaRPr>
          </a:p>
          <a:p>
            <a:pPr marL="285750" indent="-285750" algn="l">
              <a:buFont typeface="Wingdings" panose="05000000000000000000" pitchFamily="2" charset="2"/>
              <a:buChar char="ü"/>
            </a:pPr>
            <a:r>
              <a:rPr lang="en-US" b="0" i="0" u="none" strike="noStrike" dirty="0">
                <a:solidFill>
                  <a:srgbClr val="000000"/>
                </a:solidFill>
                <a:effectLst/>
                <a:latin typeface="Verdana" panose="020B0604030504040204" pitchFamily="34" charset="0"/>
              </a:rPr>
              <a:t>Consider the overall effect of design decisions.</a:t>
            </a:r>
          </a:p>
          <a:p>
            <a:pPr algn="l"/>
            <a:endParaRPr lang="en-US" b="0" i="0" u="none" strike="noStrike" dirty="0">
              <a:solidFill>
                <a:srgbClr val="000000"/>
              </a:solidFill>
              <a:effectLst/>
              <a:latin typeface="Verdana" panose="020B0604030504040204" pitchFamily="34" charset="0"/>
            </a:endParaRPr>
          </a:p>
          <a:p>
            <a:pPr marL="285750" indent="-285750" algn="l">
              <a:buFont typeface="Wingdings" panose="05000000000000000000" pitchFamily="2" charset="2"/>
              <a:buChar char="ü"/>
            </a:pPr>
            <a:r>
              <a:rPr lang="en-US" b="0" i="0" u="none" strike="noStrike" dirty="0">
                <a:solidFill>
                  <a:srgbClr val="000000"/>
                </a:solidFill>
                <a:effectLst/>
                <a:latin typeface="Verdana" panose="020B0604030504040204" pitchFamily="34" charset="0"/>
              </a:rPr>
              <a:t>Design should be flexible to handle the changes in user scenarios and requirements.</a:t>
            </a:r>
          </a:p>
          <a:p>
            <a:pPr algn="l"/>
            <a:endParaRPr lang="en-US" b="0" i="0" u="none" strike="noStrike" dirty="0">
              <a:solidFill>
                <a:srgbClr val="000000"/>
              </a:solidFill>
              <a:effectLst/>
              <a:latin typeface="Verdana" panose="020B0604030504040204" pitchFamily="34" charset="0"/>
            </a:endParaRPr>
          </a:p>
          <a:p>
            <a:pPr marL="285750" indent="-285750" algn="l">
              <a:buFont typeface="Wingdings" panose="05000000000000000000" pitchFamily="2" charset="2"/>
              <a:buChar char="ü"/>
            </a:pPr>
            <a:r>
              <a:rPr lang="en-US" b="0" i="0" u="none" strike="noStrike" dirty="0">
                <a:solidFill>
                  <a:srgbClr val="000000"/>
                </a:solidFill>
                <a:effectLst/>
                <a:latin typeface="Verdana" panose="020B0604030504040204" pitchFamily="34" charset="0"/>
              </a:rPr>
              <a:t>To find the different ways to implement the use cases in the software.</a:t>
            </a:r>
          </a:p>
          <a:p>
            <a:endParaRPr lang="en-US" dirty="0">
              <a:solidFill>
                <a:srgbClr val="000000"/>
              </a:solidFill>
              <a:latin typeface="Verdana" panose="020B0604030504040204" pitchFamily="34" charset="0"/>
            </a:endParaRPr>
          </a:p>
          <a:p>
            <a:endParaRPr lang="en-US" dirty="0">
              <a:solidFill>
                <a:srgbClr val="000000"/>
              </a:solidFill>
              <a:latin typeface="Verdana" panose="020B0604030504040204" pitchFamily="34" charset="0"/>
            </a:endParaRPr>
          </a:p>
          <a:p>
            <a:endParaRPr lang="en-SG" dirty="0"/>
          </a:p>
        </p:txBody>
      </p:sp>
    </p:spTree>
    <p:extLst>
      <p:ext uri="{BB962C8B-B14F-4D97-AF65-F5344CB8AC3E}">
        <p14:creationId xmlns:p14="http://schemas.microsoft.com/office/powerpoint/2010/main" val="132698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3CDAAA-4AFF-428B-AD2F-A7A6439E034F}"/>
              </a:ext>
            </a:extLst>
          </p:cNvPr>
          <p:cNvSpPr txBox="1"/>
          <p:nvPr/>
        </p:nvSpPr>
        <p:spPr>
          <a:xfrm>
            <a:off x="100668" y="167781"/>
            <a:ext cx="12004646" cy="6247864"/>
          </a:xfrm>
          <a:prstGeom prst="rect">
            <a:avLst/>
          </a:prstGeom>
          <a:noFill/>
        </p:spPr>
        <p:txBody>
          <a:bodyPr wrap="square">
            <a:spAutoFit/>
          </a:bodyPr>
          <a:lstStyle/>
          <a:p>
            <a:pPr algn="l"/>
            <a:r>
              <a:rPr lang="en-US" sz="2000" b="0" i="0" dirty="0">
                <a:solidFill>
                  <a:srgbClr val="000000"/>
                </a:solidFill>
                <a:effectLst/>
                <a:latin typeface="Times New Roman" panose="02020603050405020304" pitchFamily="18" charset="0"/>
                <a:cs typeface="Times New Roman" panose="02020603050405020304" pitchFamily="18" charset="0"/>
              </a:rPr>
              <a:t>Software Architecture is a system to represent the collection of components that accomplish a specific function or set of functions. </a:t>
            </a:r>
          </a:p>
          <a:p>
            <a:pPr algn="l"/>
            <a:endParaRPr lang="en-US" sz="2000" dirty="0">
              <a:solidFill>
                <a:srgbClr val="000000"/>
              </a:solidFill>
              <a:latin typeface="Times New Roman" panose="02020603050405020304" pitchFamily="18" charset="0"/>
              <a:cs typeface="Times New Roman" panose="02020603050405020304" pitchFamily="18" charset="0"/>
            </a:endParaRPr>
          </a:p>
          <a:p>
            <a:pPr algn="l"/>
            <a:r>
              <a:rPr lang="en-US" sz="2000" b="0" i="0" dirty="0">
                <a:solidFill>
                  <a:srgbClr val="000000"/>
                </a:solidFill>
                <a:effectLst/>
                <a:latin typeface="Times New Roman" panose="02020603050405020304" pitchFamily="18" charset="0"/>
                <a:cs typeface="Times New Roman" panose="02020603050405020304" pitchFamily="18" charset="0"/>
              </a:rPr>
              <a:t>There may be one or multiple components in the foundation of an architecture on which software can be built. </a:t>
            </a:r>
          </a:p>
          <a:p>
            <a:pPr algn="l"/>
            <a:endParaRPr lang="en-US" sz="2000" dirty="0">
              <a:solidFill>
                <a:srgbClr val="000000"/>
              </a:solidFill>
              <a:latin typeface="Times New Roman" panose="02020603050405020304" pitchFamily="18" charset="0"/>
              <a:cs typeface="Times New Roman" panose="02020603050405020304" pitchFamily="18" charset="0"/>
            </a:endParaRPr>
          </a:p>
          <a:p>
            <a:pPr algn="l"/>
            <a:r>
              <a:rPr lang="en-US" sz="2000" b="0" i="0" dirty="0">
                <a:solidFill>
                  <a:srgbClr val="000000"/>
                </a:solidFill>
                <a:effectLst/>
                <a:latin typeface="Times New Roman" panose="02020603050405020304" pitchFamily="18" charset="0"/>
                <a:cs typeface="Times New Roman" panose="02020603050405020304" pitchFamily="18" charset="0"/>
              </a:rPr>
              <a:t>A software architecture helps to define and represent the component(s) and their relationship. </a:t>
            </a:r>
          </a:p>
          <a:p>
            <a:pPr algn="l"/>
            <a:endParaRPr lang="en-US" sz="2000" dirty="0">
              <a:solidFill>
                <a:srgbClr val="000000"/>
              </a:solidFill>
              <a:latin typeface="Times New Roman" panose="02020603050405020304" pitchFamily="18" charset="0"/>
              <a:cs typeface="Times New Roman" panose="02020603050405020304" pitchFamily="18" charset="0"/>
            </a:endParaRPr>
          </a:p>
          <a:p>
            <a:pPr algn="l"/>
            <a:r>
              <a:rPr lang="en-US" sz="2000" b="1" i="0" dirty="0">
                <a:solidFill>
                  <a:srgbClr val="000000"/>
                </a:solidFill>
                <a:effectLst/>
                <a:latin typeface="Times New Roman" panose="02020603050405020304" pitchFamily="18" charset="0"/>
                <a:cs typeface="Times New Roman" panose="02020603050405020304" pitchFamily="18" charset="0"/>
              </a:rPr>
              <a:t>We can understand software architecture with an example. </a:t>
            </a:r>
          </a:p>
          <a:p>
            <a:pPr algn="l"/>
            <a:endParaRPr lang="en-US" sz="2000" dirty="0">
              <a:solidFill>
                <a:srgbClr val="000000"/>
              </a:solidFill>
              <a:latin typeface="Times New Roman" panose="02020603050405020304" pitchFamily="18" charset="0"/>
              <a:cs typeface="Times New Roman" panose="02020603050405020304" pitchFamily="18" charset="0"/>
            </a:endParaRPr>
          </a:p>
          <a:p>
            <a:pPr algn="l"/>
            <a:r>
              <a:rPr lang="en-US" sz="2000" b="0" i="0" dirty="0">
                <a:solidFill>
                  <a:srgbClr val="000000"/>
                </a:solidFill>
                <a:effectLst/>
                <a:latin typeface="Times New Roman" panose="02020603050405020304" pitchFamily="18" charset="0"/>
                <a:cs typeface="Times New Roman" panose="02020603050405020304" pitchFamily="18" charset="0"/>
              </a:rPr>
              <a:t>Let’s consider to build a bungalow on a plain land there is a need for a civil engineer or architecture. He gathers different types of input from our side and prepares a floor plan on the paper. </a:t>
            </a:r>
          </a:p>
          <a:p>
            <a:pPr algn="l"/>
            <a:endParaRPr lang="en-US" sz="2000" dirty="0">
              <a:solidFill>
                <a:srgbClr val="000000"/>
              </a:solidFill>
              <a:latin typeface="Times New Roman" panose="02020603050405020304" pitchFamily="18" charset="0"/>
              <a:cs typeface="Times New Roman" panose="02020603050405020304" pitchFamily="18" charset="0"/>
            </a:endParaRPr>
          </a:p>
          <a:p>
            <a:pPr algn="l"/>
            <a:r>
              <a:rPr lang="en-US" sz="2000" b="0" i="0" dirty="0">
                <a:solidFill>
                  <a:srgbClr val="000000"/>
                </a:solidFill>
                <a:effectLst/>
                <a:latin typeface="Times New Roman" panose="02020603050405020304" pitchFamily="18" charset="0"/>
                <a:cs typeface="Times New Roman" panose="02020603050405020304" pitchFamily="18" charset="0"/>
              </a:rPr>
              <a:t>If requirements are fulfilled then builder starts construction work. In the same way, a software architect prepare a plan of as per the requirement.</a:t>
            </a:r>
          </a:p>
          <a:p>
            <a:pPr algn="l"/>
            <a:endParaRPr lang="en-US" sz="2000" dirty="0">
              <a:solidFill>
                <a:srgbClr val="000000"/>
              </a:solidFill>
              <a:latin typeface="Times New Roman" panose="02020603050405020304" pitchFamily="18" charset="0"/>
              <a:cs typeface="Times New Roman" panose="02020603050405020304" pitchFamily="18" charset="0"/>
            </a:endParaRPr>
          </a:p>
          <a:p>
            <a:pPr algn="l"/>
            <a:r>
              <a:rPr lang="en-US" sz="2000" b="0" i="0" dirty="0">
                <a:solidFill>
                  <a:srgbClr val="000000"/>
                </a:solidFill>
                <a:effectLst/>
                <a:latin typeface="Times New Roman" panose="02020603050405020304" pitchFamily="18" charset="0"/>
                <a:cs typeface="Times New Roman" panose="02020603050405020304" pitchFamily="18" charset="0"/>
              </a:rPr>
              <a:t> He draws a structure that meets all technical and operational requirements of the software. The developer team builds the software as per software architecture and deliver to the client.</a:t>
            </a:r>
          </a:p>
          <a:p>
            <a:pPr algn="l"/>
            <a:endParaRPr lang="en-US" sz="2000" b="0" i="0" dirty="0">
              <a:solidFill>
                <a:srgbClr val="000000"/>
              </a:solidFill>
              <a:effectLst/>
              <a:latin typeface="Times New Roman" panose="02020603050405020304" pitchFamily="18" charset="0"/>
              <a:cs typeface="Times New Roman" panose="02020603050405020304" pitchFamily="18" charset="0"/>
            </a:endParaRPr>
          </a:p>
          <a:p>
            <a:pPr algn="l"/>
            <a:r>
              <a:rPr lang="en-US" sz="2000" b="0" i="0" dirty="0">
                <a:solidFill>
                  <a:srgbClr val="000000"/>
                </a:solidFill>
                <a:effectLst/>
                <a:latin typeface="Times New Roman" panose="02020603050405020304" pitchFamily="18" charset="0"/>
                <a:cs typeface="Times New Roman" panose="02020603050405020304" pitchFamily="18" charset="0"/>
              </a:rPr>
              <a:t>Before going to explain the types of architecture firstly you need to understand the different layers which are the foundation of software architecture. There are four types of layer:</a:t>
            </a:r>
          </a:p>
        </p:txBody>
      </p:sp>
    </p:spTree>
    <p:extLst>
      <p:ext uri="{BB962C8B-B14F-4D97-AF65-F5344CB8AC3E}">
        <p14:creationId xmlns:p14="http://schemas.microsoft.com/office/powerpoint/2010/main" val="4198233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10A765-7DCF-41F2-8316-CFD52F6DF602}"/>
              </a:ext>
            </a:extLst>
          </p:cNvPr>
          <p:cNvSpPr txBox="1"/>
          <p:nvPr/>
        </p:nvSpPr>
        <p:spPr>
          <a:xfrm>
            <a:off x="125835" y="360727"/>
            <a:ext cx="11719420" cy="2542363"/>
          </a:xfrm>
          <a:prstGeom prst="rect">
            <a:avLst/>
          </a:prstGeom>
          <a:noFill/>
        </p:spPr>
        <p:txBody>
          <a:bodyPr wrap="square">
            <a:spAutoFit/>
          </a:bodyPr>
          <a:lstStyle/>
          <a:p>
            <a:pPr algn="l">
              <a:lnSpc>
                <a:spcPct val="150000"/>
              </a:lnSpc>
              <a:buFont typeface="Arial" panose="020B0604020202020204" pitchFamily="34" charset="0"/>
              <a:buChar char="•"/>
            </a:pPr>
            <a:r>
              <a:rPr lang="en-US" b="1" i="0" dirty="0">
                <a:solidFill>
                  <a:srgbClr val="000000"/>
                </a:solidFill>
                <a:effectLst/>
                <a:latin typeface="-apple-system"/>
              </a:rPr>
              <a:t>Presentation Layer:</a:t>
            </a:r>
            <a:r>
              <a:rPr lang="en-US" b="0" i="0" dirty="0">
                <a:solidFill>
                  <a:srgbClr val="000000"/>
                </a:solidFill>
                <a:effectLst/>
                <a:latin typeface="-apple-system"/>
              </a:rPr>
              <a:t> This layer is responsible to display the user interface and manage user interaction.</a:t>
            </a:r>
          </a:p>
          <a:p>
            <a:pPr algn="l">
              <a:lnSpc>
                <a:spcPct val="150000"/>
              </a:lnSpc>
              <a:buFont typeface="Arial" panose="020B0604020202020204" pitchFamily="34" charset="0"/>
              <a:buChar char="•"/>
            </a:pPr>
            <a:r>
              <a:rPr lang="en-US" b="1" i="0" dirty="0">
                <a:solidFill>
                  <a:srgbClr val="000000"/>
                </a:solidFill>
                <a:effectLst/>
                <a:latin typeface="-apple-system"/>
              </a:rPr>
              <a:t>Application Layer: </a:t>
            </a:r>
            <a:r>
              <a:rPr lang="en-US" b="0" i="0" dirty="0">
                <a:solidFill>
                  <a:srgbClr val="000000"/>
                </a:solidFill>
                <a:effectLst/>
                <a:latin typeface="-apple-system"/>
              </a:rPr>
              <a:t>Application layer (also known as Business Layer) has all the business logic, rules and policies. The application layer is a bridge between the presentation layer and the data layer.</a:t>
            </a:r>
          </a:p>
          <a:p>
            <a:pPr algn="l">
              <a:lnSpc>
                <a:spcPct val="150000"/>
              </a:lnSpc>
              <a:buFont typeface="Arial" panose="020B0604020202020204" pitchFamily="34" charset="0"/>
              <a:buChar char="•"/>
            </a:pPr>
            <a:r>
              <a:rPr lang="en-US" b="1" i="0" dirty="0">
                <a:solidFill>
                  <a:srgbClr val="000000"/>
                </a:solidFill>
                <a:effectLst/>
                <a:latin typeface="-apple-system"/>
              </a:rPr>
              <a:t>Data Layer:</a:t>
            </a:r>
            <a:r>
              <a:rPr lang="en-US" b="0" i="0" dirty="0">
                <a:solidFill>
                  <a:srgbClr val="000000"/>
                </a:solidFill>
                <a:effectLst/>
                <a:latin typeface="-apple-system"/>
              </a:rPr>
              <a:t> This layer is responsible for storing the data. </a:t>
            </a:r>
          </a:p>
          <a:p>
            <a:pPr algn="l">
              <a:lnSpc>
                <a:spcPct val="150000"/>
              </a:lnSpc>
              <a:buFont typeface="Arial" panose="020B0604020202020204" pitchFamily="34" charset="0"/>
              <a:buChar char="•"/>
            </a:pPr>
            <a:r>
              <a:rPr lang="en-US" b="1" i="0" dirty="0">
                <a:solidFill>
                  <a:srgbClr val="000000"/>
                </a:solidFill>
                <a:effectLst/>
                <a:latin typeface="-apple-system"/>
              </a:rPr>
              <a:t>Service Layer:</a:t>
            </a:r>
            <a:r>
              <a:rPr lang="en-US" b="0" i="0" dirty="0">
                <a:solidFill>
                  <a:srgbClr val="000000"/>
                </a:solidFill>
                <a:effectLst/>
                <a:latin typeface="-apple-system"/>
              </a:rPr>
              <a:t> This layer is responsible to define and implement the service interface and the data contracts. Service layer communicates with the application layer</a:t>
            </a:r>
          </a:p>
        </p:txBody>
      </p:sp>
    </p:spTree>
    <p:extLst>
      <p:ext uri="{BB962C8B-B14F-4D97-AF65-F5344CB8AC3E}">
        <p14:creationId xmlns:p14="http://schemas.microsoft.com/office/powerpoint/2010/main" val="2233321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09B6074-E19C-4221-9269-488491E5CA77}"/>
              </a:ext>
            </a:extLst>
          </p:cNvPr>
          <p:cNvSpPr txBox="1"/>
          <p:nvPr/>
        </p:nvSpPr>
        <p:spPr>
          <a:xfrm>
            <a:off x="192946" y="134225"/>
            <a:ext cx="11627141" cy="2957861"/>
          </a:xfrm>
          <a:prstGeom prst="rect">
            <a:avLst/>
          </a:prstGeom>
          <a:noFill/>
        </p:spPr>
        <p:txBody>
          <a:bodyPr wrap="square">
            <a:spAutoFit/>
          </a:bodyPr>
          <a:lstStyle/>
          <a:p>
            <a:pPr algn="l">
              <a:lnSpc>
                <a:spcPct val="150000"/>
              </a:lnSpc>
            </a:pPr>
            <a:r>
              <a:rPr lang="en-US" b="1" i="0" dirty="0">
                <a:solidFill>
                  <a:srgbClr val="3C424F"/>
                </a:solidFill>
                <a:effectLst/>
                <a:latin typeface="Muli"/>
              </a:rPr>
              <a:t>1. One-tier Architecture:</a:t>
            </a:r>
          </a:p>
          <a:p>
            <a:pPr algn="l">
              <a:lnSpc>
                <a:spcPct val="150000"/>
              </a:lnSpc>
            </a:pPr>
            <a:r>
              <a:rPr lang="en-US" b="0" i="0" dirty="0">
                <a:solidFill>
                  <a:srgbClr val="000000"/>
                </a:solidFill>
                <a:effectLst/>
                <a:latin typeface="-apple-system"/>
              </a:rPr>
              <a:t>One-tier architecture has Presentation layer, Business layer and Data layers at the same tier i.e. at Client Tier. As the name suggested, all the layers and components are available on the same machine. MP3 player, MS Office etc. are some of the examples of one-tier architecture. To store the data (as a function of Data Layer) local system or a shared drive is used.</a:t>
            </a:r>
          </a:p>
          <a:p>
            <a:pPr algn="l">
              <a:lnSpc>
                <a:spcPct val="150000"/>
              </a:lnSpc>
            </a:pPr>
            <a:endParaRPr lang="en-US" dirty="0">
              <a:solidFill>
                <a:srgbClr val="000000"/>
              </a:solidFill>
              <a:latin typeface="-apple-system"/>
            </a:endParaRPr>
          </a:p>
          <a:p>
            <a:pPr algn="l">
              <a:lnSpc>
                <a:spcPct val="150000"/>
              </a:lnSpc>
            </a:pPr>
            <a:endParaRPr lang="en-US" b="0" i="0" dirty="0">
              <a:solidFill>
                <a:srgbClr val="000000"/>
              </a:solidFill>
              <a:effectLst/>
              <a:latin typeface="-apple-system"/>
            </a:endParaRPr>
          </a:p>
          <a:p>
            <a:pPr algn="l">
              <a:lnSpc>
                <a:spcPct val="150000"/>
              </a:lnSpc>
            </a:pPr>
            <a:endParaRPr lang="en-US" b="0" i="0" dirty="0">
              <a:solidFill>
                <a:srgbClr val="000000"/>
              </a:solidFill>
              <a:effectLst/>
              <a:latin typeface="-apple-system"/>
            </a:endParaRPr>
          </a:p>
        </p:txBody>
      </p:sp>
      <p:pic>
        <p:nvPicPr>
          <p:cNvPr id="6" name="Picture 2" descr="Software Architecture Type - 1 tier">
            <a:extLst>
              <a:ext uri="{FF2B5EF4-FFF2-40B4-BE49-F238E27FC236}">
                <a16:creationId xmlns:a16="http://schemas.microsoft.com/office/drawing/2014/main" id="{16EB4249-D894-4A81-A04F-B6D80510BC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2474" y="2164361"/>
            <a:ext cx="7357144" cy="45594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3682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6717AA-EFFC-44C5-A384-D56789FC993A}"/>
              </a:ext>
            </a:extLst>
          </p:cNvPr>
          <p:cNvSpPr txBox="1"/>
          <p:nvPr/>
        </p:nvSpPr>
        <p:spPr>
          <a:xfrm>
            <a:off x="100668" y="184558"/>
            <a:ext cx="11862033" cy="3366563"/>
          </a:xfrm>
          <a:prstGeom prst="rect">
            <a:avLst/>
          </a:prstGeom>
          <a:noFill/>
        </p:spPr>
        <p:txBody>
          <a:bodyPr wrap="square">
            <a:spAutoFit/>
          </a:bodyPr>
          <a:lstStyle/>
          <a:p>
            <a:pPr algn="l">
              <a:lnSpc>
                <a:spcPct val="150000"/>
              </a:lnSpc>
            </a:pPr>
            <a:r>
              <a:rPr lang="en-US" b="1" i="0" dirty="0">
                <a:solidFill>
                  <a:srgbClr val="3C424F"/>
                </a:solidFill>
                <a:effectLst/>
                <a:latin typeface="Times New Roman" panose="02020603050405020304" pitchFamily="18" charset="0"/>
                <a:cs typeface="Times New Roman" panose="02020603050405020304" pitchFamily="18" charset="0"/>
              </a:rPr>
              <a:t>2. Two-tier Architecture:</a:t>
            </a:r>
          </a:p>
          <a:p>
            <a:pPr algn="l">
              <a:lnSpc>
                <a:spcPct val="150000"/>
              </a:lnSpc>
            </a:pPr>
            <a:r>
              <a:rPr lang="en-US" b="0" i="0" dirty="0">
                <a:solidFill>
                  <a:srgbClr val="000000"/>
                </a:solidFill>
                <a:effectLst/>
                <a:latin typeface="Times New Roman" panose="02020603050405020304" pitchFamily="18" charset="0"/>
                <a:cs typeface="Times New Roman" panose="02020603050405020304" pitchFamily="18" charset="0"/>
              </a:rPr>
              <a:t>In such type of architecture, the client tier handles both Presentation and Application layers and the server handles the Database layer. The two-tier architecture is also known as a ‘Client-Server Application’. In two-tier architecture, communication takes place between the Client and the Server. Client system sends the request to the server system and the server system processes the request and sends the response back to the client system.</a:t>
            </a:r>
          </a:p>
          <a:p>
            <a:pPr algn="l">
              <a:lnSpc>
                <a:spcPct val="150000"/>
              </a:lnSpc>
            </a:pPr>
            <a:endParaRPr lang="en-US" dirty="0">
              <a:solidFill>
                <a:srgbClr val="000000"/>
              </a:solidFill>
              <a:latin typeface="Times New Roman" panose="02020603050405020304" pitchFamily="18" charset="0"/>
              <a:cs typeface="Times New Roman" panose="02020603050405020304" pitchFamily="18" charset="0"/>
            </a:endParaRPr>
          </a:p>
          <a:p>
            <a:pPr algn="l">
              <a:lnSpc>
                <a:spcPct val="150000"/>
              </a:lnSpc>
            </a:pPr>
            <a:endParaRPr lang="en-US" b="0" i="0" dirty="0">
              <a:solidFill>
                <a:srgbClr val="000000"/>
              </a:solidFill>
              <a:effectLst/>
              <a:latin typeface="Times New Roman" panose="02020603050405020304" pitchFamily="18" charset="0"/>
              <a:cs typeface="Times New Roman" panose="02020603050405020304" pitchFamily="18" charset="0"/>
            </a:endParaRPr>
          </a:p>
          <a:p>
            <a:pPr algn="l">
              <a:lnSpc>
                <a:spcPct val="150000"/>
              </a:lnSpc>
            </a:pPr>
            <a:endParaRPr lang="en-US" b="0" i="0" dirty="0">
              <a:solidFill>
                <a:srgbClr val="000000"/>
              </a:solidFill>
              <a:effectLst/>
              <a:latin typeface="Times New Roman" panose="02020603050405020304" pitchFamily="18" charset="0"/>
              <a:cs typeface="Times New Roman" panose="02020603050405020304" pitchFamily="18" charset="0"/>
            </a:endParaRPr>
          </a:p>
        </p:txBody>
      </p:sp>
      <p:pic>
        <p:nvPicPr>
          <p:cNvPr id="4" name="Picture 2" descr="Software Architecture Type - 2 tier">
            <a:extLst>
              <a:ext uri="{FF2B5EF4-FFF2-40B4-BE49-F238E27FC236}">
                <a16:creationId xmlns:a16="http://schemas.microsoft.com/office/drawing/2014/main" id="{AFADD74E-97EE-4956-BC4B-A17593E9C0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2867" y="2345682"/>
            <a:ext cx="7021584" cy="41893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8103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32DDA9-8642-468E-9A28-48DAF0218771}"/>
              </a:ext>
            </a:extLst>
          </p:cNvPr>
          <p:cNvSpPr txBox="1"/>
          <p:nvPr/>
        </p:nvSpPr>
        <p:spPr>
          <a:xfrm>
            <a:off x="234892" y="117447"/>
            <a:ext cx="11652308" cy="3139321"/>
          </a:xfrm>
          <a:prstGeom prst="rect">
            <a:avLst/>
          </a:prstGeom>
          <a:noFill/>
        </p:spPr>
        <p:txBody>
          <a:bodyPr wrap="square">
            <a:spAutoFit/>
          </a:bodyPr>
          <a:lstStyle/>
          <a:p>
            <a:pPr algn="l">
              <a:lnSpc>
                <a:spcPct val="150000"/>
              </a:lnSpc>
            </a:pPr>
            <a:r>
              <a:rPr lang="en-US" b="1" i="0" dirty="0">
                <a:solidFill>
                  <a:srgbClr val="3C424F"/>
                </a:solidFill>
                <a:effectLst/>
                <a:latin typeface="Muli"/>
              </a:rPr>
              <a:t>3. Three-tier Architecture:</a:t>
            </a:r>
          </a:p>
          <a:p>
            <a:pPr algn="l">
              <a:lnSpc>
                <a:spcPct val="150000"/>
              </a:lnSpc>
            </a:pPr>
            <a:r>
              <a:rPr lang="en-US" b="0" i="0" dirty="0">
                <a:solidFill>
                  <a:srgbClr val="000000"/>
                </a:solidFill>
                <a:effectLst/>
                <a:latin typeface="-apple-system"/>
              </a:rPr>
              <a:t>All three major layers are separated from each other. Presentation layer resides at Client Tier, Application layer acts as middle-ware and lies at Business Tier and Data layer is available at Data Tier. This is a very common architecture.</a:t>
            </a:r>
          </a:p>
          <a:p>
            <a:pPr algn="l">
              <a:lnSpc>
                <a:spcPct val="150000"/>
              </a:lnSpc>
            </a:pPr>
            <a:endParaRPr lang="en-US" dirty="0">
              <a:solidFill>
                <a:srgbClr val="000000"/>
              </a:solidFill>
              <a:latin typeface="-apple-system"/>
            </a:endParaRPr>
          </a:p>
          <a:p>
            <a:pPr algn="l">
              <a:lnSpc>
                <a:spcPct val="150000"/>
              </a:lnSpc>
            </a:pPr>
            <a:endParaRPr lang="en-US" b="0" i="0" dirty="0">
              <a:solidFill>
                <a:srgbClr val="000000"/>
              </a:solidFill>
              <a:effectLst/>
              <a:latin typeface="-apple-system"/>
            </a:endParaRPr>
          </a:p>
          <a:p>
            <a:pPr algn="l">
              <a:lnSpc>
                <a:spcPct val="150000"/>
              </a:lnSpc>
            </a:pPr>
            <a:endParaRPr lang="en-US" b="0" i="0" dirty="0">
              <a:solidFill>
                <a:srgbClr val="000000"/>
              </a:solidFill>
              <a:effectLst/>
              <a:latin typeface="-apple-system"/>
            </a:endParaRPr>
          </a:p>
          <a:p>
            <a:br>
              <a:rPr lang="en-US" b="0" i="0" dirty="0">
                <a:solidFill>
                  <a:srgbClr val="000000"/>
                </a:solidFill>
                <a:effectLst/>
                <a:latin typeface="-apple-system"/>
              </a:rPr>
            </a:br>
            <a:endParaRPr lang="en-SG" dirty="0"/>
          </a:p>
        </p:txBody>
      </p:sp>
      <p:pic>
        <p:nvPicPr>
          <p:cNvPr id="4" name="Picture 2" descr="Software Architecture Type - 3 tier">
            <a:extLst>
              <a:ext uri="{FF2B5EF4-FFF2-40B4-BE49-F238E27FC236}">
                <a16:creationId xmlns:a16="http://schemas.microsoft.com/office/drawing/2014/main" id="{E348B5D1-EEE9-4152-B985-81C3A268E6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9035" y="2046914"/>
            <a:ext cx="7611860" cy="4295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6809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3CD5C2-85D0-43E8-AEA7-41BB62B0EEE9}"/>
              </a:ext>
            </a:extLst>
          </p:cNvPr>
          <p:cNvSpPr txBox="1"/>
          <p:nvPr/>
        </p:nvSpPr>
        <p:spPr>
          <a:xfrm>
            <a:off x="151002" y="109057"/>
            <a:ext cx="11971090" cy="2308324"/>
          </a:xfrm>
          <a:prstGeom prst="rect">
            <a:avLst/>
          </a:prstGeom>
          <a:noFill/>
        </p:spPr>
        <p:txBody>
          <a:bodyPr wrap="square">
            <a:spAutoFit/>
          </a:bodyPr>
          <a:lstStyle/>
          <a:p>
            <a:pPr algn="l">
              <a:lnSpc>
                <a:spcPct val="150000"/>
              </a:lnSpc>
            </a:pPr>
            <a:r>
              <a:rPr lang="en-US" b="1" i="0" dirty="0">
                <a:solidFill>
                  <a:srgbClr val="3C424F"/>
                </a:solidFill>
                <a:effectLst/>
                <a:latin typeface="Muli"/>
              </a:rPr>
              <a:t>4. N-tier Architecture:</a:t>
            </a:r>
          </a:p>
          <a:p>
            <a:pPr algn="l">
              <a:lnSpc>
                <a:spcPct val="150000"/>
              </a:lnSpc>
            </a:pPr>
            <a:r>
              <a:rPr lang="en-US" b="0" i="0" dirty="0">
                <a:solidFill>
                  <a:srgbClr val="000000"/>
                </a:solidFill>
                <a:effectLst/>
                <a:latin typeface="-apple-system"/>
              </a:rPr>
              <a:t>N-tier architecture is also called a Distributed Architecture or Multi-tier Architecture. It is similar to three-tier architecture but the number of the application server is increased and represented in individual tiers in order to distribute the business logic so that the logic can be distributed.</a:t>
            </a:r>
          </a:p>
          <a:p>
            <a:pPr algn="l"/>
            <a:endParaRPr lang="en-US" dirty="0">
              <a:solidFill>
                <a:srgbClr val="000000"/>
              </a:solidFill>
              <a:latin typeface="-apple-system"/>
            </a:endParaRPr>
          </a:p>
          <a:p>
            <a:pPr algn="l"/>
            <a:endParaRPr lang="en-US" b="0" i="0" dirty="0">
              <a:solidFill>
                <a:srgbClr val="000000"/>
              </a:solidFill>
              <a:effectLst/>
              <a:latin typeface="-apple-system"/>
            </a:endParaRPr>
          </a:p>
        </p:txBody>
      </p:sp>
      <p:pic>
        <p:nvPicPr>
          <p:cNvPr id="8194" name="Picture 2" descr="Software Architecture Type - n tier">
            <a:extLst>
              <a:ext uri="{FF2B5EF4-FFF2-40B4-BE49-F238E27FC236}">
                <a16:creationId xmlns:a16="http://schemas.microsoft.com/office/drawing/2014/main" id="{164616A2-1AFF-4F9B-AD1E-E2876CF168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4695" y="2072081"/>
            <a:ext cx="7994708" cy="44126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51547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TotalTime>
  <Words>1103</Words>
  <Application>Microsoft Office PowerPoint</Application>
  <PresentationFormat>Widescreen</PresentationFormat>
  <Paragraphs>102</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-apple-system</vt:lpstr>
      <vt:lpstr>Arial</vt:lpstr>
      <vt:lpstr>Calibri</vt:lpstr>
      <vt:lpstr>Calibri Light</vt:lpstr>
      <vt:lpstr>Muli</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SPThota</dc:creator>
  <cp:lastModifiedBy>SPThota</cp:lastModifiedBy>
  <cp:revision>10</cp:revision>
  <dcterms:created xsi:type="dcterms:W3CDTF">2021-09-04T17:37:20Z</dcterms:created>
  <dcterms:modified xsi:type="dcterms:W3CDTF">2021-09-08T14:50:34Z</dcterms:modified>
</cp:coreProperties>
</file>