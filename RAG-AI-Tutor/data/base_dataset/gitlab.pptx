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0" r:id="rId4"/>
    <p:sldId id="263" r:id="rId5"/>
    <p:sldId id="266" r:id="rId6"/>
    <p:sldId id="258" r:id="rId7"/>
    <p:sldId id="265" r:id="rId8"/>
    <p:sldId id="259"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2" d="100"/>
          <a:sy n="72" d="100"/>
        </p:scale>
        <p:origin x="660"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0AF12D-5B17-454C-8B0E-CB81181A5F1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5E87D934-9A85-4030-AC8F-5766B3C6B9E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B14C2E08-EB66-420D-9605-D688AD712986}"/>
              </a:ext>
            </a:extLst>
          </p:cNvPr>
          <p:cNvSpPr>
            <a:spLocks noGrp="1"/>
          </p:cNvSpPr>
          <p:nvPr>
            <p:ph type="dt" sz="half" idx="10"/>
          </p:nvPr>
        </p:nvSpPr>
        <p:spPr/>
        <p:txBody>
          <a:bodyPr/>
          <a:lstStyle/>
          <a:p>
            <a:fld id="{EF3D3025-AA6B-4C2D-91DD-2C90361662A7}" type="datetimeFigureOut">
              <a:rPr lang="en-IN" smtClean="0"/>
              <a:t>05-10-2021</a:t>
            </a:fld>
            <a:endParaRPr lang="en-IN"/>
          </a:p>
        </p:txBody>
      </p:sp>
      <p:sp>
        <p:nvSpPr>
          <p:cNvPr id="5" name="Footer Placeholder 4">
            <a:extLst>
              <a:ext uri="{FF2B5EF4-FFF2-40B4-BE49-F238E27FC236}">
                <a16:creationId xmlns:a16="http://schemas.microsoft.com/office/drawing/2014/main" id="{048A12B6-8666-4174-B281-201220B02B3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371FCCD-8A4A-48F6-A08E-0117DEF54528}"/>
              </a:ext>
            </a:extLst>
          </p:cNvPr>
          <p:cNvSpPr>
            <a:spLocks noGrp="1"/>
          </p:cNvSpPr>
          <p:nvPr>
            <p:ph type="sldNum" sz="quarter" idx="12"/>
          </p:nvPr>
        </p:nvSpPr>
        <p:spPr/>
        <p:txBody>
          <a:bodyPr/>
          <a:lstStyle/>
          <a:p>
            <a:fld id="{38FB9988-0AF9-4282-B440-BE5E9D2D644F}" type="slidenum">
              <a:rPr lang="en-IN" smtClean="0"/>
              <a:t>‹#›</a:t>
            </a:fld>
            <a:endParaRPr lang="en-IN"/>
          </a:p>
        </p:txBody>
      </p:sp>
    </p:spTree>
    <p:extLst>
      <p:ext uri="{BB962C8B-B14F-4D97-AF65-F5344CB8AC3E}">
        <p14:creationId xmlns:p14="http://schemas.microsoft.com/office/powerpoint/2010/main" val="33880401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A93ACF-1D61-40D6-A935-9476077FDE4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FAA1101-F01D-480F-AB11-9095DF856E2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1127F86-4A20-477A-AB8E-6076AB98CFCD}"/>
              </a:ext>
            </a:extLst>
          </p:cNvPr>
          <p:cNvSpPr>
            <a:spLocks noGrp="1"/>
          </p:cNvSpPr>
          <p:nvPr>
            <p:ph type="dt" sz="half" idx="10"/>
          </p:nvPr>
        </p:nvSpPr>
        <p:spPr/>
        <p:txBody>
          <a:bodyPr/>
          <a:lstStyle/>
          <a:p>
            <a:fld id="{EF3D3025-AA6B-4C2D-91DD-2C90361662A7}" type="datetimeFigureOut">
              <a:rPr lang="en-IN" smtClean="0"/>
              <a:t>05-10-2021</a:t>
            </a:fld>
            <a:endParaRPr lang="en-IN"/>
          </a:p>
        </p:txBody>
      </p:sp>
      <p:sp>
        <p:nvSpPr>
          <p:cNvPr id="5" name="Footer Placeholder 4">
            <a:extLst>
              <a:ext uri="{FF2B5EF4-FFF2-40B4-BE49-F238E27FC236}">
                <a16:creationId xmlns:a16="http://schemas.microsoft.com/office/drawing/2014/main" id="{CF1ABD09-0648-4670-8609-83C43227642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6D1C50F-CE38-4283-9A02-A9157B25D8C7}"/>
              </a:ext>
            </a:extLst>
          </p:cNvPr>
          <p:cNvSpPr>
            <a:spLocks noGrp="1"/>
          </p:cNvSpPr>
          <p:nvPr>
            <p:ph type="sldNum" sz="quarter" idx="12"/>
          </p:nvPr>
        </p:nvSpPr>
        <p:spPr/>
        <p:txBody>
          <a:bodyPr/>
          <a:lstStyle/>
          <a:p>
            <a:fld id="{38FB9988-0AF9-4282-B440-BE5E9D2D644F}" type="slidenum">
              <a:rPr lang="en-IN" smtClean="0"/>
              <a:t>‹#›</a:t>
            </a:fld>
            <a:endParaRPr lang="en-IN"/>
          </a:p>
        </p:txBody>
      </p:sp>
    </p:spTree>
    <p:extLst>
      <p:ext uri="{BB962C8B-B14F-4D97-AF65-F5344CB8AC3E}">
        <p14:creationId xmlns:p14="http://schemas.microsoft.com/office/powerpoint/2010/main" val="35347964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934FDF-7F98-454E-A9D3-857F2EB1703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72789917-F820-4024-95E8-1366015F6E7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1D192E3-58F8-4DAB-AF7C-FC462E80F221}"/>
              </a:ext>
            </a:extLst>
          </p:cNvPr>
          <p:cNvSpPr>
            <a:spLocks noGrp="1"/>
          </p:cNvSpPr>
          <p:nvPr>
            <p:ph type="dt" sz="half" idx="10"/>
          </p:nvPr>
        </p:nvSpPr>
        <p:spPr/>
        <p:txBody>
          <a:bodyPr/>
          <a:lstStyle/>
          <a:p>
            <a:fld id="{EF3D3025-AA6B-4C2D-91DD-2C90361662A7}" type="datetimeFigureOut">
              <a:rPr lang="en-IN" smtClean="0"/>
              <a:t>05-10-2021</a:t>
            </a:fld>
            <a:endParaRPr lang="en-IN"/>
          </a:p>
        </p:txBody>
      </p:sp>
      <p:sp>
        <p:nvSpPr>
          <p:cNvPr id="5" name="Footer Placeholder 4">
            <a:extLst>
              <a:ext uri="{FF2B5EF4-FFF2-40B4-BE49-F238E27FC236}">
                <a16:creationId xmlns:a16="http://schemas.microsoft.com/office/drawing/2014/main" id="{FCFC7636-855D-4F2B-904C-909057C1FD9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0D87113-D8EA-4CC2-B65D-65D78A2FC693}"/>
              </a:ext>
            </a:extLst>
          </p:cNvPr>
          <p:cNvSpPr>
            <a:spLocks noGrp="1"/>
          </p:cNvSpPr>
          <p:nvPr>
            <p:ph type="sldNum" sz="quarter" idx="12"/>
          </p:nvPr>
        </p:nvSpPr>
        <p:spPr/>
        <p:txBody>
          <a:bodyPr/>
          <a:lstStyle/>
          <a:p>
            <a:fld id="{38FB9988-0AF9-4282-B440-BE5E9D2D644F}" type="slidenum">
              <a:rPr lang="en-IN" smtClean="0"/>
              <a:t>‹#›</a:t>
            </a:fld>
            <a:endParaRPr lang="en-IN"/>
          </a:p>
        </p:txBody>
      </p:sp>
    </p:spTree>
    <p:extLst>
      <p:ext uri="{BB962C8B-B14F-4D97-AF65-F5344CB8AC3E}">
        <p14:creationId xmlns:p14="http://schemas.microsoft.com/office/powerpoint/2010/main" val="25755087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AB61EB-74B6-4786-850B-22BFCFD3676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25A37F1-E35A-46C5-95D0-4FD51917BC4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50228536-5502-4295-ABBC-62D5A6CD0CA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35ADFA60-D7DE-4399-9055-854827139007}"/>
              </a:ext>
            </a:extLst>
          </p:cNvPr>
          <p:cNvSpPr>
            <a:spLocks noGrp="1"/>
          </p:cNvSpPr>
          <p:nvPr>
            <p:ph type="dt" sz="half" idx="10"/>
          </p:nvPr>
        </p:nvSpPr>
        <p:spPr/>
        <p:txBody>
          <a:bodyPr/>
          <a:lstStyle/>
          <a:p>
            <a:fld id="{EF3D3025-AA6B-4C2D-91DD-2C90361662A7}" type="datetimeFigureOut">
              <a:rPr lang="en-IN" smtClean="0"/>
              <a:t>05-10-2021</a:t>
            </a:fld>
            <a:endParaRPr lang="en-IN"/>
          </a:p>
        </p:txBody>
      </p:sp>
      <p:sp>
        <p:nvSpPr>
          <p:cNvPr id="6" name="Footer Placeholder 5">
            <a:extLst>
              <a:ext uri="{FF2B5EF4-FFF2-40B4-BE49-F238E27FC236}">
                <a16:creationId xmlns:a16="http://schemas.microsoft.com/office/drawing/2014/main" id="{BAEDAC0F-F3D7-43C6-969B-D414C6A68BA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6C8B122-7477-4DD6-947A-F27A036DB9C3}"/>
              </a:ext>
            </a:extLst>
          </p:cNvPr>
          <p:cNvSpPr>
            <a:spLocks noGrp="1"/>
          </p:cNvSpPr>
          <p:nvPr>
            <p:ph type="sldNum" sz="quarter" idx="12"/>
          </p:nvPr>
        </p:nvSpPr>
        <p:spPr/>
        <p:txBody>
          <a:bodyPr/>
          <a:lstStyle/>
          <a:p>
            <a:fld id="{38FB9988-0AF9-4282-B440-BE5E9D2D644F}" type="slidenum">
              <a:rPr lang="en-IN" smtClean="0"/>
              <a:t>‹#›</a:t>
            </a:fld>
            <a:endParaRPr lang="en-IN"/>
          </a:p>
        </p:txBody>
      </p:sp>
    </p:spTree>
    <p:extLst>
      <p:ext uri="{BB962C8B-B14F-4D97-AF65-F5344CB8AC3E}">
        <p14:creationId xmlns:p14="http://schemas.microsoft.com/office/powerpoint/2010/main" val="3563760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CB8BB8-1C82-4DFE-B952-1F818EAA516D}"/>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0F0088D-483F-41FE-B8CB-DFCC5C973B9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B2B8127-A5EA-44CB-A394-439B4684DF8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46D8EF4B-B83B-4241-8567-6F612C90F31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D3A3E0F-DAF8-45CE-BF0C-8F67EDF7CD3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4636FDF7-04EA-4F9F-A83F-8DA988D636E3}"/>
              </a:ext>
            </a:extLst>
          </p:cNvPr>
          <p:cNvSpPr>
            <a:spLocks noGrp="1"/>
          </p:cNvSpPr>
          <p:nvPr>
            <p:ph type="dt" sz="half" idx="10"/>
          </p:nvPr>
        </p:nvSpPr>
        <p:spPr/>
        <p:txBody>
          <a:bodyPr/>
          <a:lstStyle/>
          <a:p>
            <a:fld id="{EF3D3025-AA6B-4C2D-91DD-2C90361662A7}" type="datetimeFigureOut">
              <a:rPr lang="en-IN" smtClean="0"/>
              <a:t>05-10-2021</a:t>
            </a:fld>
            <a:endParaRPr lang="en-IN"/>
          </a:p>
        </p:txBody>
      </p:sp>
      <p:sp>
        <p:nvSpPr>
          <p:cNvPr id="8" name="Footer Placeholder 7">
            <a:extLst>
              <a:ext uri="{FF2B5EF4-FFF2-40B4-BE49-F238E27FC236}">
                <a16:creationId xmlns:a16="http://schemas.microsoft.com/office/drawing/2014/main" id="{3597A51E-4E0B-4799-A429-58BA8C57ED9D}"/>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17C585EE-42BE-41D3-8A27-853C2D6FD326}"/>
              </a:ext>
            </a:extLst>
          </p:cNvPr>
          <p:cNvSpPr>
            <a:spLocks noGrp="1"/>
          </p:cNvSpPr>
          <p:nvPr>
            <p:ph type="sldNum" sz="quarter" idx="12"/>
          </p:nvPr>
        </p:nvSpPr>
        <p:spPr/>
        <p:txBody>
          <a:bodyPr/>
          <a:lstStyle/>
          <a:p>
            <a:fld id="{38FB9988-0AF9-4282-B440-BE5E9D2D644F}" type="slidenum">
              <a:rPr lang="en-IN" smtClean="0"/>
              <a:t>‹#›</a:t>
            </a:fld>
            <a:endParaRPr lang="en-IN"/>
          </a:p>
        </p:txBody>
      </p:sp>
    </p:spTree>
    <p:extLst>
      <p:ext uri="{BB962C8B-B14F-4D97-AF65-F5344CB8AC3E}">
        <p14:creationId xmlns:p14="http://schemas.microsoft.com/office/powerpoint/2010/main" val="24478269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53871E-9720-4FE6-8BD9-EB490CFACEB0}"/>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06874092-98C6-4A8B-A3F5-AF31FF200A77}"/>
              </a:ext>
            </a:extLst>
          </p:cNvPr>
          <p:cNvSpPr>
            <a:spLocks noGrp="1"/>
          </p:cNvSpPr>
          <p:nvPr>
            <p:ph type="dt" sz="half" idx="10"/>
          </p:nvPr>
        </p:nvSpPr>
        <p:spPr/>
        <p:txBody>
          <a:bodyPr/>
          <a:lstStyle/>
          <a:p>
            <a:fld id="{EF3D3025-AA6B-4C2D-91DD-2C90361662A7}" type="datetimeFigureOut">
              <a:rPr lang="en-IN" smtClean="0"/>
              <a:t>05-10-2021</a:t>
            </a:fld>
            <a:endParaRPr lang="en-IN"/>
          </a:p>
        </p:txBody>
      </p:sp>
      <p:sp>
        <p:nvSpPr>
          <p:cNvPr id="4" name="Footer Placeholder 3">
            <a:extLst>
              <a:ext uri="{FF2B5EF4-FFF2-40B4-BE49-F238E27FC236}">
                <a16:creationId xmlns:a16="http://schemas.microsoft.com/office/drawing/2014/main" id="{4B48DD4A-ABA7-49FD-B5A0-4728CD62E8C8}"/>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5F85B4E0-E5C1-4690-8BE2-96EC19AA501A}"/>
              </a:ext>
            </a:extLst>
          </p:cNvPr>
          <p:cNvSpPr>
            <a:spLocks noGrp="1"/>
          </p:cNvSpPr>
          <p:nvPr>
            <p:ph type="sldNum" sz="quarter" idx="12"/>
          </p:nvPr>
        </p:nvSpPr>
        <p:spPr/>
        <p:txBody>
          <a:bodyPr/>
          <a:lstStyle/>
          <a:p>
            <a:fld id="{38FB9988-0AF9-4282-B440-BE5E9D2D644F}" type="slidenum">
              <a:rPr lang="en-IN" smtClean="0"/>
              <a:t>‹#›</a:t>
            </a:fld>
            <a:endParaRPr lang="en-IN"/>
          </a:p>
        </p:txBody>
      </p:sp>
    </p:spTree>
    <p:extLst>
      <p:ext uri="{BB962C8B-B14F-4D97-AF65-F5344CB8AC3E}">
        <p14:creationId xmlns:p14="http://schemas.microsoft.com/office/powerpoint/2010/main" val="13488487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B4FF014-E377-4D93-8476-6527109E19CD}"/>
              </a:ext>
            </a:extLst>
          </p:cNvPr>
          <p:cNvSpPr>
            <a:spLocks noGrp="1"/>
          </p:cNvSpPr>
          <p:nvPr>
            <p:ph type="dt" sz="half" idx="10"/>
          </p:nvPr>
        </p:nvSpPr>
        <p:spPr/>
        <p:txBody>
          <a:bodyPr/>
          <a:lstStyle/>
          <a:p>
            <a:fld id="{EF3D3025-AA6B-4C2D-91DD-2C90361662A7}" type="datetimeFigureOut">
              <a:rPr lang="en-IN" smtClean="0"/>
              <a:t>05-10-2021</a:t>
            </a:fld>
            <a:endParaRPr lang="en-IN"/>
          </a:p>
        </p:txBody>
      </p:sp>
      <p:sp>
        <p:nvSpPr>
          <p:cNvPr id="3" name="Footer Placeholder 2">
            <a:extLst>
              <a:ext uri="{FF2B5EF4-FFF2-40B4-BE49-F238E27FC236}">
                <a16:creationId xmlns:a16="http://schemas.microsoft.com/office/drawing/2014/main" id="{19084A66-BF94-44BE-9622-9C8A04DE5EB2}"/>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568B5036-EC23-478A-9196-D01618566239}"/>
              </a:ext>
            </a:extLst>
          </p:cNvPr>
          <p:cNvSpPr>
            <a:spLocks noGrp="1"/>
          </p:cNvSpPr>
          <p:nvPr>
            <p:ph type="sldNum" sz="quarter" idx="12"/>
          </p:nvPr>
        </p:nvSpPr>
        <p:spPr/>
        <p:txBody>
          <a:bodyPr/>
          <a:lstStyle/>
          <a:p>
            <a:fld id="{38FB9988-0AF9-4282-B440-BE5E9D2D644F}" type="slidenum">
              <a:rPr lang="en-IN" smtClean="0"/>
              <a:t>‹#›</a:t>
            </a:fld>
            <a:endParaRPr lang="en-IN"/>
          </a:p>
        </p:txBody>
      </p:sp>
    </p:spTree>
    <p:extLst>
      <p:ext uri="{BB962C8B-B14F-4D97-AF65-F5344CB8AC3E}">
        <p14:creationId xmlns:p14="http://schemas.microsoft.com/office/powerpoint/2010/main" val="37466351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B67441-29D2-488A-B2D5-DBB3BF1A0DF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6A9B1E41-9EFC-4009-8EEA-DA2830F4ADA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111628E-CEAE-41AD-BFF7-1D73E2E9787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AE12DAE-3458-411B-BBDB-0BC13C79D795}"/>
              </a:ext>
            </a:extLst>
          </p:cNvPr>
          <p:cNvSpPr>
            <a:spLocks noGrp="1"/>
          </p:cNvSpPr>
          <p:nvPr>
            <p:ph type="dt" sz="half" idx="10"/>
          </p:nvPr>
        </p:nvSpPr>
        <p:spPr/>
        <p:txBody>
          <a:bodyPr/>
          <a:lstStyle/>
          <a:p>
            <a:fld id="{EF3D3025-AA6B-4C2D-91DD-2C90361662A7}" type="datetimeFigureOut">
              <a:rPr lang="en-IN" smtClean="0"/>
              <a:t>05-10-2021</a:t>
            </a:fld>
            <a:endParaRPr lang="en-IN"/>
          </a:p>
        </p:txBody>
      </p:sp>
      <p:sp>
        <p:nvSpPr>
          <p:cNvPr id="6" name="Footer Placeholder 5">
            <a:extLst>
              <a:ext uri="{FF2B5EF4-FFF2-40B4-BE49-F238E27FC236}">
                <a16:creationId xmlns:a16="http://schemas.microsoft.com/office/drawing/2014/main" id="{3289362D-CFC1-400A-B07C-8C07E6EF6CA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013E494-41EE-4A10-B50B-AA85077D0A5A}"/>
              </a:ext>
            </a:extLst>
          </p:cNvPr>
          <p:cNvSpPr>
            <a:spLocks noGrp="1"/>
          </p:cNvSpPr>
          <p:nvPr>
            <p:ph type="sldNum" sz="quarter" idx="12"/>
          </p:nvPr>
        </p:nvSpPr>
        <p:spPr/>
        <p:txBody>
          <a:bodyPr/>
          <a:lstStyle/>
          <a:p>
            <a:fld id="{38FB9988-0AF9-4282-B440-BE5E9D2D644F}" type="slidenum">
              <a:rPr lang="en-IN" smtClean="0"/>
              <a:t>‹#›</a:t>
            </a:fld>
            <a:endParaRPr lang="en-IN"/>
          </a:p>
        </p:txBody>
      </p:sp>
    </p:spTree>
    <p:extLst>
      <p:ext uri="{BB962C8B-B14F-4D97-AF65-F5344CB8AC3E}">
        <p14:creationId xmlns:p14="http://schemas.microsoft.com/office/powerpoint/2010/main" val="8410855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614DA4-6EB4-494B-8082-A9DA1632F97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30931FAF-FD1C-43CC-AC03-B9D8F63167C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FAEC977B-4D8D-47B2-8B4E-A06CD063E4B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485B5AF-CC73-4B6C-B9A7-D376B5D1805F}"/>
              </a:ext>
            </a:extLst>
          </p:cNvPr>
          <p:cNvSpPr>
            <a:spLocks noGrp="1"/>
          </p:cNvSpPr>
          <p:nvPr>
            <p:ph type="dt" sz="half" idx="10"/>
          </p:nvPr>
        </p:nvSpPr>
        <p:spPr/>
        <p:txBody>
          <a:bodyPr/>
          <a:lstStyle/>
          <a:p>
            <a:fld id="{EF3D3025-AA6B-4C2D-91DD-2C90361662A7}" type="datetimeFigureOut">
              <a:rPr lang="en-IN" smtClean="0"/>
              <a:t>05-10-2021</a:t>
            </a:fld>
            <a:endParaRPr lang="en-IN"/>
          </a:p>
        </p:txBody>
      </p:sp>
      <p:sp>
        <p:nvSpPr>
          <p:cNvPr id="6" name="Footer Placeholder 5">
            <a:extLst>
              <a:ext uri="{FF2B5EF4-FFF2-40B4-BE49-F238E27FC236}">
                <a16:creationId xmlns:a16="http://schemas.microsoft.com/office/drawing/2014/main" id="{FFBD15FD-06AF-4556-8E08-8F86A0F5474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131A525-2828-41B4-9CA3-5A29A3ADA45A}"/>
              </a:ext>
            </a:extLst>
          </p:cNvPr>
          <p:cNvSpPr>
            <a:spLocks noGrp="1"/>
          </p:cNvSpPr>
          <p:nvPr>
            <p:ph type="sldNum" sz="quarter" idx="12"/>
          </p:nvPr>
        </p:nvSpPr>
        <p:spPr/>
        <p:txBody>
          <a:bodyPr/>
          <a:lstStyle/>
          <a:p>
            <a:fld id="{38FB9988-0AF9-4282-B440-BE5E9D2D644F}" type="slidenum">
              <a:rPr lang="en-IN" smtClean="0"/>
              <a:t>‹#›</a:t>
            </a:fld>
            <a:endParaRPr lang="en-IN"/>
          </a:p>
        </p:txBody>
      </p:sp>
    </p:spTree>
    <p:extLst>
      <p:ext uri="{BB962C8B-B14F-4D97-AF65-F5344CB8AC3E}">
        <p14:creationId xmlns:p14="http://schemas.microsoft.com/office/powerpoint/2010/main" val="40292125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077E4F-BB94-4FFA-812E-3AE81E449816}"/>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BCD1034-E088-42AB-986B-B77A6B38BD7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74B285F-FF94-43B7-AB8A-9A8EC2C0D203}"/>
              </a:ext>
            </a:extLst>
          </p:cNvPr>
          <p:cNvSpPr>
            <a:spLocks noGrp="1"/>
          </p:cNvSpPr>
          <p:nvPr>
            <p:ph type="dt" sz="half" idx="10"/>
          </p:nvPr>
        </p:nvSpPr>
        <p:spPr/>
        <p:txBody>
          <a:bodyPr/>
          <a:lstStyle/>
          <a:p>
            <a:fld id="{EF3D3025-AA6B-4C2D-91DD-2C90361662A7}" type="datetimeFigureOut">
              <a:rPr lang="en-IN" smtClean="0"/>
              <a:t>05-10-2021</a:t>
            </a:fld>
            <a:endParaRPr lang="en-IN"/>
          </a:p>
        </p:txBody>
      </p:sp>
      <p:sp>
        <p:nvSpPr>
          <p:cNvPr id="5" name="Footer Placeholder 4">
            <a:extLst>
              <a:ext uri="{FF2B5EF4-FFF2-40B4-BE49-F238E27FC236}">
                <a16:creationId xmlns:a16="http://schemas.microsoft.com/office/drawing/2014/main" id="{E65432FF-96BB-4371-B4B6-1B2F31221C1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11F6142-B988-4251-8EFA-0326DF2074DF}"/>
              </a:ext>
            </a:extLst>
          </p:cNvPr>
          <p:cNvSpPr>
            <a:spLocks noGrp="1"/>
          </p:cNvSpPr>
          <p:nvPr>
            <p:ph type="sldNum" sz="quarter" idx="12"/>
          </p:nvPr>
        </p:nvSpPr>
        <p:spPr/>
        <p:txBody>
          <a:bodyPr/>
          <a:lstStyle/>
          <a:p>
            <a:fld id="{38FB9988-0AF9-4282-B440-BE5E9D2D644F}" type="slidenum">
              <a:rPr lang="en-IN" smtClean="0"/>
              <a:t>‹#›</a:t>
            </a:fld>
            <a:endParaRPr lang="en-IN"/>
          </a:p>
        </p:txBody>
      </p:sp>
    </p:spTree>
    <p:extLst>
      <p:ext uri="{BB962C8B-B14F-4D97-AF65-F5344CB8AC3E}">
        <p14:creationId xmlns:p14="http://schemas.microsoft.com/office/powerpoint/2010/main" val="12050760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59D4E9A-F430-4E51-9C62-C910D6CF2FA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282BFA7-B245-442E-9186-B6AFA680D7A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B1E7187-9F17-4E5B-8FEB-F438D0B87272}"/>
              </a:ext>
            </a:extLst>
          </p:cNvPr>
          <p:cNvSpPr>
            <a:spLocks noGrp="1"/>
          </p:cNvSpPr>
          <p:nvPr>
            <p:ph type="dt" sz="half" idx="10"/>
          </p:nvPr>
        </p:nvSpPr>
        <p:spPr/>
        <p:txBody>
          <a:bodyPr/>
          <a:lstStyle/>
          <a:p>
            <a:fld id="{EF3D3025-AA6B-4C2D-91DD-2C90361662A7}" type="datetimeFigureOut">
              <a:rPr lang="en-IN" smtClean="0"/>
              <a:t>05-10-2021</a:t>
            </a:fld>
            <a:endParaRPr lang="en-IN"/>
          </a:p>
        </p:txBody>
      </p:sp>
      <p:sp>
        <p:nvSpPr>
          <p:cNvPr id="5" name="Footer Placeholder 4">
            <a:extLst>
              <a:ext uri="{FF2B5EF4-FFF2-40B4-BE49-F238E27FC236}">
                <a16:creationId xmlns:a16="http://schemas.microsoft.com/office/drawing/2014/main" id="{9026829A-85D0-4E7F-8A1A-3F85B3CCF88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6F45F5B-7EFB-4971-BA12-6409EF25152B}"/>
              </a:ext>
            </a:extLst>
          </p:cNvPr>
          <p:cNvSpPr>
            <a:spLocks noGrp="1"/>
          </p:cNvSpPr>
          <p:nvPr>
            <p:ph type="sldNum" sz="quarter" idx="12"/>
          </p:nvPr>
        </p:nvSpPr>
        <p:spPr/>
        <p:txBody>
          <a:bodyPr/>
          <a:lstStyle/>
          <a:p>
            <a:fld id="{38FB9988-0AF9-4282-B440-BE5E9D2D644F}" type="slidenum">
              <a:rPr lang="en-IN" smtClean="0"/>
              <a:t>‹#›</a:t>
            </a:fld>
            <a:endParaRPr lang="en-IN"/>
          </a:p>
        </p:txBody>
      </p:sp>
    </p:spTree>
    <p:extLst>
      <p:ext uri="{BB962C8B-B14F-4D97-AF65-F5344CB8AC3E}">
        <p14:creationId xmlns:p14="http://schemas.microsoft.com/office/powerpoint/2010/main" val="33297853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96DCAE4-A03F-477C-A688-A631C42C92B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F01C7D5-D18C-40DC-836D-E94AE372085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B7F931C-C1D0-41A7-98AC-291B25DABCD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F3D3025-AA6B-4C2D-91DD-2C90361662A7}" type="datetimeFigureOut">
              <a:rPr lang="en-IN" smtClean="0"/>
              <a:t>05-10-2021</a:t>
            </a:fld>
            <a:endParaRPr lang="en-IN"/>
          </a:p>
        </p:txBody>
      </p:sp>
      <p:sp>
        <p:nvSpPr>
          <p:cNvPr id="5" name="Footer Placeholder 4">
            <a:extLst>
              <a:ext uri="{FF2B5EF4-FFF2-40B4-BE49-F238E27FC236}">
                <a16:creationId xmlns:a16="http://schemas.microsoft.com/office/drawing/2014/main" id="{86C75490-277A-4AC4-A155-A5465194700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235D88C8-2F5D-45E0-8920-FCA621870D2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8FB9988-0AF9-4282-B440-BE5E9D2D644F}" type="slidenum">
              <a:rPr lang="en-IN" smtClean="0"/>
              <a:t>‹#›</a:t>
            </a:fld>
            <a:endParaRPr lang="en-IN"/>
          </a:p>
        </p:txBody>
      </p:sp>
    </p:spTree>
    <p:extLst>
      <p:ext uri="{BB962C8B-B14F-4D97-AF65-F5344CB8AC3E}">
        <p14:creationId xmlns:p14="http://schemas.microsoft.com/office/powerpoint/2010/main" val="224793992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99DD30-B4FC-4AD7-BB03-65C8D8EE2C39}"/>
              </a:ext>
            </a:extLst>
          </p:cNvPr>
          <p:cNvSpPr>
            <a:spLocks noGrp="1"/>
          </p:cNvSpPr>
          <p:nvPr>
            <p:ph type="ctrTitle"/>
          </p:nvPr>
        </p:nvSpPr>
        <p:spPr/>
        <p:txBody>
          <a:bodyPr/>
          <a:lstStyle/>
          <a:p>
            <a:r>
              <a:rPr lang="en-US" sz="6000" b="0" i="0" dirty="0">
                <a:solidFill>
                  <a:srgbClr val="FF0000"/>
                </a:solidFill>
                <a:effectLst/>
                <a:latin typeface="Times New Roman" panose="02020603050405020304" pitchFamily="18" charset="0"/>
                <a:cs typeface="Times New Roman" panose="02020603050405020304" pitchFamily="18" charset="0"/>
              </a:rPr>
              <a:t>Gitlab</a:t>
            </a:r>
            <a:endParaRPr lang="en-IN" dirty="0"/>
          </a:p>
        </p:txBody>
      </p:sp>
    </p:spTree>
    <p:extLst>
      <p:ext uri="{BB962C8B-B14F-4D97-AF65-F5344CB8AC3E}">
        <p14:creationId xmlns:p14="http://schemas.microsoft.com/office/powerpoint/2010/main" val="2458309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5D20D59-0FD6-4D5E-BEBF-4EFE0C28CD94}"/>
              </a:ext>
            </a:extLst>
          </p:cNvPr>
          <p:cNvSpPr txBox="1"/>
          <p:nvPr/>
        </p:nvSpPr>
        <p:spPr>
          <a:xfrm>
            <a:off x="132522" y="0"/>
            <a:ext cx="11728174" cy="8217634"/>
          </a:xfrm>
          <a:prstGeom prst="rect">
            <a:avLst/>
          </a:prstGeom>
          <a:noFill/>
        </p:spPr>
        <p:txBody>
          <a:bodyPr wrap="square">
            <a:spAutoFit/>
          </a:bodyPr>
          <a:lstStyle/>
          <a:p>
            <a:pPr algn="l"/>
            <a:r>
              <a:rPr lang="en-US" sz="2400" b="0" i="0" dirty="0">
                <a:solidFill>
                  <a:srgbClr val="FF0000"/>
                </a:solidFill>
                <a:effectLst/>
                <a:latin typeface="Times New Roman" panose="02020603050405020304" pitchFamily="18" charset="0"/>
                <a:cs typeface="Times New Roman" panose="02020603050405020304" pitchFamily="18" charset="0"/>
              </a:rPr>
              <a:t>What is Gitlab?</a:t>
            </a:r>
          </a:p>
          <a:p>
            <a:pPr algn="just"/>
            <a:r>
              <a:rPr lang="en-US" sz="2400" b="0" i="0" dirty="0">
                <a:solidFill>
                  <a:srgbClr val="000000"/>
                </a:solidFill>
                <a:effectLst/>
                <a:latin typeface="Times New Roman" panose="02020603050405020304" pitchFamily="18" charset="0"/>
                <a:cs typeface="Times New Roman" panose="02020603050405020304" pitchFamily="18" charset="0"/>
              </a:rPr>
              <a:t>Before we dive into definition for Gitlab, first we need to understand few terminologies. We often come across these terms like Git, Gitlab, GitHub, and Bitbucket. Let's see definition of all these as below −</a:t>
            </a:r>
          </a:p>
          <a:p>
            <a:pPr algn="just"/>
            <a:endParaRPr lang="en-US" sz="2400" b="0" i="0" dirty="0">
              <a:solidFill>
                <a:srgbClr val="000000"/>
              </a:solidFill>
              <a:effectLst/>
              <a:latin typeface="Times New Roman" panose="02020603050405020304" pitchFamily="18" charset="0"/>
              <a:cs typeface="Times New Roman" panose="02020603050405020304" pitchFamily="18" charset="0"/>
            </a:endParaRPr>
          </a:p>
          <a:p>
            <a:pPr algn="just"/>
            <a:r>
              <a:rPr lang="en-US" sz="2400" b="1" i="0" dirty="0">
                <a:solidFill>
                  <a:srgbClr val="FF0000"/>
                </a:solidFill>
                <a:effectLst/>
                <a:latin typeface="Times New Roman" panose="02020603050405020304" pitchFamily="18" charset="0"/>
                <a:cs typeface="Times New Roman" panose="02020603050405020304" pitchFamily="18" charset="0"/>
              </a:rPr>
              <a:t>Git</a:t>
            </a:r>
            <a:r>
              <a:rPr lang="en-US" sz="2400" b="1" i="0" dirty="0">
                <a:solidFill>
                  <a:srgbClr val="000000"/>
                </a:solidFill>
                <a:effectLst/>
                <a:latin typeface="Times New Roman" panose="02020603050405020304" pitchFamily="18" charset="0"/>
                <a:cs typeface="Times New Roman" panose="02020603050405020304" pitchFamily="18" charset="0"/>
              </a:rPr>
              <a:t> - </a:t>
            </a:r>
            <a:r>
              <a:rPr lang="en-US" sz="2400" b="0" i="0" dirty="0">
                <a:solidFill>
                  <a:srgbClr val="000000"/>
                </a:solidFill>
                <a:effectLst/>
                <a:latin typeface="Times New Roman" panose="02020603050405020304" pitchFamily="18" charset="0"/>
                <a:cs typeface="Times New Roman" panose="02020603050405020304" pitchFamily="18" charset="0"/>
              </a:rPr>
              <a:t>It is a source code versioning system that lets you locally track changes and push or pull changes from remote resources.</a:t>
            </a:r>
          </a:p>
          <a:p>
            <a:pPr algn="just"/>
            <a:endParaRPr lang="en-US" sz="2400" b="0" i="0" dirty="0">
              <a:solidFill>
                <a:srgbClr val="000000"/>
              </a:solidFill>
              <a:effectLst/>
              <a:latin typeface="Times New Roman" panose="02020603050405020304" pitchFamily="18" charset="0"/>
              <a:cs typeface="Times New Roman" panose="02020603050405020304" pitchFamily="18" charset="0"/>
            </a:endParaRPr>
          </a:p>
          <a:p>
            <a:pPr algn="just"/>
            <a:r>
              <a:rPr lang="en-US" sz="2400" b="1" i="0" dirty="0">
                <a:solidFill>
                  <a:srgbClr val="FF0000"/>
                </a:solidFill>
                <a:effectLst/>
                <a:latin typeface="Times New Roman" panose="02020603050405020304" pitchFamily="18" charset="0"/>
                <a:cs typeface="Times New Roman" panose="02020603050405020304" pitchFamily="18" charset="0"/>
              </a:rPr>
              <a:t>GitLab, GitHub, and Bitbucket</a:t>
            </a:r>
            <a:r>
              <a:rPr lang="en-US" sz="2400" b="1" i="0" dirty="0">
                <a:solidFill>
                  <a:srgbClr val="000000"/>
                </a:solidFill>
                <a:effectLst/>
                <a:latin typeface="Times New Roman" panose="02020603050405020304" pitchFamily="18" charset="0"/>
                <a:cs typeface="Times New Roman" panose="02020603050405020304" pitchFamily="18" charset="0"/>
              </a:rPr>
              <a:t> -</a:t>
            </a:r>
            <a:r>
              <a:rPr lang="en-US" sz="2400" b="0" i="0" dirty="0">
                <a:solidFill>
                  <a:srgbClr val="000000"/>
                </a:solidFill>
                <a:effectLst/>
                <a:latin typeface="Times New Roman" panose="02020603050405020304" pitchFamily="18" charset="0"/>
                <a:cs typeface="Times New Roman" panose="02020603050405020304" pitchFamily="18" charset="0"/>
              </a:rPr>
              <a:t> Are services that provides remote access to Git repositories. In addition to hosting your code, the services provide additional features designed to help manage the software development lifecycle. These additional features include managing the sharing of code between different people, bug tracking, wiki space and other tools for 'social coding’.</a:t>
            </a:r>
          </a:p>
          <a:p>
            <a:pPr algn="just"/>
            <a:endParaRPr lang="en-US" sz="2400" b="0" i="0" dirty="0">
              <a:solidFill>
                <a:srgbClr val="000000"/>
              </a:solidFill>
              <a:effectLst/>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sz="2400" b="1" i="0" dirty="0">
                <a:solidFill>
                  <a:srgbClr val="FF0000"/>
                </a:solidFill>
                <a:effectLst/>
                <a:latin typeface="Times New Roman" panose="02020603050405020304" pitchFamily="18" charset="0"/>
                <a:cs typeface="Times New Roman" panose="02020603050405020304" pitchFamily="18" charset="0"/>
              </a:rPr>
              <a:t>GitHub</a:t>
            </a:r>
            <a:r>
              <a:rPr lang="en-US" sz="2400" b="1" i="0" dirty="0">
                <a:solidFill>
                  <a:srgbClr val="000000"/>
                </a:solidFill>
                <a:effectLst/>
                <a:latin typeface="Times New Roman" panose="02020603050405020304" pitchFamily="18" charset="0"/>
                <a:cs typeface="Times New Roman" panose="02020603050405020304" pitchFamily="18" charset="0"/>
              </a:rPr>
              <a:t> </a:t>
            </a:r>
            <a:r>
              <a:rPr lang="en-US" sz="2400" b="0" i="0" dirty="0">
                <a:solidFill>
                  <a:srgbClr val="000000"/>
                </a:solidFill>
                <a:effectLst/>
                <a:latin typeface="Times New Roman" panose="02020603050405020304" pitchFamily="18" charset="0"/>
                <a:cs typeface="Times New Roman" panose="02020603050405020304" pitchFamily="18" charset="0"/>
              </a:rPr>
              <a:t>is a publicly available, free service which requires all code (unless you have a paid account) be made open. Anyone can see code you push to GitHub and offer suggestions for improvement. GitHub currently hosts the source code for tens of thousands of open source projects.</a:t>
            </a:r>
          </a:p>
          <a:p>
            <a:pPr algn="just"/>
            <a:endParaRPr lang="en-US" sz="2400" b="0" i="0" dirty="0">
              <a:solidFill>
                <a:srgbClr val="000000"/>
              </a:solidFill>
              <a:effectLst/>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sz="2400" b="1" i="0" dirty="0">
                <a:solidFill>
                  <a:srgbClr val="000000"/>
                </a:solidFill>
                <a:effectLst/>
                <a:latin typeface="Times New Roman" panose="02020603050405020304" pitchFamily="18" charset="0"/>
                <a:cs typeface="Times New Roman" panose="02020603050405020304" pitchFamily="18" charset="0"/>
              </a:rPr>
              <a:t>GitLab</a:t>
            </a:r>
            <a:r>
              <a:rPr lang="en-US" sz="2400" b="0" i="0" dirty="0">
                <a:solidFill>
                  <a:srgbClr val="000000"/>
                </a:solidFill>
                <a:effectLst/>
                <a:latin typeface="Times New Roman" panose="02020603050405020304" pitchFamily="18" charset="0"/>
                <a:cs typeface="Times New Roman" panose="02020603050405020304" pitchFamily="18" charset="0"/>
              </a:rPr>
              <a:t> is a </a:t>
            </a:r>
            <a:r>
              <a:rPr lang="en-US" sz="2400" b="0" i="0" dirty="0" err="1">
                <a:solidFill>
                  <a:srgbClr val="000000"/>
                </a:solidFill>
                <a:effectLst/>
                <a:latin typeface="Times New Roman" panose="02020603050405020304" pitchFamily="18" charset="0"/>
                <a:cs typeface="Times New Roman" panose="02020603050405020304" pitchFamily="18" charset="0"/>
              </a:rPr>
              <a:t>github</a:t>
            </a:r>
            <a:r>
              <a:rPr lang="en-US" sz="2400" b="0" i="0" dirty="0">
                <a:solidFill>
                  <a:srgbClr val="000000"/>
                </a:solidFill>
                <a:effectLst/>
                <a:latin typeface="Times New Roman" panose="02020603050405020304" pitchFamily="18" charset="0"/>
                <a:cs typeface="Times New Roman" panose="02020603050405020304" pitchFamily="18" charset="0"/>
              </a:rPr>
              <a:t> like service that organizations can use to provide internal management of git repositories. It is a self hosted Git-repository management system that keeps the user code private and can easily deploy the changes of the code.</a:t>
            </a:r>
          </a:p>
        </p:txBody>
      </p:sp>
    </p:spTree>
    <p:extLst>
      <p:ext uri="{BB962C8B-B14F-4D97-AF65-F5344CB8AC3E}">
        <p14:creationId xmlns:p14="http://schemas.microsoft.com/office/powerpoint/2010/main" val="3827122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E3F3C51-61E0-4375-AA94-58F8CFADC462}"/>
              </a:ext>
            </a:extLst>
          </p:cNvPr>
          <p:cNvSpPr txBox="1"/>
          <p:nvPr/>
        </p:nvSpPr>
        <p:spPr>
          <a:xfrm>
            <a:off x="1" y="0"/>
            <a:ext cx="11993216" cy="5632311"/>
          </a:xfrm>
          <a:prstGeom prst="rect">
            <a:avLst/>
          </a:prstGeom>
          <a:noFill/>
        </p:spPr>
        <p:txBody>
          <a:bodyPr wrap="square">
            <a:spAutoFit/>
          </a:bodyPr>
          <a:lstStyle/>
          <a:p>
            <a:pPr algn="l"/>
            <a:r>
              <a:rPr lang="en-US" sz="2400" b="1" i="0" dirty="0">
                <a:solidFill>
                  <a:srgbClr val="FF0000"/>
                </a:solidFill>
                <a:effectLst/>
                <a:latin typeface="Times New Roman" panose="02020603050405020304" pitchFamily="18" charset="0"/>
                <a:cs typeface="Times New Roman" panose="02020603050405020304" pitchFamily="18" charset="0"/>
              </a:rPr>
              <a:t>What is GitLab?</a:t>
            </a:r>
          </a:p>
          <a:p>
            <a:pPr algn="l"/>
            <a:endParaRPr lang="en-US" sz="2400" b="1" i="0" dirty="0">
              <a:solidFill>
                <a:srgbClr val="FF0000"/>
              </a:solidFill>
              <a:effectLst/>
              <a:latin typeface="Times New Roman" panose="02020603050405020304" pitchFamily="18" charset="0"/>
              <a:cs typeface="Times New Roman" panose="02020603050405020304" pitchFamily="18" charset="0"/>
            </a:endParaRPr>
          </a:p>
          <a:p>
            <a:pPr marL="342900" indent="-342900" algn="l">
              <a:buFont typeface="Wingdings" panose="05000000000000000000" pitchFamily="2" charset="2"/>
              <a:buChar char="Ø"/>
            </a:pPr>
            <a:r>
              <a:rPr lang="en-US" sz="2400" b="0" i="0" dirty="0">
                <a:solidFill>
                  <a:srgbClr val="51565E"/>
                </a:solidFill>
                <a:effectLst/>
                <a:latin typeface="Times New Roman" panose="02020603050405020304" pitchFamily="18" charset="0"/>
                <a:cs typeface="Times New Roman" panose="02020603050405020304" pitchFamily="18" charset="0"/>
              </a:rPr>
              <a:t>GitLab is a web-based Git repository that provides free open and private repositories, issue-following capabilities, and wikis. It is a complete DevOps platform that enables professionals to perform all the tasks in a project—from project planning and source code management to monitoring and security. Furthermore, it allows teams to collaborate and build better software. </a:t>
            </a:r>
          </a:p>
          <a:p>
            <a:pPr marL="342900" indent="-342900" algn="l">
              <a:buFont typeface="Wingdings" panose="05000000000000000000" pitchFamily="2" charset="2"/>
              <a:buChar char="Ø"/>
            </a:pPr>
            <a:endParaRPr lang="en-US" sz="2400" b="0" i="0" dirty="0">
              <a:solidFill>
                <a:srgbClr val="51565E"/>
              </a:solidFill>
              <a:effectLst/>
              <a:latin typeface="Times New Roman" panose="02020603050405020304" pitchFamily="18" charset="0"/>
              <a:cs typeface="Times New Roman" panose="02020603050405020304" pitchFamily="18" charset="0"/>
            </a:endParaRPr>
          </a:p>
          <a:p>
            <a:pPr marL="342900" indent="-342900" algn="l">
              <a:buFont typeface="Wingdings" panose="05000000000000000000" pitchFamily="2" charset="2"/>
              <a:buChar char="Ø"/>
            </a:pPr>
            <a:r>
              <a:rPr lang="en-US" sz="2400" b="0" i="0" dirty="0">
                <a:solidFill>
                  <a:srgbClr val="51565E"/>
                </a:solidFill>
                <a:effectLst/>
                <a:latin typeface="Times New Roman" panose="02020603050405020304" pitchFamily="18" charset="0"/>
                <a:cs typeface="Times New Roman" panose="02020603050405020304" pitchFamily="18" charset="0"/>
              </a:rPr>
              <a:t>GitLab helps teams reduce product lifecycles and increase productivity, which in turn creates value for customers. The application doesn't require users to manage authorizations for each tool. If permissions are set once, then everyone in the organization has access to every component.</a:t>
            </a:r>
          </a:p>
          <a:p>
            <a:pPr marL="342900" indent="-342900" algn="l">
              <a:buFont typeface="Wingdings" panose="05000000000000000000" pitchFamily="2" charset="2"/>
              <a:buChar char="Ø"/>
            </a:pPr>
            <a:endParaRPr lang="en-US" sz="2400" b="0" i="0" dirty="0">
              <a:solidFill>
                <a:srgbClr val="51565E"/>
              </a:solidFill>
              <a:effectLst/>
              <a:latin typeface="Times New Roman" panose="02020603050405020304" pitchFamily="18" charset="0"/>
              <a:cs typeface="Times New Roman" panose="02020603050405020304" pitchFamily="18" charset="0"/>
            </a:endParaRPr>
          </a:p>
          <a:p>
            <a:pPr marL="342900" indent="-342900" algn="l">
              <a:buFont typeface="Wingdings" panose="05000000000000000000" pitchFamily="2" charset="2"/>
              <a:buChar char="Ø"/>
            </a:pPr>
            <a:r>
              <a:rPr lang="en-US" sz="2400" b="0" i="0" dirty="0">
                <a:solidFill>
                  <a:srgbClr val="51565E"/>
                </a:solidFill>
                <a:effectLst/>
                <a:latin typeface="Times New Roman" panose="02020603050405020304" pitchFamily="18" charset="0"/>
                <a:cs typeface="Times New Roman" panose="02020603050405020304" pitchFamily="18" charset="0"/>
              </a:rPr>
              <a:t>To access more functionalities, customers can opt for the paid version of GitLab, starting at $4 per user, per month.</a:t>
            </a:r>
          </a:p>
        </p:txBody>
      </p:sp>
    </p:spTree>
    <p:extLst>
      <p:ext uri="{BB962C8B-B14F-4D97-AF65-F5344CB8AC3E}">
        <p14:creationId xmlns:p14="http://schemas.microsoft.com/office/powerpoint/2010/main" val="41532969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5F78C38-C357-46B5-9DE3-2EA8AD01C605}"/>
              </a:ext>
            </a:extLst>
          </p:cNvPr>
          <p:cNvSpPr txBox="1"/>
          <p:nvPr/>
        </p:nvSpPr>
        <p:spPr>
          <a:xfrm>
            <a:off x="0" y="159026"/>
            <a:ext cx="11728175" cy="6370975"/>
          </a:xfrm>
          <a:prstGeom prst="rect">
            <a:avLst/>
          </a:prstGeom>
          <a:noFill/>
        </p:spPr>
        <p:txBody>
          <a:bodyPr wrap="square">
            <a:spAutoFit/>
          </a:bodyPr>
          <a:lstStyle/>
          <a:p>
            <a:pPr marL="285750" indent="-285750" algn="l">
              <a:buFont typeface="Wingdings" panose="05000000000000000000" pitchFamily="2" charset="2"/>
              <a:buChar char="Ø"/>
            </a:pPr>
            <a:r>
              <a:rPr lang="en-US" sz="2400" b="0" i="0" dirty="0">
                <a:solidFill>
                  <a:srgbClr val="2B2A2A"/>
                </a:solidFill>
                <a:effectLst/>
                <a:latin typeface="Times New Roman" panose="02020603050405020304" pitchFamily="18" charset="0"/>
                <a:cs typeface="Times New Roman" panose="02020603050405020304" pitchFamily="18" charset="0"/>
              </a:rPr>
              <a:t>We use the combination of Git and GitLab to maintain our code </a:t>
            </a:r>
          </a:p>
          <a:p>
            <a:pPr marL="285750" indent="-285750" algn="l">
              <a:buFont typeface="Wingdings" panose="05000000000000000000" pitchFamily="2" charset="2"/>
              <a:buChar char="Ø"/>
            </a:pPr>
            <a:r>
              <a:rPr lang="en-US" sz="2400" b="0" i="0" dirty="0">
                <a:solidFill>
                  <a:srgbClr val="2B2A2A"/>
                </a:solidFill>
                <a:effectLst/>
                <a:latin typeface="Times New Roman" panose="02020603050405020304" pitchFamily="18" charset="0"/>
                <a:cs typeface="Times New Roman" panose="02020603050405020304" pitchFamily="18" charset="0"/>
              </a:rPr>
              <a:t>By submitting each work session’s code, we ensure that a record is kept of our development along each step of the process </a:t>
            </a:r>
          </a:p>
          <a:p>
            <a:pPr marL="285750" indent="-285750" algn="l">
              <a:buFont typeface="Wingdings" panose="05000000000000000000" pitchFamily="2" charset="2"/>
              <a:buChar char="Ø"/>
            </a:pPr>
            <a:r>
              <a:rPr lang="en-US" sz="2400" b="0" i="0" dirty="0">
                <a:solidFill>
                  <a:srgbClr val="2B2A2A"/>
                </a:solidFill>
                <a:effectLst/>
                <a:latin typeface="Times New Roman" panose="02020603050405020304" pitchFamily="18" charset="0"/>
                <a:cs typeface="Times New Roman" panose="02020603050405020304" pitchFamily="18" charset="0"/>
              </a:rPr>
              <a:t> The merging process makes it easy to compile everyone’s work together </a:t>
            </a:r>
          </a:p>
          <a:p>
            <a:pPr marL="285750" indent="-285750" algn="l">
              <a:buFont typeface="Wingdings" panose="05000000000000000000" pitchFamily="2" charset="2"/>
              <a:buChar char="Ø"/>
            </a:pPr>
            <a:r>
              <a:rPr lang="en-US" sz="2400" b="0" i="0" dirty="0">
                <a:solidFill>
                  <a:srgbClr val="2B2A2A"/>
                </a:solidFill>
                <a:effectLst/>
                <a:latin typeface="Times New Roman" panose="02020603050405020304" pitchFamily="18" charset="0"/>
                <a:cs typeface="Times New Roman" panose="02020603050405020304" pitchFamily="18" charset="0"/>
              </a:rPr>
              <a:t> In the case of a mistake being made in the code, we are able to revert to any edition committed previously into the repository</a:t>
            </a:r>
          </a:p>
          <a:p>
            <a:pPr algn="l"/>
            <a:endParaRPr lang="en-US" sz="2400" b="0" i="0" dirty="0">
              <a:solidFill>
                <a:srgbClr val="2B2A2A"/>
              </a:solidFill>
              <a:effectLst/>
              <a:latin typeface="Times New Roman" panose="02020603050405020304" pitchFamily="18" charset="0"/>
              <a:cs typeface="Times New Roman" panose="02020603050405020304" pitchFamily="18" charset="0"/>
            </a:endParaRPr>
          </a:p>
          <a:p>
            <a:pPr algn="l"/>
            <a:r>
              <a:rPr lang="en-US" sz="2400" b="1" i="0" dirty="0">
                <a:solidFill>
                  <a:srgbClr val="FF0000"/>
                </a:solidFill>
                <a:effectLst/>
                <a:latin typeface="Times New Roman" panose="02020603050405020304" pitchFamily="18" charset="0"/>
                <a:cs typeface="Times New Roman" panose="02020603050405020304" pitchFamily="18" charset="0"/>
              </a:rPr>
              <a:t>Issue Tracking </a:t>
            </a:r>
          </a:p>
          <a:p>
            <a:pPr algn="l"/>
            <a:endParaRPr lang="en-US" sz="2400" b="0" i="0" dirty="0">
              <a:solidFill>
                <a:srgbClr val="2B2A2A"/>
              </a:solidFill>
              <a:effectLst/>
              <a:latin typeface="Times New Roman" panose="02020603050405020304" pitchFamily="18" charset="0"/>
              <a:cs typeface="Times New Roman" panose="02020603050405020304" pitchFamily="18" charset="0"/>
            </a:endParaRPr>
          </a:p>
          <a:p>
            <a:pPr marL="285750" indent="-285750" algn="l">
              <a:buFont typeface="Wingdings" panose="05000000000000000000" pitchFamily="2" charset="2"/>
              <a:buChar char="Ø"/>
            </a:pPr>
            <a:r>
              <a:rPr lang="en-US" sz="2400" b="0" i="0" dirty="0">
                <a:solidFill>
                  <a:srgbClr val="2B2A2A"/>
                </a:solidFill>
                <a:effectLst/>
                <a:latin typeface="Times New Roman" panose="02020603050405020304" pitchFamily="18" charset="0"/>
                <a:cs typeface="Times New Roman" panose="02020603050405020304" pitchFamily="18" charset="0"/>
              </a:rPr>
              <a:t>We can assign small parts of the project to team members through GitLab </a:t>
            </a:r>
          </a:p>
          <a:p>
            <a:pPr marL="285750" indent="-285750" algn="l">
              <a:buFont typeface="Wingdings" panose="05000000000000000000" pitchFamily="2" charset="2"/>
              <a:buChar char="Ø"/>
            </a:pPr>
            <a:r>
              <a:rPr lang="en-US" sz="2400" b="0" i="0" dirty="0">
                <a:solidFill>
                  <a:srgbClr val="2B2A2A"/>
                </a:solidFill>
                <a:effectLst/>
                <a:latin typeface="Times New Roman" panose="02020603050405020304" pitchFamily="18" charset="0"/>
                <a:cs typeface="Times New Roman" panose="02020603050405020304" pitchFamily="18" charset="0"/>
              </a:rPr>
              <a:t>This allows the group to know exactly what needs worked on </a:t>
            </a:r>
          </a:p>
          <a:p>
            <a:pPr marL="285750" indent="-285750" algn="l">
              <a:buFont typeface="Wingdings" panose="05000000000000000000" pitchFamily="2" charset="2"/>
              <a:buChar char="Ø"/>
            </a:pPr>
            <a:r>
              <a:rPr lang="en-US" sz="2400" b="0" i="0" dirty="0">
                <a:solidFill>
                  <a:srgbClr val="2B2A2A"/>
                </a:solidFill>
                <a:effectLst/>
                <a:latin typeface="Times New Roman" panose="02020603050405020304" pitchFamily="18" charset="0"/>
                <a:cs typeface="Times New Roman" panose="02020603050405020304" pitchFamily="18" charset="0"/>
              </a:rPr>
              <a:t>Bugs can also be submitted as an issue, and assigned to a particular developer to address </a:t>
            </a:r>
          </a:p>
          <a:p>
            <a:pPr marL="285750" indent="-285750" algn="l">
              <a:buFont typeface="Wingdings" panose="05000000000000000000" pitchFamily="2" charset="2"/>
              <a:buChar char="Ø"/>
            </a:pPr>
            <a:r>
              <a:rPr lang="en-US" sz="2400" b="0" i="0" dirty="0">
                <a:solidFill>
                  <a:srgbClr val="2B2A2A"/>
                </a:solidFill>
                <a:effectLst/>
                <a:latin typeface="Times New Roman" panose="02020603050405020304" pitchFamily="18" charset="0"/>
                <a:cs typeface="Times New Roman" panose="02020603050405020304" pitchFamily="18" charset="0"/>
              </a:rPr>
              <a:t>Issues can be closed in a ticketing like system to show which parts of the project have been completed </a:t>
            </a:r>
          </a:p>
          <a:p>
            <a:pPr marL="285750" indent="-285750" algn="l">
              <a:buFont typeface="Wingdings" panose="05000000000000000000" pitchFamily="2" charset="2"/>
              <a:buChar char="Ø"/>
            </a:pPr>
            <a:r>
              <a:rPr lang="en-US" sz="2400" b="0" i="0" dirty="0">
                <a:solidFill>
                  <a:srgbClr val="2B2A2A"/>
                </a:solidFill>
                <a:effectLst/>
                <a:latin typeface="Times New Roman" panose="02020603050405020304" pitchFamily="18" charset="0"/>
                <a:cs typeface="Times New Roman" panose="02020603050405020304" pitchFamily="18" charset="0"/>
              </a:rPr>
              <a:t>Milestones can be created with issues assigned to them, and a chosen due date applied</a:t>
            </a:r>
          </a:p>
          <a:p>
            <a:pPr algn="l"/>
            <a:endParaRPr lang="en-US" sz="2400" b="0" i="0" dirty="0">
              <a:solidFill>
                <a:srgbClr val="2B2A2A"/>
              </a:solidFill>
              <a:effectLst/>
              <a:latin typeface="Times New Roman" panose="02020603050405020304" pitchFamily="18" charset="0"/>
              <a:cs typeface="Times New Roman" panose="02020603050405020304" pitchFamily="18" charset="0"/>
            </a:endParaRPr>
          </a:p>
          <a:p>
            <a:pPr algn="l"/>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044904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7BD0FA9-B47A-4F13-AD4E-8AEE290CACC3}"/>
              </a:ext>
            </a:extLst>
          </p:cNvPr>
          <p:cNvSpPr txBox="1"/>
          <p:nvPr/>
        </p:nvSpPr>
        <p:spPr>
          <a:xfrm>
            <a:off x="225287" y="145774"/>
            <a:ext cx="11688417" cy="4827284"/>
          </a:xfrm>
          <a:prstGeom prst="rect">
            <a:avLst/>
          </a:prstGeom>
          <a:noFill/>
        </p:spPr>
        <p:txBody>
          <a:bodyPr wrap="square">
            <a:spAutoFit/>
          </a:bodyPr>
          <a:lstStyle/>
          <a:p>
            <a:pPr algn="l"/>
            <a:r>
              <a:rPr lang="en-US" sz="2400" b="0" i="0" dirty="0">
                <a:solidFill>
                  <a:srgbClr val="FF0000"/>
                </a:solidFill>
                <a:effectLst/>
                <a:latin typeface="Times New Roman" panose="02020603050405020304" pitchFamily="18" charset="0"/>
                <a:cs typeface="Times New Roman" panose="02020603050405020304" pitchFamily="18" charset="0"/>
              </a:rPr>
              <a:t>Backup </a:t>
            </a:r>
          </a:p>
          <a:p>
            <a:pPr marL="342900" indent="-342900" algn="l">
              <a:lnSpc>
                <a:spcPct val="150000"/>
              </a:lnSpc>
              <a:buFont typeface="Wingdings" panose="05000000000000000000" pitchFamily="2" charset="2"/>
              <a:buChar char="Ø"/>
            </a:pPr>
            <a:r>
              <a:rPr lang="en-US" sz="2400" b="0" i="0" dirty="0">
                <a:solidFill>
                  <a:srgbClr val="2B2A2A"/>
                </a:solidFill>
                <a:effectLst/>
                <a:latin typeface="Times New Roman" panose="02020603050405020304" pitchFamily="18" charset="0"/>
                <a:cs typeface="Times New Roman" panose="02020603050405020304" pitchFamily="18" charset="0"/>
              </a:rPr>
              <a:t> “A file does not exist unless it is present in multiple geographical locations” </a:t>
            </a:r>
          </a:p>
          <a:p>
            <a:pPr marL="342900" indent="-342900" algn="l">
              <a:lnSpc>
                <a:spcPct val="150000"/>
              </a:lnSpc>
              <a:buFont typeface="Wingdings" panose="05000000000000000000" pitchFamily="2" charset="2"/>
              <a:buChar char="Ø"/>
            </a:pPr>
            <a:r>
              <a:rPr lang="en-US" sz="2400" b="0" i="0" dirty="0">
                <a:solidFill>
                  <a:srgbClr val="2B2A2A"/>
                </a:solidFill>
                <a:effectLst/>
                <a:latin typeface="Times New Roman" panose="02020603050405020304" pitchFamily="18" charset="0"/>
                <a:cs typeface="Times New Roman" panose="02020603050405020304" pitchFamily="18" charset="0"/>
              </a:rPr>
              <a:t>With a local repository on each of our machines, development server, and our GitLab server, we have a great amount of data redundancy in the event of a failure, either software or hardware </a:t>
            </a:r>
          </a:p>
          <a:p>
            <a:pPr marL="342900" indent="-342900" algn="l">
              <a:lnSpc>
                <a:spcPct val="150000"/>
              </a:lnSpc>
              <a:buFont typeface="Wingdings" panose="05000000000000000000" pitchFamily="2" charset="2"/>
              <a:buChar char="Ø"/>
            </a:pPr>
            <a:r>
              <a:rPr lang="en-US" sz="2400" b="0" i="0" dirty="0">
                <a:solidFill>
                  <a:srgbClr val="2B2A2A"/>
                </a:solidFill>
                <a:effectLst/>
                <a:latin typeface="Times New Roman" panose="02020603050405020304" pitchFamily="18" charset="0"/>
                <a:cs typeface="Times New Roman" panose="02020603050405020304" pitchFamily="18" charset="0"/>
              </a:rPr>
              <a:t>Our repository is stored on the Amazon cloud in addition to our server on campus </a:t>
            </a:r>
          </a:p>
          <a:p>
            <a:pPr marL="342900" indent="-342900" algn="l">
              <a:lnSpc>
                <a:spcPct val="150000"/>
              </a:lnSpc>
              <a:buFont typeface="Wingdings" panose="05000000000000000000" pitchFamily="2" charset="2"/>
              <a:buChar char="Ø"/>
            </a:pPr>
            <a:r>
              <a:rPr lang="en-US" sz="2400" b="0" i="0" dirty="0">
                <a:solidFill>
                  <a:srgbClr val="2B2A2A"/>
                </a:solidFill>
                <a:effectLst/>
                <a:latin typeface="Times New Roman" panose="02020603050405020304" pitchFamily="18" charset="0"/>
                <a:cs typeface="Times New Roman" panose="02020603050405020304" pitchFamily="18" charset="0"/>
              </a:rPr>
              <a:t>Allows us to pull old versions of the project as well</a:t>
            </a:r>
          </a:p>
          <a:p>
            <a:pPr marL="342900" indent="-342900" algn="l">
              <a:lnSpc>
                <a:spcPct val="150000"/>
              </a:lnSpc>
              <a:buFont typeface="Wingdings" panose="05000000000000000000" pitchFamily="2" charset="2"/>
              <a:buChar char="Ø"/>
            </a:pPr>
            <a:r>
              <a:rPr lang="en-US" sz="2400" b="0" i="0" dirty="0">
                <a:solidFill>
                  <a:srgbClr val="2B2A2A"/>
                </a:solidFill>
                <a:effectLst/>
                <a:latin typeface="Times New Roman" panose="02020603050405020304" pitchFamily="18" charset="0"/>
                <a:cs typeface="Times New Roman" panose="02020603050405020304" pitchFamily="18" charset="0"/>
              </a:rPr>
              <a:t>Allows for self-maintained version control for a closed source project </a:t>
            </a:r>
          </a:p>
          <a:p>
            <a:pPr marL="342900" indent="-342900" algn="l">
              <a:lnSpc>
                <a:spcPct val="150000"/>
              </a:lnSpc>
              <a:buFont typeface="Wingdings" panose="05000000000000000000" pitchFamily="2" charset="2"/>
              <a:buChar char="Ø"/>
            </a:pPr>
            <a:r>
              <a:rPr lang="en-US" sz="2400" b="0" i="0" dirty="0">
                <a:solidFill>
                  <a:srgbClr val="2B2A2A"/>
                </a:solidFill>
                <a:effectLst/>
                <a:latin typeface="Times New Roman" panose="02020603050405020304" pitchFamily="18" charset="0"/>
                <a:cs typeface="Times New Roman" panose="02020603050405020304" pitchFamily="18" charset="0"/>
              </a:rPr>
              <a:t>Allows for a detailed viewing and documentation of the project </a:t>
            </a:r>
          </a:p>
        </p:txBody>
      </p:sp>
    </p:spTree>
    <p:extLst>
      <p:ext uri="{BB962C8B-B14F-4D97-AF65-F5344CB8AC3E}">
        <p14:creationId xmlns:p14="http://schemas.microsoft.com/office/powerpoint/2010/main" val="6374321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94B088D-EF2E-4AAA-8D70-E3CB2CC61C1D}"/>
              </a:ext>
            </a:extLst>
          </p:cNvPr>
          <p:cNvSpPr txBox="1"/>
          <p:nvPr/>
        </p:nvSpPr>
        <p:spPr>
          <a:xfrm>
            <a:off x="1" y="0"/>
            <a:ext cx="12072729" cy="3903954"/>
          </a:xfrm>
          <a:prstGeom prst="rect">
            <a:avLst/>
          </a:prstGeom>
          <a:noFill/>
        </p:spPr>
        <p:txBody>
          <a:bodyPr wrap="square">
            <a:spAutoFit/>
          </a:bodyPr>
          <a:lstStyle/>
          <a:p>
            <a:pPr algn="l">
              <a:lnSpc>
                <a:spcPct val="150000"/>
              </a:lnSpc>
            </a:pPr>
            <a:r>
              <a:rPr lang="en-US" sz="2400" b="1" i="0" dirty="0">
                <a:solidFill>
                  <a:srgbClr val="FF0000"/>
                </a:solidFill>
                <a:effectLst/>
                <a:latin typeface="Times New Roman" panose="02020603050405020304" pitchFamily="18" charset="0"/>
                <a:cs typeface="Times New Roman" panose="02020603050405020304" pitchFamily="18" charset="0"/>
              </a:rPr>
              <a:t>Why to use GitLab?</a:t>
            </a:r>
          </a:p>
          <a:p>
            <a:pPr algn="l">
              <a:lnSpc>
                <a:spcPct val="150000"/>
              </a:lnSpc>
            </a:pPr>
            <a:endParaRPr lang="en-US" sz="2400" b="1" dirty="0">
              <a:solidFill>
                <a:srgbClr val="FF0000"/>
              </a:solidFill>
              <a:latin typeface="Times New Roman" panose="02020603050405020304" pitchFamily="18" charset="0"/>
              <a:cs typeface="Times New Roman" panose="02020603050405020304" pitchFamily="18" charset="0"/>
            </a:endParaRPr>
          </a:p>
          <a:p>
            <a:pPr marL="342900" indent="-342900" algn="l">
              <a:buFont typeface="Wingdings" panose="05000000000000000000" pitchFamily="2" charset="2"/>
              <a:buChar char="Ø"/>
            </a:pPr>
            <a:r>
              <a:rPr lang="en-US" sz="2400" b="0" i="0" dirty="0">
                <a:solidFill>
                  <a:srgbClr val="51565E"/>
                </a:solidFill>
                <a:effectLst/>
                <a:latin typeface="Times New Roman" panose="02020603050405020304" pitchFamily="18" charset="0"/>
                <a:cs typeface="Times New Roman" panose="02020603050405020304" pitchFamily="18" charset="0"/>
              </a:rPr>
              <a:t>The main benefit of using GitLab is that it allows all the team members to collaborate in every phase of the project. GitLab offers tracking from planning to creation to help developers automate the entire DevOps lifecycle and achieve the best possible results. </a:t>
            </a:r>
          </a:p>
          <a:p>
            <a:pPr marL="342900" indent="-342900" algn="l">
              <a:buFont typeface="Wingdings" panose="05000000000000000000" pitchFamily="2" charset="2"/>
              <a:buChar char="Ø"/>
            </a:pPr>
            <a:endParaRPr lang="en-US" sz="2400" dirty="0">
              <a:solidFill>
                <a:srgbClr val="51565E"/>
              </a:solidFill>
              <a:latin typeface="Times New Roman" panose="02020603050405020304" pitchFamily="18" charset="0"/>
              <a:cs typeface="Times New Roman" panose="02020603050405020304" pitchFamily="18" charset="0"/>
            </a:endParaRPr>
          </a:p>
          <a:p>
            <a:pPr marL="342900" indent="-342900" algn="l">
              <a:buFont typeface="Wingdings" panose="05000000000000000000" pitchFamily="2" charset="2"/>
              <a:buChar char="Ø"/>
            </a:pPr>
            <a:r>
              <a:rPr lang="en-US" sz="2400" b="0" i="0" dirty="0">
                <a:solidFill>
                  <a:srgbClr val="51565E"/>
                </a:solidFill>
                <a:effectLst/>
                <a:latin typeface="Times New Roman" panose="02020603050405020304" pitchFamily="18" charset="0"/>
                <a:cs typeface="Times New Roman" panose="02020603050405020304" pitchFamily="18" charset="0"/>
              </a:rPr>
              <a:t>More and more developers have started to use GitLab because of its wide features and brick blocks of code availability.</a:t>
            </a:r>
          </a:p>
          <a:p>
            <a:pPr algn="l">
              <a:lnSpc>
                <a:spcPct val="150000"/>
              </a:lnSpc>
            </a:pPr>
            <a:endParaRPr lang="en-US" sz="2400" b="1" i="0" dirty="0">
              <a:solidFill>
                <a:srgbClr val="FF0000"/>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54454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4C68A34-7C14-4B53-97B6-04AB9AAE72E0}"/>
              </a:ext>
            </a:extLst>
          </p:cNvPr>
          <p:cNvSpPr txBox="1"/>
          <p:nvPr/>
        </p:nvSpPr>
        <p:spPr>
          <a:xfrm>
            <a:off x="172278" y="0"/>
            <a:ext cx="11595652" cy="4457952"/>
          </a:xfrm>
          <a:prstGeom prst="rect">
            <a:avLst/>
          </a:prstGeom>
          <a:noFill/>
        </p:spPr>
        <p:txBody>
          <a:bodyPr wrap="square">
            <a:spAutoFit/>
          </a:bodyPr>
          <a:lstStyle/>
          <a:p>
            <a:pPr marL="342900" indent="-342900" algn="l">
              <a:lnSpc>
                <a:spcPct val="150000"/>
              </a:lnSpc>
              <a:buFont typeface="Wingdings" panose="05000000000000000000" pitchFamily="2" charset="2"/>
              <a:buChar char="Ø"/>
            </a:pPr>
            <a:r>
              <a:rPr lang="en-US" sz="2400" b="1" i="0" dirty="0">
                <a:solidFill>
                  <a:srgbClr val="FF0000"/>
                </a:solidFill>
                <a:effectLst/>
                <a:latin typeface="Times New Roman" panose="02020603050405020304" pitchFamily="18" charset="0"/>
                <a:cs typeface="Times New Roman" panose="02020603050405020304" pitchFamily="18" charset="0"/>
              </a:rPr>
              <a:t>Features</a:t>
            </a:r>
          </a:p>
          <a:p>
            <a:pPr marL="342900" indent="-342900" algn="just">
              <a:lnSpc>
                <a:spcPct val="150000"/>
              </a:lnSpc>
              <a:buFont typeface="Wingdings" panose="05000000000000000000" pitchFamily="2" charset="2"/>
              <a:buChar char="Ø"/>
            </a:pPr>
            <a:r>
              <a:rPr lang="en-US" sz="2400" b="0" i="0" dirty="0">
                <a:effectLst/>
                <a:latin typeface="Times New Roman" panose="02020603050405020304" pitchFamily="18" charset="0"/>
                <a:cs typeface="Times New Roman" panose="02020603050405020304" pitchFamily="18" charset="0"/>
              </a:rPr>
              <a:t>GitLab hosts your (private) software projects for free.</a:t>
            </a:r>
            <a:endParaRPr lang="en-US" sz="2400" b="0" i="0" dirty="0">
              <a:solidFill>
                <a:srgbClr val="000000"/>
              </a:solidFill>
              <a:effectLst/>
              <a:latin typeface="Times New Roman" panose="02020603050405020304" pitchFamily="18" charset="0"/>
              <a:cs typeface="Times New Roman" panose="02020603050405020304" pitchFamily="18" charset="0"/>
            </a:endParaRPr>
          </a:p>
          <a:p>
            <a:pPr marL="342900" indent="-342900" algn="just">
              <a:lnSpc>
                <a:spcPct val="150000"/>
              </a:lnSpc>
              <a:buFont typeface="Wingdings" panose="05000000000000000000" pitchFamily="2" charset="2"/>
              <a:buChar char="Ø"/>
            </a:pPr>
            <a:r>
              <a:rPr lang="en-US" sz="2400" b="0" i="0" dirty="0">
                <a:solidFill>
                  <a:srgbClr val="000000"/>
                </a:solidFill>
                <a:effectLst/>
                <a:latin typeface="Times New Roman" panose="02020603050405020304" pitchFamily="18" charset="0"/>
                <a:cs typeface="Times New Roman" panose="02020603050405020304" pitchFamily="18" charset="0"/>
              </a:rPr>
              <a:t>GitLab is a platform for managing Git repositories.</a:t>
            </a:r>
          </a:p>
          <a:p>
            <a:pPr marL="342900" indent="-342900" algn="just">
              <a:lnSpc>
                <a:spcPct val="150000"/>
              </a:lnSpc>
              <a:buFont typeface="Wingdings" panose="05000000000000000000" pitchFamily="2" charset="2"/>
              <a:buChar char="Ø"/>
            </a:pPr>
            <a:r>
              <a:rPr lang="en-US" sz="2400" b="0" i="0" dirty="0">
                <a:solidFill>
                  <a:srgbClr val="000000"/>
                </a:solidFill>
                <a:effectLst/>
                <a:latin typeface="Times New Roman" panose="02020603050405020304" pitchFamily="18" charset="0"/>
                <a:cs typeface="Times New Roman" panose="02020603050405020304" pitchFamily="18" charset="0"/>
              </a:rPr>
              <a:t>GitLab offers free public and private repositories, issue-tracking and wikis.</a:t>
            </a:r>
          </a:p>
          <a:p>
            <a:pPr marL="342900" indent="-342900" algn="just">
              <a:lnSpc>
                <a:spcPct val="150000"/>
              </a:lnSpc>
              <a:buFont typeface="Wingdings" panose="05000000000000000000" pitchFamily="2" charset="2"/>
              <a:buChar char="Ø"/>
            </a:pPr>
            <a:r>
              <a:rPr lang="en-US" sz="2400" b="0" i="0" dirty="0">
                <a:solidFill>
                  <a:srgbClr val="000000"/>
                </a:solidFill>
                <a:effectLst/>
                <a:latin typeface="Times New Roman" panose="02020603050405020304" pitchFamily="18" charset="0"/>
                <a:cs typeface="Times New Roman" panose="02020603050405020304" pitchFamily="18" charset="0"/>
              </a:rPr>
              <a:t>GitLab is a user friendly web interface layer on top of Git, which increases the speed of working with Git.</a:t>
            </a:r>
          </a:p>
          <a:p>
            <a:pPr marL="342900" indent="-342900" algn="just">
              <a:lnSpc>
                <a:spcPct val="150000"/>
              </a:lnSpc>
              <a:buFont typeface="Wingdings" panose="05000000000000000000" pitchFamily="2" charset="2"/>
              <a:buChar char="Ø"/>
            </a:pPr>
            <a:r>
              <a:rPr lang="en-US" sz="2400" b="0" i="0" dirty="0">
                <a:solidFill>
                  <a:srgbClr val="000000"/>
                </a:solidFill>
                <a:effectLst/>
                <a:latin typeface="Times New Roman" panose="02020603050405020304" pitchFamily="18" charset="0"/>
                <a:cs typeface="Times New Roman" panose="02020603050405020304" pitchFamily="18" charset="0"/>
              </a:rPr>
              <a:t>GitLab provides its own </a:t>
            </a:r>
            <a:r>
              <a:rPr lang="en-US" sz="2400" b="0" i="1" dirty="0">
                <a:solidFill>
                  <a:srgbClr val="000000"/>
                </a:solidFill>
                <a:effectLst/>
                <a:latin typeface="Times New Roman" panose="02020603050405020304" pitchFamily="18" charset="0"/>
                <a:cs typeface="Times New Roman" panose="02020603050405020304" pitchFamily="18" charset="0"/>
              </a:rPr>
              <a:t>Continuous Integration</a:t>
            </a:r>
            <a:r>
              <a:rPr lang="en-US" sz="2400" b="0" i="0" dirty="0">
                <a:solidFill>
                  <a:srgbClr val="000000"/>
                </a:solidFill>
                <a:effectLst/>
                <a:latin typeface="Times New Roman" panose="02020603050405020304" pitchFamily="18" charset="0"/>
                <a:cs typeface="Times New Roman" panose="02020603050405020304" pitchFamily="18" charset="0"/>
              </a:rPr>
              <a:t> (CI) system for managing the projects and provides user interface along with other features of GitLab.</a:t>
            </a:r>
          </a:p>
        </p:txBody>
      </p:sp>
    </p:spTree>
    <p:extLst>
      <p:ext uri="{BB962C8B-B14F-4D97-AF65-F5344CB8AC3E}">
        <p14:creationId xmlns:p14="http://schemas.microsoft.com/office/powerpoint/2010/main" val="13157795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E9411CA-4C55-4E4C-B0FD-BC59D61C3325}"/>
              </a:ext>
            </a:extLst>
          </p:cNvPr>
          <p:cNvSpPr txBox="1"/>
          <p:nvPr/>
        </p:nvSpPr>
        <p:spPr>
          <a:xfrm>
            <a:off x="159026" y="198783"/>
            <a:ext cx="11900452" cy="5009833"/>
          </a:xfrm>
          <a:prstGeom prst="rect">
            <a:avLst/>
          </a:prstGeom>
          <a:noFill/>
        </p:spPr>
        <p:txBody>
          <a:bodyPr wrap="square">
            <a:spAutoFit/>
          </a:bodyPr>
          <a:lstStyle/>
          <a:p>
            <a:pPr algn="l">
              <a:lnSpc>
                <a:spcPct val="150000"/>
              </a:lnSpc>
            </a:pPr>
            <a:r>
              <a:rPr lang="en-US" sz="2400" b="1" i="0" dirty="0">
                <a:solidFill>
                  <a:srgbClr val="FF0000"/>
                </a:solidFill>
                <a:effectLst/>
                <a:latin typeface="Times New Roman" panose="02020603050405020304" pitchFamily="18" charset="0"/>
                <a:cs typeface="Times New Roman" panose="02020603050405020304" pitchFamily="18" charset="0"/>
              </a:rPr>
              <a:t>Advantages</a:t>
            </a:r>
          </a:p>
          <a:p>
            <a:pPr marL="342900" indent="-342900" algn="just">
              <a:lnSpc>
                <a:spcPct val="150000"/>
              </a:lnSpc>
              <a:buFont typeface="Wingdings" panose="05000000000000000000" pitchFamily="2" charset="2"/>
              <a:buChar char="ü"/>
            </a:pPr>
            <a:r>
              <a:rPr lang="en-US" sz="2400" b="0" i="0" dirty="0">
                <a:solidFill>
                  <a:srgbClr val="000000"/>
                </a:solidFill>
                <a:effectLst/>
                <a:latin typeface="Times New Roman" panose="02020603050405020304" pitchFamily="18" charset="0"/>
                <a:cs typeface="Times New Roman" panose="02020603050405020304" pitchFamily="18" charset="0"/>
              </a:rPr>
              <a:t>GitLab provides </a:t>
            </a:r>
            <a:r>
              <a:rPr lang="en-US" sz="2400" b="0" i="1" dirty="0">
                <a:solidFill>
                  <a:srgbClr val="000000"/>
                </a:solidFill>
                <a:effectLst/>
                <a:latin typeface="Times New Roman" panose="02020603050405020304" pitchFamily="18" charset="0"/>
                <a:cs typeface="Times New Roman" panose="02020603050405020304" pitchFamily="18" charset="0"/>
              </a:rPr>
              <a:t>GitLab Community Edition</a:t>
            </a:r>
            <a:r>
              <a:rPr lang="en-US" sz="2400" b="0" i="0" dirty="0">
                <a:solidFill>
                  <a:srgbClr val="000000"/>
                </a:solidFill>
                <a:effectLst/>
                <a:latin typeface="Times New Roman" panose="02020603050405020304" pitchFamily="18" charset="0"/>
                <a:cs typeface="Times New Roman" panose="02020603050405020304" pitchFamily="18" charset="0"/>
              </a:rPr>
              <a:t> version for users to locate, on which servers their code is present.</a:t>
            </a:r>
          </a:p>
          <a:p>
            <a:pPr marL="342900" indent="-342900" algn="just">
              <a:lnSpc>
                <a:spcPct val="150000"/>
              </a:lnSpc>
              <a:buFont typeface="Wingdings" panose="05000000000000000000" pitchFamily="2" charset="2"/>
              <a:buChar char="ü"/>
            </a:pPr>
            <a:r>
              <a:rPr lang="en-US" sz="2400" b="0" i="0" dirty="0">
                <a:solidFill>
                  <a:srgbClr val="000000"/>
                </a:solidFill>
                <a:effectLst/>
                <a:latin typeface="Times New Roman" panose="02020603050405020304" pitchFamily="18" charset="0"/>
                <a:cs typeface="Times New Roman" panose="02020603050405020304" pitchFamily="18" charset="0"/>
              </a:rPr>
              <a:t>GitLab provides unlimited number of private and public repositories for free.</a:t>
            </a:r>
          </a:p>
          <a:p>
            <a:pPr marL="342900" indent="-342900" algn="just">
              <a:lnSpc>
                <a:spcPct val="150000"/>
              </a:lnSpc>
              <a:buFont typeface="Wingdings" panose="05000000000000000000" pitchFamily="2" charset="2"/>
              <a:buChar char="ü"/>
            </a:pPr>
            <a:r>
              <a:rPr lang="en-US" sz="2400" b="0" i="0" dirty="0">
                <a:solidFill>
                  <a:srgbClr val="000000"/>
                </a:solidFill>
                <a:effectLst/>
                <a:latin typeface="Times New Roman" panose="02020603050405020304" pitchFamily="18" charset="0"/>
                <a:cs typeface="Times New Roman" panose="02020603050405020304" pitchFamily="18" charset="0"/>
              </a:rPr>
              <a:t>The </a:t>
            </a:r>
            <a:r>
              <a:rPr lang="en-US" sz="2400" b="0" i="1" dirty="0">
                <a:solidFill>
                  <a:srgbClr val="000000"/>
                </a:solidFill>
                <a:effectLst/>
                <a:latin typeface="Times New Roman" panose="02020603050405020304" pitchFamily="18" charset="0"/>
                <a:cs typeface="Times New Roman" panose="02020603050405020304" pitchFamily="18" charset="0"/>
              </a:rPr>
              <a:t>Snippet</a:t>
            </a:r>
            <a:r>
              <a:rPr lang="en-US" sz="2400" b="0" i="0" dirty="0">
                <a:solidFill>
                  <a:srgbClr val="000000"/>
                </a:solidFill>
                <a:effectLst/>
                <a:latin typeface="Times New Roman" panose="02020603050405020304" pitchFamily="18" charset="0"/>
                <a:cs typeface="Times New Roman" panose="02020603050405020304" pitchFamily="18" charset="0"/>
              </a:rPr>
              <a:t> section can share small amount of code from a project, instead of sharing whole project.</a:t>
            </a:r>
          </a:p>
          <a:p>
            <a:pPr algn="l">
              <a:lnSpc>
                <a:spcPct val="150000"/>
              </a:lnSpc>
            </a:pPr>
            <a:r>
              <a:rPr lang="en-US" sz="2400" b="1" i="0" dirty="0">
                <a:solidFill>
                  <a:srgbClr val="FF0000"/>
                </a:solidFill>
                <a:effectLst/>
                <a:latin typeface="Times New Roman" panose="02020603050405020304" pitchFamily="18" charset="0"/>
                <a:cs typeface="Times New Roman" panose="02020603050405020304" pitchFamily="18" charset="0"/>
              </a:rPr>
              <a:t>Disadvantages</a:t>
            </a:r>
          </a:p>
          <a:p>
            <a:pPr marL="342900" indent="-342900" algn="just">
              <a:lnSpc>
                <a:spcPct val="150000"/>
              </a:lnSpc>
              <a:buFont typeface="Wingdings" panose="05000000000000000000" pitchFamily="2" charset="2"/>
              <a:buChar char="ü"/>
            </a:pPr>
            <a:r>
              <a:rPr lang="en-US" sz="2400" b="0" i="0" dirty="0">
                <a:solidFill>
                  <a:srgbClr val="000000"/>
                </a:solidFill>
                <a:effectLst/>
                <a:latin typeface="Times New Roman" panose="02020603050405020304" pitchFamily="18" charset="0"/>
                <a:cs typeface="Times New Roman" panose="02020603050405020304" pitchFamily="18" charset="0"/>
              </a:rPr>
              <a:t>While pushing and pulling repositories, it is not as fast as GitHub.</a:t>
            </a:r>
          </a:p>
          <a:p>
            <a:pPr marL="342900" indent="-342900" algn="just">
              <a:lnSpc>
                <a:spcPct val="150000"/>
              </a:lnSpc>
              <a:buFont typeface="Wingdings" panose="05000000000000000000" pitchFamily="2" charset="2"/>
              <a:buChar char="ü"/>
            </a:pPr>
            <a:r>
              <a:rPr lang="en-US" sz="2400" b="0" i="0" dirty="0">
                <a:solidFill>
                  <a:srgbClr val="000000"/>
                </a:solidFill>
                <a:effectLst/>
                <a:latin typeface="Times New Roman" panose="02020603050405020304" pitchFamily="18" charset="0"/>
                <a:cs typeface="Times New Roman" panose="02020603050405020304" pitchFamily="18" charset="0"/>
              </a:rPr>
              <a:t>GitLab interface will take time while switching from one to another page.</a:t>
            </a:r>
          </a:p>
        </p:txBody>
      </p:sp>
    </p:spTree>
    <p:extLst>
      <p:ext uri="{BB962C8B-B14F-4D97-AF65-F5344CB8AC3E}">
        <p14:creationId xmlns:p14="http://schemas.microsoft.com/office/powerpoint/2010/main" val="194302129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39</TotalTime>
  <Words>847</Words>
  <Application>Microsoft Office PowerPoint</Application>
  <PresentationFormat>Widescreen</PresentationFormat>
  <Paragraphs>55</Paragraphs>
  <Slides>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Arial</vt:lpstr>
      <vt:lpstr>Calibri</vt:lpstr>
      <vt:lpstr>Calibri Light</vt:lpstr>
      <vt:lpstr>Times New Roman</vt:lpstr>
      <vt:lpstr>Wingdings</vt:lpstr>
      <vt:lpstr>Office Theme</vt:lpstr>
      <vt:lpstr>Gitlab</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SAI CHARAN THOTA</dc:creator>
  <cp:lastModifiedBy>SAI CHARAN THOTA</cp:lastModifiedBy>
  <cp:revision>3</cp:revision>
  <dcterms:created xsi:type="dcterms:W3CDTF">2021-10-04T09:14:56Z</dcterms:created>
  <dcterms:modified xsi:type="dcterms:W3CDTF">2021-10-05T10:36:21Z</dcterms:modified>
</cp:coreProperties>
</file>