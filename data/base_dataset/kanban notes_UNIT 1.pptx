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88" r:id="rId3"/>
    <p:sldId id="289" r:id="rId4"/>
    <p:sldId id="290" r:id="rId5"/>
    <p:sldId id="291" r:id="rId6"/>
    <p:sldId id="259" r:id="rId7"/>
    <p:sldId id="263" r:id="rId8"/>
    <p:sldId id="265" r:id="rId9"/>
    <p:sldId id="266" r:id="rId10"/>
    <p:sldId id="267" r:id="rId11"/>
    <p:sldId id="268" r:id="rId12"/>
    <p:sldId id="270" r:id="rId13"/>
    <p:sldId id="292" r:id="rId14"/>
    <p:sldId id="293" r:id="rId15"/>
    <p:sldId id="294" r:id="rId16"/>
    <p:sldId id="295" r:id="rId17"/>
    <p:sldId id="296" r:id="rId18"/>
    <p:sldId id="271" r:id="rId19"/>
    <p:sldId id="272"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10" r:id="rId33"/>
    <p:sldId id="276" r:id="rId34"/>
    <p:sldId id="277" r:id="rId35"/>
    <p:sldId id="278" r:id="rId36"/>
    <p:sldId id="280" r:id="rId37"/>
    <p:sldId id="28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72" d="100"/>
          <a:sy n="72" d="100"/>
        </p:scale>
        <p:origin x="6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8/28/2021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8/28/2021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8/28/2021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8/28/2021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8/28/2021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8/28/2021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8/28/2021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kissflow.com/project/agile/kanban-board-softwar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74399"/>
          </a:xfrm>
        </p:spPr>
        <p:txBody>
          <a:bodyPr>
            <a:noAutofit/>
          </a:bodyPr>
          <a:lstStyle/>
          <a:p>
            <a:pPr algn="ctr"/>
            <a:r>
              <a:rPr lang="en-IN" b="1" i="1" dirty="0" err="1">
                <a:solidFill>
                  <a:srgbClr val="FF0000"/>
                </a:solidFill>
                <a:latin typeface="Times New Roman" panose="02020603050405020304" pitchFamily="18" charset="0"/>
                <a:cs typeface="Times New Roman" panose="02020603050405020304" pitchFamily="18" charset="0"/>
              </a:rPr>
              <a:t>kanban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74398"/>
            <a:ext cx="12192000" cy="6183601"/>
          </a:xfrm>
        </p:spPr>
        <p:txBody>
          <a:bodyPr>
            <a:normAutofit/>
          </a:bodyPr>
          <a:lstStyle/>
          <a:p>
            <a:pPr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Kanban </a:t>
            </a:r>
            <a:r>
              <a:rPr lang="en-IN" sz="2200" dirty="0">
                <a:solidFill>
                  <a:srgbClr val="FF0000"/>
                </a:solidFill>
                <a:latin typeface="Times New Roman" panose="02020603050405020304" pitchFamily="18" charset="0"/>
                <a:cs typeface="Times New Roman" panose="02020603050405020304" pitchFamily="18" charset="0"/>
              </a:rPr>
              <a:t>is a framework that falls under the Agile methodology</a:t>
            </a:r>
            <a:r>
              <a:rPr lang="en-IN"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Kanban is one of the simplest frameworks used as it </a:t>
            </a:r>
            <a:r>
              <a:rPr lang="en-IN" sz="2200" dirty="0">
                <a:solidFill>
                  <a:srgbClr val="FF0000"/>
                </a:solidFill>
                <a:latin typeface="Times New Roman" panose="02020603050405020304" pitchFamily="18" charset="0"/>
                <a:cs typeface="Times New Roman" panose="02020603050405020304" pitchFamily="18" charset="0"/>
              </a:rPr>
              <a:t>allows project managers to efficiently manage and keep track of their projects.</a:t>
            </a:r>
          </a:p>
          <a:p>
            <a:pPr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Kanban </a:t>
            </a:r>
            <a:r>
              <a:rPr lang="en-IN" sz="2200" dirty="0">
                <a:solidFill>
                  <a:srgbClr val="FF0000"/>
                </a:solidFill>
                <a:latin typeface="Times New Roman" panose="02020603050405020304" pitchFamily="18" charset="0"/>
                <a:cs typeface="Times New Roman" panose="02020603050405020304" pitchFamily="18" charset="0"/>
              </a:rPr>
              <a:t>is a visual system for managing work as it moves through a process</a:t>
            </a:r>
            <a:r>
              <a:rPr lang="en-IN" sz="2200" dirty="0">
                <a:latin typeface="Times New Roman" panose="02020603050405020304" pitchFamily="18" charset="0"/>
                <a:cs typeface="Times New Roman" panose="02020603050405020304" pitchFamily="18" charset="0"/>
              </a:rPr>
              <a:t>. Kanban </a:t>
            </a:r>
            <a:r>
              <a:rPr lang="en-IN" sz="2200" dirty="0">
                <a:solidFill>
                  <a:srgbClr val="FF0000"/>
                </a:solidFill>
                <a:latin typeface="Times New Roman" panose="02020603050405020304" pitchFamily="18" charset="0"/>
                <a:cs typeface="Times New Roman" panose="02020603050405020304" pitchFamily="18" charset="0"/>
              </a:rPr>
              <a:t>visualizes both </a:t>
            </a:r>
            <a:r>
              <a:rPr lang="en-IN" sz="2200" dirty="0">
                <a:latin typeface="Times New Roman" panose="02020603050405020304" pitchFamily="18" charset="0"/>
                <a:cs typeface="Times New Roman" panose="02020603050405020304" pitchFamily="18" charset="0"/>
              </a:rPr>
              <a:t>the </a:t>
            </a:r>
            <a:r>
              <a:rPr lang="en-IN" sz="2200" dirty="0">
                <a:solidFill>
                  <a:srgbClr val="FF0000"/>
                </a:solidFill>
                <a:latin typeface="Times New Roman" panose="02020603050405020304" pitchFamily="18" charset="0"/>
                <a:cs typeface="Times New Roman" panose="02020603050405020304" pitchFamily="18" charset="0"/>
              </a:rPr>
              <a:t>process</a:t>
            </a:r>
            <a:r>
              <a:rPr lang="en-IN" sz="2200" dirty="0">
                <a:latin typeface="Times New Roman" panose="02020603050405020304" pitchFamily="18" charset="0"/>
                <a:cs typeface="Times New Roman" panose="02020603050405020304" pitchFamily="18" charset="0"/>
              </a:rPr>
              <a:t> (the workflow) </a:t>
            </a:r>
            <a:r>
              <a:rPr lang="en-IN" sz="2200" dirty="0">
                <a:solidFill>
                  <a:srgbClr val="FF0000"/>
                </a:solidFill>
                <a:latin typeface="Times New Roman" panose="02020603050405020304" pitchFamily="18" charset="0"/>
                <a:cs typeface="Times New Roman" panose="02020603050405020304" pitchFamily="18" charset="0"/>
              </a:rPr>
              <a:t>and the actual work passing through that process</a:t>
            </a:r>
            <a:r>
              <a:rPr lang="en-IN"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The </a:t>
            </a:r>
            <a:r>
              <a:rPr lang="en-IN" sz="2200" dirty="0">
                <a:solidFill>
                  <a:srgbClr val="FF0000"/>
                </a:solidFill>
                <a:latin typeface="Times New Roman" panose="02020603050405020304" pitchFamily="18" charset="0"/>
                <a:cs typeface="Times New Roman" panose="02020603050405020304" pitchFamily="18" charset="0"/>
              </a:rPr>
              <a:t>goal of Kanban is to identify potential bottlenecks in your process and fix them</a:t>
            </a:r>
            <a:r>
              <a:rPr lang="en-IN" sz="2200" dirty="0">
                <a:latin typeface="Times New Roman" panose="02020603050405020304" pitchFamily="18" charset="0"/>
                <a:cs typeface="Times New Roman" panose="02020603050405020304" pitchFamily="18" charset="0"/>
              </a:rPr>
              <a:t>, so work can flow through it cost-effectively at an optimal speed or throughput.</a:t>
            </a:r>
          </a:p>
          <a:p>
            <a:pPr algn="just">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b="0" i="0" dirty="0">
                <a:solidFill>
                  <a:schemeClr val="accent2">
                    <a:lumMod val="75000"/>
                  </a:schemeClr>
                </a:solidFill>
                <a:effectLst/>
                <a:latin typeface="Times New Roman" panose="02020603050405020304" pitchFamily="18" charset="0"/>
                <a:cs typeface="Times New Roman" panose="02020603050405020304" pitchFamily="18" charset="0"/>
              </a:rPr>
              <a:t>Kanban is a method for managing the creation of products with an emphasis on continual delivery while not overburdening the development team. Like Scrum, Kanban is a process designed to help teams work together more effectively.</a:t>
            </a:r>
          </a:p>
          <a:p>
            <a:pPr algn="just">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02000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9545D5F-490F-4026-B033-8536F76E686E}"/>
              </a:ext>
            </a:extLst>
          </p:cNvPr>
          <p:cNvSpPr>
            <a:spLocks noGrp="1"/>
          </p:cNvSpPr>
          <p:nvPr>
            <p:ph idx="1"/>
          </p:nvPr>
        </p:nvSpPr>
        <p:spPr>
          <a:xfrm>
            <a:off x="1" y="0"/>
            <a:ext cx="11353800" cy="6176963"/>
          </a:xfrm>
        </p:spPr>
        <p:txBody>
          <a:bodyPr>
            <a:normAutofit/>
          </a:bodyPr>
          <a:lstStyle/>
          <a:p>
            <a:pPr marL="0" indent="0">
              <a:buNone/>
            </a:pPr>
            <a:r>
              <a:rPr lang="en-SG" sz="2400" b="1" i="1" dirty="0">
                <a:effectLst/>
                <a:latin typeface="Times New Roman" panose="02020603050405020304" pitchFamily="18" charset="0"/>
                <a:cs typeface="Times New Roman" panose="02020603050405020304" pitchFamily="18" charset="0"/>
              </a:rPr>
              <a:t>KANBAN Basics</a:t>
            </a:r>
            <a:endParaRPr lang="en-SG" sz="2400" b="1" dirty="0">
              <a:effectLst/>
              <a:latin typeface="Times New Roman" panose="02020603050405020304" pitchFamily="18" charset="0"/>
              <a:cs typeface="Times New Roman" panose="02020603050405020304" pitchFamily="18" charset="0"/>
            </a:endParaRPr>
          </a:p>
          <a:p>
            <a:pPr marL="0" indent="0">
              <a:buNone/>
            </a:pPr>
            <a:endParaRPr lang="en-SG"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4CD030D-1379-464F-9174-EAD1CDB8BAE4}"/>
              </a:ext>
            </a:extLst>
          </p:cNvPr>
          <p:cNvPicPr>
            <a:picLocks noChangeAspect="1"/>
          </p:cNvPicPr>
          <p:nvPr/>
        </p:nvPicPr>
        <p:blipFill>
          <a:blip r:embed="rId2"/>
          <a:stretch>
            <a:fillRect/>
          </a:stretch>
        </p:blipFill>
        <p:spPr>
          <a:xfrm>
            <a:off x="289757" y="2516697"/>
            <a:ext cx="10874295" cy="3724711"/>
          </a:xfrm>
          <a:prstGeom prst="rect">
            <a:avLst/>
          </a:prstGeom>
        </p:spPr>
      </p:pic>
      <p:sp>
        <p:nvSpPr>
          <p:cNvPr id="14" name="TextBox 13">
            <a:extLst>
              <a:ext uri="{FF2B5EF4-FFF2-40B4-BE49-F238E27FC236}">
                <a16:creationId xmlns:a16="http://schemas.microsoft.com/office/drawing/2014/main" id="{71423A06-4E89-456F-A7BE-1863734945FC}"/>
              </a:ext>
            </a:extLst>
          </p:cNvPr>
          <p:cNvSpPr txBox="1"/>
          <p:nvPr/>
        </p:nvSpPr>
        <p:spPr>
          <a:xfrm>
            <a:off x="289757" y="1258349"/>
            <a:ext cx="9542139" cy="646331"/>
          </a:xfrm>
          <a:prstGeom prst="rect">
            <a:avLst/>
          </a:prstGeom>
          <a:noFill/>
        </p:spPr>
        <p:txBody>
          <a:bodyPr wrap="square">
            <a:spAutoFit/>
          </a:bodyPr>
          <a:lstStyle/>
          <a:p>
            <a:pPr marL="285750" indent="-285750" algn="l">
              <a:buFont typeface="Wingdings" panose="05000000000000000000" pitchFamily="2" charset="2"/>
              <a:buChar char="ü"/>
            </a:pPr>
            <a:r>
              <a:rPr lang="en-US" dirty="0">
                <a:solidFill>
                  <a:srgbClr val="001C63"/>
                </a:solidFill>
                <a:effectLst/>
                <a:latin typeface="Open Sans" panose="020B0606030504020204" pitchFamily="34" charset="0"/>
              </a:rPr>
              <a:t>Its a Method of Visualize the flow of work.</a:t>
            </a:r>
          </a:p>
          <a:p>
            <a:pPr marL="285750" indent="-285750" algn="l">
              <a:buFont typeface="Wingdings" panose="05000000000000000000" pitchFamily="2" charset="2"/>
              <a:buChar char="ü"/>
            </a:pPr>
            <a:r>
              <a:rPr lang="en-US" dirty="0">
                <a:solidFill>
                  <a:srgbClr val="001C63"/>
                </a:solidFill>
                <a:effectLst/>
                <a:latin typeface="Open Sans" panose="020B0606030504020204" pitchFamily="34" charset="0"/>
              </a:rPr>
              <a:t>in order to balance demand with available capacity and spot bottlenecks</a:t>
            </a:r>
          </a:p>
        </p:txBody>
      </p:sp>
    </p:spTree>
    <p:extLst>
      <p:ext uri="{BB962C8B-B14F-4D97-AF65-F5344CB8AC3E}">
        <p14:creationId xmlns:p14="http://schemas.microsoft.com/office/powerpoint/2010/main" val="296010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D55F16-ADEC-4423-AE87-4DBC2E411691}"/>
              </a:ext>
            </a:extLst>
          </p:cNvPr>
          <p:cNvSpPr>
            <a:spLocks noGrp="1"/>
          </p:cNvSpPr>
          <p:nvPr>
            <p:ph idx="1"/>
          </p:nvPr>
        </p:nvSpPr>
        <p:spPr>
          <a:xfrm>
            <a:off x="58738" y="66675"/>
            <a:ext cx="12133262" cy="6644518"/>
          </a:xfrm>
        </p:spPr>
        <p:txBody>
          <a:bodyPr/>
          <a:lstStyle/>
          <a:p>
            <a:pPr algn="l">
              <a:buFont typeface="Wingdings" panose="05000000000000000000" pitchFamily="2" charset="2"/>
              <a:buChar char="ü"/>
            </a:pPr>
            <a:r>
              <a:rPr lang="en-US" sz="1800" b="0" i="0" dirty="0">
                <a:solidFill>
                  <a:srgbClr val="424242"/>
                </a:solidFill>
                <a:effectLst/>
                <a:latin typeface="Times New Roman" panose="02020603050405020304" pitchFamily="18" charset="0"/>
                <a:cs typeface="Times New Roman" panose="02020603050405020304" pitchFamily="18" charset="0"/>
              </a:rPr>
              <a:t>Kanban, also spelt </a:t>
            </a:r>
            <a:r>
              <a:rPr lang="en-US" sz="1800" b="0" i="0" dirty="0" err="1">
                <a:solidFill>
                  <a:srgbClr val="424242"/>
                </a:solidFill>
                <a:effectLst/>
                <a:latin typeface="Times New Roman" panose="02020603050405020304" pitchFamily="18" charset="0"/>
                <a:cs typeface="Times New Roman" panose="02020603050405020304" pitchFamily="18" charset="0"/>
              </a:rPr>
              <a:t>kamban</a:t>
            </a:r>
            <a:r>
              <a:rPr lang="en-US" sz="1800" b="0" i="0" dirty="0">
                <a:solidFill>
                  <a:srgbClr val="424242"/>
                </a:solidFill>
                <a:effectLst/>
                <a:latin typeface="Times New Roman" panose="02020603050405020304" pitchFamily="18" charset="0"/>
                <a:cs typeface="Times New Roman" panose="02020603050405020304" pitchFamily="18" charset="0"/>
              </a:rPr>
              <a:t>, is a Japanese term for “signboard” or “Billboard” that indicates “available capacity (to work)”. Kanban is a concept related to lean and just-in-time (JIT) production, where it is used as a scheduling system that tells you what to produce, when to produce it, and how much to produce.</a:t>
            </a:r>
          </a:p>
          <a:p>
            <a:pPr algn="l">
              <a:buFont typeface="Wingdings" panose="05000000000000000000" pitchFamily="2" charset="2"/>
              <a:buChar char="ü"/>
            </a:pPr>
            <a:r>
              <a:rPr lang="en-US" sz="1800" b="0" i="0" dirty="0">
                <a:solidFill>
                  <a:srgbClr val="424242"/>
                </a:solidFill>
                <a:effectLst/>
                <a:latin typeface="Times New Roman" panose="02020603050405020304" pitchFamily="18" charset="0"/>
                <a:cs typeface="Times New Roman" panose="02020603050405020304" pitchFamily="18" charset="0"/>
              </a:rPr>
              <a:t>Kanban became an effective tool to support running a production system as a whole, and an excellent way to promote improvement. </a:t>
            </a:r>
          </a:p>
          <a:p>
            <a:pPr algn="l">
              <a:buFont typeface="Wingdings" panose="05000000000000000000" pitchFamily="2" charset="2"/>
              <a:buChar char="ü"/>
            </a:pPr>
            <a:endParaRPr lang="en-US" sz="1800" dirty="0">
              <a:solidFill>
                <a:srgbClr val="424242"/>
              </a:solidFill>
              <a:latin typeface="Times New Roman" panose="02020603050405020304" pitchFamily="18" charset="0"/>
              <a:cs typeface="Times New Roman" panose="02020603050405020304" pitchFamily="18" charset="0"/>
            </a:endParaRPr>
          </a:p>
          <a:p>
            <a:pPr marL="0" indent="0" algn="l">
              <a:buNone/>
            </a:pPr>
            <a:endParaRPr lang="en-SG" dirty="0"/>
          </a:p>
        </p:txBody>
      </p:sp>
      <p:pic>
        <p:nvPicPr>
          <p:cNvPr id="12292" name="Picture 4">
            <a:extLst>
              <a:ext uri="{FF2B5EF4-FFF2-40B4-BE49-F238E27FC236}">
                <a16:creationId xmlns:a16="http://schemas.microsoft.com/office/drawing/2014/main" id="{82EC1727-7E88-4C1E-B473-744C662FA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137" y="2026309"/>
            <a:ext cx="7709090" cy="413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830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9F103B-1ABA-4E8C-8930-75521A72823B}"/>
              </a:ext>
            </a:extLst>
          </p:cNvPr>
          <p:cNvSpPr>
            <a:spLocks noGrp="1"/>
          </p:cNvSpPr>
          <p:nvPr>
            <p:ph idx="1"/>
          </p:nvPr>
        </p:nvSpPr>
        <p:spPr>
          <a:xfrm>
            <a:off x="125413" y="100012"/>
            <a:ext cx="11929567" cy="6636347"/>
          </a:xfrm>
        </p:spPr>
        <p:txBody>
          <a:bodyPr>
            <a:noAutofit/>
          </a:bodyPr>
          <a:lstStyle/>
          <a:p>
            <a:pPr algn="l"/>
            <a:r>
              <a:rPr lang="en-US" sz="1600" b="1" dirty="0">
                <a:solidFill>
                  <a:srgbClr val="001C63"/>
                </a:solidFill>
                <a:effectLst/>
                <a:latin typeface="Times New Roman" panose="02020603050405020304" pitchFamily="18" charset="0"/>
                <a:cs typeface="Times New Roman" panose="02020603050405020304" pitchFamily="18" charset="0"/>
              </a:rPr>
              <a:t>Principles </a:t>
            </a:r>
          </a:p>
          <a:p>
            <a:pPr algn="l"/>
            <a:r>
              <a:rPr lang="en-US" sz="1600" b="0" i="0" dirty="0">
                <a:solidFill>
                  <a:srgbClr val="424242"/>
                </a:solidFill>
                <a:effectLst/>
                <a:latin typeface="Times New Roman" panose="02020603050405020304" pitchFamily="18" charset="0"/>
                <a:cs typeface="Times New Roman" panose="02020603050405020304" pitchFamily="18" charset="0"/>
              </a:rPr>
              <a:t>Implementing software increment on Kanban Method is a pull based system, that help the team to Continue the delivery in a sustainable pace, with in capacity. Its reduce waste of efforts and time. To Maintain this, It needs to follow the basic principles of Kanban as below.</a:t>
            </a:r>
          </a:p>
          <a:p>
            <a:pPr marL="0" indent="0" algn="l">
              <a:buNone/>
            </a:pPr>
            <a:endParaRPr lang="en-US" sz="1600" b="0" i="0" dirty="0">
              <a:solidFill>
                <a:srgbClr val="424242"/>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v"/>
            </a:pPr>
            <a:r>
              <a:rPr lang="en-US" sz="1600" b="1" i="0" dirty="0">
                <a:solidFill>
                  <a:srgbClr val="424242"/>
                </a:solidFill>
                <a:effectLst/>
                <a:latin typeface="Times New Roman" panose="02020603050405020304" pitchFamily="18" charset="0"/>
                <a:cs typeface="Times New Roman" panose="02020603050405020304" pitchFamily="18" charset="0"/>
              </a:rPr>
              <a:t>Visualize Work</a:t>
            </a:r>
            <a:endParaRPr lang="en-US" sz="1600" b="0" i="0" dirty="0">
              <a:solidFill>
                <a:srgbClr val="424242"/>
              </a:solidFill>
              <a:effectLst/>
              <a:latin typeface="Times New Roman" panose="02020603050405020304" pitchFamily="18" charset="0"/>
              <a:cs typeface="Times New Roman" panose="02020603050405020304" pitchFamily="18" charset="0"/>
            </a:endParaRPr>
          </a:p>
          <a:p>
            <a:pPr algn="l"/>
            <a:r>
              <a:rPr lang="en-US" sz="1600" b="0" i="0" dirty="0">
                <a:solidFill>
                  <a:srgbClr val="424242"/>
                </a:solidFill>
                <a:effectLst/>
                <a:latin typeface="Times New Roman" panose="02020603050405020304" pitchFamily="18" charset="0"/>
                <a:cs typeface="Times New Roman" panose="02020603050405020304" pitchFamily="18" charset="0"/>
              </a:rPr>
              <a:t>Visual model of Kanban Board of work and its workflow make the scope and capacity transparent, it helps to observe and Inspect the flow of work moving backlog to done. This makes the work visible—along with blockers, bottlenecks and queues and upcoming work, Which helps the team to make strategy of working on exiting work or bring new work to in Progress.</a:t>
            </a:r>
          </a:p>
          <a:p>
            <a:pPr algn="l">
              <a:buFont typeface="Wingdings" panose="05000000000000000000" pitchFamily="2" charset="2"/>
              <a:buChar char="v"/>
            </a:pPr>
            <a:r>
              <a:rPr lang="en-US" sz="1600" b="1" i="0" dirty="0">
                <a:solidFill>
                  <a:srgbClr val="424242"/>
                </a:solidFill>
                <a:effectLst/>
                <a:latin typeface="Times New Roman" panose="02020603050405020304" pitchFamily="18" charset="0"/>
                <a:cs typeface="Times New Roman" panose="02020603050405020304" pitchFamily="18" charset="0"/>
              </a:rPr>
              <a:t>Limit Work in Progress</a:t>
            </a:r>
            <a:endParaRPr lang="en-US" sz="1600" b="0" i="0" dirty="0">
              <a:solidFill>
                <a:srgbClr val="424242"/>
              </a:solidFill>
              <a:effectLst/>
              <a:latin typeface="Times New Roman" panose="02020603050405020304" pitchFamily="18" charset="0"/>
              <a:cs typeface="Times New Roman" panose="02020603050405020304" pitchFamily="18" charset="0"/>
            </a:endParaRPr>
          </a:p>
          <a:p>
            <a:pPr algn="l"/>
            <a:r>
              <a:rPr lang="en-US" sz="1600" b="0" i="0" dirty="0">
                <a:solidFill>
                  <a:srgbClr val="424242"/>
                </a:solidFill>
                <a:effectLst/>
                <a:latin typeface="Times New Roman" panose="02020603050405020304" pitchFamily="18" charset="0"/>
                <a:cs typeface="Times New Roman" panose="02020603050405020304" pitchFamily="18" charset="0"/>
              </a:rPr>
              <a:t>The Team mutually defines a Limit for all “work in progress” Columns in Kanban Board,  such as Analysis, Development, Testing etc.  This WIP limit implements the Pull based system, as work can be pulled to the current column from previous column only if the total number of work under the column is less than its limit.</a:t>
            </a:r>
          </a:p>
          <a:p>
            <a:pPr algn="l"/>
            <a:r>
              <a:rPr lang="en-US" sz="1600" b="0" i="0" dirty="0">
                <a:solidFill>
                  <a:srgbClr val="424242"/>
                </a:solidFill>
                <a:effectLst/>
                <a:latin typeface="Times New Roman" panose="02020603050405020304" pitchFamily="18" charset="0"/>
                <a:cs typeface="Times New Roman" panose="02020603050405020304" pitchFamily="18" charset="0"/>
              </a:rPr>
              <a:t>This helps balance the flow-based approach so teams don’t start and commit to too much work at once. Its reduce waste and help the team to focusing on finishing first and starting later.</a:t>
            </a:r>
          </a:p>
          <a:p>
            <a:pPr algn="l">
              <a:buFont typeface="Wingdings" panose="05000000000000000000" pitchFamily="2" charset="2"/>
              <a:buChar char="v"/>
            </a:pPr>
            <a:r>
              <a:rPr lang="en-US" sz="1600" b="1" i="0" dirty="0">
                <a:solidFill>
                  <a:srgbClr val="424242"/>
                </a:solidFill>
                <a:effectLst/>
                <a:latin typeface="Times New Roman" panose="02020603050405020304" pitchFamily="18" charset="0"/>
                <a:cs typeface="Times New Roman" panose="02020603050405020304" pitchFamily="18" charset="0"/>
              </a:rPr>
              <a:t>Focus on flow of Work</a:t>
            </a:r>
            <a:endParaRPr lang="en-US" sz="1600" b="0" i="0" dirty="0">
              <a:solidFill>
                <a:srgbClr val="424242"/>
              </a:solidFill>
              <a:effectLst/>
              <a:latin typeface="Times New Roman" panose="02020603050405020304" pitchFamily="18" charset="0"/>
              <a:cs typeface="Times New Roman" panose="02020603050405020304" pitchFamily="18" charset="0"/>
            </a:endParaRPr>
          </a:p>
          <a:p>
            <a:pPr algn="l"/>
            <a:r>
              <a:rPr lang="en-US" sz="1600" b="0" i="0" dirty="0">
                <a:solidFill>
                  <a:srgbClr val="424242"/>
                </a:solidFill>
                <a:effectLst/>
                <a:latin typeface="Times New Roman" panose="02020603050405020304" pitchFamily="18" charset="0"/>
                <a:cs typeface="Times New Roman" panose="02020603050405020304" pitchFamily="18" charset="0"/>
              </a:rPr>
              <a:t>To Complete a work, and add a value it has to pass through multiple stages of its development phase. Like Analysis, Development, Testing , Review etc. To get the effective benefit of Kanban the Team needs  to focus on flow of work from its initiation to completion. By following above 2 principles helps achieve focus on flow.</a:t>
            </a:r>
          </a:p>
          <a:p>
            <a:pPr algn="l"/>
            <a:r>
              <a:rPr lang="en-US" sz="1600" b="0" i="0" dirty="0">
                <a:solidFill>
                  <a:srgbClr val="424242"/>
                </a:solidFill>
                <a:effectLst/>
                <a:latin typeface="Times New Roman" panose="02020603050405020304" pitchFamily="18" charset="0"/>
                <a:cs typeface="Times New Roman" panose="02020603050405020304" pitchFamily="18" charset="0"/>
              </a:rPr>
              <a:t>Focus on the workflow leads the team to visualize upcoming bottlenecks to act on. so that the flow remains. Team frequently makes strategy of working on in progress </a:t>
            </a:r>
            <a:r>
              <a:rPr lang="en-US" sz="1600" b="0" i="0" dirty="0" err="1">
                <a:solidFill>
                  <a:srgbClr val="424242"/>
                </a:solidFill>
                <a:effectLst/>
                <a:latin typeface="Times New Roman" panose="02020603050405020304" pitchFamily="18" charset="0"/>
                <a:cs typeface="Times New Roman" panose="02020603050405020304" pitchFamily="18" charset="0"/>
              </a:rPr>
              <a:t>wor</a:t>
            </a:r>
            <a:r>
              <a:rPr lang="en-US" sz="1600" b="0" i="0" dirty="0">
                <a:solidFill>
                  <a:srgbClr val="424242"/>
                </a:solidFill>
                <a:effectLst/>
                <a:latin typeface="Times New Roman" panose="02020603050405020304" pitchFamily="18" charset="0"/>
                <a:cs typeface="Times New Roman" panose="02020603050405020304" pitchFamily="18" charset="0"/>
              </a:rPr>
              <a:t> item to optimize the flow</a:t>
            </a:r>
          </a:p>
          <a:p>
            <a:endParaRPr lang="en-SG"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042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BF646B-1EB3-407C-87BE-338CE289F218}"/>
              </a:ext>
            </a:extLst>
          </p:cNvPr>
          <p:cNvPicPr>
            <a:picLocks noChangeAspect="1"/>
          </p:cNvPicPr>
          <p:nvPr/>
        </p:nvPicPr>
        <p:blipFill>
          <a:blip r:embed="rId2"/>
          <a:stretch>
            <a:fillRect/>
          </a:stretch>
        </p:blipFill>
        <p:spPr>
          <a:xfrm>
            <a:off x="1300294" y="942585"/>
            <a:ext cx="9555060" cy="5707614"/>
          </a:xfrm>
          <a:prstGeom prst="rect">
            <a:avLst/>
          </a:prstGeom>
        </p:spPr>
      </p:pic>
    </p:spTree>
    <p:extLst>
      <p:ext uri="{BB962C8B-B14F-4D97-AF65-F5344CB8AC3E}">
        <p14:creationId xmlns:p14="http://schemas.microsoft.com/office/powerpoint/2010/main" val="2183266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algn="just"/>
            <a:r>
              <a:rPr lang="en-IN" sz="2000" dirty="0">
                <a:latin typeface="Times New Roman" panose="02020603050405020304" pitchFamily="18" charset="0"/>
                <a:cs typeface="Times New Roman" panose="02020603050405020304" pitchFamily="18" charset="0"/>
              </a:rPr>
              <a:t>Kanban projects </a:t>
            </a:r>
            <a:r>
              <a:rPr lang="en-IN" sz="2000" dirty="0">
                <a:solidFill>
                  <a:srgbClr val="FF0000"/>
                </a:solidFill>
                <a:latin typeface="Times New Roman" panose="02020603050405020304" pitchFamily="18" charset="0"/>
                <a:cs typeface="Times New Roman" panose="02020603050405020304" pitchFamily="18" charset="0"/>
              </a:rPr>
              <a:t>are primarily managed through a Kanban board</a:t>
            </a:r>
            <a:r>
              <a:rPr lang="en-IN" sz="2000" dirty="0">
                <a:latin typeface="Times New Roman" panose="02020603050405020304" pitchFamily="18" charset="0"/>
                <a:cs typeface="Times New Roman" panose="02020603050405020304" pitchFamily="18" charset="0"/>
              </a:rPr>
              <a:t>, which </a:t>
            </a:r>
            <a:r>
              <a:rPr lang="en-IN" sz="2000" dirty="0">
                <a:solidFill>
                  <a:srgbClr val="FF0000"/>
                </a:solidFill>
                <a:latin typeface="Times New Roman" panose="02020603050405020304" pitchFamily="18" charset="0"/>
                <a:cs typeface="Times New Roman" panose="02020603050405020304" pitchFamily="18" charset="0"/>
              </a:rPr>
              <a:t>segments tasks into three columns</a:t>
            </a: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To Do,” “Doing,” and “Done.”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solidFill>
                  <a:srgbClr val="FF0000"/>
                </a:solidFill>
                <a:latin typeface="Times New Roman" panose="02020603050405020304" pitchFamily="18" charset="0"/>
                <a:cs typeface="Times New Roman" panose="02020603050405020304" pitchFamily="18" charset="0"/>
              </a:rPr>
              <a:t>Kanban Framework focuses on visualizing the entire project on boards in order to increase project transparency and collaboration between team members.</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a:t>
            </a:r>
            <a:r>
              <a:rPr lang="en-IN" sz="2000" dirty="0">
                <a:solidFill>
                  <a:srgbClr val="FF0000"/>
                </a:solidFill>
                <a:latin typeface="Times New Roman" panose="02020603050405020304" pitchFamily="18" charset="0"/>
                <a:cs typeface="Times New Roman" panose="02020603050405020304" pitchFamily="18" charset="0"/>
              </a:rPr>
              <a:t>board plays a vital role in displaying the task workflow</a:t>
            </a:r>
            <a:r>
              <a:rPr lang="en-IN" sz="2000" dirty="0">
                <a:latin typeface="Times New Roman" panose="02020603050405020304" pitchFamily="18" charset="0"/>
                <a:cs typeface="Times New Roman" panose="02020603050405020304" pitchFamily="18" charset="0"/>
              </a:rPr>
              <a:t>. It </a:t>
            </a:r>
            <a:r>
              <a:rPr lang="en-IN" sz="2000" dirty="0">
                <a:solidFill>
                  <a:srgbClr val="FF0000"/>
                </a:solidFill>
                <a:latin typeface="Times New Roman" panose="02020603050405020304" pitchFamily="18" charset="0"/>
                <a:cs typeface="Times New Roman" panose="02020603050405020304" pitchFamily="18" charset="0"/>
              </a:rPr>
              <a:t>paints a picture of the workflow process</a:t>
            </a:r>
            <a:r>
              <a:rPr lang="en-IN" sz="2000" dirty="0">
                <a:latin typeface="Times New Roman" panose="02020603050405020304" pitchFamily="18" charset="0"/>
                <a:cs typeface="Times New Roman" panose="02020603050405020304" pitchFamily="18" charset="0"/>
              </a:rPr>
              <a:t>, with an aim </a:t>
            </a:r>
            <a:r>
              <a:rPr lang="en-IN" sz="2000" dirty="0">
                <a:solidFill>
                  <a:srgbClr val="FF0000"/>
                </a:solidFill>
                <a:latin typeface="Times New Roman" panose="02020603050405020304" pitchFamily="18" charset="0"/>
                <a:cs typeface="Times New Roman" panose="02020603050405020304" pitchFamily="18" charset="0"/>
              </a:rPr>
              <a:t>to identify any bottlenecks early </a:t>
            </a:r>
            <a:r>
              <a:rPr lang="en-IN" sz="2000" dirty="0">
                <a:latin typeface="Times New Roman" panose="02020603050405020304" pitchFamily="18" charset="0"/>
                <a:cs typeface="Times New Roman" panose="02020603050405020304" pitchFamily="18" charset="0"/>
              </a:rPr>
              <a:t>on in the process, so that a </a:t>
            </a:r>
            <a:r>
              <a:rPr lang="en-IN" sz="2000" dirty="0">
                <a:solidFill>
                  <a:srgbClr val="FF0000"/>
                </a:solidFill>
                <a:latin typeface="Times New Roman" panose="02020603050405020304" pitchFamily="18" charset="0"/>
                <a:cs typeface="Times New Roman" panose="02020603050405020304" pitchFamily="18" charset="0"/>
              </a:rPr>
              <a:t>higher quality product or service is delivered </a:t>
            </a:r>
            <a:r>
              <a:rPr lang="en-IN" sz="2000" dirty="0">
                <a:latin typeface="Times New Roman" panose="02020603050405020304" pitchFamily="18" charset="0"/>
                <a:cs typeface="Times New Roman" panose="02020603050405020304" pitchFamily="18" charset="0"/>
              </a:rPr>
              <a:t>quickly.</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 this method, work items are printed visually. It </a:t>
            </a:r>
            <a:r>
              <a:rPr lang="en-IN" sz="2000" dirty="0">
                <a:solidFill>
                  <a:srgbClr val="FF0000"/>
                </a:solidFill>
                <a:latin typeface="Times New Roman" panose="02020603050405020304" pitchFamily="18" charset="0"/>
                <a:cs typeface="Times New Roman" panose="02020603050405020304" pitchFamily="18" charset="0"/>
              </a:rPr>
              <a:t>allows team members to see the state of every piece of work at every development stage</a:t>
            </a:r>
            <a:r>
              <a:rPr lang="en-IN" sz="2000" dirty="0">
                <a:latin typeface="Times New Roman" panose="02020603050405020304" pitchFamily="18" charset="0"/>
                <a:cs typeface="Times New Roman" panose="02020603050405020304" pitchFamily="18" charset="0"/>
              </a:rPr>
              <a:t>. Moreover, a </a:t>
            </a:r>
            <a:r>
              <a:rPr lang="en-IN" sz="2000" dirty="0">
                <a:solidFill>
                  <a:srgbClr val="FF0000"/>
                </a:solidFill>
                <a:latin typeface="Times New Roman" panose="02020603050405020304" pitchFamily="18" charset="0"/>
                <a:cs typeface="Times New Roman" panose="02020603050405020304" pitchFamily="18" charset="0"/>
              </a:rPr>
              <a:t>team member gets overview who's doing what </a:t>
            </a:r>
            <a:r>
              <a:rPr lang="en-IN" sz="2000" dirty="0">
                <a:latin typeface="Times New Roman" panose="02020603050405020304" pitchFamily="18" charset="0"/>
                <a:cs typeface="Times New Roman" panose="02020603050405020304" pitchFamily="18" charset="0"/>
              </a:rPr>
              <a:t>and can identify and eliminate problem areas in the process.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It is a method for defining, managing and improving services for delivering work faster </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435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47500" lnSpcReduction="20000"/>
          </a:bodyPr>
          <a:lstStyle/>
          <a:p>
            <a:pPr marL="0" indent="0">
              <a:buNone/>
            </a:pPr>
            <a:r>
              <a:rPr lang="en-IN" sz="7000" b="1" u="sng" dirty="0" err="1">
                <a:latin typeface="Times New Roman" panose="02020603050405020304" pitchFamily="18" charset="0"/>
                <a:cs typeface="Times New Roman" panose="02020603050405020304" pitchFamily="18" charset="0"/>
              </a:rPr>
              <a:t>i</a:t>
            </a:r>
            <a:r>
              <a:rPr lang="en-IN" sz="7000" b="1" u="sng" dirty="0">
                <a:latin typeface="Times New Roman" panose="02020603050405020304" pitchFamily="18" charset="0"/>
                <a:cs typeface="Times New Roman" panose="02020603050405020304" pitchFamily="18" charset="0"/>
              </a:rPr>
              <a:t>) How does Kanban work?</a:t>
            </a:r>
          </a:p>
          <a:p>
            <a:pPr algn="just"/>
            <a:r>
              <a:rPr lang="en-IN" sz="4800" dirty="0">
                <a:latin typeface="Times New Roman" panose="02020603050405020304" pitchFamily="18" charset="0"/>
                <a:cs typeface="Times New Roman" panose="02020603050405020304" pitchFamily="18" charset="0"/>
              </a:rPr>
              <a:t>Kanban method revolves around the </a:t>
            </a:r>
            <a:r>
              <a:rPr lang="en-IN" sz="4800" dirty="0" err="1">
                <a:latin typeface="Times New Roman" panose="02020603050405020304" pitchFamily="18" charset="0"/>
                <a:cs typeface="Times New Roman" panose="02020603050405020304" pitchFamily="18" charset="0"/>
                <a:hlinkClick r:id="rId2"/>
              </a:rPr>
              <a:t>kanban</a:t>
            </a:r>
            <a:r>
              <a:rPr lang="en-IN" sz="4800" dirty="0">
                <a:latin typeface="Times New Roman" panose="02020603050405020304" pitchFamily="18" charset="0"/>
                <a:cs typeface="Times New Roman" panose="02020603050405020304" pitchFamily="18" charset="0"/>
                <a:hlinkClick r:id="rId2"/>
              </a:rPr>
              <a:t> board</a:t>
            </a:r>
            <a:r>
              <a:rPr lang="en-IN" sz="4800" dirty="0">
                <a:latin typeface="Times New Roman" panose="02020603050405020304" pitchFamily="18" charset="0"/>
                <a:cs typeface="Times New Roman" panose="02020603050405020304" pitchFamily="18" charset="0"/>
              </a:rPr>
              <a:t>. It </a:t>
            </a:r>
            <a:r>
              <a:rPr lang="en-IN" sz="4800" dirty="0">
                <a:solidFill>
                  <a:srgbClr val="FF0000"/>
                </a:solidFill>
                <a:latin typeface="Times New Roman" panose="02020603050405020304" pitchFamily="18" charset="0"/>
                <a:cs typeface="Times New Roman" panose="02020603050405020304" pitchFamily="18" charset="0"/>
              </a:rPr>
              <a:t>is a tool that visualizes the entire project to track the flow of their project</a:t>
            </a:r>
            <a:r>
              <a:rPr lang="en-IN" sz="4800" dirty="0">
                <a:latin typeface="Times New Roman" panose="02020603050405020304" pitchFamily="18" charset="0"/>
                <a:cs typeface="Times New Roman" panose="02020603050405020304" pitchFamily="18" charset="0"/>
              </a:rPr>
              <a:t>. Through this graphical approach of Kanban boards, a new member or an external entity can understand what’s happening right now, tasks completed and future tasks.</a:t>
            </a:r>
          </a:p>
          <a:p>
            <a:pPr marL="0" indent="0" algn="just">
              <a:buNone/>
            </a:pP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The </a:t>
            </a:r>
            <a:r>
              <a:rPr lang="en-IN" sz="4800" dirty="0">
                <a:solidFill>
                  <a:srgbClr val="FF0000"/>
                </a:solidFill>
                <a:latin typeface="Times New Roman" panose="02020603050405020304" pitchFamily="18" charset="0"/>
                <a:cs typeface="Times New Roman" panose="02020603050405020304" pitchFamily="18" charset="0"/>
              </a:rPr>
              <a:t>first step in the introduction of Kanban is to visualize the workflow. This is done in the form of a Kanban board </a:t>
            </a:r>
            <a:r>
              <a:rPr lang="en-IN" sz="4800" dirty="0">
                <a:latin typeface="Times New Roman" panose="02020603050405020304" pitchFamily="18" charset="0"/>
                <a:cs typeface="Times New Roman" panose="02020603050405020304" pitchFamily="18" charset="0"/>
              </a:rPr>
              <a:t>consisting of a simple whiteboard and sticky notes or cards. Each card on the board represents a task.</a:t>
            </a:r>
          </a:p>
          <a:p>
            <a:pPr marL="0" indent="0" algn="just">
              <a:buNone/>
            </a:pPr>
            <a:endParaRPr lang="en-IN" sz="4800" dirty="0">
              <a:latin typeface="Times New Roman" panose="02020603050405020304" pitchFamily="18" charset="0"/>
              <a:cs typeface="Times New Roman" panose="02020603050405020304" pitchFamily="18" charset="0"/>
            </a:endParaRPr>
          </a:p>
          <a:p>
            <a:pPr algn="just"/>
            <a:r>
              <a:rPr lang="en-IN" sz="4800" b="1" u="sng" dirty="0">
                <a:latin typeface="Times New Roman" panose="02020603050405020304" pitchFamily="18" charset="0"/>
                <a:cs typeface="Times New Roman" panose="02020603050405020304" pitchFamily="18" charset="0"/>
              </a:rPr>
              <a:t>Kanban board indicates:</a:t>
            </a:r>
          </a:p>
          <a:p>
            <a:pPr algn="just">
              <a:buFont typeface="Wingdings" panose="05000000000000000000" pitchFamily="2" charset="2"/>
              <a:buChar char="Ø"/>
            </a:pPr>
            <a:r>
              <a:rPr lang="en-IN" sz="4800" dirty="0">
                <a:latin typeface="Times New Roman" panose="02020603050405020304" pitchFamily="18" charset="0"/>
                <a:cs typeface="Times New Roman" panose="02020603050405020304" pitchFamily="18" charset="0"/>
              </a:rPr>
              <a:t>the current tasks that are being performed</a:t>
            </a:r>
          </a:p>
          <a:p>
            <a:pPr algn="just">
              <a:buFont typeface="Wingdings" panose="05000000000000000000" pitchFamily="2" charset="2"/>
              <a:buChar char="Ø"/>
            </a:pPr>
            <a:r>
              <a:rPr lang="en-IN" sz="4800" dirty="0">
                <a:latin typeface="Times New Roman" panose="02020603050405020304" pitchFamily="18" charset="0"/>
                <a:cs typeface="Times New Roman" panose="02020603050405020304" pitchFamily="18" charset="0"/>
              </a:rPr>
              <a:t>the tasks to do in the future</a:t>
            </a:r>
          </a:p>
          <a:p>
            <a:pPr algn="just">
              <a:buFont typeface="Wingdings" panose="05000000000000000000" pitchFamily="2" charset="2"/>
              <a:buChar char="Ø"/>
            </a:pPr>
            <a:r>
              <a:rPr lang="en-IN" sz="4800" dirty="0">
                <a:latin typeface="Times New Roman" panose="02020603050405020304" pitchFamily="18" charset="0"/>
                <a:cs typeface="Times New Roman" panose="02020603050405020304" pitchFamily="18" charset="0"/>
              </a:rPr>
              <a:t>the tasks that are completed</a:t>
            </a:r>
          </a:p>
          <a:p>
            <a:pPr marL="0" indent="0" algn="just">
              <a:buNone/>
            </a:pP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The Kanban Method  </a:t>
            </a:r>
            <a:r>
              <a:rPr lang="en-IN" sz="4800" dirty="0">
                <a:solidFill>
                  <a:srgbClr val="FF0000"/>
                </a:solidFill>
                <a:latin typeface="Times New Roman" panose="02020603050405020304" pitchFamily="18" charset="0"/>
                <a:cs typeface="Times New Roman" panose="02020603050405020304" pitchFamily="18" charset="0"/>
              </a:rPr>
              <a:t>also follows a set of principles and practices for managing and improving the flow of work</a:t>
            </a:r>
            <a:r>
              <a:rPr lang="en-IN" sz="4800" dirty="0">
                <a:latin typeface="Times New Roman" panose="02020603050405020304" pitchFamily="18" charset="0"/>
                <a:cs typeface="Times New Roman" panose="02020603050405020304" pitchFamily="18" charset="0"/>
              </a:rPr>
              <a:t>. It is an evolutionary, non-disruptive method that promotes gradual improvements to an organization’s processes.</a:t>
            </a:r>
          </a:p>
          <a:p>
            <a:pPr marL="0" indent="0" algn="just">
              <a:buNone/>
            </a:pP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01557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marL="0" indent="0">
              <a:buNone/>
            </a:pPr>
            <a:r>
              <a:rPr lang="en-IN" sz="3200" b="1" dirty="0">
                <a:latin typeface="Times New Roman" panose="02020603050405020304" pitchFamily="18" charset="0"/>
                <a:cs typeface="Times New Roman" panose="02020603050405020304" pitchFamily="18" charset="0"/>
              </a:rPr>
              <a:t>ii) What is </a:t>
            </a:r>
            <a:r>
              <a:rPr lang="en-IN" sz="3200" b="1" dirty="0" err="1">
                <a:latin typeface="Times New Roman" panose="02020603050405020304" pitchFamily="18" charset="0"/>
                <a:cs typeface="Times New Roman" panose="02020603050405020304" pitchFamily="18" charset="0"/>
              </a:rPr>
              <a:t>kanban</a:t>
            </a:r>
            <a:r>
              <a:rPr lang="en-IN" sz="3200" b="1" dirty="0">
                <a:latin typeface="Times New Roman" panose="02020603050405020304" pitchFamily="18" charset="0"/>
                <a:cs typeface="Times New Roman" panose="02020603050405020304" pitchFamily="18" charset="0"/>
              </a:rPr>
              <a:t> board:-</a:t>
            </a:r>
          </a:p>
          <a:p>
            <a:pPr algn="just"/>
            <a:r>
              <a:rPr lang="en-IN" sz="2000" dirty="0">
                <a:latin typeface="Times New Roman" panose="02020603050405020304" pitchFamily="18" charset="0"/>
                <a:cs typeface="Times New Roman" panose="02020603050405020304" pitchFamily="18" charset="0"/>
              </a:rPr>
              <a:t>It is a tool that visualizes the entire project to track the flow of their project</a:t>
            </a:r>
          </a:p>
          <a:p>
            <a:pPr algn="just"/>
            <a:r>
              <a:rPr lang="en-IN" sz="2000" dirty="0">
                <a:latin typeface="Times New Roman" panose="02020603050405020304" pitchFamily="18" charset="0"/>
                <a:cs typeface="Times New Roman" panose="02020603050405020304" pitchFamily="18" charset="0"/>
              </a:rPr>
              <a:t>It helps to visualize the entire development process with a clear workflow which helps in  managing  ,tracking and improving the process .</a:t>
            </a:r>
          </a:p>
          <a:p>
            <a:pPr algn="just"/>
            <a:r>
              <a:rPr lang="en-IN" sz="2000" dirty="0">
                <a:latin typeface="Times New Roman" panose="02020603050405020304" pitchFamily="18" charset="0"/>
                <a:cs typeface="Times New Roman" panose="02020603050405020304" pitchFamily="18" charset="0"/>
              </a:rPr>
              <a:t>It can be </a:t>
            </a:r>
            <a:r>
              <a:rPr lang="en-IN" sz="2000" dirty="0">
                <a:solidFill>
                  <a:srgbClr val="FF0000"/>
                </a:solidFill>
                <a:latin typeface="Times New Roman" panose="02020603050405020304" pitchFamily="18" charset="0"/>
                <a:cs typeface="Times New Roman" panose="02020603050405020304" pitchFamily="18" charset="0"/>
              </a:rPr>
              <a:t>either physical </a:t>
            </a:r>
            <a:r>
              <a:rPr lang="en-IN" sz="2000" dirty="0">
                <a:latin typeface="Times New Roman" panose="02020603050405020304" pitchFamily="18" charset="0"/>
                <a:cs typeface="Times New Roman" panose="02020603050405020304" pitchFamily="18" charset="0"/>
              </a:rPr>
              <a:t>(a whiteboard, sticky notes, and markers) or </a:t>
            </a:r>
            <a:r>
              <a:rPr lang="en-IN" sz="2000" dirty="0">
                <a:solidFill>
                  <a:srgbClr val="FF0000"/>
                </a:solidFill>
                <a:latin typeface="Times New Roman" panose="02020603050405020304" pitchFamily="18" charset="0"/>
                <a:cs typeface="Times New Roman" panose="02020603050405020304" pitchFamily="18" charset="0"/>
              </a:rPr>
              <a:t>virtual </a:t>
            </a:r>
            <a:r>
              <a:rPr lang="en-IN" sz="2000" dirty="0">
                <a:latin typeface="Times New Roman" panose="02020603050405020304" pitchFamily="18" charset="0"/>
                <a:cs typeface="Times New Roman" panose="02020603050405020304" pitchFamily="18" charset="0"/>
              </a:rPr>
              <a:t>(like </a:t>
            </a:r>
            <a:r>
              <a:rPr lang="en-IN" sz="2000" u="sng" dirty="0" err="1">
                <a:latin typeface="Times New Roman" panose="02020603050405020304" pitchFamily="18" charset="0"/>
                <a:cs typeface="Times New Roman" panose="02020603050405020304" pitchFamily="18" charset="0"/>
              </a:rPr>
              <a:t>Zenkit’s</a:t>
            </a:r>
            <a:r>
              <a:rPr lang="en-IN" sz="2000" dirty="0">
                <a:latin typeface="Times New Roman" panose="02020603050405020304" pitchFamily="18" charset="0"/>
                <a:cs typeface="Times New Roman" panose="02020603050405020304" pitchFamily="18" charset="0"/>
              </a:rPr>
              <a:t> online project management </a:t>
            </a:r>
            <a:r>
              <a:rPr lang="en-IN" sz="2000" u="sng" dirty="0">
                <a:latin typeface="Times New Roman" panose="02020603050405020304" pitchFamily="18" charset="0"/>
                <a:cs typeface="Times New Roman" panose="02020603050405020304" pitchFamily="18" charset="0"/>
              </a:rPr>
              <a:t>t</a:t>
            </a:r>
            <a:r>
              <a:rPr lang="en-IN" sz="2000" dirty="0">
                <a:latin typeface="Times New Roman" panose="02020603050405020304" pitchFamily="18" charset="0"/>
                <a:cs typeface="Times New Roman" panose="02020603050405020304" pitchFamily="18" charset="0"/>
              </a:rPr>
              <a:t>ool), and can be used for personal productivity, as well as professional use.</a:t>
            </a:r>
          </a:p>
          <a:p>
            <a:pPr algn="just"/>
            <a:r>
              <a:rPr lang="en-IN" sz="2000" dirty="0">
                <a:latin typeface="Times New Roman" panose="02020603050405020304" pitchFamily="18" charset="0"/>
                <a:cs typeface="Times New Roman" panose="02020603050405020304" pitchFamily="18" charset="0"/>
              </a:rPr>
              <a:t>The </a:t>
            </a:r>
            <a:r>
              <a:rPr lang="en-IN" sz="2000" dirty="0" err="1">
                <a:latin typeface="Times New Roman" panose="02020603050405020304" pitchFamily="18" charset="0"/>
                <a:cs typeface="Times New Roman" panose="02020603050405020304" pitchFamily="18" charset="0"/>
              </a:rPr>
              <a:t>Kanban</a:t>
            </a: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board is normally put up on a wall in the project room</a:t>
            </a:r>
            <a:r>
              <a:rPr lang="en-IN" sz="2000" dirty="0">
                <a:latin typeface="Times New Roman" panose="02020603050405020304" pitchFamily="18" charset="0"/>
                <a:cs typeface="Times New Roman" panose="02020603050405020304" pitchFamily="18" charset="0"/>
              </a:rPr>
              <a:t>. The </a:t>
            </a:r>
            <a:r>
              <a:rPr lang="en-IN" sz="2000" dirty="0">
                <a:solidFill>
                  <a:srgbClr val="FF0000"/>
                </a:solidFill>
                <a:latin typeface="Times New Roman" panose="02020603050405020304" pitchFamily="18" charset="0"/>
                <a:cs typeface="Times New Roman" panose="02020603050405020304" pitchFamily="18" charset="0"/>
              </a:rPr>
              <a:t>status and progress of the story development tasks is tracked </a:t>
            </a:r>
            <a:r>
              <a:rPr lang="en-IN" sz="2000" dirty="0">
                <a:latin typeface="Times New Roman" panose="02020603050405020304" pitchFamily="18" charset="0"/>
                <a:cs typeface="Times New Roman" panose="02020603050405020304" pitchFamily="18" charset="0"/>
              </a:rPr>
              <a:t>visually on the </a:t>
            </a:r>
            <a:r>
              <a:rPr lang="en-IN" sz="2000" dirty="0" err="1">
                <a:latin typeface="Times New Roman" panose="02020603050405020304" pitchFamily="18" charset="0"/>
                <a:cs typeface="Times New Roman" panose="02020603050405020304" pitchFamily="18" charset="0"/>
              </a:rPr>
              <a:t>Kanban</a:t>
            </a:r>
            <a:r>
              <a:rPr lang="en-IN" sz="2000" dirty="0">
                <a:latin typeface="Times New Roman" panose="02020603050405020304" pitchFamily="18" charset="0"/>
                <a:cs typeface="Times New Roman" panose="02020603050405020304" pitchFamily="18" charset="0"/>
              </a:rPr>
              <a:t> board with flowing Kanban cards.</a:t>
            </a:r>
          </a:p>
          <a:p>
            <a:pPr algn="just"/>
            <a:r>
              <a:rPr lang="en-IN" sz="2000" dirty="0">
                <a:latin typeface="Times New Roman" panose="02020603050405020304" pitchFamily="18" charset="0"/>
                <a:cs typeface="Times New Roman" panose="02020603050405020304" pitchFamily="18" charset="0"/>
              </a:rPr>
              <a:t>The </a:t>
            </a:r>
            <a:r>
              <a:rPr lang="en-IN" sz="2000" dirty="0">
                <a:solidFill>
                  <a:srgbClr val="FF0000"/>
                </a:solidFill>
                <a:latin typeface="Times New Roman" panose="02020603050405020304" pitchFamily="18" charset="0"/>
                <a:cs typeface="Times New Roman" panose="02020603050405020304" pitchFamily="18" charset="0"/>
              </a:rPr>
              <a:t>Kanban board has columns and story cards</a:t>
            </a:r>
            <a:r>
              <a:rPr lang="en-IN" sz="2000" dirty="0">
                <a:latin typeface="Times New Roman" panose="02020603050405020304" pitchFamily="18" charset="0"/>
                <a:cs typeface="Times New Roman" panose="02020603050405020304" pitchFamily="18" charset="0"/>
              </a:rPr>
              <a:t>. The columns are nothing, but workflow states and cards are nothing but a demonstration of the actual task a team member is performing.</a:t>
            </a:r>
          </a:p>
          <a:p>
            <a:pPr algn="just"/>
            <a:r>
              <a:rPr lang="en-IN" sz="2000" dirty="0">
                <a:latin typeface="Times New Roman" panose="02020603050405020304" pitchFamily="18" charset="0"/>
                <a:cs typeface="Times New Roman" panose="02020603050405020304" pitchFamily="18" charset="0"/>
              </a:rPr>
              <a:t>In a classic Kanban board model, there are three columns, and these columns represent the status of the work. </a:t>
            </a:r>
            <a:r>
              <a:rPr lang="en-IN" sz="2000" dirty="0"/>
              <a:t>Each of these columns can have cards.</a:t>
            </a: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2000" b="1" u="sng" dirty="0">
                <a:latin typeface="Times New Roman" panose="02020603050405020304" pitchFamily="18" charset="0"/>
                <a:cs typeface="Times New Roman" panose="02020603050405020304" pitchFamily="18" charset="0"/>
              </a:rPr>
              <a:t>Column Represents The Work Stage Like As Shown Below;</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t>
            </a:r>
            <a:r>
              <a:rPr lang="en-IN" sz="2000" b="1" dirty="0">
                <a:latin typeface="Times New Roman" panose="02020603050405020304" pitchFamily="18" charset="0"/>
                <a:cs typeface="Times New Roman" panose="02020603050405020304" pitchFamily="18" charset="0"/>
              </a:rPr>
              <a:t>To Do</a:t>
            </a:r>
            <a:r>
              <a:rPr lang="en-IN" sz="2000" dirty="0">
                <a:latin typeface="Times New Roman" panose="02020603050405020304" pitchFamily="18" charset="0"/>
                <a:cs typeface="Times New Roman" panose="02020603050405020304" pitchFamily="18" charset="0"/>
              </a:rPr>
              <a:t>”: This column lists the tasks that are not yet started. </a:t>
            </a:r>
          </a:p>
          <a:p>
            <a:pPr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“Doing</a:t>
            </a:r>
            <a:r>
              <a:rPr lang="en-IN" sz="2000" dirty="0">
                <a:latin typeface="Times New Roman" panose="02020603050405020304" pitchFamily="18" charset="0"/>
                <a:cs typeface="Times New Roman" panose="02020603050405020304" pitchFamily="18" charset="0"/>
              </a:rPr>
              <a:t>”: Consists of the tasks that are in progress.</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t>
            </a:r>
            <a:r>
              <a:rPr lang="en-IN" sz="2000" b="1" dirty="0">
                <a:latin typeface="Times New Roman" panose="02020603050405020304" pitchFamily="18" charset="0"/>
                <a:cs typeface="Times New Roman" panose="02020603050405020304" pitchFamily="18" charset="0"/>
              </a:rPr>
              <a:t>Done”</a:t>
            </a:r>
            <a:r>
              <a:rPr lang="en-IN" sz="2000" dirty="0">
                <a:latin typeface="Times New Roman" panose="02020603050405020304" pitchFamily="18" charset="0"/>
                <a:cs typeface="Times New Roman" panose="02020603050405020304" pitchFamily="18" charset="0"/>
              </a:rPr>
              <a:t>: Consists of the tasks that are completed</a:t>
            </a:r>
          </a:p>
          <a:p>
            <a:pPr algn="just">
              <a:buFont typeface="Wingdings" panose="05000000000000000000" pitchFamily="2" charset="2"/>
              <a:buChar char="v"/>
            </a:pPr>
            <a:r>
              <a:rPr lang="en-IN" sz="2000" b="1" u="sng" dirty="0">
                <a:latin typeface="Times New Roman" panose="02020603050405020304" pitchFamily="18" charset="0"/>
                <a:cs typeface="Times New Roman" panose="02020603050405020304" pitchFamily="18" charset="0"/>
              </a:rPr>
              <a:t>Other Columns Include Like Work Stage :</a:t>
            </a:r>
          </a:p>
          <a:p>
            <a:pPr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Development</a:t>
            </a:r>
          </a:p>
          <a:p>
            <a:pPr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testing</a:t>
            </a:r>
          </a:p>
          <a:p>
            <a:pPr algn="just"/>
            <a:endParaRPr lang="en-IN" sz="20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8734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Kanban cards</a:t>
            </a:r>
            <a:r>
              <a:rPr lang="en-IN" sz="2400" u="sng"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The tasks and stories are represented by Kanban cards. The cards represent the actual work.</a:t>
            </a:r>
          </a:p>
          <a:p>
            <a:pPr algn="just"/>
            <a:r>
              <a:rPr lang="en-IN" sz="2000" dirty="0">
                <a:latin typeface="Times New Roman" panose="02020603050405020304" pitchFamily="18" charset="0"/>
                <a:cs typeface="Times New Roman" panose="02020603050405020304" pitchFamily="18" charset="0"/>
              </a:rPr>
              <a:t>When we look at a card it depicts  a work item/task in the work process.</a:t>
            </a:r>
          </a:p>
          <a:p>
            <a:pPr algn="just"/>
            <a:r>
              <a:rPr lang="en-IN" sz="2000" dirty="0">
                <a:latin typeface="Times New Roman" panose="02020603050405020304" pitchFamily="18" charset="0"/>
                <a:cs typeface="Times New Roman" panose="02020603050405020304" pitchFamily="18" charset="0"/>
              </a:rPr>
              <a:t>Cards are usually used to communicate progress with your team, it represents information such as status, cycle time, and impending deadlines.</a:t>
            </a:r>
          </a:p>
          <a:p>
            <a:pPr algn="just"/>
            <a:r>
              <a:rPr lang="en-IN" sz="2000" dirty="0">
                <a:latin typeface="Times New Roman" panose="02020603050405020304" pitchFamily="18" charset="0"/>
                <a:cs typeface="Times New Roman" panose="02020603050405020304" pitchFamily="18" charset="0"/>
              </a:rPr>
              <a:t>The current status of each task is known by displaying the cards in separate columns on the board.</a:t>
            </a:r>
          </a:p>
          <a:p>
            <a:pPr marL="0" indent="0" algn="just">
              <a:buNone/>
            </a:pPr>
            <a:r>
              <a:rPr lang="en-IN" sz="2000" b="1" u="sng" dirty="0">
                <a:latin typeface="Times New Roman" panose="02020603050405020304" pitchFamily="18" charset="0"/>
                <a:cs typeface="Times New Roman" panose="02020603050405020304" pitchFamily="18" charset="0"/>
              </a:rPr>
              <a:t>These cards will have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Priority</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Owner</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Type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Due date</a:t>
            </a:r>
          </a:p>
          <a:p>
            <a:pPr marL="0" inden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Each task moves from </a:t>
            </a:r>
            <a:r>
              <a:rPr lang="en-IN" sz="2000" b="1" dirty="0">
                <a:latin typeface="Times New Roman" panose="02020603050405020304" pitchFamily="18" charset="0"/>
                <a:cs typeface="Times New Roman" panose="02020603050405020304" pitchFamily="18" charset="0"/>
              </a:rPr>
              <a:t>To Do</a:t>
            </a:r>
            <a:r>
              <a:rPr lang="en-IN" sz="2000" dirty="0">
                <a:latin typeface="Times New Roman" panose="02020603050405020304" pitchFamily="18" charset="0"/>
                <a:cs typeface="Times New Roman" panose="02020603050405020304" pitchFamily="18" charset="0"/>
              </a:rPr>
              <a:t> to </a:t>
            </a:r>
            <a:r>
              <a:rPr lang="en-IN" sz="2000" b="1" dirty="0">
                <a:latin typeface="Times New Roman" panose="02020603050405020304" pitchFamily="18" charset="0"/>
                <a:cs typeface="Times New Roman" panose="02020603050405020304" pitchFamily="18" charset="0"/>
              </a:rPr>
              <a:t>Doing</a:t>
            </a:r>
            <a:r>
              <a:rPr lang="en-IN" sz="2000" dirty="0">
                <a:latin typeface="Times New Roman" panose="02020603050405020304" pitchFamily="18" charset="0"/>
                <a:cs typeface="Times New Roman" panose="02020603050405020304" pitchFamily="18" charset="0"/>
              </a:rPr>
              <a:t> and then to </a:t>
            </a:r>
            <a:r>
              <a:rPr lang="en-IN" sz="2000" b="1" dirty="0">
                <a:latin typeface="Times New Roman" panose="02020603050405020304" pitchFamily="18" charset="0"/>
                <a:cs typeface="Times New Roman" panose="02020603050405020304" pitchFamily="18" charset="0"/>
              </a:rPr>
              <a:t>Done</a:t>
            </a:r>
          </a:p>
          <a:p>
            <a:pPr marL="0" indent="0" algn="just">
              <a:buNone/>
            </a:pPr>
            <a:endParaRPr lang="en-IN" sz="2000" b="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divided columns are interconnected and tasks are gradually pulled from the leftmost column (future tasks) to the rightmost column (completed tasks).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As all the Work items are represented visually on a </a:t>
            </a:r>
            <a:r>
              <a:rPr lang="en-IN" sz="2000" dirty="0" err="1">
                <a:latin typeface="Times New Roman" panose="02020603050405020304" pitchFamily="18" charset="0"/>
                <a:cs typeface="Times New Roman" panose="02020603050405020304" pitchFamily="18" charset="0"/>
              </a:rPr>
              <a:t>kanban</a:t>
            </a:r>
            <a:r>
              <a:rPr lang="en-IN" sz="2000" dirty="0">
                <a:latin typeface="Times New Roman" panose="02020603050405020304" pitchFamily="18" charset="0"/>
                <a:cs typeface="Times New Roman" panose="02020603050405020304" pitchFamily="18" charset="0"/>
              </a:rPr>
              <a:t> board, allowing team members to see the state of every piece of work at any time. all blockers and dependencies are immediately identified and resolved.</a:t>
            </a:r>
          </a:p>
          <a:p>
            <a:pPr algn="just"/>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4840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p:cNvPicPr>
            <a:picLocks noGrp="1" noChangeAspect="1"/>
          </p:cNvPicPr>
          <p:nvPr>
            <p:ph idx="1"/>
          </p:nvPr>
        </p:nvPicPr>
        <p:blipFill>
          <a:blip r:embed="rId2"/>
          <a:stretch>
            <a:fillRect/>
          </a:stretch>
        </p:blipFill>
        <p:spPr>
          <a:xfrm>
            <a:off x="554182" y="241950"/>
            <a:ext cx="11291454" cy="6103432"/>
          </a:xfrm>
          <a:prstGeom prst="rect">
            <a:avLst/>
          </a:prstGeom>
        </p:spPr>
      </p:pic>
    </p:spTree>
    <p:extLst>
      <p:ext uri="{BB962C8B-B14F-4D97-AF65-F5344CB8AC3E}">
        <p14:creationId xmlns:p14="http://schemas.microsoft.com/office/powerpoint/2010/main" val="1293451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dirty="0">
                <a:latin typeface="Times New Roman" panose="02020603050405020304" pitchFamily="18" charset="0"/>
                <a:cs typeface="Times New Roman" panose="02020603050405020304" pitchFamily="18" charset="0"/>
              </a:rPr>
              <a:t>Kanban system measures the work cycle being completed through the principle of Work in Progress (WIP)</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WIP has certain limits and a pre-defined specific status.</a:t>
            </a:r>
          </a:p>
          <a:p>
            <a:pPr marL="0" indent="0">
              <a:buNone/>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WIP Limit:</a:t>
            </a:r>
            <a:endParaRPr lang="en-IN" sz="24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you can place a WIP (Work in Progress) limit on the column. </a:t>
            </a:r>
            <a:r>
              <a:rPr lang="en-IN" sz="2000" b="1" i="1" dirty="0">
                <a:latin typeface="Times New Roman" panose="02020603050405020304" pitchFamily="18" charset="0"/>
                <a:cs typeface="Times New Roman" panose="02020603050405020304" pitchFamily="18" charset="0"/>
              </a:rPr>
              <a:t>The WIP limit means the maximum number of cards that can stay on that column</a:t>
            </a:r>
            <a:r>
              <a:rPr lang="en-IN" sz="2000" dirty="0">
                <a:latin typeface="Times New Roman" panose="02020603050405020304" pitchFamily="18" charset="0"/>
                <a:cs typeface="Times New Roman" panose="02020603050405020304" pitchFamily="18" charset="0"/>
              </a:rPr>
              <a:t>.</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label in the Doing column also contains a number, which represents the maximum number of tasks that can be in that column at any point of time. i.e., the number associated with the </a:t>
            </a:r>
            <a:r>
              <a:rPr lang="en-IN" sz="2000" b="1" dirty="0">
                <a:latin typeface="Times New Roman" panose="02020603050405020304" pitchFamily="18" charset="0"/>
                <a:cs typeface="Times New Roman" panose="02020603050405020304" pitchFamily="18" charset="0"/>
              </a:rPr>
              <a:t>Doing</a:t>
            </a:r>
            <a:r>
              <a:rPr lang="en-IN" sz="2000" dirty="0">
                <a:latin typeface="Times New Roman" panose="02020603050405020304" pitchFamily="18" charset="0"/>
                <a:cs typeface="Times New Roman" panose="02020603050405020304" pitchFamily="18" charset="0"/>
              </a:rPr>
              <a:t> column is the WIP (Work-In-Progress) Limit.</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cards &lt;=the WIP limit (The cards represent the actual work).</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You can use positive numbers to limit work-in-progress, and this limit number can be placed on the top of the columns in both physical and digital Kanban boards. Any individual of the team can manage the state of his card, and the entire team can visualize the workflow.</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Limiting WIP in order to maintain consistent standards is one of the core principles that govern the Kanban methodology in Agile. It is extremely important for the team to complete the current tasks in the prescribed order</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175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dirty="0">
                <a:latin typeface="Times New Roman" panose="02020603050405020304" pitchFamily="18" charset="0"/>
                <a:cs typeface="Times New Roman" panose="02020603050405020304" pitchFamily="18" charset="0"/>
              </a:rPr>
              <a:t>As Kanban </a:t>
            </a:r>
            <a:r>
              <a:rPr lang="en-IN" sz="2000" dirty="0">
                <a:solidFill>
                  <a:srgbClr val="FF0000"/>
                </a:solidFill>
                <a:latin typeface="Times New Roman" panose="02020603050405020304" pitchFamily="18" charset="0"/>
                <a:cs typeface="Times New Roman" panose="02020603050405020304" pitchFamily="18" charset="0"/>
              </a:rPr>
              <a:t>focuses on breaking down work into small tasks, visualizing them</a:t>
            </a:r>
            <a:r>
              <a:rPr lang="en-IN" sz="2000" dirty="0">
                <a:latin typeface="Times New Roman" panose="02020603050405020304" pitchFamily="18" charset="0"/>
                <a:cs typeface="Times New Roman" panose="02020603050405020304" pitchFamily="18" charset="0"/>
              </a:rPr>
              <a:t>, and getting few items in any given work state.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In the Kanban board, </a:t>
            </a:r>
            <a:r>
              <a:rPr lang="en-IN" sz="2000" dirty="0">
                <a:solidFill>
                  <a:srgbClr val="FF0000"/>
                </a:solidFill>
                <a:latin typeface="Times New Roman" panose="02020603050405020304" pitchFamily="18" charset="0"/>
                <a:cs typeface="Times New Roman" panose="02020603050405020304" pitchFamily="18" charset="0"/>
              </a:rPr>
              <a:t>work always moves from left to right. And, you pick work from the column to your left when you have completed all your existing work items or when an urgent task surfaces.</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This helps in increasing visibility teams as the teams can see the progress through every stage of development and prepare for the upcoming tasks to deliver the product “just in time”!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solidFill>
                  <a:srgbClr val="FF0000"/>
                </a:solidFill>
                <a:latin typeface="Times New Roman" panose="02020603050405020304" pitchFamily="18" charset="0"/>
                <a:cs typeface="Times New Roman" panose="02020603050405020304" pitchFamily="18" charset="0"/>
              </a:rPr>
              <a:t>As the development evolves, the information contained in the table changes</a:t>
            </a:r>
            <a:r>
              <a:rPr lang="en-IN" sz="2000" dirty="0">
                <a:latin typeface="Times New Roman" panose="02020603050405020304" pitchFamily="18" charset="0"/>
                <a:cs typeface="Times New Roman" panose="02020603050405020304" pitchFamily="18" charset="0"/>
              </a:rPr>
              <a:t>, and when a new task comes into play, </a:t>
            </a:r>
            <a:r>
              <a:rPr lang="en-IN" sz="2000" dirty="0">
                <a:solidFill>
                  <a:srgbClr val="FF0000"/>
                </a:solidFill>
                <a:latin typeface="Times New Roman" panose="02020603050405020304" pitchFamily="18" charset="0"/>
                <a:cs typeface="Times New Roman" panose="02020603050405020304" pitchFamily="18" charset="0"/>
              </a:rPr>
              <a:t>a new “card” is created.</a:t>
            </a:r>
          </a:p>
          <a:p>
            <a:pPr marL="0" indent="0" algn="just">
              <a:buNone/>
            </a:pPr>
            <a:endParaRPr lang="en-IN" sz="2000" dirty="0">
              <a:solidFill>
                <a:srgbClr val="FF0000"/>
              </a:solidFill>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a:t>
            </a:r>
            <a:r>
              <a:rPr lang="en-IN" sz="2000" dirty="0">
                <a:solidFill>
                  <a:srgbClr val="FF0000"/>
                </a:solidFill>
                <a:latin typeface="Times New Roman" panose="02020603050405020304" pitchFamily="18" charset="0"/>
                <a:cs typeface="Times New Roman" panose="02020603050405020304" pitchFamily="18" charset="0"/>
              </a:rPr>
              <a:t>Kanban method requires communication and transparency so that the members of a team can know exactly at what stage the development is and can see the status of the project at any time</a:t>
            </a:r>
            <a:r>
              <a:rPr lang="en-IN" sz="2000" dirty="0">
                <a:latin typeface="Times New Roman" panose="02020603050405020304" pitchFamily="18" charset="0"/>
                <a:cs typeface="Times New Roman" panose="02020603050405020304" pitchFamily="18" charset="0"/>
              </a:rPr>
              <a:t>. visualize and examine specific parts of the workflow to identify bottlenecks in order to remove them.</a:t>
            </a:r>
          </a:p>
          <a:p>
            <a:pPr marL="0" indent="0" algn="just">
              <a:buNone/>
            </a:pPr>
            <a:endParaRPr lang="en-IN" sz="2000" dirty="0">
              <a:latin typeface="Times New Roman" panose="02020603050405020304" pitchFamily="18" charset="0"/>
              <a:cs typeface="Times New Roman" panose="02020603050405020304" pitchFamily="18" charset="0"/>
            </a:endParaRPr>
          </a:p>
          <a:p>
            <a:r>
              <a:rPr lang="en-IN" sz="2000" dirty="0">
                <a:solidFill>
                  <a:srgbClr val="FF0000"/>
                </a:solidFill>
                <a:latin typeface="Times New Roman" panose="02020603050405020304" pitchFamily="18" charset="0"/>
                <a:cs typeface="Times New Roman" panose="02020603050405020304" pitchFamily="18" charset="0"/>
              </a:rPr>
              <a:t>Kanban Board is updated on a daily basis</a:t>
            </a:r>
            <a:r>
              <a:rPr lang="en-IN" sz="2000" dirty="0">
                <a:latin typeface="Times New Roman" panose="02020603050405020304" pitchFamily="18" charset="0"/>
                <a:cs typeface="Times New Roman" panose="02020603050405020304" pitchFamily="18" charset="0"/>
              </a:rPr>
              <a:t> as the team progresses through the development</a:t>
            </a:r>
          </a:p>
          <a:p>
            <a:endParaRPr lang="en-IN" dirty="0"/>
          </a:p>
        </p:txBody>
      </p:sp>
    </p:spTree>
    <p:extLst>
      <p:ext uri="{BB962C8B-B14F-4D97-AF65-F5344CB8AC3E}">
        <p14:creationId xmlns:p14="http://schemas.microsoft.com/office/powerpoint/2010/main" val="817937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BFE8FF-73D7-4FF8-918A-A1FEA8D5D012}"/>
              </a:ext>
            </a:extLst>
          </p:cNvPr>
          <p:cNvSpPr txBox="1"/>
          <p:nvPr/>
        </p:nvSpPr>
        <p:spPr>
          <a:xfrm>
            <a:off x="201336" y="167781"/>
            <a:ext cx="11752976" cy="2585323"/>
          </a:xfrm>
          <a:prstGeom prst="rect">
            <a:avLst/>
          </a:prstGeom>
          <a:noFill/>
        </p:spPr>
        <p:txBody>
          <a:bodyPr wrap="square">
            <a:spAutoFit/>
          </a:bodyPr>
          <a:lstStyle/>
          <a:p>
            <a:r>
              <a:rPr lang="en-SG" b="1" i="1" dirty="0">
                <a:solidFill>
                  <a:srgbClr val="0B5C60"/>
                </a:solidFill>
                <a:effectLst/>
                <a:latin typeface="Open Sans" panose="020B0606030504020204" pitchFamily="34" charset="0"/>
              </a:rPr>
              <a:t>Kanban Board</a:t>
            </a:r>
            <a:endParaRPr lang="en-SG" b="1" dirty="0">
              <a:solidFill>
                <a:srgbClr val="001C63"/>
              </a:solidFill>
              <a:effectLst/>
              <a:latin typeface="Open Sans" panose="020B0606030504020204" pitchFamily="34" charset="0"/>
            </a:endParaRPr>
          </a:p>
          <a:p>
            <a:pPr algn="l"/>
            <a:endParaRPr lang="en-US" b="1" dirty="0">
              <a:solidFill>
                <a:srgbClr val="001C63"/>
              </a:solidFill>
              <a:effectLst/>
              <a:latin typeface="Open Sans" panose="020B0606030504020204" pitchFamily="34" charset="0"/>
            </a:endParaRPr>
          </a:p>
          <a:p>
            <a:pPr algn="l"/>
            <a:r>
              <a:rPr lang="en-US" b="1" dirty="0">
                <a:solidFill>
                  <a:srgbClr val="001C63"/>
                </a:solidFill>
                <a:effectLst/>
                <a:latin typeface="Open Sans" panose="020B0606030504020204" pitchFamily="34" charset="0"/>
              </a:rPr>
              <a:t>A Kanban Board typically have three main Sections</a:t>
            </a:r>
          </a:p>
          <a:p>
            <a:pPr algn="l">
              <a:buFont typeface="+mj-lt"/>
              <a:buAutoNum type="arabicPeriod"/>
            </a:pPr>
            <a:r>
              <a:rPr lang="en-US" b="0" i="0" dirty="0" err="1">
                <a:solidFill>
                  <a:srgbClr val="424242"/>
                </a:solidFill>
                <a:effectLst/>
                <a:latin typeface="Tahoma" panose="020B0604030504040204" pitchFamily="34" charset="0"/>
              </a:rPr>
              <a:t>Todo</a:t>
            </a:r>
            <a:r>
              <a:rPr lang="en-US" b="0" i="0" dirty="0">
                <a:solidFill>
                  <a:srgbClr val="424242"/>
                </a:solidFill>
                <a:effectLst/>
                <a:latin typeface="Tahoma" panose="020B0604030504040204" pitchFamily="34" charset="0"/>
              </a:rPr>
              <a:t> (or the Backlog)</a:t>
            </a:r>
          </a:p>
          <a:p>
            <a:pPr algn="l">
              <a:buFont typeface="+mj-lt"/>
              <a:buAutoNum type="arabicPeriod"/>
            </a:pPr>
            <a:r>
              <a:rPr lang="en-US" b="0" i="0" dirty="0">
                <a:solidFill>
                  <a:srgbClr val="424242"/>
                </a:solidFill>
                <a:effectLst/>
                <a:latin typeface="Tahoma" panose="020B0604030504040204" pitchFamily="34" charset="0"/>
              </a:rPr>
              <a:t>In Progress (The Work in Progress Area)</a:t>
            </a:r>
          </a:p>
          <a:p>
            <a:pPr algn="l">
              <a:buFont typeface="+mj-lt"/>
              <a:buAutoNum type="arabicPeriod"/>
            </a:pPr>
            <a:r>
              <a:rPr lang="en-US" b="0" i="0" dirty="0">
                <a:solidFill>
                  <a:srgbClr val="424242"/>
                </a:solidFill>
                <a:effectLst/>
                <a:latin typeface="Tahoma" panose="020B0604030504040204" pitchFamily="34" charset="0"/>
              </a:rPr>
              <a:t>Done (The Stories those are completed.</a:t>
            </a:r>
          </a:p>
          <a:p>
            <a:pPr algn="l">
              <a:buFont typeface="+mj-lt"/>
              <a:buAutoNum type="arabicPeriod"/>
            </a:pPr>
            <a:endParaRPr lang="en-US" dirty="0">
              <a:solidFill>
                <a:srgbClr val="424242"/>
              </a:solidFill>
              <a:latin typeface="Tahoma" panose="020B0604030504040204" pitchFamily="34" charset="0"/>
            </a:endParaRPr>
          </a:p>
          <a:p>
            <a:pPr algn="l">
              <a:buFont typeface="+mj-lt"/>
              <a:buAutoNum type="arabicPeriod"/>
            </a:pPr>
            <a:endParaRPr lang="en-US" b="0" i="0" dirty="0">
              <a:solidFill>
                <a:srgbClr val="424242"/>
              </a:solidFill>
              <a:effectLst/>
              <a:latin typeface="Tahoma" panose="020B0604030504040204" pitchFamily="34" charset="0"/>
            </a:endParaRPr>
          </a:p>
          <a:p>
            <a:pPr algn="l">
              <a:buFont typeface="+mj-lt"/>
              <a:buAutoNum type="arabicPeriod"/>
            </a:pPr>
            <a:endParaRPr lang="en-US" b="0" i="0" dirty="0">
              <a:solidFill>
                <a:srgbClr val="424242"/>
              </a:solidFill>
              <a:effectLst/>
              <a:latin typeface="Tahoma" panose="020B0604030504040204" pitchFamily="34" charset="0"/>
            </a:endParaRPr>
          </a:p>
        </p:txBody>
      </p:sp>
      <p:pic>
        <p:nvPicPr>
          <p:cNvPr id="4" name="Content Placeholder 3">
            <a:extLst>
              <a:ext uri="{FF2B5EF4-FFF2-40B4-BE49-F238E27FC236}">
                <a16:creationId xmlns:a16="http://schemas.microsoft.com/office/drawing/2014/main" id="{7187F741-3AEC-4501-9307-9F947B03F443}"/>
              </a:ext>
            </a:extLst>
          </p:cNvPr>
          <p:cNvPicPr>
            <a:picLocks noChangeAspect="1"/>
          </p:cNvPicPr>
          <p:nvPr/>
        </p:nvPicPr>
        <p:blipFill>
          <a:blip r:embed="rId2"/>
          <a:stretch>
            <a:fillRect/>
          </a:stretch>
        </p:blipFill>
        <p:spPr>
          <a:xfrm>
            <a:off x="1719743" y="2506193"/>
            <a:ext cx="7236648" cy="3720851"/>
          </a:xfrm>
          <a:prstGeom prst="rect">
            <a:avLst/>
          </a:prstGeom>
        </p:spPr>
      </p:pic>
    </p:spTree>
    <p:extLst>
      <p:ext uri="{BB962C8B-B14F-4D97-AF65-F5344CB8AC3E}">
        <p14:creationId xmlns:p14="http://schemas.microsoft.com/office/powerpoint/2010/main" val="1894510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6FC4F6F-AFBC-4BA9-9C30-CDE3BF362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071563"/>
            <a:ext cx="9753600" cy="471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556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3901E0-1966-4433-B34F-2E2A43094CFA}"/>
              </a:ext>
            </a:extLst>
          </p:cNvPr>
          <p:cNvSpPr txBox="1"/>
          <p:nvPr/>
        </p:nvSpPr>
        <p:spPr>
          <a:xfrm>
            <a:off x="100668" y="100668"/>
            <a:ext cx="11752976" cy="1754326"/>
          </a:xfrm>
          <a:prstGeom prst="rect">
            <a:avLst/>
          </a:prstGeom>
          <a:noFill/>
        </p:spPr>
        <p:txBody>
          <a:bodyPr wrap="square">
            <a:spAutoFit/>
          </a:bodyPr>
          <a:lstStyle/>
          <a:p>
            <a:pPr algn="l"/>
            <a:r>
              <a:rPr lang="en-US" b="1" dirty="0">
                <a:solidFill>
                  <a:srgbClr val="001C63"/>
                </a:solidFill>
                <a:effectLst/>
                <a:latin typeface="Open Sans" panose="020B0606030504020204" pitchFamily="34" charset="0"/>
              </a:rPr>
              <a:t>Implementing Multiple WIP Columns</a:t>
            </a:r>
          </a:p>
          <a:p>
            <a:pPr algn="l"/>
            <a:r>
              <a:rPr lang="en-US" b="0" i="0" dirty="0">
                <a:solidFill>
                  <a:srgbClr val="424242"/>
                </a:solidFill>
                <a:effectLst/>
                <a:latin typeface="Tahoma" panose="020B0604030504040204" pitchFamily="34" charset="0"/>
              </a:rPr>
              <a:t>How ever to make the distribution of work, we normally distribute the In Progress work into multiple columns</a:t>
            </a:r>
          </a:p>
          <a:p>
            <a:pPr algn="l"/>
            <a:r>
              <a:rPr lang="en-US" b="0" i="0" dirty="0">
                <a:solidFill>
                  <a:srgbClr val="424242"/>
                </a:solidFill>
                <a:effectLst/>
                <a:latin typeface="Tahoma" panose="020B0604030504040204" pitchFamily="34" charset="0"/>
              </a:rPr>
              <a:t>For Example, We can have Analysis, Development, Testing etc. In the picture on the right we have distributed the In Progress work into two section Development and Testing.</a:t>
            </a:r>
          </a:p>
          <a:p>
            <a:pPr algn="l"/>
            <a:r>
              <a:rPr lang="en-US" b="0" i="0" dirty="0">
                <a:solidFill>
                  <a:srgbClr val="424242"/>
                </a:solidFill>
                <a:effectLst/>
                <a:latin typeface="Tahoma" panose="020B0604030504040204" pitchFamily="34" charset="0"/>
              </a:rPr>
              <a:t>You can make the distribution as per your need and teams comfort to have a better control. This Distribution to more than one column always helps implement the WIP Limit for different skillset.</a:t>
            </a:r>
          </a:p>
        </p:txBody>
      </p:sp>
      <p:pic>
        <p:nvPicPr>
          <p:cNvPr id="2050" name="Picture 2">
            <a:extLst>
              <a:ext uri="{FF2B5EF4-FFF2-40B4-BE49-F238E27FC236}">
                <a16:creationId xmlns:a16="http://schemas.microsoft.com/office/drawing/2014/main" id="{73F3B58D-7575-4EBC-B96D-34573DADB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5035" y="1918851"/>
            <a:ext cx="9753600" cy="471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411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82F71B-388B-4C35-A3E5-890842042364}"/>
              </a:ext>
            </a:extLst>
          </p:cNvPr>
          <p:cNvSpPr txBox="1"/>
          <p:nvPr/>
        </p:nvSpPr>
        <p:spPr>
          <a:xfrm>
            <a:off x="142613" y="0"/>
            <a:ext cx="11853644" cy="2308324"/>
          </a:xfrm>
          <a:prstGeom prst="rect">
            <a:avLst/>
          </a:prstGeom>
          <a:noFill/>
        </p:spPr>
        <p:txBody>
          <a:bodyPr wrap="square">
            <a:spAutoFit/>
          </a:bodyPr>
          <a:lstStyle/>
          <a:p>
            <a:pPr algn="l"/>
            <a:r>
              <a:rPr lang="en-US" b="1" dirty="0">
                <a:solidFill>
                  <a:srgbClr val="001C63"/>
                </a:solidFill>
                <a:effectLst/>
                <a:latin typeface="Open Sans" panose="020B0606030504020204" pitchFamily="34" charset="0"/>
              </a:rPr>
              <a:t>Implementing WIP Limits</a:t>
            </a:r>
          </a:p>
          <a:p>
            <a:pPr algn="l"/>
            <a:r>
              <a:rPr lang="en-US" b="0" i="0" dirty="0">
                <a:solidFill>
                  <a:srgbClr val="424242"/>
                </a:solidFill>
                <a:effectLst/>
                <a:latin typeface="Tahoma" panose="020B0604030504040204" pitchFamily="34" charset="0"/>
              </a:rPr>
              <a:t>Limiting the count of Stories for Work in Progress Column is one of the core principle of Kanban.</a:t>
            </a:r>
          </a:p>
          <a:p>
            <a:pPr algn="l"/>
            <a:r>
              <a:rPr lang="en-US" b="0" i="0" dirty="0">
                <a:solidFill>
                  <a:srgbClr val="424242"/>
                </a:solidFill>
                <a:effectLst/>
                <a:latin typeface="Tahoma" panose="020B0604030504040204" pitchFamily="34" charset="0"/>
              </a:rPr>
              <a:t>By implementing the WIP Limit, you will enforce the team to focus on the flow of stories from Left to right.</a:t>
            </a:r>
          </a:p>
          <a:p>
            <a:pPr algn="l"/>
            <a:r>
              <a:rPr lang="en-US" b="1" i="0" dirty="0">
                <a:solidFill>
                  <a:srgbClr val="424242"/>
                </a:solidFill>
                <a:effectLst/>
                <a:latin typeface="Tahoma" panose="020B0604030504040204" pitchFamily="34" charset="0"/>
              </a:rPr>
              <a:t>In this example we have limited the number of max stories in Development as 4 and max stories for testing is 3. That means the team can work on max of 4 stories under development column and max of three stories under testing column.</a:t>
            </a:r>
          </a:p>
          <a:p>
            <a:pPr algn="l"/>
            <a:r>
              <a:rPr lang="en-US" b="0" i="0" dirty="0">
                <a:solidFill>
                  <a:srgbClr val="424242"/>
                </a:solidFill>
                <a:effectLst/>
                <a:latin typeface="Tahoma" panose="020B0604030504040204" pitchFamily="34" charset="0"/>
              </a:rPr>
              <a:t>This Limitation will help the team to focus on finishing the stories first and then think about new stories to in progress.</a:t>
            </a:r>
          </a:p>
        </p:txBody>
      </p:sp>
      <p:sp>
        <p:nvSpPr>
          <p:cNvPr id="5" name="TextBox 4">
            <a:extLst>
              <a:ext uri="{FF2B5EF4-FFF2-40B4-BE49-F238E27FC236}">
                <a16:creationId xmlns:a16="http://schemas.microsoft.com/office/drawing/2014/main" id="{D91E84B2-CD2D-46D5-818C-2853E11C084D}"/>
              </a:ext>
            </a:extLst>
          </p:cNvPr>
          <p:cNvSpPr txBox="1"/>
          <p:nvPr/>
        </p:nvSpPr>
        <p:spPr>
          <a:xfrm>
            <a:off x="293615" y="2525086"/>
            <a:ext cx="11601974" cy="3416320"/>
          </a:xfrm>
          <a:prstGeom prst="rect">
            <a:avLst/>
          </a:prstGeom>
          <a:noFill/>
        </p:spPr>
        <p:txBody>
          <a:bodyPr wrap="square">
            <a:spAutoFit/>
          </a:bodyPr>
          <a:lstStyle/>
          <a:p>
            <a:pPr algn="l"/>
            <a:r>
              <a:rPr lang="en-US" b="0" i="0" dirty="0">
                <a:solidFill>
                  <a:srgbClr val="424242"/>
                </a:solidFill>
                <a:effectLst/>
                <a:latin typeface="Tahoma" panose="020B0604030504040204" pitchFamily="34" charset="0"/>
              </a:rPr>
              <a:t>For the image below we can see there are already 4 stories on development with limit of 4 and 3 stories under testing with limit of 3. </a:t>
            </a:r>
          </a:p>
          <a:p>
            <a:pPr algn="l"/>
            <a:endParaRPr lang="en-US" dirty="0">
              <a:solidFill>
                <a:srgbClr val="424242"/>
              </a:solidFill>
              <a:latin typeface="Tahoma" panose="020B0604030504040204" pitchFamily="34" charset="0"/>
            </a:endParaRPr>
          </a:p>
          <a:p>
            <a:pPr algn="l"/>
            <a:r>
              <a:rPr lang="en-US" b="0" i="0" dirty="0">
                <a:solidFill>
                  <a:srgbClr val="424242"/>
                </a:solidFill>
                <a:effectLst/>
                <a:latin typeface="Tahoma" panose="020B0604030504040204" pitchFamily="34" charset="0"/>
              </a:rPr>
              <a:t>So in this case even the developer completes the development of 1 or more stories, They can not pick new stories from Backlog, as there are no room for new story or task under development.</a:t>
            </a:r>
          </a:p>
          <a:p>
            <a:pPr algn="l"/>
            <a:endParaRPr lang="en-US" b="0" i="0" dirty="0">
              <a:solidFill>
                <a:srgbClr val="424242"/>
              </a:solidFill>
              <a:effectLst/>
              <a:latin typeface="Tahoma" panose="020B0604030504040204" pitchFamily="34" charset="0"/>
            </a:endParaRPr>
          </a:p>
          <a:p>
            <a:pPr algn="l"/>
            <a:r>
              <a:rPr lang="en-US" b="0" i="0" dirty="0">
                <a:solidFill>
                  <a:srgbClr val="424242"/>
                </a:solidFill>
                <a:effectLst/>
                <a:latin typeface="Tahoma" panose="020B0604030504040204" pitchFamily="34" charset="0"/>
              </a:rPr>
              <a:t>To make room on development column testers need to pull one or more stories or tasks from Dev to testing. and the Tester can only do that, if the complete the testing of some existing story/task and move it to done state.</a:t>
            </a:r>
          </a:p>
          <a:p>
            <a:pPr algn="l"/>
            <a:r>
              <a:rPr lang="en-US" b="0" i="0" dirty="0">
                <a:solidFill>
                  <a:srgbClr val="424242"/>
                </a:solidFill>
                <a:effectLst/>
                <a:latin typeface="Tahoma" panose="020B0604030504040204" pitchFamily="34" charset="0"/>
              </a:rPr>
              <a:t>In this scenario the Developer will not seat Ideal. The will contribute their efforts to tester and expedite the testing so the team can pull stories from development, and developer can bring in new stories from Backlog.</a:t>
            </a:r>
          </a:p>
          <a:p>
            <a:pPr algn="l"/>
            <a:r>
              <a:rPr lang="en-US" b="0" i="0" dirty="0">
                <a:solidFill>
                  <a:srgbClr val="424242"/>
                </a:solidFill>
                <a:effectLst/>
                <a:latin typeface="Tahoma" panose="020B0604030504040204" pitchFamily="34" charset="0"/>
              </a:rPr>
              <a:t>The Team members can mutually decide the WIP limit at the beginning based on the team size and available skill set. And this Limit is subject to revise after certain period of time.</a:t>
            </a:r>
          </a:p>
        </p:txBody>
      </p:sp>
    </p:spTree>
    <p:extLst>
      <p:ext uri="{BB962C8B-B14F-4D97-AF65-F5344CB8AC3E}">
        <p14:creationId xmlns:p14="http://schemas.microsoft.com/office/powerpoint/2010/main" val="1336318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B5D5E179-52AE-4FF1-B133-634C7B90C9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162050"/>
            <a:ext cx="9753600"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900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968836"/>
          </a:xfrm>
        </p:spPr>
        <p:txBody>
          <a:bodyPr>
            <a:normAutofit/>
          </a:bodyPr>
          <a:lstStyle/>
          <a:p>
            <a:pPr>
              <a:buFont typeface="Wingdings" panose="05000000000000000000" pitchFamily="2" charset="2"/>
              <a:buChar char="q"/>
            </a:pPr>
            <a:r>
              <a:rPr lang="en-IN" sz="2600" b="1" u="sng" dirty="0">
                <a:latin typeface="Times New Roman" panose="02020603050405020304" pitchFamily="18" charset="0"/>
                <a:cs typeface="Times New Roman" panose="02020603050405020304" pitchFamily="18" charset="0"/>
              </a:rPr>
              <a:t>Kanban Uses A Pull </a:t>
            </a:r>
            <a:r>
              <a:rPr lang="en-IN" sz="2600" b="1" u="sng" dirty="0" err="1">
                <a:latin typeface="Times New Roman" panose="02020603050405020304" pitchFamily="18" charset="0"/>
                <a:cs typeface="Times New Roman" panose="02020603050405020304" pitchFamily="18" charset="0"/>
              </a:rPr>
              <a:t>Aproach</a:t>
            </a:r>
            <a:r>
              <a:rPr lang="en-IN" sz="2600" b="1" u="sng"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Pull approach is used as and when a task is completed in the Doing column. Another card is pulled from the To Do column.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THAT IS as  Kanban project management uses a pull-based system, and when a developer is free, he/she can pull a card from the to-do column to the </a:t>
            </a:r>
            <a:r>
              <a:rPr lang="en-IN" sz="2000" dirty="0" err="1">
                <a:latin typeface="Times New Roman" panose="02020603050405020304" pitchFamily="18" charset="0"/>
                <a:cs typeface="Times New Roman" panose="02020603050405020304" pitchFamily="18" charset="0"/>
              </a:rPr>
              <a:t>dev</a:t>
            </a:r>
            <a:r>
              <a:rPr lang="en-IN" sz="2000" dirty="0">
                <a:latin typeface="Times New Roman" panose="02020603050405020304" pitchFamily="18" charset="0"/>
                <a:cs typeface="Times New Roman" panose="02020603050405020304" pitchFamily="18" charset="0"/>
              </a:rPr>
              <a:t> column to develop that.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 key aspect of Kanban is to reduce the amount of multi-tasking that most teams and knowledge workers are prone to do and instead encourage them to “Stop Starting! And Start Finishing. THE WIP – Work-in-Progress – Limits defined at each stage of the workflow on a Kanban board encourage team members to finish work at hand and only then, take up the next piece of work.</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Therefore using Kanban board  we can :</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Provides easy access to everyone involved in the project.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Facilitates communication as and when necessary.</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Progress of the tasks are visually displayed.</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Bottlenecks are visible as soon as they occur.</a:t>
            </a:r>
          </a:p>
          <a:p>
            <a:endParaRPr lang="en-IN" dirty="0"/>
          </a:p>
        </p:txBody>
      </p:sp>
    </p:spTree>
    <p:extLst>
      <p:ext uri="{BB962C8B-B14F-4D97-AF65-F5344CB8AC3E}">
        <p14:creationId xmlns:p14="http://schemas.microsoft.com/office/powerpoint/2010/main" val="3540996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32509" y="96982"/>
            <a:ext cx="11499273" cy="6761018"/>
          </a:xfrm>
          <a:prstGeom prst="rect">
            <a:avLst/>
          </a:prstGeom>
        </p:spPr>
      </p:pic>
    </p:spTree>
    <p:extLst>
      <p:ext uri="{BB962C8B-B14F-4D97-AF65-F5344CB8AC3E}">
        <p14:creationId xmlns:p14="http://schemas.microsoft.com/office/powerpoint/2010/main" val="2041219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B155A2-57FA-45DA-9084-206C4A64B307}"/>
              </a:ext>
            </a:extLst>
          </p:cNvPr>
          <p:cNvSpPr txBox="1"/>
          <p:nvPr/>
        </p:nvSpPr>
        <p:spPr>
          <a:xfrm>
            <a:off x="0" y="83891"/>
            <a:ext cx="11929145" cy="2031325"/>
          </a:xfrm>
          <a:prstGeom prst="rect">
            <a:avLst/>
          </a:prstGeom>
          <a:noFill/>
        </p:spPr>
        <p:txBody>
          <a:bodyPr wrap="square">
            <a:spAutoFit/>
          </a:bodyPr>
          <a:lstStyle/>
          <a:p>
            <a:pPr algn="l"/>
            <a:r>
              <a:rPr lang="en-US" b="1" dirty="0">
                <a:solidFill>
                  <a:srgbClr val="001C63"/>
                </a:solidFill>
                <a:effectLst/>
                <a:latin typeface="Open Sans" panose="020B0606030504020204" pitchFamily="34" charset="0"/>
              </a:rPr>
              <a:t>Split the WIP Columns.</a:t>
            </a:r>
          </a:p>
          <a:p>
            <a:pPr algn="l"/>
            <a:r>
              <a:rPr lang="en-US" b="0" i="0" dirty="0">
                <a:solidFill>
                  <a:srgbClr val="424242"/>
                </a:solidFill>
                <a:effectLst/>
                <a:latin typeface="Tahoma" panose="020B0604030504040204" pitchFamily="34" charset="0"/>
              </a:rPr>
              <a:t>Its always a good practice of splitting the WIP Limit by two areas</a:t>
            </a:r>
          </a:p>
          <a:p>
            <a:pPr algn="l"/>
            <a:r>
              <a:rPr lang="en-US" b="0" i="0" dirty="0">
                <a:solidFill>
                  <a:srgbClr val="424242"/>
                </a:solidFill>
                <a:effectLst/>
                <a:latin typeface="Tahoma" panose="020B0604030504040204" pitchFamily="34" charset="0"/>
              </a:rPr>
              <a:t>1. Doing</a:t>
            </a:r>
            <a:br>
              <a:rPr lang="en-US" b="0" i="0" dirty="0">
                <a:solidFill>
                  <a:srgbClr val="424242"/>
                </a:solidFill>
                <a:effectLst/>
                <a:latin typeface="Tahoma" panose="020B0604030504040204" pitchFamily="34" charset="0"/>
              </a:rPr>
            </a:br>
            <a:r>
              <a:rPr lang="en-US" b="0" i="0" dirty="0">
                <a:solidFill>
                  <a:srgbClr val="424242"/>
                </a:solidFill>
                <a:effectLst/>
                <a:latin typeface="Tahoma" panose="020B0604030504040204" pitchFamily="34" charset="0"/>
              </a:rPr>
              <a:t>2. Done</a:t>
            </a:r>
          </a:p>
          <a:p>
            <a:pPr algn="l"/>
            <a:r>
              <a:rPr lang="en-US" b="0" i="0" dirty="0">
                <a:solidFill>
                  <a:srgbClr val="424242"/>
                </a:solidFill>
                <a:effectLst/>
                <a:latin typeface="Tahoma" panose="020B0604030504040204" pitchFamily="34" charset="0"/>
              </a:rPr>
              <a:t>This split will make the status of WIP more visible and prominent. And help the team to make their strategy.</a:t>
            </a:r>
            <a:br>
              <a:rPr lang="en-US" b="0" i="0" dirty="0">
                <a:solidFill>
                  <a:srgbClr val="424242"/>
                </a:solidFill>
                <a:effectLst/>
                <a:latin typeface="Tahoma" panose="020B0604030504040204" pitchFamily="34" charset="0"/>
              </a:rPr>
            </a:br>
            <a:r>
              <a:rPr lang="en-US" b="0" i="0" dirty="0">
                <a:solidFill>
                  <a:srgbClr val="424242"/>
                </a:solidFill>
                <a:effectLst/>
                <a:latin typeface="Tahoma" panose="020B0604030504040204" pitchFamily="34" charset="0"/>
              </a:rPr>
              <a:t>Done state of the Left column is the backlog for right column.</a:t>
            </a:r>
          </a:p>
          <a:p>
            <a:pPr algn="l"/>
            <a:r>
              <a:rPr lang="en-US" b="0" i="0" dirty="0">
                <a:solidFill>
                  <a:srgbClr val="424242"/>
                </a:solidFill>
                <a:effectLst/>
                <a:latin typeface="Tahoma" panose="020B0604030504040204" pitchFamily="34" charset="0"/>
              </a:rPr>
              <a:t>For Example, The stories under done state of Development are the backlog for testing.</a:t>
            </a:r>
          </a:p>
        </p:txBody>
      </p:sp>
      <p:pic>
        <p:nvPicPr>
          <p:cNvPr id="4098" name="Picture 2">
            <a:extLst>
              <a:ext uri="{FF2B5EF4-FFF2-40B4-BE49-F238E27FC236}">
                <a16:creationId xmlns:a16="http://schemas.microsoft.com/office/drawing/2014/main" id="{A7FBA64E-1A98-4D33-8FC7-7663571758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772" y="2297754"/>
            <a:ext cx="9753600"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030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A07614-E189-4F53-B759-FD34D855B91A}"/>
              </a:ext>
            </a:extLst>
          </p:cNvPr>
          <p:cNvSpPr txBox="1"/>
          <p:nvPr/>
        </p:nvSpPr>
        <p:spPr>
          <a:xfrm>
            <a:off x="260059" y="125836"/>
            <a:ext cx="11669086" cy="2031325"/>
          </a:xfrm>
          <a:prstGeom prst="rect">
            <a:avLst/>
          </a:prstGeom>
          <a:noFill/>
        </p:spPr>
        <p:txBody>
          <a:bodyPr wrap="square">
            <a:spAutoFit/>
          </a:bodyPr>
          <a:lstStyle/>
          <a:p>
            <a:pPr algn="l"/>
            <a:r>
              <a:rPr lang="en-US" b="1" dirty="0">
                <a:solidFill>
                  <a:srgbClr val="001C63"/>
                </a:solidFill>
                <a:effectLst/>
                <a:latin typeface="Open Sans" panose="020B0606030504020204" pitchFamily="34" charset="0"/>
              </a:rPr>
              <a:t>Understanding the Pull Based System</a:t>
            </a:r>
          </a:p>
          <a:p>
            <a:pPr algn="l"/>
            <a:r>
              <a:rPr lang="en-US" b="0" i="0" dirty="0">
                <a:solidFill>
                  <a:srgbClr val="424242"/>
                </a:solidFill>
                <a:effectLst/>
                <a:latin typeface="Tahoma" panose="020B0604030504040204" pitchFamily="34" charset="0"/>
              </a:rPr>
              <a:t>As we discussed earlier, </a:t>
            </a:r>
            <a:r>
              <a:rPr lang="en-US" b="1" i="0" dirty="0">
                <a:solidFill>
                  <a:srgbClr val="424242"/>
                </a:solidFill>
                <a:effectLst/>
                <a:latin typeface="Tahoma" panose="020B0604030504040204" pitchFamily="34" charset="0"/>
              </a:rPr>
              <a:t>Kanban is a pull based System</a:t>
            </a:r>
            <a:r>
              <a:rPr lang="en-US" b="0" i="0" dirty="0">
                <a:solidFill>
                  <a:srgbClr val="424242"/>
                </a:solidFill>
                <a:effectLst/>
                <a:latin typeface="Tahoma" panose="020B0604030504040204" pitchFamily="34" charset="0"/>
              </a:rPr>
              <a:t>. Implementing the WIP Limit, active the Pull based system. That means Thew team pulls a new task to its WIP column based on its current tasks and limits.</a:t>
            </a:r>
          </a:p>
          <a:p>
            <a:pPr algn="l"/>
            <a:r>
              <a:rPr lang="en-US" b="0" i="0" dirty="0">
                <a:solidFill>
                  <a:srgbClr val="424242"/>
                </a:solidFill>
                <a:effectLst/>
                <a:latin typeface="Tahoma" panose="020B0604030504040204" pitchFamily="34" charset="0"/>
              </a:rPr>
              <a:t>Even there are rooms in the current column, the team decide to pull a new story/task or finish the existing stories or task in the column.</a:t>
            </a:r>
          </a:p>
          <a:p>
            <a:pPr algn="l"/>
            <a:r>
              <a:rPr lang="en-US" b="0" i="0" dirty="0">
                <a:solidFill>
                  <a:srgbClr val="424242"/>
                </a:solidFill>
                <a:effectLst/>
                <a:latin typeface="Tahoma" panose="020B0604030504040204" pitchFamily="34" charset="0"/>
              </a:rPr>
              <a:t>The below three picture demonstrate three scenario, where the developer or tester have the opportunity can pull new story or task.</a:t>
            </a:r>
          </a:p>
        </p:txBody>
      </p:sp>
      <p:pic>
        <p:nvPicPr>
          <p:cNvPr id="5122" name="Picture 2">
            <a:extLst>
              <a:ext uri="{FF2B5EF4-FFF2-40B4-BE49-F238E27FC236}">
                <a16:creationId xmlns:a16="http://schemas.microsoft.com/office/drawing/2014/main" id="{A3A27770-7FC3-4F6F-8B63-ED46F3AA6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251" y="2510406"/>
            <a:ext cx="97536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487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EBD41502-21B5-4FC6-A9E4-54F04B070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688" y="126141"/>
            <a:ext cx="11414620" cy="290228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02A22718-2931-4C89-99F8-D82C130F17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560" y="3165926"/>
            <a:ext cx="11601975" cy="369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66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90A55E-75F0-4B9F-89EB-E09B137BD9DD}"/>
              </a:ext>
            </a:extLst>
          </p:cNvPr>
          <p:cNvSpPr txBox="1"/>
          <p:nvPr/>
        </p:nvSpPr>
        <p:spPr>
          <a:xfrm>
            <a:off x="0" y="1"/>
            <a:ext cx="11845255" cy="3416320"/>
          </a:xfrm>
          <a:prstGeom prst="rect">
            <a:avLst/>
          </a:prstGeom>
          <a:noFill/>
        </p:spPr>
        <p:txBody>
          <a:bodyPr wrap="square">
            <a:spAutoFit/>
          </a:bodyPr>
          <a:lstStyle/>
          <a:p>
            <a:pPr algn="l"/>
            <a:r>
              <a:rPr lang="en-US" b="1" dirty="0">
                <a:solidFill>
                  <a:srgbClr val="001C63"/>
                </a:solidFill>
                <a:effectLst/>
                <a:latin typeface="Open Sans" panose="020B0606030504020204" pitchFamily="34" charset="0"/>
              </a:rPr>
              <a:t>Working with Beyond Control WIP</a:t>
            </a:r>
          </a:p>
          <a:p>
            <a:pPr algn="l"/>
            <a:r>
              <a:rPr lang="en-US" b="0" i="0" dirty="0">
                <a:solidFill>
                  <a:srgbClr val="424242"/>
                </a:solidFill>
                <a:effectLst/>
                <a:latin typeface="Tahoma" panose="020B0604030504040204" pitchFamily="34" charset="0"/>
              </a:rPr>
              <a:t> </a:t>
            </a:r>
          </a:p>
          <a:p>
            <a:pPr algn="l"/>
            <a:r>
              <a:rPr lang="en-US" b="0" i="0" dirty="0">
                <a:solidFill>
                  <a:srgbClr val="424242"/>
                </a:solidFill>
                <a:effectLst/>
                <a:latin typeface="Tahoma" panose="020B0604030504040204" pitchFamily="34" charset="0"/>
              </a:rPr>
              <a:t>So far we have talked about Work in Progress like Analysis, Development , testing etc. The execution under this column is always controlled by the Kanban Team.</a:t>
            </a:r>
          </a:p>
          <a:p>
            <a:pPr algn="l"/>
            <a:r>
              <a:rPr lang="en-US" b="0" i="0" dirty="0">
                <a:solidFill>
                  <a:srgbClr val="424242"/>
                </a:solidFill>
                <a:effectLst/>
                <a:latin typeface="Tahoma" panose="020B0604030504040204" pitchFamily="34" charset="0"/>
              </a:rPr>
              <a:t>However Sometimes the team wanted to have a column for other purpose , before moving it to done, for an example UAT.</a:t>
            </a:r>
          </a:p>
          <a:p>
            <a:pPr algn="l"/>
            <a:r>
              <a:rPr lang="en-US" b="0" i="0" dirty="0">
                <a:solidFill>
                  <a:srgbClr val="424242"/>
                </a:solidFill>
                <a:effectLst/>
                <a:latin typeface="Tahoma" panose="020B0604030504040204" pitchFamily="34" charset="0"/>
              </a:rPr>
              <a:t>The work under this UAT column may not be controlled by the team, as the task or stories has to be executed by end customer or client.</a:t>
            </a:r>
          </a:p>
          <a:p>
            <a:pPr algn="l"/>
            <a:r>
              <a:rPr lang="en-US" b="0" i="0" dirty="0">
                <a:solidFill>
                  <a:srgbClr val="424242"/>
                </a:solidFill>
                <a:effectLst/>
                <a:latin typeface="Tahoma" panose="020B0604030504040204" pitchFamily="34" charset="0"/>
              </a:rPr>
              <a:t>If we implement a WIP limit for this UAT column, it will become a bottle neck for the team, as the stories from UAT to next column may take times, depend upon customer’s other priority of work and available time.</a:t>
            </a:r>
          </a:p>
          <a:p>
            <a:pPr algn="l"/>
            <a:r>
              <a:rPr lang="en-US" b="0" i="0" dirty="0">
                <a:solidFill>
                  <a:srgbClr val="424242"/>
                </a:solidFill>
                <a:effectLst/>
                <a:latin typeface="Tahoma" panose="020B0604030504040204" pitchFamily="34" charset="0"/>
              </a:rPr>
              <a:t>To overcome from this situation of bottleneck, we set the limit of columns like UAT to infinite.  to allow the task’s free flow to this column</a:t>
            </a:r>
          </a:p>
        </p:txBody>
      </p:sp>
      <p:pic>
        <p:nvPicPr>
          <p:cNvPr id="7170" name="Picture 2">
            <a:extLst>
              <a:ext uri="{FF2B5EF4-FFF2-40B4-BE49-F238E27FC236}">
                <a16:creationId xmlns:a16="http://schemas.microsoft.com/office/drawing/2014/main" id="{14529DAB-FC92-4A83-A8B4-01679B32C4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1589" y="3589744"/>
            <a:ext cx="7039631" cy="3136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197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B9DCC-14E9-4DE5-B70F-D7DDF3A6DC56}"/>
              </a:ext>
            </a:extLst>
          </p:cNvPr>
          <p:cNvSpPr txBox="1"/>
          <p:nvPr/>
        </p:nvSpPr>
        <p:spPr>
          <a:xfrm>
            <a:off x="453006" y="486561"/>
            <a:ext cx="10838576" cy="5632311"/>
          </a:xfrm>
          <a:prstGeom prst="rect">
            <a:avLst/>
          </a:prstGeom>
          <a:noFill/>
        </p:spPr>
        <p:txBody>
          <a:bodyPr wrap="square">
            <a:spAutoFit/>
          </a:bodyPr>
          <a:lstStyle/>
          <a:p>
            <a:pPr algn="l"/>
            <a:r>
              <a:rPr lang="en-US" b="1" i="0" dirty="0">
                <a:solidFill>
                  <a:srgbClr val="001C63"/>
                </a:solidFill>
                <a:effectLst/>
                <a:latin typeface="Open Sans" panose="020B0606030504020204" pitchFamily="34" charset="0"/>
              </a:rPr>
              <a:t>Policies or Exit Criteria</a:t>
            </a:r>
          </a:p>
          <a:p>
            <a:pPr algn="l"/>
            <a:r>
              <a:rPr lang="en-US" b="0" i="0" dirty="0">
                <a:solidFill>
                  <a:srgbClr val="424242"/>
                </a:solidFill>
                <a:effectLst/>
                <a:latin typeface="Tahoma" panose="020B0604030504040204" pitchFamily="34" charset="0"/>
              </a:rPr>
              <a:t>If you have earlier worked on Scrum, you must be familiar with definition of ready. which is a checklist we use to review our story before marking it as “</a:t>
            </a:r>
            <a:r>
              <a:rPr lang="en-US" b="1" i="0" dirty="0">
                <a:solidFill>
                  <a:srgbClr val="424242"/>
                </a:solidFill>
                <a:effectLst/>
                <a:latin typeface="Tahoma" panose="020B0604030504040204" pitchFamily="34" charset="0"/>
              </a:rPr>
              <a:t>Done</a:t>
            </a:r>
            <a:r>
              <a:rPr lang="en-US" b="0" i="0" dirty="0">
                <a:solidFill>
                  <a:srgbClr val="424242"/>
                </a:solidFill>
                <a:effectLst/>
                <a:latin typeface="Tahoma" panose="020B0604030504040204" pitchFamily="34" charset="0"/>
              </a:rPr>
              <a:t>”.</a:t>
            </a:r>
          </a:p>
          <a:p>
            <a:pPr algn="l"/>
            <a:r>
              <a:rPr lang="en-US" b="0" i="0" dirty="0">
                <a:solidFill>
                  <a:srgbClr val="424242"/>
                </a:solidFill>
                <a:effectLst/>
                <a:latin typeface="Tahoma" panose="020B0604030504040204" pitchFamily="34" charset="0"/>
              </a:rPr>
              <a:t>For Kanban we use a similar concept, </a:t>
            </a:r>
            <a:r>
              <a:rPr lang="en-US" b="1" i="0" dirty="0">
                <a:solidFill>
                  <a:srgbClr val="424242"/>
                </a:solidFill>
                <a:effectLst/>
                <a:latin typeface="Tahoma" panose="020B0604030504040204" pitchFamily="34" charset="0"/>
              </a:rPr>
              <a:t>that we call as policies or exit criteria</a:t>
            </a:r>
            <a:r>
              <a:rPr lang="en-US" b="0" i="0" dirty="0">
                <a:solidFill>
                  <a:srgbClr val="424242"/>
                </a:solidFill>
                <a:effectLst/>
                <a:latin typeface="Tahoma" panose="020B0604030504040204" pitchFamily="34" charset="0"/>
              </a:rPr>
              <a:t>. and instead of having it at only before done. We prepare the exit criteria for all the done sate with in each work in progress.</a:t>
            </a:r>
          </a:p>
          <a:p>
            <a:pPr algn="l"/>
            <a:r>
              <a:rPr lang="en-US" b="0" i="0" dirty="0">
                <a:solidFill>
                  <a:srgbClr val="424242"/>
                </a:solidFill>
                <a:effectLst/>
                <a:latin typeface="Tahoma" panose="020B0604030504040204" pitchFamily="34" charset="0"/>
              </a:rPr>
              <a:t>As each WIP columns have two sections of “</a:t>
            </a:r>
            <a:r>
              <a:rPr lang="en-US" b="1" i="0" dirty="0">
                <a:solidFill>
                  <a:srgbClr val="424242"/>
                </a:solidFill>
                <a:effectLst/>
                <a:latin typeface="Tahoma" panose="020B0604030504040204" pitchFamily="34" charset="0"/>
              </a:rPr>
              <a:t>Doing” and “Done</a:t>
            </a:r>
            <a:r>
              <a:rPr lang="en-US" b="0" i="0" dirty="0">
                <a:solidFill>
                  <a:srgbClr val="424242"/>
                </a:solidFill>
                <a:effectLst/>
                <a:latin typeface="Tahoma" panose="020B0604030504040204" pitchFamily="34" charset="0"/>
              </a:rPr>
              <a:t>”. we implement the gate for each story from doing to done.</a:t>
            </a:r>
          </a:p>
          <a:p>
            <a:pPr algn="l"/>
            <a:r>
              <a:rPr lang="en-US" b="0" i="0" dirty="0">
                <a:solidFill>
                  <a:srgbClr val="424242"/>
                </a:solidFill>
                <a:effectLst/>
                <a:latin typeface="Tahoma" panose="020B0604030504040204" pitchFamily="34" charset="0"/>
              </a:rPr>
              <a:t>So we will have a policies of Analysis done,  another policy for Dev done , and another for Testing Done.</a:t>
            </a:r>
          </a:p>
          <a:p>
            <a:pPr algn="l"/>
            <a:r>
              <a:rPr lang="en-US" b="0" i="0" dirty="0">
                <a:solidFill>
                  <a:srgbClr val="424242"/>
                </a:solidFill>
                <a:effectLst/>
                <a:latin typeface="Tahoma" panose="020B0604030504040204" pitchFamily="34" charset="0"/>
              </a:rPr>
              <a:t>The example for a Dev Done could be</a:t>
            </a:r>
          </a:p>
          <a:p>
            <a:pPr algn="l"/>
            <a:endParaRPr lang="en-US" b="0" i="0" dirty="0">
              <a:solidFill>
                <a:srgbClr val="424242"/>
              </a:solidFill>
              <a:effectLst/>
              <a:latin typeface="Tahoma" panose="020B0604030504040204" pitchFamily="34" charset="0"/>
            </a:endParaRPr>
          </a:p>
          <a:p>
            <a:pPr marL="285750" indent="-285750">
              <a:buFont typeface="Wingdings" panose="05000000000000000000" pitchFamily="2" charset="2"/>
              <a:buChar char="ü"/>
            </a:pPr>
            <a:r>
              <a:rPr lang="en-US" dirty="0">
                <a:solidFill>
                  <a:srgbClr val="FF0000"/>
                </a:solidFill>
                <a:latin typeface="Tahoma" panose="020B0604030504040204" pitchFamily="34" charset="0"/>
              </a:rPr>
              <a:t>All code has to be reviewed, and Review Comments should have uploaded in some repository</a:t>
            </a:r>
          </a:p>
          <a:p>
            <a:pPr marL="285750" indent="-285750">
              <a:buFont typeface="Wingdings" panose="05000000000000000000" pitchFamily="2" charset="2"/>
              <a:buChar char="ü"/>
            </a:pPr>
            <a:r>
              <a:rPr lang="en-US" dirty="0">
                <a:solidFill>
                  <a:srgbClr val="FF0000"/>
                </a:solidFill>
                <a:latin typeface="Tahoma" panose="020B0604030504040204" pitchFamily="34" charset="0"/>
              </a:rPr>
              <a:t>All code has to be checked in and Merged with QA branch</a:t>
            </a:r>
          </a:p>
          <a:p>
            <a:pPr marL="285750" indent="-285750">
              <a:buFont typeface="Wingdings" panose="05000000000000000000" pitchFamily="2" charset="2"/>
              <a:buChar char="ü"/>
            </a:pPr>
            <a:r>
              <a:rPr lang="en-US" dirty="0">
                <a:solidFill>
                  <a:srgbClr val="FF0000"/>
                </a:solidFill>
                <a:latin typeface="Tahoma" panose="020B0604030504040204" pitchFamily="34" charset="0"/>
              </a:rPr>
              <a:t>the Latest code should have deployed to QA environment.</a:t>
            </a:r>
          </a:p>
          <a:p>
            <a:pPr marL="285750" indent="-285750">
              <a:buFont typeface="Wingdings" panose="05000000000000000000" pitchFamily="2" charset="2"/>
              <a:buChar char="ü"/>
            </a:pPr>
            <a:r>
              <a:rPr lang="en-US" dirty="0">
                <a:solidFill>
                  <a:srgbClr val="FF0000"/>
                </a:solidFill>
                <a:latin typeface="Tahoma" panose="020B0604030504040204" pitchFamily="34" charset="0"/>
              </a:rPr>
              <a:t>x person should have notified by email.</a:t>
            </a:r>
          </a:p>
          <a:p>
            <a:pPr marL="285750" indent="-285750">
              <a:buFont typeface="Wingdings" panose="05000000000000000000" pitchFamily="2" charset="2"/>
              <a:buChar char="ü"/>
            </a:pPr>
            <a:r>
              <a:rPr lang="en-US" dirty="0">
                <a:solidFill>
                  <a:srgbClr val="FF0000"/>
                </a:solidFill>
                <a:latin typeface="Tahoma" panose="020B0604030504040204" pitchFamily="34" charset="0"/>
              </a:rPr>
              <a:t>Unit test result should have updated to somewhere.</a:t>
            </a:r>
          </a:p>
          <a:p>
            <a:pPr marL="285750" indent="-285750">
              <a:buFont typeface="Wingdings" panose="05000000000000000000" pitchFamily="2" charset="2"/>
              <a:buChar char="ü"/>
            </a:pPr>
            <a:r>
              <a:rPr lang="en-US" dirty="0">
                <a:solidFill>
                  <a:srgbClr val="FF0000"/>
                </a:solidFill>
                <a:latin typeface="Tahoma" panose="020B0604030504040204" pitchFamily="34" charset="0"/>
              </a:rPr>
              <a:t>etc.</a:t>
            </a:r>
          </a:p>
          <a:p>
            <a:pPr algn="l"/>
            <a:endParaRPr lang="en-US" b="0" i="0" dirty="0">
              <a:solidFill>
                <a:srgbClr val="424242"/>
              </a:solidFill>
              <a:effectLst/>
              <a:latin typeface="Tahoma" panose="020B0604030504040204" pitchFamily="34" charset="0"/>
            </a:endParaRPr>
          </a:p>
          <a:p>
            <a:pPr algn="l"/>
            <a:endParaRPr lang="en-US" b="0" i="0" dirty="0">
              <a:solidFill>
                <a:srgbClr val="424242"/>
              </a:solidFill>
              <a:effectLst/>
              <a:latin typeface="Tahoma" panose="020B0604030504040204" pitchFamily="34" charset="0"/>
            </a:endParaRPr>
          </a:p>
          <a:p>
            <a:pPr algn="l"/>
            <a:r>
              <a:rPr lang="en-US" b="0" i="0" dirty="0">
                <a:solidFill>
                  <a:srgbClr val="424242"/>
                </a:solidFill>
                <a:effectLst/>
                <a:latin typeface="Tahoma" panose="020B0604030504040204" pitchFamily="34" charset="0"/>
              </a:rPr>
              <a:t>The Team member mutually decide the policies for optimize the work and performance and </a:t>
            </a:r>
            <a:r>
              <a:rPr lang="en-US" b="0" i="0" dirty="0" err="1">
                <a:solidFill>
                  <a:srgbClr val="424242"/>
                </a:solidFill>
                <a:effectLst/>
                <a:latin typeface="Tahoma" panose="020B0604030504040204" pitchFamily="34" charset="0"/>
              </a:rPr>
              <a:t>and</a:t>
            </a:r>
            <a:r>
              <a:rPr lang="en-US" b="0" i="0" dirty="0">
                <a:solidFill>
                  <a:srgbClr val="424242"/>
                </a:solidFill>
                <a:effectLst/>
                <a:latin typeface="Tahoma" panose="020B0604030504040204" pitchFamily="34" charset="0"/>
              </a:rPr>
              <a:t> subject to revise after certain period of time.</a:t>
            </a:r>
          </a:p>
        </p:txBody>
      </p:sp>
    </p:spTree>
    <p:extLst>
      <p:ext uri="{BB962C8B-B14F-4D97-AF65-F5344CB8AC3E}">
        <p14:creationId xmlns:p14="http://schemas.microsoft.com/office/powerpoint/2010/main" val="2712651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10E9D531-2696-4CDB-8829-19B94E4D8B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8" y="1376363"/>
            <a:ext cx="9001125" cy="410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218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DDF3BA-850D-4170-8F03-195E3C6A39FF}"/>
              </a:ext>
            </a:extLst>
          </p:cNvPr>
          <p:cNvSpPr txBox="1"/>
          <p:nvPr/>
        </p:nvSpPr>
        <p:spPr>
          <a:xfrm>
            <a:off x="142613" y="60944"/>
            <a:ext cx="11920756" cy="5078313"/>
          </a:xfrm>
          <a:prstGeom prst="rect">
            <a:avLst/>
          </a:prstGeom>
          <a:noFill/>
        </p:spPr>
        <p:txBody>
          <a:bodyPr wrap="square">
            <a:spAutoFit/>
          </a:bodyPr>
          <a:lstStyle/>
          <a:p>
            <a:pPr algn="l"/>
            <a:r>
              <a:rPr lang="en-US" b="1" i="0" dirty="0">
                <a:solidFill>
                  <a:srgbClr val="001C63"/>
                </a:solidFill>
                <a:effectLst/>
                <a:latin typeface="Open Sans" panose="020B0606030504020204" pitchFamily="34" charset="0"/>
              </a:rPr>
              <a:t>Expedite Lane(RUSH)</a:t>
            </a:r>
          </a:p>
          <a:p>
            <a:pPr marL="285750" indent="-285750" algn="l">
              <a:buFont typeface="Wingdings" panose="05000000000000000000" pitchFamily="2" charset="2"/>
              <a:buChar char="Ø"/>
            </a:pPr>
            <a:r>
              <a:rPr lang="en-US" b="0" i="0" dirty="0">
                <a:solidFill>
                  <a:srgbClr val="424242"/>
                </a:solidFill>
                <a:effectLst/>
                <a:latin typeface="Tahoma" panose="020B0604030504040204" pitchFamily="34" charset="0"/>
              </a:rPr>
              <a:t>During our Regular work and priority we often responsible and accountable for resolving production support issues with different severity. and many other high priority activity comes in our plate from management with immediate resolution.</a:t>
            </a:r>
          </a:p>
          <a:p>
            <a:pPr marL="285750" indent="-285750" algn="l">
              <a:buFont typeface="Wingdings" panose="05000000000000000000" pitchFamily="2" charset="2"/>
              <a:buChar char="Ø"/>
            </a:pPr>
            <a:endParaRPr lang="en-US" b="0" i="0" dirty="0">
              <a:solidFill>
                <a:srgbClr val="424242"/>
              </a:solidFill>
              <a:effectLst/>
              <a:latin typeface="Tahoma" panose="020B0604030504040204" pitchFamily="34" charset="0"/>
            </a:endParaRPr>
          </a:p>
          <a:p>
            <a:pPr marL="285750" indent="-285750" algn="l">
              <a:buFont typeface="Wingdings" panose="05000000000000000000" pitchFamily="2" charset="2"/>
              <a:buChar char="Ø"/>
            </a:pPr>
            <a:r>
              <a:rPr lang="en-US" b="0" i="0" dirty="0">
                <a:solidFill>
                  <a:srgbClr val="424242"/>
                </a:solidFill>
                <a:effectLst/>
                <a:latin typeface="Tahoma" panose="020B0604030504040204" pitchFamily="34" charset="0"/>
              </a:rPr>
              <a:t>To work on those high priority work by overriding the WIP limit, we keep a reserved Swim lane for all those kind of work. and we call it as Expedite Lane or Priority Lane. And reserve a number of tasks for that lane on top of each column.</a:t>
            </a:r>
          </a:p>
          <a:p>
            <a:pPr marL="285750" indent="-285750" algn="l">
              <a:buFont typeface="Wingdings" panose="05000000000000000000" pitchFamily="2" charset="2"/>
              <a:buChar char="Ø"/>
            </a:pPr>
            <a:endParaRPr lang="en-US" b="0" i="0" dirty="0">
              <a:solidFill>
                <a:srgbClr val="424242"/>
              </a:solidFill>
              <a:effectLst/>
              <a:latin typeface="Tahoma" panose="020B0604030504040204" pitchFamily="34" charset="0"/>
            </a:endParaRPr>
          </a:p>
          <a:p>
            <a:pPr marL="285750" indent="-285750" algn="l">
              <a:buFont typeface="Wingdings" panose="05000000000000000000" pitchFamily="2" charset="2"/>
              <a:buChar char="Ø"/>
            </a:pPr>
            <a:r>
              <a:rPr lang="en-US" b="0" i="0" dirty="0">
                <a:solidFill>
                  <a:srgbClr val="424242"/>
                </a:solidFill>
                <a:effectLst/>
                <a:latin typeface="Tahoma" panose="020B0604030504040204" pitchFamily="34" charset="0"/>
              </a:rPr>
              <a:t>In this example here, our Expedite lane can add 2 more tasks on top of the WIP limit of each columns. So even the Dev limit is 4 and the developers are already working on 4 stories, They can still pick addition two stories if any stories can classify as High priority or eligible to work on expedite base.</a:t>
            </a:r>
          </a:p>
          <a:p>
            <a:pPr marL="285750" indent="-285750" algn="l">
              <a:buFont typeface="Wingdings" panose="05000000000000000000" pitchFamily="2" charset="2"/>
              <a:buChar char="Ø"/>
            </a:pPr>
            <a:endParaRPr lang="en-US" b="0" i="0" dirty="0">
              <a:solidFill>
                <a:srgbClr val="424242"/>
              </a:solidFill>
              <a:effectLst/>
              <a:latin typeface="Tahoma" panose="020B0604030504040204" pitchFamily="34" charset="0"/>
            </a:endParaRPr>
          </a:p>
          <a:p>
            <a:pPr marL="285750" indent="-285750" algn="l">
              <a:buFont typeface="Wingdings" panose="05000000000000000000" pitchFamily="2" charset="2"/>
              <a:buChar char="Ø"/>
            </a:pPr>
            <a:r>
              <a:rPr lang="en-US" b="0" i="0" dirty="0">
                <a:solidFill>
                  <a:srgbClr val="424242"/>
                </a:solidFill>
                <a:effectLst/>
                <a:latin typeface="Tahoma" panose="020B0604030504040204" pitchFamily="34" charset="0"/>
              </a:rPr>
              <a:t>Depends upon the frequency of those high priority tickets, issues, Tasks, Stories the team member can define the additional limit of Expedite Lane. and that Limit is again subject to revise in future.</a:t>
            </a:r>
          </a:p>
          <a:p>
            <a:pPr marL="285750" indent="-285750" algn="l">
              <a:buFont typeface="Wingdings" panose="05000000000000000000" pitchFamily="2" charset="2"/>
              <a:buChar char="Ø"/>
            </a:pPr>
            <a:endParaRPr lang="en-US" b="0" i="0" dirty="0">
              <a:solidFill>
                <a:srgbClr val="424242"/>
              </a:solidFill>
              <a:effectLst/>
              <a:latin typeface="Tahoma" panose="020B0604030504040204" pitchFamily="34" charset="0"/>
            </a:endParaRPr>
          </a:p>
          <a:p>
            <a:pPr marL="285750" indent="-285750" algn="l">
              <a:buFont typeface="Wingdings" panose="05000000000000000000" pitchFamily="2" charset="2"/>
              <a:buChar char="Ø"/>
            </a:pPr>
            <a:r>
              <a:rPr lang="en-US" b="0" i="0" dirty="0">
                <a:solidFill>
                  <a:srgbClr val="424242"/>
                </a:solidFill>
                <a:effectLst/>
                <a:latin typeface="Tahoma" panose="020B0604030504040204" pitchFamily="34" charset="0"/>
              </a:rPr>
              <a:t>The Team can prepare a definition of  eligibility to treat a work item as priority work. and classify the work as priority item accordingly.</a:t>
            </a:r>
          </a:p>
        </p:txBody>
      </p:sp>
    </p:spTree>
    <p:extLst>
      <p:ext uri="{BB962C8B-B14F-4D97-AF65-F5344CB8AC3E}">
        <p14:creationId xmlns:p14="http://schemas.microsoft.com/office/powerpoint/2010/main" val="3437574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FCE534DF-C4A9-4CD9-AFF0-7AEB7D45C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8" y="1300163"/>
            <a:ext cx="9001125"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442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374A09D-7C94-4B04-8831-0CC2F4E076B8}"/>
              </a:ext>
            </a:extLst>
          </p:cNvPr>
          <p:cNvPicPr>
            <a:picLocks noChangeAspect="1"/>
          </p:cNvPicPr>
          <p:nvPr/>
        </p:nvPicPr>
        <p:blipFill>
          <a:blip r:embed="rId2"/>
          <a:stretch>
            <a:fillRect/>
          </a:stretch>
        </p:blipFill>
        <p:spPr>
          <a:xfrm>
            <a:off x="0" y="362042"/>
            <a:ext cx="12192000" cy="6133916"/>
          </a:xfrm>
          <a:prstGeom prst="rect">
            <a:avLst/>
          </a:prstGeom>
        </p:spPr>
      </p:pic>
    </p:spTree>
    <p:extLst>
      <p:ext uri="{BB962C8B-B14F-4D97-AF65-F5344CB8AC3E}">
        <p14:creationId xmlns:p14="http://schemas.microsoft.com/office/powerpoint/2010/main" val="4240356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380F29-7485-4155-8986-7307FDDA48D1}"/>
              </a:ext>
            </a:extLst>
          </p:cNvPr>
          <p:cNvPicPr>
            <a:picLocks noChangeAspect="1"/>
          </p:cNvPicPr>
          <p:nvPr/>
        </p:nvPicPr>
        <p:blipFill>
          <a:blip r:embed="rId2"/>
          <a:stretch>
            <a:fillRect/>
          </a:stretch>
        </p:blipFill>
        <p:spPr>
          <a:xfrm>
            <a:off x="192120" y="0"/>
            <a:ext cx="11807759" cy="6858000"/>
          </a:xfrm>
          <a:prstGeom prst="rect">
            <a:avLst/>
          </a:prstGeom>
        </p:spPr>
      </p:pic>
    </p:spTree>
    <p:extLst>
      <p:ext uri="{BB962C8B-B14F-4D97-AF65-F5344CB8AC3E}">
        <p14:creationId xmlns:p14="http://schemas.microsoft.com/office/powerpoint/2010/main" val="1655509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AD85D173-50B7-49E6-95E1-08FE56CA6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419100"/>
            <a:ext cx="93726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211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423E2F-C072-467B-8D1D-11AEC2E36433}"/>
              </a:ext>
            </a:extLst>
          </p:cNvPr>
          <p:cNvSpPr txBox="1"/>
          <p:nvPr/>
        </p:nvSpPr>
        <p:spPr>
          <a:xfrm>
            <a:off x="117446" y="0"/>
            <a:ext cx="11912367" cy="5355312"/>
          </a:xfrm>
          <a:prstGeom prst="rect">
            <a:avLst/>
          </a:prstGeom>
          <a:noFill/>
        </p:spPr>
        <p:txBody>
          <a:bodyPr wrap="square">
            <a:spAutoFit/>
          </a:bodyPr>
          <a:lstStyle/>
          <a:p>
            <a:pPr algn="l"/>
            <a:r>
              <a:rPr lang="en-US" b="1" i="1" dirty="0">
                <a:solidFill>
                  <a:srgbClr val="0B5C60"/>
                </a:solidFill>
                <a:effectLst/>
                <a:latin typeface="Open Sans" panose="020B0606030504020204" pitchFamily="34" charset="0"/>
              </a:rPr>
              <a:t>Kanban Metrics</a:t>
            </a:r>
            <a:endParaRPr lang="en-US" b="1" i="0" dirty="0">
              <a:solidFill>
                <a:srgbClr val="001C63"/>
              </a:solidFill>
              <a:effectLst/>
              <a:latin typeface="Open Sans" panose="020B0606030504020204" pitchFamily="34" charset="0"/>
            </a:endParaRPr>
          </a:p>
          <a:p>
            <a:pPr algn="l"/>
            <a:r>
              <a:rPr lang="en-US" b="1" i="0" dirty="0">
                <a:solidFill>
                  <a:srgbClr val="001C63"/>
                </a:solidFill>
                <a:effectLst/>
                <a:latin typeface="Open Sans" panose="020B0606030504020204" pitchFamily="34" charset="0"/>
              </a:rPr>
              <a:t>Cycle Time</a:t>
            </a:r>
          </a:p>
          <a:p>
            <a:pPr algn="l"/>
            <a:r>
              <a:rPr lang="en-US" b="0" i="0" dirty="0">
                <a:solidFill>
                  <a:srgbClr val="424242"/>
                </a:solidFill>
                <a:effectLst/>
                <a:latin typeface="Tahoma" panose="020B0604030504040204" pitchFamily="34" charset="0"/>
              </a:rPr>
              <a:t>When your stories or work items travels on </a:t>
            </a:r>
            <a:r>
              <a:rPr lang="en-US" b="0" i="0" dirty="0" err="1">
                <a:solidFill>
                  <a:srgbClr val="424242"/>
                </a:solidFill>
                <a:effectLst/>
                <a:latin typeface="Tahoma" panose="020B0604030504040204" pitchFamily="34" charset="0"/>
              </a:rPr>
              <a:t>kanban</a:t>
            </a:r>
            <a:r>
              <a:rPr lang="en-US" b="0" i="0" dirty="0">
                <a:solidFill>
                  <a:srgbClr val="424242"/>
                </a:solidFill>
                <a:effectLst/>
                <a:latin typeface="Tahoma" panose="020B0604030504040204" pitchFamily="34" charset="0"/>
              </a:rPr>
              <a:t> flow, from first stage to last stage, its flows through multiple stage. Its stays with in one stage for a longer time or Shorter time.</a:t>
            </a:r>
          </a:p>
          <a:p>
            <a:pPr algn="l"/>
            <a:r>
              <a:rPr lang="en-US" b="0" i="0" dirty="0">
                <a:solidFill>
                  <a:srgbClr val="424242"/>
                </a:solidFill>
                <a:effectLst/>
                <a:latin typeface="Tahoma" panose="020B0604030504040204" pitchFamily="34" charset="0"/>
              </a:rPr>
              <a:t>We calculate the cycle time of a story by calculating the time between</a:t>
            </a:r>
            <a:br>
              <a:rPr lang="en-US" b="0" i="0" dirty="0">
                <a:solidFill>
                  <a:srgbClr val="424242"/>
                </a:solidFill>
                <a:effectLst/>
                <a:latin typeface="Tahoma" panose="020B0604030504040204" pitchFamily="34" charset="0"/>
              </a:rPr>
            </a:br>
            <a:r>
              <a:rPr lang="en-US" b="0" i="0" dirty="0">
                <a:solidFill>
                  <a:srgbClr val="424242"/>
                </a:solidFill>
                <a:effectLst/>
                <a:latin typeface="Tahoma" panose="020B0604030504040204" pitchFamily="34" charset="0"/>
              </a:rPr>
              <a:t>its entered the first WIP column. and leave the last WIP column in control (UAT is treated as Out of control WIP). It should be calculated based on the team spent actually working on this item, not how much time it was on the board.</a:t>
            </a:r>
          </a:p>
          <a:p>
            <a:pPr algn="l"/>
            <a:r>
              <a:rPr lang="en-US" b="0" i="0" dirty="0">
                <a:solidFill>
                  <a:srgbClr val="424242"/>
                </a:solidFill>
                <a:effectLst/>
                <a:latin typeface="Tahoma" panose="020B0604030504040204" pitchFamily="34" charset="0"/>
              </a:rPr>
              <a:t>In this example on right, the total time a story or work item spent in Development and Testing is the cycle time of the story.</a:t>
            </a:r>
          </a:p>
          <a:p>
            <a:pPr algn="l"/>
            <a:r>
              <a:rPr lang="en-US" b="1" i="0" dirty="0">
                <a:solidFill>
                  <a:srgbClr val="001C63"/>
                </a:solidFill>
                <a:effectLst/>
                <a:latin typeface="Open Sans" panose="020B0606030504020204" pitchFamily="34" charset="0"/>
              </a:rPr>
              <a:t>Lead Time</a:t>
            </a:r>
          </a:p>
          <a:p>
            <a:pPr algn="l"/>
            <a:r>
              <a:rPr lang="en-US" b="0" i="0" dirty="0">
                <a:solidFill>
                  <a:srgbClr val="424242"/>
                </a:solidFill>
                <a:effectLst/>
                <a:latin typeface="Tahoma" panose="020B0604030504040204" pitchFamily="34" charset="0"/>
              </a:rPr>
              <a:t>This is similar to cycle time, but only difference is, its get calculated from when the work-item/story was created, or requested by the client and the time when it was delivered to the client. This time is also called as Customer lead time.</a:t>
            </a:r>
          </a:p>
          <a:p>
            <a:pPr algn="l"/>
            <a:r>
              <a:rPr lang="en-US" b="0" i="0" dirty="0">
                <a:solidFill>
                  <a:srgbClr val="424242"/>
                </a:solidFill>
                <a:effectLst/>
                <a:latin typeface="Tahoma" panose="020B0604030504040204" pitchFamily="34" charset="0"/>
              </a:rPr>
              <a:t>From the example on right, the lead time is getting calculated as the time between a story enters into the board and leave the UAT column (Done means delivered to Customer).</a:t>
            </a:r>
          </a:p>
          <a:p>
            <a:pPr algn="l"/>
            <a:r>
              <a:rPr lang="en-US" b="1" i="0" dirty="0">
                <a:solidFill>
                  <a:srgbClr val="424242"/>
                </a:solidFill>
                <a:effectLst/>
                <a:latin typeface="Tahoma" panose="020B0604030504040204" pitchFamily="34" charset="0"/>
              </a:rPr>
              <a:t>Response Time</a:t>
            </a:r>
            <a:br>
              <a:rPr lang="en-US" b="0" i="0" dirty="0">
                <a:solidFill>
                  <a:srgbClr val="424242"/>
                </a:solidFill>
                <a:effectLst/>
                <a:latin typeface="Tahoma" panose="020B0604030504040204" pitchFamily="34" charset="0"/>
              </a:rPr>
            </a:br>
            <a:r>
              <a:rPr lang="en-US" b="0" i="0" dirty="0">
                <a:solidFill>
                  <a:srgbClr val="424242"/>
                </a:solidFill>
                <a:effectLst/>
                <a:latin typeface="Tahoma" panose="020B0604030504040204" pitchFamily="34" charset="0"/>
              </a:rPr>
              <a:t>This is again calculated as the time a story/work item was waited on </a:t>
            </a:r>
            <a:r>
              <a:rPr lang="en-US" b="0" i="0" dirty="0" err="1">
                <a:solidFill>
                  <a:srgbClr val="424242"/>
                </a:solidFill>
                <a:effectLst/>
                <a:latin typeface="Tahoma" panose="020B0604030504040204" pitchFamily="34" charset="0"/>
              </a:rPr>
              <a:t>todo</a:t>
            </a:r>
            <a:r>
              <a:rPr lang="en-US" b="0" i="0" dirty="0">
                <a:solidFill>
                  <a:srgbClr val="424242"/>
                </a:solidFill>
                <a:effectLst/>
                <a:latin typeface="Tahoma" panose="020B0604030504040204" pitchFamily="34" charset="0"/>
              </a:rPr>
              <a:t> list. The time between it was created and got the first Response by moving it to in Progress.</a:t>
            </a:r>
          </a:p>
        </p:txBody>
      </p:sp>
    </p:spTree>
    <p:extLst>
      <p:ext uri="{BB962C8B-B14F-4D97-AF65-F5344CB8AC3E}">
        <p14:creationId xmlns:p14="http://schemas.microsoft.com/office/powerpoint/2010/main" val="2672413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486AD-0B01-45C5-81C2-DBEF29B29477}"/>
              </a:ext>
            </a:extLst>
          </p:cNvPr>
          <p:cNvSpPr txBox="1"/>
          <p:nvPr/>
        </p:nvSpPr>
        <p:spPr>
          <a:xfrm>
            <a:off x="75500" y="92279"/>
            <a:ext cx="11945923" cy="2862322"/>
          </a:xfrm>
          <a:prstGeom prst="rect">
            <a:avLst/>
          </a:prstGeom>
          <a:noFill/>
        </p:spPr>
        <p:txBody>
          <a:bodyPr wrap="square">
            <a:spAutoFit/>
          </a:bodyPr>
          <a:lstStyle/>
          <a:p>
            <a:pPr algn="l"/>
            <a:r>
              <a:rPr lang="en-US" b="1" dirty="0">
                <a:solidFill>
                  <a:srgbClr val="001C63"/>
                </a:solidFill>
                <a:effectLst/>
                <a:latin typeface="Open Sans" panose="020B0606030504020204" pitchFamily="34" charset="0"/>
              </a:rPr>
              <a:t>Throughput</a:t>
            </a:r>
          </a:p>
          <a:p>
            <a:pPr algn="l"/>
            <a:r>
              <a:rPr lang="en-US" b="0" i="0" dirty="0">
                <a:solidFill>
                  <a:srgbClr val="424242"/>
                </a:solidFill>
                <a:effectLst/>
                <a:latin typeface="Tahoma" panose="020B0604030504040204" pitchFamily="34" charset="0"/>
              </a:rPr>
              <a:t>Throughput is not that known measurement metrics. This metrics is number of stories completed in a given time frame, Week, Month etc.</a:t>
            </a:r>
            <a:br>
              <a:rPr lang="en-US" b="0" i="0" dirty="0">
                <a:solidFill>
                  <a:srgbClr val="424242"/>
                </a:solidFill>
                <a:effectLst/>
                <a:latin typeface="Tahoma" panose="020B0604030504040204" pitchFamily="34" charset="0"/>
              </a:rPr>
            </a:br>
            <a:r>
              <a:rPr lang="en-US" b="0" i="0" dirty="0">
                <a:solidFill>
                  <a:srgbClr val="424242"/>
                </a:solidFill>
                <a:effectLst/>
                <a:latin typeface="Tahoma" panose="020B0604030504040204" pitchFamily="34" charset="0"/>
              </a:rPr>
              <a:t>Completed means the stories/work-item completed or delivered to client. Its a real data, not on assumption or prediction.</a:t>
            </a:r>
          </a:p>
          <a:p>
            <a:pPr algn="l"/>
            <a:r>
              <a:rPr lang="en-US" b="0" i="0" dirty="0">
                <a:solidFill>
                  <a:srgbClr val="424242"/>
                </a:solidFill>
                <a:effectLst/>
                <a:latin typeface="Tahoma" panose="020B0604030504040204" pitchFamily="34" charset="0"/>
              </a:rPr>
              <a:t>Throughput is the number (count) of stories or work items that the team is capable to deliver in a given time period, e.g. week, month, provided that they keep a bearable work load.</a:t>
            </a:r>
          </a:p>
          <a:p>
            <a:pPr algn="l"/>
            <a:endParaRPr lang="en-US" dirty="0">
              <a:solidFill>
                <a:srgbClr val="424242"/>
              </a:solidFill>
              <a:latin typeface="Tahoma" panose="020B0604030504040204" pitchFamily="34" charset="0"/>
            </a:endParaRPr>
          </a:p>
          <a:p>
            <a:pPr algn="l"/>
            <a:endParaRPr lang="en-US" b="0" i="0" dirty="0">
              <a:solidFill>
                <a:srgbClr val="424242"/>
              </a:solidFill>
              <a:effectLst/>
              <a:latin typeface="Tahoma" panose="020B0604030504040204" pitchFamily="34" charset="0"/>
            </a:endParaRPr>
          </a:p>
          <a:p>
            <a:pPr algn="l"/>
            <a:endParaRPr lang="en-US" b="0" i="0" dirty="0">
              <a:solidFill>
                <a:srgbClr val="424242"/>
              </a:solidFill>
              <a:effectLst/>
              <a:latin typeface="Tahoma" panose="020B0604030504040204" pitchFamily="34" charset="0"/>
            </a:endParaRPr>
          </a:p>
        </p:txBody>
      </p:sp>
      <p:pic>
        <p:nvPicPr>
          <p:cNvPr id="4" name="Picture 2">
            <a:extLst>
              <a:ext uri="{FF2B5EF4-FFF2-40B4-BE49-F238E27FC236}">
                <a16:creationId xmlns:a16="http://schemas.microsoft.com/office/drawing/2014/main" id="{296B5CE2-BC41-4CFE-9B36-06491F6E26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8936" y="2558642"/>
            <a:ext cx="6414128" cy="3604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23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328" y="387927"/>
            <a:ext cx="10737273" cy="6010708"/>
          </a:xfrm>
        </p:spPr>
      </p:pic>
    </p:spTree>
    <p:extLst>
      <p:ext uri="{BB962C8B-B14F-4D97-AF65-F5344CB8AC3E}">
        <p14:creationId xmlns:p14="http://schemas.microsoft.com/office/powerpoint/2010/main" val="3782058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4691"/>
            <a:ext cx="10515600" cy="591272"/>
          </a:xfrm>
        </p:spPr>
        <p:txBody>
          <a:bodyPr>
            <a:normAutofit fontScale="90000"/>
          </a:bodyPr>
          <a:lstStyle/>
          <a:p>
            <a:r>
              <a:rPr lang="en-IN" b="1" i="1" dirty="0">
                <a:solidFill>
                  <a:srgbClr val="FF0000"/>
                </a:solidFill>
                <a:latin typeface="Times New Roman" panose="02020603050405020304" pitchFamily="18" charset="0"/>
                <a:cs typeface="Times New Roman" panose="02020603050405020304" pitchFamily="18" charset="0"/>
              </a:rPr>
              <a:t>Kanban practices</a:t>
            </a:r>
            <a:r>
              <a:rPr lang="en-IN" b="1" dirty="0"/>
              <a:t>:-</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3236" y="845127"/>
            <a:ext cx="11568546" cy="5832764"/>
          </a:xfrm>
        </p:spPr>
      </p:pic>
    </p:spTree>
    <p:extLst>
      <p:ext uri="{BB962C8B-B14F-4D97-AF65-F5344CB8AC3E}">
        <p14:creationId xmlns:p14="http://schemas.microsoft.com/office/powerpoint/2010/main" val="1940902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lgn="just">
              <a:buNone/>
            </a:pPr>
            <a:r>
              <a:rPr lang="en-IN" sz="2200" b="1" dirty="0">
                <a:latin typeface="Times New Roman" panose="02020603050405020304" pitchFamily="18" charset="0"/>
                <a:cs typeface="Times New Roman" panose="02020603050405020304" pitchFamily="18" charset="0"/>
              </a:rPr>
              <a:t>1.Visualize the workflow</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This principle suggests </a:t>
            </a:r>
            <a:r>
              <a:rPr lang="en-IN" sz="2200" dirty="0">
                <a:solidFill>
                  <a:srgbClr val="FF0000"/>
                </a:solidFill>
                <a:latin typeface="Times New Roman" panose="02020603050405020304" pitchFamily="18" charset="0"/>
                <a:cs typeface="Times New Roman" panose="02020603050405020304" pitchFamily="18" charset="0"/>
              </a:rPr>
              <a:t>having a Kanban board (physical or digital) to visualize the workflow. Each individual of a team must see his card and cards of other team members</a:t>
            </a:r>
            <a:r>
              <a:rPr lang="en-IN" sz="2200" dirty="0">
                <a:latin typeface="Times New Roman" panose="02020603050405020304" pitchFamily="18" charset="0"/>
                <a:cs typeface="Times New Roman" panose="02020603050405020304" pitchFamily="18" charset="0"/>
              </a:rPr>
              <a:t>. You can </a:t>
            </a:r>
            <a:r>
              <a:rPr lang="en-IN" sz="2200" dirty="0">
                <a:solidFill>
                  <a:srgbClr val="FF0000"/>
                </a:solidFill>
                <a:latin typeface="Times New Roman" panose="02020603050405020304" pitchFamily="18" charset="0"/>
                <a:cs typeface="Times New Roman" panose="02020603050405020304" pitchFamily="18" charset="0"/>
              </a:rPr>
              <a:t>move your cards in different columns as per your requirement</a:t>
            </a:r>
            <a:r>
              <a:rPr lang="en-IN" sz="2200" dirty="0">
                <a:latin typeface="Times New Roman" panose="02020603050405020304" pitchFamily="18" charset="0"/>
                <a:cs typeface="Times New Roman" panose="02020603050405020304" pitchFamily="18" charset="0"/>
              </a:rPr>
              <a:t>. It brings </a:t>
            </a:r>
            <a:r>
              <a:rPr lang="en-IN" sz="2200" dirty="0">
                <a:solidFill>
                  <a:srgbClr val="FF0000"/>
                </a:solidFill>
                <a:latin typeface="Times New Roman" panose="02020603050405020304" pitchFamily="18" charset="0"/>
                <a:cs typeface="Times New Roman" panose="02020603050405020304" pitchFamily="18" charset="0"/>
              </a:rPr>
              <a:t>lots of transparency within the team </a:t>
            </a:r>
            <a:r>
              <a:rPr lang="en-IN" sz="2200" dirty="0">
                <a:latin typeface="Times New Roman" panose="02020603050405020304" pitchFamily="18" charset="0"/>
                <a:cs typeface="Times New Roman" panose="02020603050405020304" pitchFamily="18" charset="0"/>
              </a:rPr>
              <a:t>and also makes it easier to </a:t>
            </a:r>
            <a:r>
              <a:rPr lang="en-IN" sz="2200" dirty="0">
                <a:solidFill>
                  <a:srgbClr val="FF0000"/>
                </a:solidFill>
                <a:latin typeface="Times New Roman" panose="02020603050405020304" pitchFamily="18" charset="0"/>
                <a:cs typeface="Times New Roman" panose="02020603050405020304" pitchFamily="18" charset="0"/>
              </a:rPr>
              <a:t>resolve blockers</a:t>
            </a:r>
          </a:p>
          <a:p>
            <a:pPr marL="0" indent="0" algn="just">
              <a:buNone/>
            </a:pPr>
            <a:endParaRPr lang="en-IN" sz="2200" dirty="0">
              <a:latin typeface="Times New Roman" panose="02020603050405020304" pitchFamily="18" charset="0"/>
              <a:cs typeface="Times New Roman" panose="02020603050405020304" pitchFamily="18" charset="0"/>
            </a:endParaRPr>
          </a:p>
          <a:p>
            <a:pPr marL="0" indent="0" algn="just">
              <a:buNone/>
            </a:pPr>
            <a:r>
              <a:rPr lang="en-IN" sz="2200" b="1" dirty="0">
                <a:latin typeface="Times New Roman" panose="02020603050405020304" pitchFamily="18" charset="0"/>
                <a:cs typeface="Times New Roman" panose="02020603050405020304" pitchFamily="18" charset="0"/>
              </a:rPr>
              <a:t>2. Limit WIP (Work in Progress):</a:t>
            </a:r>
          </a:p>
          <a:p>
            <a:pPr algn="just"/>
            <a:r>
              <a:rPr lang="en-IN" sz="2200" dirty="0">
                <a:latin typeface="Times New Roman" panose="02020603050405020304" pitchFamily="18" charset="0"/>
                <a:cs typeface="Times New Roman" panose="02020603050405020304" pitchFamily="18" charset="0"/>
              </a:rPr>
              <a:t> Limiting work-in-progress (WIP) is </a:t>
            </a:r>
            <a:r>
              <a:rPr lang="en-IN" sz="2200" dirty="0">
                <a:solidFill>
                  <a:srgbClr val="FF0000"/>
                </a:solidFill>
                <a:latin typeface="Times New Roman" panose="02020603050405020304" pitchFamily="18" charset="0"/>
                <a:cs typeface="Times New Roman" panose="02020603050405020304" pitchFamily="18" charset="0"/>
              </a:rPr>
              <a:t>fundamental to implementing Kanban – a ‘Pull-system</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Setting maximum items per stage ensures that a card is only “pulled” into the next step when there is available capacity</a:t>
            </a:r>
            <a:r>
              <a:rPr lang="en-IN" sz="2200" dirty="0">
                <a:latin typeface="Times New Roman" panose="02020603050405020304" pitchFamily="18" charset="0"/>
                <a:cs typeface="Times New Roman" panose="02020603050405020304" pitchFamily="18" charset="0"/>
              </a:rPr>
              <a:t>. </a:t>
            </a:r>
            <a:r>
              <a:rPr lang="en-IN" sz="2200" dirty="0">
                <a:solidFill>
                  <a:srgbClr val="FF0000"/>
                </a:solidFill>
                <a:latin typeface="Times New Roman" panose="02020603050405020304" pitchFamily="18" charset="0"/>
                <a:cs typeface="Times New Roman" panose="02020603050405020304" pitchFamily="18" charset="0"/>
              </a:rPr>
              <a:t>Such constraints will quickly illuminate problem areas in your flow so you can identify and resolve them By limiting WIP</a:t>
            </a:r>
            <a:r>
              <a:rPr lang="en-IN" sz="2200" dirty="0">
                <a:latin typeface="Times New Roman" panose="02020603050405020304" pitchFamily="18" charset="0"/>
                <a:cs typeface="Times New Roman" panose="02020603050405020304" pitchFamily="18" charset="0"/>
              </a:rPr>
              <a:t>, you encourage </a:t>
            </a:r>
            <a:r>
              <a:rPr lang="en-IN" sz="2200" dirty="0">
                <a:solidFill>
                  <a:srgbClr val="FF0000"/>
                </a:solidFill>
                <a:latin typeface="Times New Roman" panose="02020603050405020304" pitchFamily="18" charset="0"/>
                <a:cs typeface="Times New Roman" panose="02020603050405020304" pitchFamily="18" charset="0"/>
              </a:rPr>
              <a:t>your team to complete work at hand first before taking up new work. </a:t>
            </a:r>
          </a:p>
          <a:p>
            <a:pPr algn="just"/>
            <a:r>
              <a:rPr lang="en-IN" sz="2200" dirty="0">
                <a:latin typeface="Times New Roman" panose="02020603050405020304" pitchFamily="18" charset="0"/>
                <a:cs typeface="Times New Roman" panose="02020603050405020304" pitchFamily="18" charset="0"/>
              </a:rPr>
              <a:t>Thus, work currently in progress must be completed and marked done. This creates capacity in the system, so new work can be pulled in by the team. Initially, it may not be easy to decide what your WIP limits should be. In fact, you may start with no WIP limits. </a:t>
            </a:r>
          </a:p>
        </p:txBody>
      </p:sp>
    </p:spTree>
    <p:extLst>
      <p:ext uri="{BB962C8B-B14F-4D97-AF65-F5344CB8AC3E}">
        <p14:creationId xmlns:p14="http://schemas.microsoft.com/office/powerpoint/2010/main" val="1727310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85000" lnSpcReduction="20000"/>
          </a:bodyPr>
          <a:lstStyle/>
          <a:p>
            <a:pPr marL="0" indent="0">
              <a:buNone/>
            </a:pPr>
            <a:r>
              <a:rPr lang="en-IN" sz="3200" b="1" u="sng" dirty="0">
                <a:latin typeface="Times New Roman" panose="02020603050405020304" pitchFamily="18" charset="0"/>
                <a:cs typeface="Times New Roman" panose="02020603050405020304" pitchFamily="18" charset="0"/>
              </a:rPr>
              <a:t>3.Make Process Policies Explicit: </a:t>
            </a:r>
          </a:p>
          <a:p>
            <a:pPr algn="just"/>
            <a:r>
              <a:rPr lang="en-IN" sz="2600" dirty="0">
                <a:solidFill>
                  <a:srgbClr val="FF0000"/>
                </a:solidFill>
                <a:latin typeface="Times New Roman" panose="02020603050405020304" pitchFamily="18" charset="0"/>
                <a:cs typeface="Times New Roman" panose="02020603050405020304" pitchFamily="18" charset="0"/>
              </a:rPr>
              <a:t>Policies can be established in a team to reduce the rework and focus on the areas which require attention </a:t>
            </a:r>
            <a:r>
              <a:rPr lang="en-IN" sz="2600" dirty="0">
                <a:latin typeface="Times New Roman" panose="02020603050405020304" pitchFamily="18" charset="0"/>
                <a:cs typeface="Times New Roman" panose="02020603050405020304" pitchFamily="18" charset="0"/>
              </a:rPr>
              <a:t>or where it is more effective.</a:t>
            </a:r>
          </a:p>
          <a:p>
            <a:pPr algn="just"/>
            <a:r>
              <a:rPr lang="en-IN" sz="2600" dirty="0">
                <a:solidFill>
                  <a:srgbClr val="FF0000"/>
                </a:solidFill>
                <a:latin typeface="Times New Roman" panose="02020603050405020304" pitchFamily="18" charset="0"/>
                <a:cs typeface="Times New Roman" panose="02020603050405020304" pitchFamily="18" charset="0"/>
              </a:rPr>
              <a:t>It is important for the project team to know what they are trying to achieve</a:t>
            </a:r>
            <a:r>
              <a:rPr lang="en-IN" sz="2600" dirty="0">
                <a:latin typeface="Times New Roman" panose="02020603050405020304" pitchFamily="18" charset="0"/>
                <a:cs typeface="Times New Roman" panose="02020603050405020304" pitchFamily="18" charset="0"/>
              </a:rPr>
              <a:t>. The reason behind is quite simple</a:t>
            </a:r>
            <a:r>
              <a:rPr lang="en-IN" sz="2600" dirty="0">
                <a:solidFill>
                  <a:srgbClr val="FF0000"/>
                </a:solidFill>
                <a:latin typeface="Times New Roman" panose="02020603050405020304" pitchFamily="18" charset="0"/>
                <a:cs typeface="Times New Roman" panose="02020603050405020304" pitchFamily="18" charset="0"/>
              </a:rPr>
              <a:t>, when someone has a clear goal in front of them, they’ll try harder to achieve it</a:t>
            </a:r>
          </a:p>
          <a:p>
            <a:pPr algn="just"/>
            <a:r>
              <a:rPr lang="en-IN" sz="2600" dirty="0">
                <a:latin typeface="Times New Roman" panose="02020603050405020304" pitchFamily="18" charset="0"/>
                <a:cs typeface="Times New Roman" panose="02020603050405020304" pitchFamily="18" charset="0"/>
              </a:rPr>
              <a:t>By formulating explicit process guidelines</a:t>
            </a:r>
            <a:r>
              <a:rPr lang="en-IN" sz="2600" dirty="0">
                <a:solidFill>
                  <a:srgbClr val="FF0000"/>
                </a:solidFill>
                <a:latin typeface="Times New Roman" panose="02020603050405020304" pitchFamily="18" charset="0"/>
                <a:cs typeface="Times New Roman" panose="02020603050405020304" pitchFamily="18" charset="0"/>
              </a:rPr>
              <a:t>, you create a common basis for all participants to understand how to do any type of work in the system</a:t>
            </a:r>
            <a:r>
              <a:rPr lang="en-IN" sz="2600" dirty="0">
                <a:latin typeface="Times New Roman" panose="02020603050405020304" pitchFamily="18" charset="0"/>
                <a:cs typeface="Times New Roman" panose="02020603050405020304" pitchFamily="18" charset="0"/>
              </a:rPr>
              <a:t>. They can be a </a:t>
            </a:r>
            <a:r>
              <a:rPr lang="en-IN" sz="2600" dirty="0">
                <a:solidFill>
                  <a:srgbClr val="FF0000"/>
                </a:solidFill>
                <a:latin typeface="Times New Roman" panose="02020603050405020304" pitchFamily="18" charset="0"/>
                <a:cs typeface="Times New Roman" panose="02020603050405020304" pitchFamily="18" charset="0"/>
              </a:rPr>
              <a:t>checklist of steps to be done for each work item-type, entry-exit criteria </a:t>
            </a:r>
            <a:r>
              <a:rPr lang="en-IN" sz="2600" dirty="0">
                <a:latin typeface="Times New Roman" panose="02020603050405020304" pitchFamily="18" charset="0"/>
                <a:cs typeface="Times New Roman" panose="02020603050405020304" pitchFamily="18" charset="0"/>
              </a:rPr>
              <a:t>for each column</a:t>
            </a:r>
            <a:r>
              <a:rPr lang="en-IN" sz="2600" dirty="0">
                <a:solidFill>
                  <a:srgbClr val="FF0000"/>
                </a:solidFill>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or anything at all that </a:t>
            </a:r>
            <a:r>
              <a:rPr lang="en-IN" sz="2600" dirty="0">
                <a:solidFill>
                  <a:srgbClr val="FF0000"/>
                </a:solidFill>
                <a:latin typeface="Times New Roman" panose="02020603050405020304" pitchFamily="18" charset="0"/>
                <a:cs typeface="Times New Roman" panose="02020603050405020304" pitchFamily="18" charset="0"/>
              </a:rPr>
              <a:t>helps team members manage the flow of work </a:t>
            </a:r>
            <a:r>
              <a:rPr lang="en-IN" sz="2600" dirty="0">
                <a:latin typeface="Times New Roman" panose="02020603050405020304" pitchFamily="18" charset="0"/>
                <a:cs typeface="Times New Roman" panose="02020603050405020304" pitchFamily="18" charset="0"/>
              </a:rPr>
              <a:t>on the board well. </a:t>
            </a:r>
            <a:r>
              <a:rPr lang="en-IN" sz="2600" dirty="0">
                <a:solidFill>
                  <a:srgbClr val="FF0000"/>
                </a:solidFill>
                <a:latin typeface="Times New Roman" panose="02020603050405020304" pitchFamily="18" charset="0"/>
                <a:cs typeface="Times New Roman" panose="02020603050405020304" pitchFamily="18" charset="0"/>
              </a:rPr>
              <a:t>Examples</a:t>
            </a:r>
            <a:r>
              <a:rPr lang="en-IN" sz="2600" dirty="0">
                <a:latin typeface="Times New Roman" panose="02020603050405020304" pitchFamily="18" charset="0"/>
                <a:cs typeface="Times New Roman" panose="02020603050405020304" pitchFamily="18" charset="0"/>
              </a:rPr>
              <a:t> of explicit policies include the </a:t>
            </a:r>
            <a:r>
              <a:rPr lang="en-IN" sz="2600" dirty="0">
                <a:solidFill>
                  <a:srgbClr val="FF0000"/>
                </a:solidFill>
                <a:latin typeface="Times New Roman" panose="02020603050405020304" pitchFamily="18" charset="0"/>
                <a:cs typeface="Times New Roman" panose="02020603050405020304" pitchFamily="18" charset="0"/>
              </a:rPr>
              <a:t>definition of when a task is completed</a:t>
            </a:r>
            <a:r>
              <a:rPr lang="en-IN" sz="2600" dirty="0">
                <a:latin typeface="Times New Roman" panose="02020603050405020304" pitchFamily="18" charset="0"/>
                <a:cs typeface="Times New Roman" panose="02020603050405020304" pitchFamily="18" charset="0"/>
              </a:rPr>
              <a:t>, the </a:t>
            </a:r>
            <a:r>
              <a:rPr lang="en-IN" sz="2600" dirty="0">
                <a:solidFill>
                  <a:srgbClr val="FF0000"/>
                </a:solidFill>
                <a:latin typeface="Times New Roman" panose="02020603050405020304" pitchFamily="18" charset="0"/>
                <a:cs typeface="Times New Roman" panose="02020603050405020304" pitchFamily="18" charset="0"/>
              </a:rPr>
              <a:t>description of individual lanes or columns</a:t>
            </a:r>
            <a:r>
              <a:rPr lang="en-IN" sz="2600" dirty="0">
                <a:latin typeface="Times New Roman" panose="02020603050405020304" pitchFamily="18" charset="0"/>
                <a:cs typeface="Times New Roman" panose="02020603050405020304" pitchFamily="18" charset="0"/>
              </a:rPr>
              <a:t>, </a:t>
            </a:r>
            <a:r>
              <a:rPr lang="en-IN" sz="2600" dirty="0">
                <a:solidFill>
                  <a:srgbClr val="FF0000"/>
                </a:solidFill>
                <a:latin typeface="Times New Roman" panose="02020603050405020304" pitchFamily="18" charset="0"/>
                <a:cs typeface="Times New Roman" panose="02020603050405020304" pitchFamily="18" charset="0"/>
              </a:rPr>
              <a:t>who pulls when.</a:t>
            </a:r>
          </a:p>
          <a:p>
            <a:pPr algn="just"/>
            <a:endParaRPr lang="en-IN" sz="3200" dirty="0">
              <a:latin typeface="Times New Roman" panose="02020603050405020304" pitchFamily="18" charset="0"/>
              <a:cs typeface="Times New Roman" panose="02020603050405020304" pitchFamily="18" charset="0"/>
            </a:endParaRPr>
          </a:p>
          <a:p>
            <a:pPr marL="0" indent="0">
              <a:buNone/>
            </a:pPr>
            <a:r>
              <a:rPr lang="en-IN" sz="3200" b="1" u="sng" dirty="0">
                <a:latin typeface="Times New Roman" panose="02020603050405020304" pitchFamily="18" charset="0"/>
                <a:cs typeface="Times New Roman" panose="02020603050405020304" pitchFamily="18" charset="0"/>
              </a:rPr>
              <a:t>4.Managing the flow</a:t>
            </a:r>
          </a:p>
          <a:p>
            <a:pPr algn="just"/>
            <a:r>
              <a:rPr lang="en-IN" sz="2600" dirty="0">
                <a:solidFill>
                  <a:srgbClr val="FF0000"/>
                </a:solidFill>
                <a:latin typeface="Times New Roman" panose="02020603050405020304" pitchFamily="18" charset="0"/>
                <a:cs typeface="Times New Roman" panose="02020603050405020304" pitchFamily="18" charset="0"/>
              </a:rPr>
              <a:t>One of the main goals when implementing a Kanban system is to create a smooth, healthy  work flow</a:t>
            </a:r>
          </a:p>
          <a:p>
            <a:pPr algn="just"/>
            <a:r>
              <a:rPr lang="en-IN" sz="2600" dirty="0">
                <a:solidFill>
                  <a:srgbClr val="FF0000"/>
                </a:solidFill>
                <a:latin typeface="Times New Roman" panose="02020603050405020304" pitchFamily="18" charset="0"/>
                <a:cs typeface="Times New Roman" panose="02020603050405020304" pitchFamily="18" charset="0"/>
              </a:rPr>
              <a:t>Managing the flow is about managing the work but not the people</a:t>
            </a:r>
            <a:r>
              <a:rPr lang="en-IN" sz="2600" dirty="0">
                <a:latin typeface="Times New Roman" panose="02020603050405020304" pitchFamily="18" charset="0"/>
                <a:cs typeface="Times New Roman" panose="02020603050405020304" pitchFamily="18" charset="0"/>
              </a:rPr>
              <a:t>. By flow, we </a:t>
            </a:r>
            <a:r>
              <a:rPr lang="en-IN" sz="2600" dirty="0">
                <a:solidFill>
                  <a:srgbClr val="FF0000"/>
                </a:solidFill>
                <a:latin typeface="Times New Roman" panose="02020603050405020304" pitchFamily="18" charset="0"/>
                <a:cs typeface="Times New Roman" panose="02020603050405020304" pitchFamily="18" charset="0"/>
              </a:rPr>
              <a:t>mean the movement of work items through the production process at a predictable and sustainable pace.</a:t>
            </a:r>
          </a:p>
          <a:p>
            <a:pPr algn="just"/>
            <a:r>
              <a:rPr lang="en-IN" sz="2600" dirty="0">
                <a:latin typeface="Times New Roman" panose="02020603050405020304" pitchFamily="18" charset="0"/>
                <a:cs typeface="Times New Roman" panose="02020603050405020304" pitchFamily="18" charset="0"/>
              </a:rPr>
              <a:t>Instead of </a:t>
            </a:r>
            <a:r>
              <a:rPr lang="en-IN" sz="2600" dirty="0">
                <a:solidFill>
                  <a:srgbClr val="FF0000"/>
                </a:solidFill>
                <a:latin typeface="Times New Roman" panose="02020603050405020304" pitchFamily="18" charset="0"/>
                <a:cs typeface="Times New Roman" panose="02020603050405020304" pitchFamily="18" charset="0"/>
              </a:rPr>
              <a:t>micro-managing people and trying to keep them busy all the time, you should focus on managing the work processes</a:t>
            </a:r>
            <a:r>
              <a:rPr lang="en-IN" sz="2600" dirty="0">
                <a:latin typeface="Times New Roman" panose="02020603050405020304" pitchFamily="18" charset="0"/>
                <a:cs typeface="Times New Roman" panose="02020603050405020304" pitchFamily="18" charset="0"/>
              </a:rPr>
              <a:t> and understanding how to get that work faster through the system.</a:t>
            </a:r>
          </a:p>
          <a:p>
            <a:pPr algn="just"/>
            <a:r>
              <a:rPr lang="en-IN" sz="2600" dirty="0">
                <a:latin typeface="Times New Roman" panose="02020603050405020304" pitchFamily="18" charset="0"/>
                <a:cs typeface="Times New Roman" panose="02020603050405020304" pitchFamily="18" charset="0"/>
              </a:rPr>
              <a:t> A Kanban </a:t>
            </a:r>
            <a:r>
              <a:rPr lang="en-IN" sz="2600" dirty="0">
                <a:solidFill>
                  <a:srgbClr val="FF0000"/>
                </a:solidFill>
                <a:latin typeface="Times New Roman" panose="02020603050405020304" pitchFamily="18" charset="0"/>
                <a:cs typeface="Times New Roman" panose="02020603050405020304" pitchFamily="18" charset="0"/>
              </a:rPr>
              <a:t>system helps you manage flow by highlighting the various stages of the workflow </a:t>
            </a:r>
            <a:r>
              <a:rPr lang="en-IN" sz="2600" dirty="0">
                <a:latin typeface="Times New Roman" panose="02020603050405020304" pitchFamily="18" charset="0"/>
                <a:cs typeface="Times New Roman" panose="02020603050405020304" pitchFamily="18" charset="0"/>
              </a:rPr>
              <a:t>and the </a:t>
            </a:r>
            <a:r>
              <a:rPr lang="en-IN" sz="2600" dirty="0">
                <a:solidFill>
                  <a:srgbClr val="FF0000"/>
                </a:solidFill>
                <a:latin typeface="Times New Roman" panose="02020603050405020304" pitchFamily="18" charset="0"/>
                <a:cs typeface="Times New Roman" panose="02020603050405020304" pitchFamily="18" charset="0"/>
              </a:rPr>
              <a:t>status of work in each stag</a:t>
            </a:r>
            <a:r>
              <a:rPr lang="en-IN" sz="2600" dirty="0">
                <a:latin typeface="Times New Roman" panose="02020603050405020304" pitchFamily="18" charset="0"/>
                <a:cs typeface="Times New Roman" panose="02020603050405020304" pitchFamily="18" charset="0"/>
              </a:rPr>
              <a:t>e. Depending on </a:t>
            </a:r>
            <a:r>
              <a:rPr lang="en-IN" sz="2600" dirty="0">
                <a:solidFill>
                  <a:srgbClr val="FF0000"/>
                </a:solidFill>
                <a:latin typeface="Times New Roman" panose="02020603050405020304" pitchFamily="18" charset="0"/>
                <a:cs typeface="Times New Roman" panose="02020603050405020304" pitchFamily="18" charset="0"/>
              </a:rPr>
              <a:t>how well the workflow is defined and WIP Limits are set, you will observe either a smooth flow within .</a:t>
            </a:r>
          </a:p>
          <a:p>
            <a:pPr algn="just"/>
            <a:r>
              <a:rPr lang="en-IN" sz="2600" dirty="0">
                <a:latin typeface="Times New Roman" panose="02020603050405020304" pitchFamily="18" charset="0"/>
                <a:cs typeface="Times New Roman" panose="02020603050405020304" pitchFamily="18" charset="0"/>
              </a:rPr>
              <a:t>If there are interruptions or blockers, they must be fixed permanently. and make adjustments to improve flow so as to reduce the time it takes to complete each piece of work</a:t>
            </a:r>
          </a:p>
          <a:p>
            <a:endParaRPr lang="en-IN" b="1" dirty="0"/>
          </a:p>
        </p:txBody>
      </p:sp>
    </p:spTree>
    <p:extLst>
      <p:ext uri="{BB962C8B-B14F-4D97-AF65-F5344CB8AC3E}">
        <p14:creationId xmlns:p14="http://schemas.microsoft.com/office/powerpoint/2010/main" val="3019359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62500" lnSpcReduction="20000"/>
          </a:bodyPr>
          <a:lstStyle/>
          <a:p>
            <a:pPr marL="0" indent="0">
              <a:buNone/>
            </a:pPr>
            <a:r>
              <a:rPr lang="en-IN" sz="3800" b="1" dirty="0">
                <a:latin typeface="Times New Roman" panose="02020603050405020304" pitchFamily="18" charset="0"/>
                <a:cs typeface="Times New Roman" panose="02020603050405020304" pitchFamily="18" charset="0"/>
              </a:rPr>
              <a:t>5.implement Feedback Loops</a:t>
            </a:r>
            <a:r>
              <a:rPr lang="en-IN" sz="3300" b="1" dirty="0">
                <a:latin typeface="Times New Roman" panose="02020603050405020304" pitchFamily="18" charset="0"/>
                <a:cs typeface="Times New Roman" panose="02020603050405020304" pitchFamily="18" charset="0"/>
              </a:rPr>
              <a:t>:</a:t>
            </a:r>
            <a:endParaRPr lang="en-IN" sz="3300" dirty="0">
              <a:latin typeface="Times New Roman" panose="02020603050405020304" pitchFamily="18" charset="0"/>
              <a:cs typeface="Times New Roman" panose="02020603050405020304" pitchFamily="18" charset="0"/>
            </a:endParaRPr>
          </a:p>
          <a:p>
            <a:pPr algn="just"/>
            <a:r>
              <a:rPr lang="en-IN" sz="3300" dirty="0">
                <a:latin typeface="Times New Roman" panose="02020603050405020304" pitchFamily="18" charset="0"/>
                <a:cs typeface="Times New Roman" panose="02020603050405020304" pitchFamily="18" charset="0"/>
              </a:rPr>
              <a:t>just delivering fast is not everything; </a:t>
            </a:r>
            <a:r>
              <a:rPr lang="en-IN" sz="3300" dirty="0">
                <a:solidFill>
                  <a:srgbClr val="FF0000"/>
                </a:solidFill>
                <a:latin typeface="Times New Roman" panose="02020603050405020304" pitchFamily="18" charset="0"/>
                <a:cs typeface="Times New Roman" panose="02020603050405020304" pitchFamily="18" charset="0"/>
              </a:rPr>
              <a:t>delivering the right things is also important</a:t>
            </a:r>
            <a:r>
              <a:rPr lang="en-IN" sz="3300" dirty="0">
                <a:latin typeface="Times New Roman" panose="02020603050405020304" pitchFamily="18" charset="0"/>
                <a:cs typeface="Times New Roman" panose="02020603050405020304" pitchFamily="18" charset="0"/>
              </a:rPr>
              <a:t>. To know this you need to know what the customers, the end users think, and how well the product contributes to your company's revenue and wellbeing. The need for getting feedback from people outside of your system. There is also a need for feedback loops within a system to make sure you deliver the expected functionality with the right quality. Here is where different kinds of tests come into the picture. Automated tests that run continuously are preferred since they make feedback loops shorter.</a:t>
            </a:r>
          </a:p>
          <a:p>
            <a:r>
              <a:rPr lang="en-IN" sz="3300" dirty="0">
                <a:latin typeface="Times New Roman" panose="02020603050405020304" pitchFamily="18" charset="0"/>
                <a:cs typeface="Times New Roman" panose="02020603050405020304" pitchFamily="18" charset="0"/>
              </a:rPr>
              <a:t> In Kanban, feedback is formalised and implemented not just within the team, but also between teams and between team members and their coach or manager. </a:t>
            </a:r>
          </a:p>
          <a:p>
            <a:r>
              <a:rPr lang="en-IN" sz="3300" dirty="0">
                <a:latin typeface="Times New Roman" panose="02020603050405020304" pitchFamily="18" charset="0"/>
                <a:cs typeface="Times New Roman" panose="02020603050405020304" pitchFamily="18" charset="0"/>
              </a:rPr>
              <a:t>make sure </a:t>
            </a:r>
            <a:r>
              <a:rPr lang="en-IN" sz="3300" dirty="0">
                <a:solidFill>
                  <a:srgbClr val="FF0000"/>
                </a:solidFill>
                <a:latin typeface="Times New Roman" panose="02020603050405020304" pitchFamily="18" charset="0"/>
                <a:cs typeface="Times New Roman" panose="02020603050405020304" pitchFamily="18" charset="0"/>
              </a:rPr>
              <a:t>you get sufficient feedback from them on a regular basis</a:t>
            </a:r>
            <a:r>
              <a:rPr lang="en-IN" sz="3300" dirty="0">
                <a:latin typeface="Times New Roman" panose="02020603050405020304" pitchFamily="18" charset="0"/>
                <a:cs typeface="Times New Roman" panose="02020603050405020304" pitchFamily="18" charset="0"/>
              </a:rPr>
              <a:t>. This feedback will not only help you optimize your system but also your product quality and the value you deliver.</a:t>
            </a:r>
          </a:p>
          <a:p>
            <a:pPr marL="0" indent="0">
              <a:buNone/>
            </a:pPr>
            <a:endParaRPr lang="en-IN" sz="3300" dirty="0">
              <a:latin typeface="Times New Roman" panose="02020603050405020304" pitchFamily="18" charset="0"/>
              <a:cs typeface="Times New Roman" panose="02020603050405020304" pitchFamily="18" charset="0"/>
            </a:endParaRPr>
          </a:p>
          <a:p>
            <a:pPr marL="0" indent="0">
              <a:buNone/>
            </a:pPr>
            <a:r>
              <a:rPr lang="en-IN" sz="3800" b="1" dirty="0">
                <a:latin typeface="Times New Roman" panose="02020603050405020304" pitchFamily="18" charset="0"/>
                <a:cs typeface="Times New Roman" panose="02020603050405020304" pitchFamily="18" charset="0"/>
              </a:rPr>
              <a:t>6.Improve Collaboratively, Evolve Experimentally </a:t>
            </a:r>
          </a:p>
          <a:p>
            <a:r>
              <a:rPr lang="en-IN" sz="3300" dirty="0">
                <a:latin typeface="Times New Roman" panose="02020603050405020304" pitchFamily="18" charset="0"/>
                <a:cs typeface="Times New Roman" panose="02020603050405020304" pitchFamily="18" charset="0"/>
              </a:rPr>
              <a:t>This is the core principle of the Kanban system. It states that you can always improve the process, and that will result in better efficiency.</a:t>
            </a:r>
          </a:p>
          <a:p>
            <a:r>
              <a:rPr lang="en-IN" sz="3300" dirty="0">
                <a:latin typeface="Times New Roman" panose="02020603050405020304" pitchFamily="18" charset="0"/>
                <a:cs typeface="Times New Roman" panose="02020603050405020304" pitchFamily="18" charset="0"/>
              </a:rPr>
              <a:t>Any </a:t>
            </a:r>
            <a:r>
              <a:rPr lang="en-IN" sz="3300" dirty="0">
                <a:solidFill>
                  <a:srgbClr val="FF0000"/>
                </a:solidFill>
                <a:latin typeface="Times New Roman" panose="02020603050405020304" pitchFamily="18" charset="0"/>
                <a:cs typeface="Times New Roman" panose="02020603050405020304" pitchFamily="18" charset="0"/>
              </a:rPr>
              <a:t>improvements you make to your system have to be done collaboratively</a:t>
            </a:r>
            <a:r>
              <a:rPr lang="en-IN" sz="3300" dirty="0">
                <a:latin typeface="Times New Roman" panose="02020603050405020304" pitchFamily="18" charset="0"/>
                <a:cs typeface="Times New Roman" panose="02020603050405020304" pitchFamily="18" charset="0"/>
              </a:rPr>
              <a:t>. This is where your feedback loops come in handy.</a:t>
            </a:r>
          </a:p>
          <a:p>
            <a:r>
              <a:rPr lang="en-IN" sz="3300" dirty="0">
                <a:latin typeface="Times New Roman" panose="02020603050405020304" pitchFamily="18" charset="0"/>
                <a:cs typeface="Times New Roman" panose="02020603050405020304" pitchFamily="18" charset="0"/>
              </a:rPr>
              <a:t>You </a:t>
            </a:r>
            <a:r>
              <a:rPr lang="en-IN" sz="3300" dirty="0">
                <a:solidFill>
                  <a:srgbClr val="FF0000"/>
                </a:solidFill>
                <a:latin typeface="Times New Roman" panose="02020603050405020304" pitchFamily="18" charset="0"/>
                <a:cs typeface="Times New Roman" panose="02020603050405020304" pitchFamily="18" charset="0"/>
              </a:rPr>
              <a:t>want to make changes to the system with your entire team</a:t>
            </a:r>
            <a:r>
              <a:rPr lang="en-IN" sz="3300" dirty="0">
                <a:latin typeface="Times New Roman" panose="02020603050405020304" pitchFamily="18" charset="0"/>
                <a:cs typeface="Times New Roman" panose="02020603050405020304" pitchFamily="18" charset="0"/>
              </a:rPr>
              <a:t>. </a:t>
            </a:r>
            <a:r>
              <a:rPr lang="en-IN" sz="3300" dirty="0">
                <a:solidFill>
                  <a:srgbClr val="FF0000"/>
                </a:solidFill>
                <a:latin typeface="Times New Roman" panose="02020603050405020304" pitchFamily="18" charset="0"/>
                <a:cs typeface="Times New Roman" panose="02020603050405020304" pitchFamily="18" charset="0"/>
              </a:rPr>
              <a:t>The team owns the system and has to work with it, so they have to support it</a:t>
            </a:r>
            <a:r>
              <a:rPr lang="en-IN" sz="3300" dirty="0">
                <a:latin typeface="Times New Roman" panose="02020603050405020304" pitchFamily="18" charset="0"/>
                <a:cs typeface="Times New Roman" panose="02020603050405020304" pitchFamily="18" charset="0"/>
              </a:rPr>
              <a:t>. If only part of the team supports your system, it is less likely people will stick to its flow and its policies. The </a:t>
            </a:r>
            <a:r>
              <a:rPr lang="en-IN" sz="3300" dirty="0">
                <a:solidFill>
                  <a:srgbClr val="FF0000"/>
                </a:solidFill>
                <a:latin typeface="Times New Roman" panose="02020603050405020304" pitchFamily="18" charset="0"/>
                <a:cs typeface="Times New Roman" panose="02020603050405020304" pitchFamily="18" charset="0"/>
              </a:rPr>
              <a:t>system </a:t>
            </a:r>
            <a:r>
              <a:rPr lang="en-IN" sz="3300" i="1" dirty="0">
                <a:solidFill>
                  <a:srgbClr val="FF0000"/>
                </a:solidFill>
                <a:latin typeface="Times New Roman" panose="02020603050405020304" pitchFamily="18" charset="0"/>
                <a:cs typeface="Times New Roman" panose="02020603050405020304" pitchFamily="18" charset="0"/>
              </a:rPr>
              <a:t>has</a:t>
            </a:r>
            <a:r>
              <a:rPr lang="en-IN" sz="3300" dirty="0">
                <a:solidFill>
                  <a:srgbClr val="FF0000"/>
                </a:solidFill>
                <a:latin typeface="Times New Roman" panose="02020603050405020304" pitchFamily="18" charset="0"/>
                <a:cs typeface="Times New Roman" panose="02020603050405020304" pitchFamily="18" charset="0"/>
              </a:rPr>
              <a:t> to be owned by the entire team.</a:t>
            </a:r>
          </a:p>
          <a:p>
            <a:endParaRPr lang="en-IN" sz="3300" b="1" dirty="0">
              <a:latin typeface="Times New Roman" panose="02020603050405020304" pitchFamily="18" charset="0"/>
              <a:cs typeface="Times New Roman" panose="02020603050405020304" pitchFamily="18" charset="0"/>
            </a:endParaRPr>
          </a:p>
          <a:p>
            <a:r>
              <a:rPr lang="en-IN" sz="3300" dirty="0">
                <a:latin typeface="Times New Roman" panose="02020603050405020304" pitchFamily="18" charset="0"/>
                <a:cs typeface="Times New Roman" panose="02020603050405020304" pitchFamily="18" charset="0"/>
              </a:rPr>
              <a:t>The Kanban Method is an evolutionary improvement process. It </a:t>
            </a:r>
            <a:r>
              <a:rPr lang="en-IN" sz="3300" dirty="0">
                <a:solidFill>
                  <a:srgbClr val="FF0000"/>
                </a:solidFill>
                <a:latin typeface="Times New Roman" panose="02020603050405020304" pitchFamily="18" charset="0"/>
                <a:cs typeface="Times New Roman" panose="02020603050405020304" pitchFamily="18" charset="0"/>
              </a:rPr>
              <a:t>helps you adopt small changes and improve gradually at a pace and size </a:t>
            </a:r>
            <a:r>
              <a:rPr lang="en-IN" sz="3300" dirty="0">
                <a:latin typeface="Times New Roman" panose="02020603050405020304" pitchFamily="18" charset="0"/>
                <a:cs typeface="Times New Roman" panose="02020603050405020304" pitchFamily="18" charset="0"/>
              </a:rPr>
              <a:t>that your team can handle easily. </a:t>
            </a:r>
          </a:p>
        </p:txBody>
      </p:sp>
    </p:spTree>
    <p:extLst>
      <p:ext uri="{BB962C8B-B14F-4D97-AF65-F5344CB8AC3E}">
        <p14:creationId xmlns:p14="http://schemas.microsoft.com/office/powerpoint/2010/main" val="1617245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4349</Words>
  <Application>Microsoft Office PowerPoint</Application>
  <PresentationFormat>Widescreen</PresentationFormat>
  <Paragraphs>222</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Calibri Light</vt:lpstr>
      <vt:lpstr>Open Sans</vt:lpstr>
      <vt:lpstr>Tahoma</vt:lpstr>
      <vt:lpstr>Times New Roman</vt:lpstr>
      <vt:lpstr>Wingdings</vt:lpstr>
      <vt:lpstr>Office Theme</vt:lpstr>
      <vt:lpstr>kanban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Kanban practices:-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chakra</dc:creator>
  <cp:lastModifiedBy>SAI CHARAN THOTA</cp:lastModifiedBy>
  <cp:revision>8</cp:revision>
  <dcterms:created xsi:type="dcterms:W3CDTF">2021-08-26T09:15:57Z</dcterms:created>
  <dcterms:modified xsi:type="dcterms:W3CDTF">2021-08-28T08:11:00Z</dcterms:modified>
</cp:coreProperties>
</file>