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7" r:id="rId3"/>
    <p:sldId id="268" r:id="rId4"/>
    <p:sldId id="269" r:id="rId5"/>
    <p:sldId id="270" r:id="rId6"/>
    <p:sldId id="273" r:id="rId7"/>
    <p:sldId id="27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D3DD5-4C68-42FC-8220-F8EA80F492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D7E6F0BB-99F2-4A94-97C4-3B3D16906F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F5269D58-D40B-4159-8655-651460F5EC89}"/>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5" name="Footer Placeholder 4">
            <a:extLst>
              <a:ext uri="{FF2B5EF4-FFF2-40B4-BE49-F238E27FC236}">
                <a16:creationId xmlns:a16="http://schemas.microsoft.com/office/drawing/2014/main" id="{63B75D2B-06CA-46BB-ADBE-700E0B5A759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14E4C5C-B76D-45C7-A7ED-0F4D3A3568A4}"/>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26387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5EDC6-E784-4C0C-A81A-E227E9F1B78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BC564F4-CB2B-4241-96DA-428E7CD608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33B3C9-3ECC-425F-A0C9-90BF4C26E4D3}"/>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5" name="Footer Placeholder 4">
            <a:extLst>
              <a:ext uri="{FF2B5EF4-FFF2-40B4-BE49-F238E27FC236}">
                <a16:creationId xmlns:a16="http://schemas.microsoft.com/office/drawing/2014/main" id="{F8E43C53-7F25-4BCC-BD88-F7C91C002D2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A9A82DC-0260-4B7E-8FDD-C70F5C084B90}"/>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2737198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A1C3D-4135-4235-88CC-139DA65680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14501C3A-3313-41D1-BD05-1039B01A8B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094C24-A1D2-4DBF-8914-7F73531C2F72}"/>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5" name="Footer Placeholder 4">
            <a:extLst>
              <a:ext uri="{FF2B5EF4-FFF2-40B4-BE49-F238E27FC236}">
                <a16:creationId xmlns:a16="http://schemas.microsoft.com/office/drawing/2014/main" id="{10FBFE3F-A504-470F-9329-20606B5DD70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C8AF5C1-B44E-4B1C-B6B5-E7AA9A301D17}"/>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44509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565B1-3D27-48D6-94EF-E37C93EC404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3CE8314F-244D-4EDA-BAB6-A71B58BFC7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8D38B404-2AAB-4875-BE49-4EB76700C4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C1FBA2C-3BBA-42B3-BE82-CD0EA1BB9CC8}"/>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6" name="Footer Placeholder 5">
            <a:extLst>
              <a:ext uri="{FF2B5EF4-FFF2-40B4-BE49-F238E27FC236}">
                <a16:creationId xmlns:a16="http://schemas.microsoft.com/office/drawing/2014/main" id="{F9E1FA8A-2C9B-4243-80EF-91F8121D8CF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05B33BE-1A37-4B8B-B17C-58FF76549696}"/>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2945071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5B49-B3C8-4967-A009-621106F0B06F}"/>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C5BD442-A985-4E92-9697-1D9E4D665A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275D93-1847-49CF-B730-05FAF25BE3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EF7358D4-DBC2-4FAB-B1B3-BB8CB41AE7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038833-E259-4F2B-828F-2119B78068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8A137D8-B594-437D-836B-E317ABF24CC9}"/>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8" name="Footer Placeholder 7">
            <a:extLst>
              <a:ext uri="{FF2B5EF4-FFF2-40B4-BE49-F238E27FC236}">
                <a16:creationId xmlns:a16="http://schemas.microsoft.com/office/drawing/2014/main" id="{E40FE72B-C7A0-4D22-B4A5-1A7F51B93A50}"/>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142364F7-2767-4BE8-B668-D7EAC6EEB5AB}"/>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3607668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EA3E8-57F7-49C2-AC04-BE3277ABDDA1}"/>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AC1A9D3-4792-4182-8D0B-F8CF21F745C5}"/>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4" name="Footer Placeholder 3">
            <a:extLst>
              <a:ext uri="{FF2B5EF4-FFF2-40B4-BE49-F238E27FC236}">
                <a16:creationId xmlns:a16="http://schemas.microsoft.com/office/drawing/2014/main" id="{E9AA11EC-C55F-46B4-A4AC-7D18BEA8919F}"/>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F7FBFA92-F6E1-41A5-B279-A41D4A87F492}"/>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718774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1551C2-1F70-48CC-8803-F1ACD581FFF8}"/>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3" name="Footer Placeholder 2">
            <a:extLst>
              <a:ext uri="{FF2B5EF4-FFF2-40B4-BE49-F238E27FC236}">
                <a16:creationId xmlns:a16="http://schemas.microsoft.com/office/drawing/2014/main" id="{DA393846-3EBE-4375-B5C3-BCF0B40BBB30}"/>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97C86-32D8-4440-A6ED-00AB63E1011C}"/>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3020062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67D0A-F975-4957-95C0-A4F9EF9D06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B0B1B56C-D5FE-4EE0-819C-E1A91E7C75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8EC5C02C-4355-416F-BC1D-D2D92A752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001F85-F8CD-45EA-8BBD-44F82AF82AE0}"/>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6" name="Footer Placeholder 5">
            <a:extLst>
              <a:ext uri="{FF2B5EF4-FFF2-40B4-BE49-F238E27FC236}">
                <a16:creationId xmlns:a16="http://schemas.microsoft.com/office/drawing/2014/main" id="{A2A65CEF-8EAC-453D-91F8-1CF26DC5F94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14566F8-1411-4A3F-95F7-B81C1E43F5E2}"/>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56073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1B210-8C83-4239-8CDB-2D2D90AA44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8EA678A-A969-41AC-8984-65AF982699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8326DAEF-F7B9-4F9E-854E-4D2C8967B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526CC7-1D72-4E22-B775-17B6D6B8F477}"/>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6" name="Footer Placeholder 5">
            <a:extLst>
              <a:ext uri="{FF2B5EF4-FFF2-40B4-BE49-F238E27FC236}">
                <a16:creationId xmlns:a16="http://schemas.microsoft.com/office/drawing/2014/main" id="{7B950A39-33BE-4FFC-991B-C79E9088164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26DD5163-EC61-48D8-A23C-3B92B827EB99}"/>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2743598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CCCA-60FA-42CD-A1D5-6B177FE10F6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ED2D255-56FA-4EC1-9F47-3DD8EE1E9F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5749E10-F5F3-44B0-A1CB-C85A899EC5FF}"/>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5" name="Footer Placeholder 4">
            <a:extLst>
              <a:ext uri="{FF2B5EF4-FFF2-40B4-BE49-F238E27FC236}">
                <a16:creationId xmlns:a16="http://schemas.microsoft.com/office/drawing/2014/main" id="{3981C555-25FB-49C1-BD00-64BD5E3ECE6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9837CC-C9B0-4A34-B15C-3A22571D8CC5}"/>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117836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DC1023-40EE-44DE-B7FE-2EF824FD50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50CB182-ADFE-46AB-9A23-2AE2D257E5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5345D13-F2EC-431A-93CF-314A96B92D4D}"/>
              </a:ext>
            </a:extLst>
          </p:cNvPr>
          <p:cNvSpPr>
            <a:spLocks noGrp="1"/>
          </p:cNvSpPr>
          <p:nvPr>
            <p:ph type="dt" sz="half" idx="10"/>
          </p:nvPr>
        </p:nvSpPr>
        <p:spPr/>
        <p:txBody>
          <a:bodyPr/>
          <a:lstStyle/>
          <a:p>
            <a:fld id="{5BD9BDDD-AD43-467C-8551-707AC1DF1588}" type="datetimeFigureOut">
              <a:rPr lang="en-SG" smtClean="0"/>
              <a:t>23/9/2021</a:t>
            </a:fld>
            <a:endParaRPr lang="en-SG"/>
          </a:p>
        </p:txBody>
      </p:sp>
      <p:sp>
        <p:nvSpPr>
          <p:cNvPr id="5" name="Footer Placeholder 4">
            <a:extLst>
              <a:ext uri="{FF2B5EF4-FFF2-40B4-BE49-F238E27FC236}">
                <a16:creationId xmlns:a16="http://schemas.microsoft.com/office/drawing/2014/main" id="{CB1B1663-FEC6-4A04-B093-FBC12AD41AF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22068FC-4468-429F-903D-16F9FBA98DE4}"/>
              </a:ext>
            </a:extLst>
          </p:cNvPr>
          <p:cNvSpPr>
            <a:spLocks noGrp="1"/>
          </p:cNvSpPr>
          <p:nvPr>
            <p:ph type="sldNum" sz="quarter" idx="12"/>
          </p:nvPr>
        </p:nvSpPr>
        <p:spPr/>
        <p:txBody>
          <a:bodyPr/>
          <a:lstStyle/>
          <a:p>
            <a:fld id="{54129D32-1B2E-414A-9E3D-B9708D438E9B}" type="slidenum">
              <a:rPr lang="en-SG" smtClean="0"/>
              <a:t>‹#›</a:t>
            </a:fld>
            <a:endParaRPr lang="en-SG"/>
          </a:p>
        </p:txBody>
      </p:sp>
    </p:spTree>
    <p:extLst>
      <p:ext uri="{BB962C8B-B14F-4D97-AF65-F5344CB8AC3E}">
        <p14:creationId xmlns:p14="http://schemas.microsoft.com/office/powerpoint/2010/main" val="1845078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7A30C4-196B-4349-BA78-28FF703845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AE4F5E86-30C7-4D4A-B133-1F0408ECC2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4F600CA-A594-440F-9EB6-9164C1CEF8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D9BDDD-AD43-467C-8551-707AC1DF1588}" type="datetimeFigureOut">
              <a:rPr lang="en-SG" smtClean="0"/>
              <a:t>23/9/2021</a:t>
            </a:fld>
            <a:endParaRPr lang="en-SG"/>
          </a:p>
        </p:txBody>
      </p:sp>
      <p:sp>
        <p:nvSpPr>
          <p:cNvPr id="5" name="Footer Placeholder 4">
            <a:extLst>
              <a:ext uri="{FF2B5EF4-FFF2-40B4-BE49-F238E27FC236}">
                <a16:creationId xmlns:a16="http://schemas.microsoft.com/office/drawing/2014/main" id="{E03BFBF4-E298-4CC5-96DE-86E86C0E5A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4DE98323-8E6E-4C89-93B6-66528CE767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129D32-1B2E-414A-9E3D-B9708D438E9B}" type="slidenum">
              <a:rPr lang="en-SG" smtClean="0"/>
              <a:t>‹#›</a:t>
            </a:fld>
            <a:endParaRPr lang="en-SG"/>
          </a:p>
        </p:txBody>
      </p:sp>
    </p:spTree>
    <p:extLst>
      <p:ext uri="{BB962C8B-B14F-4D97-AF65-F5344CB8AC3E}">
        <p14:creationId xmlns:p14="http://schemas.microsoft.com/office/powerpoint/2010/main" val="584941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ntellipaat.com/blog/what-does-a-devops-engineer-do/" TargetMode="External"/><Relationship Id="rId2" Type="http://schemas.openxmlformats.org/officeDocument/2006/relationships/hyperlink" Target="https://intellipaat.com/blog/serverless-computing-next-step-cloud-infrastructure/"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intellipaat.com/blog/tutorial/splunk-tutorial/introduction-of-splunk/" TargetMode="External"/><Relationship Id="rId2" Type="http://schemas.openxmlformats.org/officeDocument/2006/relationships/hyperlink" Target="https://intellipaat.com/blog/what-is-continuous-testing/"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F64EBB-8A42-48C0-A136-CF5DD96D9743}"/>
              </a:ext>
            </a:extLst>
          </p:cNvPr>
          <p:cNvSpPr txBox="1"/>
          <p:nvPr/>
        </p:nvSpPr>
        <p:spPr>
          <a:xfrm>
            <a:off x="86264" y="129396"/>
            <a:ext cx="11619781" cy="3693319"/>
          </a:xfrm>
          <a:prstGeom prst="rect">
            <a:avLst/>
          </a:prstGeom>
          <a:noFill/>
        </p:spPr>
        <p:txBody>
          <a:bodyPr wrap="square">
            <a:spAutoFit/>
          </a:bodyPr>
          <a:lstStyle/>
          <a:p>
            <a:pPr algn="just"/>
            <a:r>
              <a:rPr lang="en-US" b="0" i="0" dirty="0">
                <a:solidFill>
                  <a:srgbClr val="3A3A3A"/>
                </a:solidFill>
                <a:effectLst/>
                <a:latin typeface="Open Sans" panose="020B0606030504020204" pitchFamily="34" charset="0"/>
              </a:rPr>
              <a:t>How exactly does DevOps work?</a:t>
            </a:r>
          </a:p>
          <a:p>
            <a:pPr algn="just"/>
            <a:r>
              <a:rPr lang="en-US" b="0" i="0" dirty="0">
                <a:solidFill>
                  <a:srgbClr val="3A3A3A"/>
                </a:solidFill>
                <a:effectLst/>
                <a:latin typeface="Open Sans" panose="020B0606030504020204" pitchFamily="34" charset="0"/>
              </a:rPr>
              <a:t>Let’s move to the next section in this DevOps tutorial and check out the DevOps life cycle. This way, we can understand how DevOps works.</a:t>
            </a:r>
          </a:p>
          <a:p>
            <a:pPr algn="just"/>
            <a:endParaRPr lang="en-US" dirty="0">
              <a:solidFill>
                <a:srgbClr val="3A3A3A"/>
              </a:solidFill>
              <a:latin typeface="Open Sans" panose="020B0606030504020204" pitchFamily="34" charset="0"/>
            </a:endParaRPr>
          </a:p>
          <a:p>
            <a:pPr algn="just"/>
            <a:endParaRPr lang="en-US" b="0" i="0" dirty="0">
              <a:solidFill>
                <a:srgbClr val="3A3A3A"/>
              </a:solidFill>
              <a:effectLst/>
              <a:latin typeface="Open Sans" panose="020B0606030504020204" pitchFamily="34" charset="0"/>
            </a:endParaRPr>
          </a:p>
          <a:p>
            <a:pPr algn="l"/>
            <a:r>
              <a:rPr lang="en-US" b="1" i="0" dirty="0">
                <a:solidFill>
                  <a:srgbClr val="3A3A3A"/>
                </a:solidFill>
                <a:effectLst/>
                <a:latin typeface="Open Sans" panose="020B0606030504020204" pitchFamily="34" charset="0"/>
              </a:rPr>
              <a:t>DevOps Lifecycle</a:t>
            </a:r>
          </a:p>
          <a:p>
            <a:pPr algn="just"/>
            <a:r>
              <a:rPr lang="en-US" b="0" i="0" dirty="0">
                <a:solidFill>
                  <a:srgbClr val="3A3A3A"/>
                </a:solidFill>
                <a:effectLst/>
                <a:latin typeface="Open Sans" panose="020B0606030504020204" pitchFamily="34" charset="0"/>
              </a:rPr>
              <a:t>DevOps focuses on bringing all the development, operations, and </a:t>
            </a:r>
            <a:r>
              <a:rPr lang="en-US" b="0" i="0" u="none" strike="noStrike" dirty="0">
                <a:solidFill>
                  <a:srgbClr val="6458C0"/>
                </a:solidFill>
                <a:effectLst/>
                <a:latin typeface="Open Sans" panose="020B0606030504020204" pitchFamily="34" charset="0"/>
                <a:hlinkClick r:id="rId2"/>
              </a:rPr>
              <a:t>IT infrastructure</a:t>
            </a:r>
            <a:r>
              <a:rPr lang="en-US" b="0" i="0" dirty="0">
                <a:solidFill>
                  <a:srgbClr val="3A3A3A"/>
                </a:solidFill>
                <a:effectLst/>
                <a:latin typeface="Open Sans" panose="020B0606030504020204" pitchFamily="34" charset="0"/>
              </a:rPr>
              <a:t> guys, including Developers, Testers, System Admins, and QAs, under one roof. Hence, all these people together are called </a:t>
            </a:r>
            <a:r>
              <a:rPr lang="en-US" b="1" i="0" u="none" strike="noStrike" dirty="0">
                <a:solidFill>
                  <a:srgbClr val="6458C0"/>
                </a:solidFill>
                <a:effectLst/>
                <a:latin typeface="Open Sans" panose="020B0606030504020204" pitchFamily="34" charset="0"/>
                <a:hlinkClick r:id="rId3"/>
              </a:rPr>
              <a:t>DevOps Engineers</a:t>
            </a:r>
            <a:r>
              <a:rPr lang="en-US" b="0" i="0" dirty="0">
                <a:solidFill>
                  <a:srgbClr val="3A3A3A"/>
                </a:solidFill>
                <a:effectLst/>
                <a:latin typeface="Open Sans" panose="020B0606030504020204" pitchFamily="34" charset="0"/>
              </a:rPr>
              <a:t>.</a:t>
            </a:r>
          </a:p>
          <a:p>
            <a:pPr algn="just"/>
            <a:r>
              <a:rPr lang="en-US" b="0" i="0" dirty="0">
                <a:solidFill>
                  <a:srgbClr val="3A3A3A"/>
                </a:solidFill>
                <a:effectLst/>
                <a:latin typeface="Open Sans" panose="020B0606030504020204" pitchFamily="34" charset="0"/>
              </a:rPr>
              <a:t>DevOps Engineers share the end-to-end responsibility of gathering information, setting up the infrastructure, developing, testing, deploying, continuous monitoring, and fetching feedback from end-users. This process of developing, testing, deploying, and monitoring keeps on repeating for better results.</a:t>
            </a:r>
          </a:p>
          <a:p>
            <a:pPr algn="just"/>
            <a:endParaRPr lang="en-US" b="0" i="0" dirty="0">
              <a:solidFill>
                <a:srgbClr val="3A3A3A"/>
              </a:solidFill>
              <a:effectLst/>
              <a:latin typeface="Open Sans" panose="020B0606030504020204" pitchFamily="34" charset="0"/>
            </a:endParaRPr>
          </a:p>
        </p:txBody>
      </p:sp>
    </p:spTree>
    <p:extLst>
      <p:ext uri="{BB962C8B-B14F-4D97-AF65-F5344CB8AC3E}">
        <p14:creationId xmlns:p14="http://schemas.microsoft.com/office/powerpoint/2010/main" val="22219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D327ABA9-89B5-45CC-AE13-C9CE029AB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75" y="1628775"/>
            <a:ext cx="7334250"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008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09C193-313A-44ED-8562-DBDC7BDC73FC}"/>
              </a:ext>
            </a:extLst>
          </p:cNvPr>
          <p:cNvSpPr txBox="1"/>
          <p:nvPr/>
        </p:nvSpPr>
        <p:spPr>
          <a:xfrm>
            <a:off x="828136" y="335846"/>
            <a:ext cx="10593238" cy="6186309"/>
          </a:xfrm>
          <a:prstGeom prst="rect">
            <a:avLst/>
          </a:prstGeom>
          <a:noFill/>
        </p:spPr>
        <p:txBody>
          <a:bodyPr wrap="square">
            <a:spAutoFit/>
          </a:bodyPr>
          <a:lstStyle/>
          <a:p>
            <a:pPr algn="l">
              <a:buFont typeface="Arial" panose="020B0604020202020204" pitchFamily="34" charset="0"/>
              <a:buChar char="•"/>
            </a:pPr>
            <a:r>
              <a:rPr lang="en-US" b="1" i="0" dirty="0">
                <a:solidFill>
                  <a:srgbClr val="3A3A3A"/>
                </a:solidFill>
                <a:effectLst/>
                <a:latin typeface="Open Sans" panose="020B0606030504020204" pitchFamily="34" charset="0"/>
              </a:rPr>
              <a:t>Code: </a:t>
            </a:r>
            <a:r>
              <a:rPr lang="en-US" b="0" i="0" dirty="0">
                <a:solidFill>
                  <a:srgbClr val="3A3A3A"/>
                </a:solidFill>
                <a:effectLst/>
                <a:latin typeface="Open Sans" panose="020B0606030504020204" pitchFamily="34" charset="0"/>
              </a:rPr>
              <a:t>The first step in the DevOps life cycle is coding, where developers build the code on any platform</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Build: </a:t>
            </a:r>
            <a:r>
              <a:rPr lang="en-US" b="0" i="0" dirty="0">
                <a:solidFill>
                  <a:srgbClr val="3A3A3A"/>
                </a:solidFill>
                <a:effectLst/>
                <a:latin typeface="Open Sans" panose="020B0606030504020204" pitchFamily="34" charset="0"/>
              </a:rPr>
              <a:t>Developers build the version of their program in any extension depending upon the language they are using</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Test: </a:t>
            </a:r>
            <a:r>
              <a:rPr lang="en-US" b="0" i="0" dirty="0">
                <a:solidFill>
                  <a:srgbClr val="3A3A3A"/>
                </a:solidFill>
                <a:effectLst/>
                <a:latin typeface="Open Sans" panose="020B0606030504020204" pitchFamily="34" charset="0"/>
              </a:rPr>
              <a:t>For DevOps to be successful, the testing process must be automated using any automation tool like Selenium</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Release: </a:t>
            </a:r>
            <a:r>
              <a:rPr lang="en-US" b="0" i="0" dirty="0">
                <a:solidFill>
                  <a:srgbClr val="3A3A3A"/>
                </a:solidFill>
                <a:effectLst/>
                <a:latin typeface="Open Sans" panose="020B0606030504020204" pitchFamily="34" charset="0"/>
              </a:rPr>
              <a:t>A process for managing, planning, scheduling, and controlling the build in different environments after testing and before deployment</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Deploy: </a:t>
            </a:r>
            <a:r>
              <a:rPr lang="en-US" b="0" i="0" dirty="0">
                <a:solidFill>
                  <a:srgbClr val="3A3A3A"/>
                </a:solidFill>
                <a:effectLst/>
                <a:latin typeface="Open Sans" panose="020B0606030504020204" pitchFamily="34" charset="0"/>
              </a:rPr>
              <a:t>This phase gets all artifacts/code files of the application ready and deploys/executes them on the server</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Operate: </a:t>
            </a:r>
            <a:r>
              <a:rPr lang="en-US" b="0" i="0" dirty="0">
                <a:solidFill>
                  <a:srgbClr val="3A3A3A"/>
                </a:solidFill>
                <a:effectLst/>
                <a:latin typeface="Open Sans" panose="020B0606030504020204" pitchFamily="34" charset="0"/>
              </a:rPr>
              <a:t>The application is run after its deployment, where clients use it in real-world scenarios.</a:t>
            </a:r>
          </a:p>
          <a:p>
            <a:pPr algn="l"/>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Monitor: </a:t>
            </a:r>
            <a:r>
              <a:rPr lang="en-US" b="0" i="0" dirty="0">
                <a:solidFill>
                  <a:srgbClr val="3A3A3A"/>
                </a:solidFill>
                <a:effectLst/>
                <a:latin typeface="Open Sans" panose="020B0606030504020204" pitchFamily="34" charset="0"/>
              </a:rPr>
              <a:t>This phase helps in providing crucial information that basically helps ensure service uptime and optimal performance</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Plan: </a:t>
            </a:r>
            <a:r>
              <a:rPr lang="en-US" b="0" i="0" dirty="0">
                <a:solidFill>
                  <a:srgbClr val="3A3A3A"/>
                </a:solidFill>
                <a:effectLst/>
                <a:latin typeface="Open Sans" panose="020B0606030504020204" pitchFamily="34" charset="0"/>
              </a:rPr>
              <a:t>The planning stage gathers information from the monitoring stage and, as per feedback, implements the changes for better performance</a:t>
            </a:r>
          </a:p>
        </p:txBody>
      </p:sp>
    </p:spTree>
    <p:extLst>
      <p:ext uri="{BB962C8B-B14F-4D97-AF65-F5344CB8AC3E}">
        <p14:creationId xmlns:p14="http://schemas.microsoft.com/office/powerpoint/2010/main" val="2007603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633785-15A9-41D4-8D49-80D2E9E744A2}"/>
              </a:ext>
            </a:extLst>
          </p:cNvPr>
          <p:cNvSpPr txBox="1"/>
          <p:nvPr/>
        </p:nvSpPr>
        <p:spPr>
          <a:xfrm>
            <a:off x="448574" y="603850"/>
            <a:ext cx="8693269" cy="2862322"/>
          </a:xfrm>
          <a:prstGeom prst="rect">
            <a:avLst/>
          </a:prstGeom>
          <a:noFill/>
        </p:spPr>
        <p:txBody>
          <a:bodyPr wrap="square">
            <a:spAutoFit/>
          </a:bodyPr>
          <a:lstStyle/>
          <a:p>
            <a:pPr algn="l"/>
            <a:r>
              <a:rPr lang="en-US" b="1" i="0" dirty="0">
                <a:solidFill>
                  <a:srgbClr val="3A3A3A"/>
                </a:solidFill>
                <a:effectLst/>
                <a:latin typeface="Open Sans" panose="020B0606030504020204" pitchFamily="34" charset="0"/>
              </a:rPr>
              <a:t>Different Lifecycle Stages</a:t>
            </a:r>
          </a:p>
          <a:p>
            <a:pPr algn="l"/>
            <a:endParaRPr lang="en-US" b="1" i="0" dirty="0">
              <a:solidFill>
                <a:srgbClr val="3A3A3A"/>
              </a:solidFill>
              <a:effectLst/>
              <a:latin typeface="Open Sans" panose="020B0606030504020204" pitchFamily="34" charset="0"/>
            </a:endParaRPr>
          </a:p>
          <a:p>
            <a:pPr algn="just"/>
            <a:r>
              <a:rPr lang="en-US" b="0" i="0" dirty="0">
                <a:solidFill>
                  <a:srgbClr val="3A3A3A"/>
                </a:solidFill>
                <a:effectLst/>
                <a:latin typeface="Open Sans" panose="020B0606030504020204" pitchFamily="34" charset="0"/>
              </a:rPr>
              <a:t>Now, let’s discuss the different stages in the DevOps life cycle that contributes to the consistent software development life cycle (SDLC):</a:t>
            </a:r>
          </a:p>
          <a:p>
            <a:pPr algn="l">
              <a:buFont typeface="Arial" panose="020B0604020202020204" pitchFamily="34" charset="0"/>
              <a:buChar char="•"/>
            </a:pPr>
            <a:r>
              <a:rPr lang="en-US" b="0" i="0" dirty="0">
                <a:solidFill>
                  <a:srgbClr val="3A3A3A"/>
                </a:solidFill>
                <a:effectLst/>
                <a:latin typeface="Open Sans" panose="020B0606030504020204" pitchFamily="34" charset="0"/>
              </a:rPr>
              <a:t>Continuous Development</a:t>
            </a:r>
          </a:p>
          <a:p>
            <a:pPr algn="l">
              <a:buFont typeface="Arial" panose="020B0604020202020204" pitchFamily="34" charset="0"/>
              <a:buChar char="•"/>
            </a:pPr>
            <a:r>
              <a:rPr lang="en-US" b="0" i="0" dirty="0">
                <a:solidFill>
                  <a:srgbClr val="3A3A3A"/>
                </a:solidFill>
                <a:effectLst/>
                <a:latin typeface="Open Sans" panose="020B0606030504020204" pitchFamily="34" charset="0"/>
              </a:rPr>
              <a:t>Continuous Integration</a:t>
            </a:r>
          </a:p>
          <a:p>
            <a:pPr algn="l">
              <a:buFont typeface="Arial" panose="020B0604020202020204" pitchFamily="34" charset="0"/>
              <a:buChar char="•"/>
            </a:pPr>
            <a:r>
              <a:rPr lang="en-US" b="0" i="0" dirty="0">
                <a:solidFill>
                  <a:srgbClr val="3A3A3A"/>
                </a:solidFill>
                <a:effectLst/>
                <a:latin typeface="Open Sans" panose="020B0606030504020204" pitchFamily="34" charset="0"/>
              </a:rPr>
              <a:t>Continuous Testing</a:t>
            </a:r>
          </a:p>
          <a:p>
            <a:pPr algn="l">
              <a:buFont typeface="Arial" panose="020B0604020202020204" pitchFamily="34" charset="0"/>
              <a:buChar char="•"/>
            </a:pPr>
            <a:r>
              <a:rPr lang="en-US" b="0" i="0" dirty="0">
                <a:solidFill>
                  <a:srgbClr val="3A3A3A"/>
                </a:solidFill>
                <a:effectLst/>
                <a:latin typeface="Open Sans" panose="020B0606030504020204" pitchFamily="34" charset="0"/>
              </a:rPr>
              <a:t>Continuous Monitoring</a:t>
            </a:r>
          </a:p>
          <a:p>
            <a:pPr algn="l">
              <a:buFont typeface="Arial" panose="020B0604020202020204" pitchFamily="34" charset="0"/>
              <a:buChar char="•"/>
            </a:pPr>
            <a:r>
              <a:rPr lang="en-US" b="0" i="0" dirty="0">
                <a:solidFill>
                  <a:srgbClr val="3A3A3A"/>
                </a:solidFill>
                <a:effectLst/>
                <a:latin typeface="Open Sans" panose="020B0606030504020204" pitchFamily="34" charset="0"/>
              </a:rPr>
              <a:t>Virtualization and Containerization</a:t>
            </a:r>
          </a:p>
          <a:p>
            <a:pPr algn="just"/>
            <a:r>
              <a:rPr lang="en-US" b="0" i="0" dirty="0">
                <a:solidFill>
                  <a:srgbClr val="3A3A3A"/>
                </a:solidFill>
                <a:effectLst/>
                <a:latin typeface="Open Sans" panose="020B0606030504020204" pitchFamily="34" charset="0"/>
              </a:rPr>
              <a:t>These stages are basically the aspects for achieving the DevOps goal.</a:t>
            </a:r>
          </a:p>
        </p:txBody>
      </p:sp>
    </p:spTree>
    <p:extLst>
      <p:ext uri="{BB962C8B-B14F-4D97-AF65-F5344CB8AC3E}">
        <p14:creationId xmlns:p14="http://schemas.microsoft.com/office/powerpoint/2010/main" val="4075636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334529C8-10CB-4AA9-A990-A7363CF7D4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939" y="533400"/>
            <a:ext cx="9700591" cy="579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555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7B1F7C-61E2-4ADE-B1ED-4CBA02A781A7}"/>
              </a:ext>
            </a:extLst>
          </p:cNvPr>
          <p:cNvSpPr txBox="1"/>
          <p:nvPr/>
        </p:nvSpPr>
        <p:spPr>
          <a:xfrm>
            <a:off x="301924" y="58847"/>
            <a:ext cx="11093569" cy="5078313"/>
          </a:xfrm>
          <a:prstGeom prst="rect">
            <a:avLst/>
          </a:prstGeom>
          <a:noFill/>
        </p:spPr>
        <p:txBody>
          <a:bodyPr wrap="square">
            <a:spAutoFit/>
          </a:bodyPr>
          <a:lstStyle/>
          <a:p>
            <a:pPr algn="just"/>
            <a:r>
              <a:rPr lang="en-US" b="0" i="0" dirty="0">
                <a:solidFill>
                  <a:srgbClr val="3A3A3A"/>
                </a:solidFill>
                <a:effectLst/>
                <a:latin typeface="Open Sans" panose="020B0606030504020204" pitchFamily="34" charset="0"/>
              </a:rPr>
              <a:t>Now, let’s discuss each of them in detail.</a:t>
            </a:r>
          </a:p>
          <a:p>
            <a:pPr algn="l"/>
            <a:r>
              <a:rPr lang="en-US" b="1" i="0" dirty="0">
                <a:solidFill>
                  <a:srgbClr val="3A3A3A"/>
                </a:solidFill>
                <a:effectLst/>
                <a:latin typeface="Open Sans" panose="020B0606030504020204" pitchFamily="34" charset="0"/>
              </a:rPr>
              <a:t>Continuous Development</a:t>
            </a:r>
          </a:p>
          <a:p>
            <a:pPr algn="just"/>
            <a:r>
              <a:rPr lang="en-US" b="0" i="0" dirty="0">
                <a:solidFill>
                  <a:srgbClr val="3A3A3A"/>
                </a:solidFill>
                <a:effectLst/>
                <a:latin typeface="Open Sans" panose="020B0606030504020204" pitchFamily="34" charset="0"/>
              </a:rPr>
              <a:t>In the Waterfall model, our software product gets broken into multiple pieces or sub-parts for making the development cycles shorter, but in this stage of DevOps, the software is getting developed continuously.</a:t>
            </a:r>
          </a:p>
          <a:p>
            <a:pPr algn="just"/>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Tools used</a:t>
            </a:r>
            <a:r>
              <a:rPr lang="en-US" b="0" i="0" dirty="0">
                <a:solidFill>
                  <a:srgbClr val="3A3A3A"/>
                </a:solidFill>
                <a:effectLst/>
                <a:latin typeface="Open Sans" panose="020B0606030504020204" pitchFamily="34" charset="0"/>
              </a:rPr>
              <a:t>: As we code and build in this stage, we can use </a:t>
            </a:r>
            <a:r>
              <a:rPr lang="en-US" b="1" i="0" dirty="0">
                <a:solidFill>
                  <a:srgbClr val="3A3A3A"/>
                </a:solidFill>
                <a:effectLst/>
                <a:latin typeface="Open Sans" panose="020B0606030504020204" pitchFamily="34" charset="0"/>
              </a:rPr>
              <a:t>GIT </a:t>
            </a:r>
            <a:r>
              <a:rPr lang="en-US" b="0" i="0" dirty="0">
                <a:solidFill>
                  <a:srgbClr val="3A3A3A"/>
                </a:solidFill>
                <a:effectLst/>
                <a:latin typeface="Open Sans" panose="020B0606030504020204" pitchFamily="34" charset="0"/>
              </a:rPr>
              <a:t>to maintain different versions of the code. To build/package the code into an executable file, we can use a reliable tool, namely, </a:t>
            </a:r>
            <a:r>
              <a:rPr lang="en-US" b="1" i="0" dirty="0">
                <a:solidFill>
                  <a:srgbClr val="3A3A3A"/>
                </a:solidFill>
                <a:effectLst/>
                <a:latin typeface="Open Sans" panose="020B0606030504020204" pitchFamily="34" charset="0"/>
              </a:rPr>
              <a:t>Maven</a:t>
            </a:r>
            <a:r>
              <a:rPr lang="en-US" b="0" i="0" dirty="0">
                <a:solidFill>
                  <a:srgbClr val="3A3A3A"/>
                </a:solidFill>
                <a:effectLst/>
                <a:latin typeface="Open Sans" panose="020B0606030504020204" pitchFamily="34" charset="0"/>
              </a:rPr>
              <a:t>.</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r>
              <a:rPr lang="en-US" b="1" i="0" dirty="0">
                <a:solidFill>
                  <a:srgbClr val="3A3A3A"/>
                </a:solidFill>
                <a:effectLst/>
                <a:latin typeface="Open Sans" panose="020B0606030504020204" pitchFamily="34" charset="0"/>
              </a:rPr>
              <a:t>Continuous Integration</a:t>
            </a:r>
          </a:p>
          <a:p>
            <a:pPr algn="just"/>
            <a:r>
              <a:rPr lang="en-US" b="0" i="0" dirty="0">
                <a:solidFill>
                  <a:srgbClr val="3A3A3A"/>
                </a:solidFill>
                <a:effectLst/>
                <a:latin typeface="Open Sans" panose="020B0606030504020204" pitchFamily="34" charset="0"/>
              </a:rPr>
              <a:t>In this stage, if our code is supporting a new functionality, it is integrated with the existing code continuously. As the continuous development keeps on, the existing code needs to be integrated with the latest one ‘</a:t>
            </a:r>
            <a:r>
              <a:rPr lang="en-US" b="1" i="0" dirty="0">
                <a:solidFill>
                  <a:srgbClr val="3A3A3A"/>
                </a:solidFill>
                <a:effectLst/>
                <a:latin typeface="Open Sans" panose="020B0606030504020204" pitchFamily="34" charset="0"/>
              </a:rPr>
              <a:t>continuously</a:t>
            </a:r>
            <a:r>
              <a:rPr lang="en-US" b="0" i="0" dirty="0">
                <a:solidFill>
                  <a:srgbClr val="3A3A3A"/>
                </a:solidFill>
                <a:effectLst/>
                <a:latin typeface="Open Sans" panose="020B0606030504020204" pitchFamily="34" charset="0"/>
              </a:rPr>
              <a:t>,’ and the changed code should ensure that there are no errors in the current environment for it to work smoothly.</a:t>
            </a:r>
          </a:p>
          <a:p>
            <a:pPr algn="just"/>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Tools used</a:t>
            </a:r>
            <a:r>
              <a:rPr lang="en-US" b="0" i="0" dirty="0">
                <a:solidFill>
                  <a:srgbClr val="3A3A3A"/>
                </a:solidFill>
                <a:effectLst/>
                <a:latin typeface="Open Sans" panose="020B0606030504020204" pitchFamily="34" charset="0"/>
              </a:rPr>
              <a:t>: </a:t>
            </a:r>
            <a:r>
              <a:rPr lang="en-US" b="1" i="0" dirty="0">
                <a:solidFill>
                  <a:srgbClr val="3A3A3A"/>
                </a:solidFill>
                <a:effectLst/>
                <a:latin typeface="Open Sans" panose="020B0606030504020204" pitchFamily="34" charset="0"/>
              </a:rPr>
              <a:t>Jenkins </a:t>
            </a:r>
            <a:r>
              <a:rPr lang="en-US" b="0" i="0" dirty="0">
                <a:solidFill>
                  <a:srgbClr val="3A3A3A"/>
                </a:solidFill>
                <a:effectLst/>
                <a:latin typeface="Open Sans" panose="020B0606030504020204" pitchFamily="34" charset="0"/>
              </a:rPr>
              <a:t>is the tool that is used for continuous integration. Here, we can pull the latest code from the GIT repository, of which we can produce the build and deploy it on the test or the production server.</a:t>
            </a:r>
          </a:p>
        </p:txBody>
      </p:sp>
    </p:spTree>
    <p:extLst>
      <p:ext uri="{BB962C8B-B14F-4D97-AF65-F5344CB8AC3E}">
        <p14:creationId xmlns:p14="http://schemas.microsoft.com/office/powerpoint/2010/main" val="70953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2EF38C-C7DB-40EA-8284-C5DFAE4977A4}"/>
              </a:ext>
            </a:extLst>
          </p:cNvPr>
          <p:cNvSpPr txBox="1"/>
          <p:nvPr/>
        </p:nvSpPr>
        <p:spPr>
          <a:xfrm>
            <a:off x="439946" y="58847"/>
            <a:ext cx="11283351" cy="5078313"/>
          </a:xfrm>
          <a:prstGeom prst="rect">
            <a:avLst/>
          </a:prstGeom>
          <a:noFill/>
        </p:spPr>
        <p:txBody>
          <a:bodyPr wrap="square">
            <a:spAutoFit/>
          </a:bodyPr>
          <a:lstStyle/>
          <a:p>
            <a:pPr algn="l"/>
            <a:r>
              <a:rPr lang="en-US" b="1" i="0" dirty="0">
                <a:solidFill>
                  <a:srgbClr val="3A3A3A"/>
                </a:solidFill>
                <a:effectLst/>
                <a:latin typeface="Open Sans" panose="020B0606030504020204" pitchFamily="34" charset="0"/>
              </a:rPr>
              <a:t>Continuous Testing</a:t>
            </a:r>
          </a:p>
          <a:p>
            <a:pPr algn="just"/>
            <a:r>
              <a:rPr lang="en-US" b="0" i="0" dirty="0">
                <a:solidFill>
                  <a:srgbClr val="3A3A3A"/>
                </a:solidFill>
                <a:effectLst/>
                <a:latin typeface="Open Sans" panose="020B0606030504020204" pitchFamily="34" charset="0"/>
              </a:rPr>
              <a:t>In </a:t>
            </a:r>
            <a:r>
              <a:rPr lang="en-US" b="1" i="0" u="none" strike="noStrike" dirty="0">
                <a:solidFill>
                  <a:srgbClr val="6458C0"/>
                </a:solidFill>
                <a:effectLst/>
                <a:latin typeface="Open Sans" panose="020B0606030504020204" pitchFamily="34" charset="0"/>
                <a:hlinkClick r:id="rId2"/>
              </a:rPr>
              <a:t>continuous testing</a:t>
            </a:r>
            <a:r>
              <a:rPr lang="en-US" b="0" i="0" dirty="0">
                <a:solidFill>
                  <a:srgbClr val="3A3A3A"/>
                </a:solidFill>
                <a:effectLst/>
                <a:latin typeface="Open Sans" panose="020B0606030504020204" pitchFamily="34" charset="0"/>
              </a:rPr>
              <a:t> stage, our developed software is getting tested continuously to detect bugs using several automation tools.</a:t>
            </a:r>
          </a:p>
          <a:p>
            <a:pPr algn="just"/>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Tools used: </a:t>
            </a:r>
            <a:r>
              <a:rPr lang="en-US" b="0" i="0" dirty="0">
                <a:solidFill>
                  <a:srgbClr val="3A3A3A"/>
                </a:solidFill>
                <a:effectLst/>
                <a:latin typeface="Open Sans" panose="020B0606030504020204" pitchFamily="34" charset="0"/>
              </a:rPr>
              <a:t>For the </a:t>
            </a:r>
            <a:r>
              <a:rPr lang="en-US" b="1" i="0" dirty="0">
                <a:solidFill>
                  <a:srgbClr val="3A3A3A"/>
                </a:solidFill>
                <a:effectLst/>
                <a:latin typeface="Open Sans" panose="020B0606030504020204" pitchFamily="34" charset="0"/>
              </a:rPr>
              <a:t>QA/Testing </a:t>
            </a:r>
            <a:r>
              <a:rPr lang="en-US" b="0" i="0" dirty="0">
                <a:solidFill>
                  <a:srgbClr val="3A3A3A"/>
                </a:solidFill>
                <a:effectLst/>
                <a:latin typeface="Open Sans" panose="020B0606030504020204" pitchFamily="34" charset="0"/>
              </a:rPr>
              <a:t>purpose, we can use many automated tools, and the tool used widely for automation testing is Selenium as it lets QAs test the codes in parallel to ensure that there is no error, in competencies, or flaws in the software.</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a:p>
            <a:pPr algn="l"/>
            <a:r>
              <a:rPr lang="en-US" b="1" i="0" dirty="0">
                <a:solidFill>
                  <a:srgbClr val="3A3A3A"/>
                </a:solidFill>
                <a:effectLst/>
                <a:latin typeface="Open Sans" panose="020B0606030504020204" pitchFamily="34" charset="0"/>
              </a:rPr>
              <a:t>Continuous Monitoring</a:t>
            </a:r>
          </a:p>
          <a:p>
            <a:pPr algn="just"/>
            <a:r>
              <a:rPr lang="en-US" b="0" i="0" dirty="0">
                <a:solidFill>
                  <a:srgbClr val="3A3A3A"/>
                </a:solidFill>
                <a:effectLst/>
                <a:latin typeface="Open Sans" panose="020B0606030504020204" pitchFamily="34" charset="0"/>
              </a:rPr>
              <a:t>It is a very crucial part of the DevOps life cycle where it provides important information that helps us ensure service uptime and optimal performance. The operations team gets results from reliable monitoring tools to detect and fix the bugs/flaws in the application.</a:t>
            </a:r>
          </a:p>
          <a:p>
            <a:pPr algn="just"/>
            <a:endParaRPr lang="en-US" b="0" i="0" dirty="0">
              <a:solidFill>
                <a:srgbClr val="3A3A3A"/>
              </a:solidFill>
              <a:effectLst/>
              <a:latin typeface="Open Sans" panose="020B0606030504020204" pitchFamily="34" charset="0"/>
            </a:endParaRPr>
          </a:p>
          <a:p>
            <a:pPr algn="l">
              <a:buFont typeface="Arial" panose="020B0604020202020204" pitchFamily="34" charset="0"/>
              <a:buChar char="•"/>
            </a:pPr>
            <a:r>
              <a:rPr lang="en-US" b="1" i="0" dirty="0">
                <a:solidFill>
                  <a:srgbClr val="3A3A3A"/>
                </a:solidFill>
                <a:effectLst/>
                <a:latin typeface="Open Sans" panose="020B0606030504020204" pitchFamily="34" charset="0"/>
              </a:rPr>
              <a:t>Tools used</a:t>
            </a:r>
            <a:r>
              <a:rPr lang="en-US" b="0" i="0" dirty="0">
                <a:solidFill>
                  <a:srgbClr val="3A3A3A"/>
                </a:solidFill>
                <a:effectLst/>
                <a:latin typeface="Open Sans" panose="020B0606030504020204" pitchFamily="34" charset="0"/>
              </a:rPr>
              <a:t>: Several tools such as </a:t>
            </a:r>
            <a:r>
              <a:rPr lang="en-US" b="1" i="0" dirty="0">
                <a:solidFill>
                  <a:srgbClr val="3A3A3A"/>
                </a:solidFill>
                <a:effectLst/>
                <a:latin typeface="Open Sans" panose="020B0606030504020204" pitchFamily="34" charset="0"/>
              </a:rPr>
              <a:t>Nagios,</a:t>
            </a:r>
            <a:r>
              <a:rPr lang="en-US" b="1" i="0" u="none" strike="noStrike" dirty="0">
                <a:solidFill>
                  <a:srgbClr val="6458C0"/>
                </a:solidFill>
                <a:effectLst/>
                <a:latin typeface="Open Sans" panose="020B0606030504020204" pitchFamily="34" charset="0"/>
                <a:hlinkClick r:id="rId3"/>
              </a:rPr>
              <a:t> Splunk</a:t>
            </a:r>
            <a:r>
              <a:rPr lang="en-US" b="1" i="0" dirty="0">
                <a:solidFill>
                  <a:srgbClr val="3A3A3A"/>
                </a:solidFill>
                <a:effectLst/>
                <a:latin typeface="Open Sans" panose="020B0606030504020204" pitchFamily="34" charset="0"/>
              </a:rPr>
              <a:t>, ELK Stack</a:t>
            </a:r>
            <a:r>
              <a:rPr lang="en-US" b="0" i="0" dirty="0">
                <a:solidFill>
                  <a:srgbClr val="3A3A3A"/>
                </a:solidFill>
                <a:effectLst/>
                <a:latin typeface="Open Sans" panose="020B0606030504020204" pitchFamily="34" charset="0"/>
              </a:rPr>
              <a:t>, and </a:t>
            </a:r>
            <a:r>
              <a:rPr lang="en-US" b="1" i="0" dirty="0" err="1">
                <a:solidFill>
                  <a:srgbClr val="3A3A3A"/>
                </a:solidFill>
                <a:effectLst/>
                <a:latin typeface="Open Sans" panose="020B0606030504020204" pitchFamily="34" charset="0"/>
              </a:rPr>
              <a:t>Sensu</a:t>
            </a:r>
            <a:r>
              <a:rPr lang="en-US" b="1" i="0" dirty="0">
                <a:solidFill>
                  <a:srgbClr val="3A3A3A"/>
                </a:solidFill>
                <a:effectLst/>
                <a:latin typeface="Open Sans" panose="020B0606030504020204" pitchFamily="34" charset="0"/>
              </a:rPr>
              <a:t> </a:t>
            </a:r>
            <a:r>
              <a:rPr lang="en-US" b="0" i="0" dirty="0">
                <a:solidFill>
                  <a:srgbClr val="3A3A3A"/>
                </a:solidFill>
                <a:effectLst/>
                <a:latin typeface="Open Sans" panose="020B0606030504020204" pitchFamily="34" charset="0"/>
              </a:rPr>
              <a:t>are used for monitoring the application. They help us monitor our application and servers closely to check their health and whether they are operating actively. Any major issue detected by these tools is forwarded to the development team to fix in the continuous development phase.</a:t>
            </a:r>
          </a:p>
          <a:p>
            <a:pPr algn="l">
              <a:buFont typeface="Arial" panose="020B0604020202020204" pitchFamily="34" charset="0"/>
              <a:buChar char="•"/>
            </a:pPr>
            <a:endParaRPr lang="en-US" b="0" i="0" dirty="0">
              <a:solidFill>
                <a:srgbClr val="3A3A3A"/>
              </a:solidFill>
              <a:effectLst/>
              <a:latin typeface="Open Sans" panose="020B0606030504020204" pitchFamily="34" charset="0"/>
            </a:endParaRPr>
          </a:p>
        </p:txBody>
      </p:sp>
    </p:spTree>
    <p:extLst>
      <p:ext uri="{BB962C8B-B14F-4D97-AF65-F5344CB8AC3E}">
        <p14:creationId xmlns:p14="http://schemas.microsoft.com/office/powerpoint/2010/main" val="11208060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732</Words>
  <Application>Microsoft Office PowerPoint</Application>
  <PresentationFormat>Widescreen</PresentationFormat>
  <Paragraphs>50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SPThota</dc:creator>
  <cp:lastModifiedBy>SAI CHARAN THOTA</cp:lastModifiedBy>
  <cp:revision>2</cp:revision>
  <dcterms:created xsi:type="dcterms:W3CDTF">2021-09-04T10:53:55Z</dcterms:created>
  <dcterms:modified xsi:type="dcterms:W3CDTF">2021-09-23T05:05:23Z</dcterms:modified>
</cp:coreProperties>
</file>