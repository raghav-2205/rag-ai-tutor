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72" r:id="rId2"/>
    <p:sldId id="267" r:id="rId3"/>
    <p:sldId id="312" r:id="rId4"/>
    <p:sldId id="313" r:id="rId5"/>
    <p:sldId id="314" r:id="rId6"/>
    <p:sldId id="279" r:id="rId7"/>
    <p:sldId id="315" r:id="rId8"/>
    <p:sldId id="259" r:id="rId9"/>
    <p:sldId id="316" r:id="rId10"/>
    <p:sldId id="322" r:id="rId11"/>
    <p:sldId id="317" r:id="rId12"/>
    <p:sldId id="318" r:id="rId13"/>
    <p:sldId id="319" r:id="rId14"/>
    <p:sldId id="320" r:id="rId15"/>
    <p:sldId id="261" r:id="rId16"/>
    <p:sldId id="337" r:id="rId17"/>
    <p:sldId id="262" r:id="rId18"/>
    <p:sldId id="274" r:id="rId19"/>
    <p:sldId id="275" r:id="rId20"/>
    <p:sldId id="280" r:id="rId21"/>
    <p:sldId id="277" r:id="rId22"/>
    <p:sldId id="323" r:id="rId23"/>
    <p:sldId id="276" r:id="rId24"/>
    <p:sldId id="265" r:id="rId25"/>
    <p:sldId id="286" r:id="rId26"/>
    <p:sldId id="307" r:id="rId27"/>
    <p:sldId id="308" r:id="rId28"/>
    <p:sldId id="324" r:id="rId29"/>
    <p:sldId id="327" r:id="rId30"/>
    <p:sldId id="325" r:id="rId31"/>
    <p:sldId id="326" r:id="rId32"/>
    <p:sldId id="329" r:id="rId33"/>
    <p:sldId id="334" r:id="rId34"/>
    <p:sldId id="266" r:id="rId35"/>
    <p:sldId id="335" r:id="rId36"/>
    <p:sldId id="268" r:id="rId37"/>
    <p:sldId id="33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3D64-1C4A-48B6-8AF3-2E37E96E30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438172-5196-41B2-A53F-975FE22A19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D22249-E3A4-48CD-AD26-D2F02A299565}"/>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5" name="Footer Placeholder 4">
            <a:extLst>
              <a:ext uri="{FF2B5EF4-FFF2-40B4-BE49-F238E27FC236}">
                <a16:creationId xmlns:a16="http://schemas.microsoft.com/office/drawing/2014/main" id="{EDAFCE45-D129-45C7-B007-F96A12CE7E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6484E6-D38B-4B1D-A0C9-CA72490572C4}"/>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2585911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FF9DA-1D54-426C-908D-B0F9B93C9E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903A86-2D1F-4603-89DB-D62F91F94E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88EE36-E505-42B1-BF6D-62709B6C6544}"/>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5" name="Footer Placeholder 4">
            <a:extLst>
              <a:ext uri="{FF2B5EF4-FFF2-40B4-BE49-F238E27FC236}">
                <a16:creationId xmlns:a16="http://schemas.microsoft.com/office/drawing/2014/main" id="{CF9CABAC-0FAB-43B1-A43E-FF77D42D5E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226D37-D37C-47C8-9FAD-C71424950248}"/>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3174943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007C9-C7FE-479E-9108-28CC364575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CD4364-B43B-49AA-939B-7382FECE59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E85C0D-1A01-4AD4-99AC-006A940D2135}"/>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5" name="Footer Placeholder 4">
            <a:extLst>
              <a:ext uri="{FF2B5EF4-FFF2-40B4-BE49-F238E27FC236}">
                <a16:creationId xmlns:a16="http://schemas.microsoft.com/office/drawing/2014/main" id="{851C7411-62CC-4DDB-94F6-90A3EFB806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9F183F-6213-4B74-A225-EE470C797CED}"/>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2636295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5D07F-F82B-4F30-9313-CFA3E7E402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BC187-0EEB-410A-9A42-124C492DB1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E041D8-F85A-45F0-9F56-006B1810DF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8D90A1-AE8F-47FD-96E2-3A75229F6EC0}"/>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6" name="Footer Placeholder 5">
            <a:extLst>
              <a:ext uri="{FF2B5EF4-FFF2-40B4-BE49-F238E27FC236}">
                <a16:creationId xmlns:a16="http://schemas.microsoft.com/office/drawing/2014/main" id="{7E2840BD-1E55-4384-A59D-0E68FFEEC8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7D8DAB-3CC2-4BBD-B186-848E5F93851A}"/>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3182247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C135C-8B59-4B13-81DD-92BD10BA31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3CF10B-3592-44C1-97E9-2AB0B06483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CEC65B-F9AA-42E0-9FED-1685694B2D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22B97A-665E-42CF-B8AD-717A31E7DC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36E3E2-A48B-49CF-AE73-B9B12CE7E3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31AABB7-0DBF-42A9-B1AD-188D7F62F8D5}"/>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8" name="Footer Placeholder 7">
            <a:extLst>
              <a:ext uri="{FF2B5EF4-FFF2-40B4-BE49-F238E27FC236}">
                <a16:creationId xmlns:a16="http://schemas.microsoft.com/office/drawing/2014/main" id="{10C68DED-66DA-4993-88C4-DF02BDA64B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55BCB4D-5A5A-41FC-B1E8-9D8ADEB774A8}"/>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51753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AC905-2995-4823-95F3-49397AD807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18F470-E7DF-4DCD-814D-C77F65742198}"/>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4" name="Footer Placeholder 3">
            <a:extLst>
              <a:ext uri="{FF2B5EF4-FFF2-40B4-BE49-F238E27FC236}">
                <a16:creationId xmlns:a16="http://schemas.microsoft.com/office/drawing/2014/main" id="{8CC05517-AC8C-45CF-A61E-69EF324213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1BB52E3-9301-4F22-B829-CB2657869256}"/>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256747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1A2D5C-7B64-4B58-9F4F-CF3F5EC3EF25}"/>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3" name="Footer Placeholder 2">
            <a:extLst>
              <a:ext uri="{FF2B5EF4-FFF2-40B4-BE49-F238E27FC236}">
                <a16:creationId xmlns:a16="http://schemas.microsoft.com/office/drawing/2014/main" id="{0B5146C5-C57B-4A7D-809C-53336256740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504A13-687E-45B0-B1E1-2FA64B6DCD81}"/>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213279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6BEAC-B60E-4798-90E1-D403DFDC91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41D41C-D909-4588-828D-D783726022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752140-26CD-4FF0-BA58-20925413B7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D459D-E6B6-4DC1-AC67-C94EE665650A}"/>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6" name="Footer Placeholder 5">
            <a:extLst>
              <a:ext uri="{FF2B5EF4-FFF2-40B4-BE49-F238E27FC236}">
                <a16:creationId xmlns:a16="http://schemas.microsoft.com/office/drawing/2014/main" id="{0D4FBB26-2D69-4CC8-8449-A407623935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893CAD-A7A6-48FB-8824-90D532E55848}"/>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2553612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F3D2E-4748-47E9-A590-29255FBFD8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62BBC7-0919-4B0A-AAEA-18B9F5874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6D19C5-5B2C-4510-8E79-2FF51B3D3D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375CE5-3403-4C0C-9B29-D85C73B80600}"/>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6" name="Footer Placeholder 5">
            <a:extLst>
              <a:ext uri="{FF2B5EF4-FFF2-40B4-BE49-F238E27FC236}">
                <a16:creationId xmlns:a16="http://schemas.microsoft.com/office/drawing/2014/main" id="{FFC6B51C-DF56-44DA-9B55-AC08053F51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A38864-B77F-4976-BB2F-1BB1B9C36E43}"/>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2550940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1B25E-E14F-41B1-89FF-43667D032F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B1A36E-F0DE-48D9-8061-16B5BC575F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019F65-FEC8-498D-B3D0-9D41DC0909A4}"/>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5" name="Footer Placeholder 4">
            <a:extLst>
              <a:ext uri="{FF2B5EF4-FFF2-40B4-BE49-F238E27FC236}">
                <a16:creationId xmlns:a16="http://schemas.microsoft.com/office/drawing/2014/main" id="{1A49B415-DB46-46EA-AC42-49113DA864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DABBE8-A3E1-44BA-8B30-46C7AD4617ED}"/>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4126780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CAC4AB-24FE-4D00-98E5-F8D918BE4A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ACCAFB-160A-43C9-AD75-61BC35293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F4545A-85DA-45D1-BD28-3DB13D907DAF}"/>
              </a:ext>
            </a:extLst>
          </p:cNvPr>
          <p:cNvSpPr>
            <a:spLocks noGrp="1"/>
          </p:cNvSpPr>
          <p:nvPr>
            <p:ph type="dt" sz="half" idx="10"/>
          </p:nvPr>
        </p:nvSpPr>
        <p:spPr/>
        <p:txBody>
          <a:bodyPr/>
          <a:lstStyle/>
          <a:p>
            <a:fld id="{59C55E23-C62F-40CA-A95D-EB023C0DBAF7}" type="datetimeFigureOut">
              <a:rPr lang="en-IN" smtClean="0"/>
              <a:t>03-11-2021</a:t>
            </a:fld>
            <a:endParaRPr lang="en-IN"/>
          </a:p>
        </p:txBody>
      </p:sp>
      <p:sp>
        <p:nvSpPr>
          <p:cNvPr id="5" name="Footer Placeholder 4">
            <a:extLst>
              <a:ext uri="{FF2B5EF4-FFF2-40B4-BE49-F238E27FC236}">
                <a16:creationId xmlns:a16="http://schemas.microsoft.com/office/drawing/2014/main" id="{7E41D45B-0B92-4BBC-B9CA-08EC5E5C32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CE70AC-E660-4EB7-BE75-BBB068397BF9}"/>
              </a:ext>
            </a:extLst>
          </p:cNvPr>
          <p:cNvSpPr>
            <a:spLocks noGrp="1"/>
          </p:cNvSpPr>
          <p:nvPr>
            <p:ph type="sldNum" sz="quarter" idx="12"/>
          </p:nvPr>
        </p:nvSpPr>
        <p:spPr/>
        <p:txBody>
          <a:bodyPr/>
          <a:lstStyle/>
          <a:p>
            <a:fld id="{EDC0CDE9-D3DD-4AF0-88F4-E17C3D577887}" type="slidenum">
              <a:rPr lang="en-IN" smtClean="0"/>
              <a:t>‹#›</a:t>
            </a:fld>
            <a:endParaRPr lang="en-IN"/>
          </a:p>
        </p:txBody>
      </p:sp>
    </p:spTree>
    <p:extLst>
      <p:ext uri="{BB962C8B-B14F-4D97-AF65-F5344CB8AC3E}">
        <p14:creationId xmlns:p14="http://schemas.microsoft.com/office/powerpoint/2010/main" val="1464004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33EFF6-278E-47F8-8AA1-DA71BD581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052D5E-A4D4-448C-AA4B-62B8FE815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1AC3FB-2E8F-40F8-8076-DE7B7E77C7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55E23-C62F-40CA-A95D-EB023C0DBAF7}" type="datetimeFigureOut">
              <a:rPr lang="en-IN" smtClean="0"/>
              <a:t>03-11-2021</a:t>
            </a:fld>
            <a:endParaRPr lang="en-IN"/>
          </a:p>
        </p:txBody>
      </p:sp>
      <p:sp>
        <p:nvSpPr>
          <p:cNvPr id="5" name="Footer Placeholder 4">
            <a:extLst>
              <a:ext uri="{FF2B5EF4-FFF2-40B4-BE49-F238E27FC236}">
                <a16:creationId xmlns:a16="http://schemas.microsoft.com/office/drawing/2014/main" id="{3B6C2ADC-FDD6-4771-B717-05540417D2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FBA3E63-2F19-450A-87BF-DAEB5A2404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C0CDE9-D3DD-4AF0-88F4-E17C3D577887}" type="slidenum">
              <a:rPr lang="en-IN" smtClean="0"/>
              <a:t>‹#›</a:t>
            </a:fld>
            <a:endParaRPr lang="en-IN"/>
          </a:p>
        </p:txBody>
      </p:sp>
    </p:spTree>
    <p:extLst>
      <p:ext uri="{BB962C8B-B14F-4D97-AF65-F5344CB8AC3E}">
        <p14:creationId xmlns:p14="http://schemas.microsoft.com/office/powerpoint/2010/main" val="1701310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guru99.com/software-configuration-management-tools.html"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geekflare.com/learn-devop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saltproject.io/en/getstarted/images/master-minion.png"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80425-1FB0-4A84-A753-AE277A8026B3}"/>
              </a:ext>
            </a:extLst>
          </p:cNvPr>
          <p:cNvSpPr>
            <a:spLocks noGrp="1"/>
          </p:cNvSpPr>
          <p:nvPr>
            <p:ph type="ctrTitle"/>
          </p:nvPr>
        </p:nvSpPr>
        <p:spPr/>
        <p:txBody>
          <a:bodyPr/>
          <a:lstStyle/>
          <a:p>
            <a:r>
              <a:rPr lang="en-US" dirty="0"/>
              <a:t>PUPPET</a:t>
            </a:r>
            <a:endParaRPr lang="en-IN" dirty="0"/>
          </a:p>
        </p:txBody>
      </p:sp>
    </p:spTree>
    <p:extLst>
      <p:ext uri="{BB962C8B-B14F-4D97-AF65-F5344CB8AC3E}">
        <p14:creationId xmlns:p14="http://schemas.microsoft.com/office/powerpoint/2010/main" val="789066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B67120-6F67-4A89-A541-C4F9667928B2}"/>
              </a:ext>
            </a:extLst>
          </p:cNvPr>
          <p:cNvSpPr txBox="1"/>
          <p:nvPr/>
        </p:nvSpPr>
        <p:spPr>
          <a:xfrm>
            <a:off x="0" y="0"/>
            <a:ext cx="12192000" cy="5940088"/>
          </a:xfrm>
          <a:prstGeom prst="rect">
            <a:avLst/>
          </a:prstGeom>
          <a:noFill/>
        </p:spPr>
        <p:txBody>
          <a:bodyPr wrap="square">
            <a:spAutoFit/>
          </a:bodyPr>
          <a:lstStyle/>
          <a:p>
            <a:r>
              <a:rPr lang="en-US" sz="2000" b="0" i="0" dirty="0">
                <a:effectLst/>
                <a:latin typeface="Times New Roman" panose="02020603050405020304" pitchFamily="18" charset="0"/>
                <a:cs typeface="Times New Roman" panose="02020603050405020304" pitchFamily="18" charset="0"/>
              </a:rPr>
              <a:t>Consider a system administrator working with multiple servers. If one of the servers has an issue, they can easily fix it. The situation becomes problematic, however, when multiple servers are down, This is where </a:t>
            </a:r>
            <a:r>
              <a:rPr lang="en-US" sz="2000" b="0" i="0" dirty="0">
                <a:solidFill>
                  <a:srgbClr val="FF0000"/>
                </a:solidFill>
                <a:effectLst/>
                <a:latin typeface="Times New Roman" panose="02020603050405020304" pitchFamily="18" charset="0"/>
                <a:cs typeface="Times New Roman" panose="02020603050405020304" pitchFamily="18" charset="0"/>
              </a:rPr>
              <a:t>Puppet can help</a:t>
            </a:r>
          </a:p>
          <a:p>
            <a:endParaRPr lang="en-US" sz="2000" dirty="0">
              <a:solidFill>
                <a:srgbClr val="FF0000"/>
              </a:solidFill>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Source Sans Pro" panose="020B0503030403020204" pitchFamily="34" charset="0"/>
              </a:rPr>
              <a:t>What is Puppet?</a:t>
            </a:r>
          </a:p>
          <a:p>
            <a:pPr algn="l"/>
            <a:endParaRPr lang="en-US" sz="2400" b="1" i="0" dirty="0">
              <a:solidFill>
                <a:srgbClr val="222222"/>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1" i="0" dirty="0">
                <a:solidFill>
                  <a:srgbClr val="222222"/>
                </a:solidFill>
                <a:effectLst/>
                <a:latin typeface="Times New Roman" panose="02020603050405020304" pitchFamily="18" charset="0"/>
                <a:cs typeface="Times New Roman" panose="02020603050405020304" pitchFamily="18" charset="0"/>
              </a:rPr>
              <a:t>Puppet</a:t>
            </a:r>
            <a:r>
              <a:rPr lang="en-US" sz="2400" b="0" i="0" dirty="0">
                <a:solidFill>
                  <a:srgbClr val="222222"/>
                </a:solidFill>
                <a:effectLst/>
                <a:latin typeface="Times New Roman" panose="02020603050405020304" pitchFamily="18" charset="0"/>
                <a:cs typeface="Times New Roman" panose="02020603050405020304" pitchFamily="18" charset="0"/>
              </a:rPr>
              <a:t> is a system management tool for centralizing and automating the configuration management process. </a:t>
            </a:r>
            <a:r>
              <a:rPr lang="en-US" sz="2400" b="0" i="0" dirty="0">
                <a:solidFill>
                  <a:srgbClr val="FF0000"/>
                </a:solidFill>
                <a:effectLst/>
                <a:latin typeface="Times New Roman" panose="02020603050405020304" pitchFamily="18" charset="0"/>
                <a:cs typeface="Times New Roman" panose="02020603050405020304" pitchFamily="18" charset="0"/>
              </a:rPr>
              <a:t>Puppet is also used as a software deployment tool</a:t>
            </a:r>
            <a:r>
              <a:rPr lang="en-US" sz="2400" b="0" i="0" dirty="0">
                <a:solidFill>
                  <a:srgbClr val="222222"/>
                </a:solidFill>
                <a:effectLst/>
                <a:latin typeface="Times New Roman" panose="02020603050405020304" pitchFamily="18" charset="0"/>
                <a:cs typeface="Times New Roman" panose="02020603050405020304" pitchFamily="18" charset="0"/>
              </a:rPr>
              <a:t>. </a:t>
            </a:r>
          </a:p>
          <a:p>
            <a:pPr marL="342900" indent="-342900" algn="l">
              <a:buFont typeface="Wingdings" panose="05000000000000000000" pitchFamily="2" charset="2"/>
              <a:buChar char="Ø"/>
            </a:pPr>
            <a:endParaRPr lang="en-US" sz="2400" dirty="0">
              <a:solidFill>
                <a:srgbClr val="222222"/>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222222"/>
                </a:solidFill>
                <a:effectLst/>
                <a:latin typeface="Times New Roman" panose="02020603050405020304" pitchFamily="18" charset="0"/>
                <a:cs typeface="Times New Roman" panose="02020603050405020304" pitchFamily="18" charset="0"/>
              </a:rPr>
              <a:t>It is an </a:t>
            </a:r>
            <a:r>
              <a:rPr lang="en-US" sz="2400" b="0" i="0" dirty="0">
                <a:solidFill>
                  <a:srgbClr val="FF0000"/>
                </a:solidFill>
                <a:effectLst/>
                <a:latin typeface="Times New Roman" panose="02020603050405020304" pitchFamily="18" charset="0"/>
                <a:cs typeface="Times New Roman" panose="02020603050405020304" pitchFamily="18" charset="0"/>
              </a:rPr>
              <a:t>open-source configuration management software</a:t>
            </a:r>
            <a:r>
              <a:rPr lang="en-US" sz="2400" b="0" i="0" dirty="0">
                <a:solidFill>
                  <a:srgbClr val="222222"/>
                </a:solidFill>
                <a:effectLst/>
                <a:latin typeface="Times New Roman" panose="02020603050405020304" pitchFamily="18" charset="0"/>
                <a:cs typeface="Times New Roman" panose="02020603050405020304" pitchFamily="18" charset="0"/>
              </a:rPr>
              <a:t> widely used for server </a:t>
            </a:r>
            <a:r>
              <a:rPr lang="en-US" sz="2400" b="0" i="0" dirty="0">
                <a:solidFill>
                  <a:srgbClr val="FF0000"/>
                </a:solidFill>
                <a:effectLst/>
                <a:latin typeface="Times New Roman" panose="02020603050405020304" pitchFamily="18" charset="0"/>
                <a:cs typeface="Times New Roman" panose="02020603050405020304" pitchFamily="18" charset="0"/>
              </a:rPr>
              <a:t>configuration, management, deployment, and orchestration(</a:t>
            </a:r>
            <a:r>
              <a:rPr lang="en-US" sz="2400" b="0" i="0" dirty="0">
                <a:solidFill>
                  <a:srgbClr val="002060"/>
                </a:solidFill>
                <a:effectLst/>
                <a:latin typeface="Times New Roman" panose="02020603050405020304" pitchFamily="18" charset="0"/>
                <a:cs typeface="Times New Roman" panose="02020603050405020304" pitchFamily="18" charset="0"/>
              </a:rPr>
              <a:t>Orchestration is </a:t>
            </a:r>
            <a:r>
              <a:rPr lang="en-US" sz="2400" b="1" i="0" dirty="0">
                <a:solidFill>
                  <a:srgbClr val="002060"/>
                </a:solidFill>
                <a:effectLst/>
                <a:latin typeface="Times New Roman" panose="02020603050405020304" pitchFamily="18" charset="0"/>
                <a:cs typeface="Times New Roman" panose="02020603050405020304" pitchFamily="18" charset="0"/>
              </a:rPr>
              <a:t>the automated configuration</a:t>
            </a:r>
            <a:r>
              <a:rPr lang="en-US" sz="2400" b="0" i="0" dirty="0">
                <a:solidFill>
                  <a:srgbClr val="002060"/>
                </a:solidFill>
                <a:effectLst/>
                <a:latin typeface="Times New Roman" panose="02020603050405020304" pitchFamily="18" charset="0"/>
                <a:cs typeface="Times New Roman" panose="02020603050405020304" pitchFamily="18" charset="0"/>
              </a:rPr>
              <a:t>.</a:t>
            </a:r>
            <a:r>
              <a:rPr lang="en-US" sz="2400" b="0" i="0" dirty="0">
                <a:solidFill>
                  <a:srgbClr val="FF0000"/>
                </a:solidFill>
                <a:effectLst/>
                <a:latin typeface="Times New Roman" panose="02020603050405020304" pitchFamily="18" charset="0"/>
                <a:cs typeface="Times New Roman" panose="02020603050405020304" pitchFamily="18" charset="0"/>
              </a:rPr>
              <a:t>) </a:t>
            </a:r>
            <a:r>
              <a:rPr lang="en-US" sz="2400" b="0" i="0" dirty="0">
                <a:solidFill>
                  <a:srgbClr val="222222"/>
                </a:solidFill>
                <a:effectLst/>
                <a:latin typeface="Times New Roman" panose="02020603050405020304" pitchFamily="18" charset="0"/>
                <a:cs typeface="Times New Roman" panose="02020603050405020304" pitchFamily="18" charset="0"/>
              </a:rPr>
              <a:t>of various applications and services across the whole infrastructure of an organization.</a:t>
            </a:r>
          </a:p>
          <a:p>
            <a:pPr marL="342900" indent="-342900" algn="l">
              <a:buFont typeface="Wingdings" panose="05000000000000000000" pitchFamily="2" charset="2"/>
              <a:buChar char="Ø"/>
            </a:pPr>
            <a:endParaRPr lang="en-US" sz="2400" b="0" i="0" dirty="0">
              <a:solidFill>
                <a:srgbClr val="222222"/>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222222"/>
                </a:solidFill>
                <a:effectLst/>
                <a:latin typeface="Times New Roman" panose="02020603050405020304" pitchFamily="18" charset="0"/>
                <a:cs typeface="Times New Roman" panose="02020603050405020304" pitchFamily="18" charset="0"/>
              </a:rPr>
              <a:t>Puppet is specially designed to manage the configuration of Linux and Windows systems. It is written in Ruby.</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8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104129-76AB-4CC5-80F1-A5288DFADE99}"/>
              </a:ext>
            </a:extLst>
          </p:cNvPr>
          <p:cNvSpPr txBox="1"/>
          <p:nvPr/>
        </p:nvSpPr>
        <p:spPr>
          <a:xfrm>
            <a:off x="304799" y="212035"/>
            <a:ext cx="11529391" cy="5262979"/>
          </a:xfrm>
          <a:prstGeom prst="rect">
            <a:avLst/>
          </a:prstGeom>
          <a:noFill/>
        </p:spPr>
        <p:txBody>
          <a:bodyPr wrap="square">
            <a:spAutoFit/>
          </a:bodyPr>
          <a:lstStyle/>
          <a:p>
            <a:pPr algn="l"/>
            <a:r>
              <a:rPr lang="en-IN" sz="2400" b="1" i="0" dirty="0">
                <a:solidFill>
                  <a:srgbClr val="FF0000"/>
                </a:solidFill>
                <a:effectLst/>
                <a:latin typeface="Times New Roman" panose="02020603050405020304" pitchFamily="18" charset="0"/>
                <a:cs typeface="Times New Roman" panose="02020603050405020304" pitchFamily="18" charset="0"/>
              </a:rPr>
              <a:t>What is Configuration Management?</a:t>
            </a:r>
          </a:p>
          <a:p>
            <a:pPr marL="342900" indent="-342900" algn="l">
              <a:buFont typeface="Wingdings" panose="05000000000000000000" pitchFamily="2" charset="2"/>
              <a:buChar char="Ø"/>
            </a:pPr>
            <a:endParaRPr lang="en-US" sz="2400" i="0" dirty="0">
              <a:solidFill>
                <a:srgbClr val="7030A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FF0000"/>
                </a:solidFill>
                <a:effectLst/>
                <a:latin typeface="Times New Roman" panose="02020603050405020304" pitchFamily="18" charset="0"/>
                <a:cs typeface="Times New Roman" panose="02020603050405020304" pitchFamily="18" charset="0"/>
              </a:rPr>
              <a:t>Configuration management is the process of maintaining software and computer systems (for example servers, storage, networks) in a known, desired and consistent state</a:t>
            </a:r>
            <a:r>
              <a:rPr lang="en-US" sz="2400" b="0" i="0" dirty="0">
                <a:solidFill>
                  <a:srgbClr val="222222"/>
                </a:solidFill>
                <a:effectLst/>
                <a:latin typeface="Times New Roman" panose="02020603050405020304" pitchFamily="18" charset="0"/>
                <a:cs typeface="Times New Roman" panose="02020603050405020304" pitchFamily="18" charset="0"/>
              </a:rPr>
              <a:t>. It also allows access to an accurate </a:t>
            </a:r>
            <a:r>
              <a:rPr lang="en-US" sz="2400" b="0" i="0" dirty="0">
                <a:solidFill>
                  <a:srgbClr val="FF0000"/>
                </a:solidFill>
                <a:effectLst/>
                <a:latin typeface="Times New Roman" panose="02020603050405020304" pitchFamily="18" charset="0"/>
                <a:cs typeface="Times New Roman" panose="02020603050405020304" pitchFamily="18" charset="0"/>
              </a:rPr>
              <a:t>historical record of system state for project management and audit purposes.</a:t>
            </a:r>
          </a:p>
          <a:p>
            <a:pPr marL="342900" indent="-342900">
              <a:buFont typeface="Wingdings" panose="05000000000000000000" pitchFamily="2" charset="2"/>
              <a:buChar char="Ø"/>
            </a:pPr>
            <a:endParaRPr lang="en-US" sz="2400" dirty="0">
              <a:solidFill>
                <a:srgbClr val="7030A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222222"/>
                </a:solidFill>
                <a:effectLst/>
                <a:latin typeface="Times New Roman" panose="02020603050405020304" pitchFamily="18" charset="0"/>
                <a:cs typeface="Times New Roman" panose="02020603050405020304" pitchFamily="18" charset="0"/>
              </a:rPr>
              <a:t>System Administrators mostly perform repetitive tasks like installing servers, configuring those servers, etc. These professionals can automate this task, by writing scripts.</a:t>
            </a:r>
          </a:p>
          <a:p>
            <a:pPr marL="342900" indent="-342900" algn="l">
              <a:buFont typeface="Wingdings" panose="05000000000000000000" pitchFamily="2" charset="2"/>
              <a:buChar char="Ø"/>
            </a:pPr>
            <a:endParaRPr lang="en-US" sz="2400" b="0" i="0" dirty="0">
              <a:solidFill>
                <a:srgbClr val="222222"/>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222222"/>
                </a:solidFill>
                <a:effectLst/>
                <a:latin typeface="Times New Roman" panose="02020603050405020304" pitchFamily="18" charset="0"/>
                <a:cs typeface="Times New Roman" panose="02020603050405020304" pitchFamily="18" charset="0"/>
              </a:rPr>
              <a:t>However, it is a difficult job when they are working on a massive infrastructure. The </a:t>
            </a:r>
            <a:r>
              <a:rPr lang="en-US" sz="2400" b="0" i="0" dirty="0">
                <a:solidFill>
                  <a:srgbClr val="FF0000"/>
                </a:solidFill>
                <a:effectLst/>
                <a:latin typeface="Times New Roman" panose="02020603050405020304" pitchFamily="18" charset="0"/>
                <a:cs typeface="Times New Roman" panose="02020603050405020304" pitchFamily="18" charset="0"/>
              </a:rPr>
              <a:t>Configuration Management tool like a Puppet was introduced to resolve such issues</a:t>
            </a:r>
            <a:r>
              <a:rPr lang="en-US" sz="2400" b="0" i="0" dirty="0">
                <a:solidFill>
                  <a:srgbClr val="222222"/>
                </a:solidFill>
                <a:effectLst/>
                <a:latin typeface="Times New Roman" panose="02020603050405020304" pitchFamily="18" charset="0"/>
                <a:cs typeface="Times New Roman" panose="02020603050405020304" pitchFamily="18" charset="0"/>
              </a:rPr>
              <a:t>.</a:t>
            </a:r>
          </a:p>
          <a:p>
            <a:pPr algn="l"/>
            <a:endParaRPr lang="en-US" sz="2400" dirty="0">
              <a:solidFill>
                <a:srgbClr val="222222"/>
              </a:solidFill>
              <a:latin typeface="Times New Roman" panose="02020603050405020304" pitchFamily="18" charset="0"/>
              <a:cs typeface="Times New Roman" panose="02020603050405020304" pitchFamily="18" charset="0"/>
            </a:endParaRPr>
          </a:p>
          <a:p>
            <a:pPr algn="l"/>
            <a:endParaRPr lang="en-US" sz="2400" b="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248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F33C40-379C-4110-A491-839E625CFA94}"/>
              </a:ext>
            </a:extLst>
          </p:cNvPr>
          <p:cNvSpPr txBox="1"/>
          <p:nvPr/>
        </p:nvSpPr>
        <p:spPr>
          <a:xfrm>
            <a:off x="119270" y="0"/>
            <a:ext cx="11953460" cy="1200329"/>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What Puppet can do?</a:t>
            </a:r>
          </a:p>
          <a:p>
            <a:pPr algn="l"/>
            <a:r>
              <a:rPr lang="en-US" sz="2400" b="0" i="0" dirty="0">
                <a:solidFill>
                  <a:srgbClr val="222222"/>
                </a:solidFill>
                <a:effectLst/>
                <a:latin typeface="Times New Roman" panose="02020603050405020304" pitchFamily="18" charset="0"/>
                <a:cs typeface="Times New Roman" panose="02020603050405020304" pitchFamily="18" charset="0"/>
              </a:rPr>
              <a:t>For example, you have an infrastructure with about 100 servers. As a system admin, it’s your role to ensure that all these servers are always up to date and running with full functionality.</a:t>
            </a:r>
          </a:p>
        </p:txBody>
      </p:sp>
      <p:pic>
        <p:nvPicPr>
          <p:cNvPr id="1026" name="Picture 2" descr="System Admin working manually">
            <a:extLst>
              <a:ext uri="{FF2B5EF4-FFF2-40B4-BE49-F238E27FC236}">
                <a16:creationId xmlns:a16="http://schemas.microsoft.com/office/drawing/2014/main" id="{97763EB2-391D-43A2-A455-1CFF6F9D94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373" y="1926949"/>
            <a:ext cx="10893287" cy="4407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341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DB2750-972E-425C-9DB0-D3620908484A}"/>
              </a:ext>
            </a:extLst>
          </p:cNvPr>
          <p:cNvSpPr txBox="1"/>
          <p:nvPr/>
        </p:nvSpPr>
        <p:spPr>
          <a:xfrm>
            <a:off x="291547" y="238539"/>
            <a:ext cx="11648661" cy="1200329"/>
          </a:xfrm>
          <a:prstGeom prst="rect">
            <a:avLst/>
          </a:prstGeom>
          <a:noFill/>
        </p:spPr>
        <p:txBody>
          <a:bodyPr wrap="square">
            <a:spAutoFit/>
          </a:bodyPr>
          <a:lstStyle/>
          <a:p>
            <a:r>
              <a:rPr lang="en-US" sz="2400" b="0" i="0" dirty="0">
                <a:solidFill>
                  <a:srgbClr val="222222"/>
                </a:solidFill>
                <a:effectLst/>
                <a:latin typeface="Times New Roman" panose="02020603050405020304" pitchFamily="18" charset="0"/>
                <a:cs typeface="Times New Roman" panose="02020603050405020304" pitchFamily="18" charset="0"/>
              </a:rPr>
              <a:t>To do this, you can use Puppet, </a:t>
            </a:r>
            <a:r>
              <a:rPr lang="en-US" sz="2400" b="0" i="0" dirty="0">
                <a:solidFill>
                  <a:srgbClr val="FF0000"/>
                </a:solidFill>
                <a:effectLst/>
                <a:latin typeface="Times New Roman" panose="02020603050405020304" pitchFamily="18" charset="0"/>
                <a:cs typeface="Times New Roman" panose="02020603050405020304" pitchFamily="18" charset="0"/>
              </a:rPr>
              <a:t>which allows you to write a simple code which can be deployed automatically on these servers</a:t>
            </a:r>
            <a:r>
              <a:rPr lang="en-US" sz="2400" b="0" i="0" dirty="0">
                <a:solidFill>
                  <a:srgbClr val="222222"/>
                </a:solidFill>
                <a:effectLst/>
                <a:latin typeface="Times New Roman" panose="02020603050405020304" pitchFamily="18" charset="0"/>
                <a:cs typeface="Times New Roman" panose="02020603050405020304" pitchFamily="18" charset="0"/>
              </a:rPr>
              <a:t>. This reduces the human effort and makes the development process fast and effective.</a:t>
            </a:r>
            <a:endParaRPr lang="en-IN" sz="2400" dirty="0">
              <a:latin typeface="Times New Roman" panose="02020603050405020304" pitchFamily="18" charset="0"/>
              <a:cs typeface="Times New Roman" panose="02020603050405020304" pitchFamily="18" charset="0"/>
            </a:endParaRPr>
          </a:p>
        </p:txBody>
      </p:sp>
      <p:pic>
        <p:nvPicPr>
          <p:cNvPr id="2050" name="Picture 2" descr="Puppet automates Server Management">
            <a:extLst>
              <a:ext uri="{FF2B5EF4-FFF2-40B4-BE49-F238E27FC236}">
                <a16:creationId xmlns:a16="http://schemas.microsoft.com/office/drawing/2014/main" id="{873A3785-5540-4C6B-A9C0-8523C0311E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7496" y="1940615"/>
            <a:ext cx="8984974" cy="3903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1308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B5BCEF-F1EC-46CB-8F4F-1F86943F83C6}"/>
              </a:ext>
            </a:extLst>
          </p:cNvPr>
          <p:cNvSpPr txBox="1"/>
          <p:nvPr/>
        </p:nvSpPr>
        <p:spPr>
          <a:xfrm>
            <a:off x="106017" y="119271"/>
            <a:ext cx="11900452" cy="6186309"/>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Puppet performs the following functions:</a:t>
            </a:r>
          </a:p>
          <a:p>
            <a:pPr algn="l"/>
            <a:endParaRPr lang="en-US" sz="2400" b="0" i="0" dirty="0">
              <a:solidFill>
                <a:srgbClr val="222222"/>
              </a:solidFill>
              <a:effectLst/>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Ø"/>
            </a:pPr>
            <a:r>
              <a:rPr lang="en-US" sz="2400" b="0" i="0" dirty="0">
                <a:solidFill>
                  <a:srgbClr val="222222"/>
                </a:solidFill>
                <a:effectLst/>
                <a:latin typeface="Times New Roman" panose="02020603050405020304" pitchFamily="18" charset="0"/>
                <a:cs typeface="Times New Roman" panose="02020603050405020304" pitchFamily="18" charset="0"/>
              </a:rPr>
              <a:t>Puppet allows you to define </a:t>
            </a:r>
            <a:r>
              <a:rPr lang="en-US" sz="2400" b="0" i="0" dirty="0">
                <a:solidFill>
                  <a:srgbClr val="7030A0"/>
                </a:solidFill>
                <a:effectLst/>
                <a:latin typeface="Times New Roman" panose="02020603050405020304" pitchFamily="18" charset="0"/>
                <a:cs typeface="Times New Roman" panose="02020603050405020304" pitchFamily="18" charset="0"/>
              </a:rPr>
              <a:t>distinct configurations </a:t>
            </a:r>
            <a:r>
              <a:rPr lang="en-US" sz="2400" b="0" i="0" dirty="0">
                <a:solidFill>
                  <a:srgbClr val="222222"/>
                </a:solidFill>
                <a:effectLst/>
                <a:latin typeface="Times New Roman" panose="02020603050405020304" pitchFamily="18" charset="0"/>
                <a:cs typeface="Times New Roman" panose="02020603050405020304" pitchFamily="18" charset="0"/>
              </a:rPr>
              <a:t>for every host.</a:t>
            </a:r>
          </a:p>
          <a:p>
            <a:pPr marL="342900" indent="-342900" algn="l">
              <a:lnSpc>
                <a:spcPct val="150000"/>
              </a:lnSpc>
              <a:buFont typeface="Wingdings" panose="05000000000000000000" pitchFamily="2" charset="2"/>
              <a:buChar char="Ø"/>
            </a:pPr>
            <a:r>
              <a:rPr lang="en-US" sz="2400" b="0" i="0" dirty="0">
                <a:solidFill>
                  <a:srgbClr val="222222"/>
                </a:solidFill>
                <a:effectLst/>
                <a:latin typeface="Times New Roman" panose="02020603050405020304" pitchFamily="18" charset="0"/>
                <a:cs typeface="Times New Roman" panose="02020603050405020304" pitchFamily="18" charset="0"/>
              </a:rPr>
              <a:t>The tool allows you to </a:t>
            </a:r>
            <a:r>
              <a:rPr lang="en-US" sz="2400" b="0" i="0" dirty="0">
                <a:solidFill>
                  <a:srgbClr val="7030A0"/>
                </a:solidFill>
                <a:effectLst/>
                <a:latin typeface="Times New Roman" panose="02020603050405020304" pitchFamily="18" charset="0"/>
                <a:cs typeface="Times New Roman" panose="02020603050405020304" pitchFamily="18" charset="0"/>
              </a:rPr>
              <a:t>continuously monitor servers to confirm whether the required configuration exists</a:t>
            </a:r>
            <a:r>
              <a:rPr lang="en-US" sz="2400" b="0" i="0" dirty="0">
                <a:solidFill>
                  <a:srgbClr val="222222"/>
                </a:solidFill>
                <a:effectLst/>
                <a:latin typeface="Times New Roman" panose="02020603050405020304" pitchFamily="18" charset="0"/>
                <a:cs typeface="Times New Roman" panose="02020603050405020304" pitchFamily="18" charset="0"/>
              </a:rPr>
              <a:t> or not and it is not altered. If the config is changed, Puppet tool will </a:t>
            </a:r>
            <a:r>
              <a:rPr lang="en-US" sz="2400" b="0" i="0" dirty="0">
                <a:solidFill>
                  <a:srgbClr val="7030A0"/>
                </a:solidFill>
                <a:effectLst/>
                <a:latin typeface="Times New Roman" panose="02020603050405020304" pitchFamily="18" charset="0"/>
                <a:cs typeface="Times New Roman" panose="02020603050405020304" pitchFamily="18" charset="0"/>
              </a:rPr>
              <a:t>revert to the pre-defined configuration on the host</a:t>
            </a:r>
            <a:r>
              <a:rPr lang="en-US" sz="2400" b="0" i="0" dirty="0">
                <a:solidFill>
                  <a:srgbClr val="00B0F0"/>
                </a:solidFill>
                <a:effectLst/>
                <a:latin typeface="Times New Roman" panose="02020603050405020304" pitchFamily="18" charset="0"/>
                <a:cs typeface="Times New Roman" panose="02020603050405020304" pitchFamily="18" charset="0"/>
              </a:rPr>
              <a:t>.</a:t>
            </a:r>
          </a:p>
          <a:p>
            <a:pPr marL="342900" indent="-342900" algn="l">
              <a:lnSpc>
                <a:spcPct val="150000"/>
              </a:lnSpc>
              <a:buFont typeface="Wingdings" panose="05000000000000000000" pitchFamily="2" charset="2"/>
              <a:buChar char="Ø"/>
            </a:pPr>
            <a:r>
              <a:rPr lang="en-US" sz="2400" b="0" i="0" dirty="0">
                <a:solidFill>
                  <a:srgbClr val="222222"/>
                </a:solidFill>
                <a:effectLst/>
                <a:latin typeface="Times New Roman" panose="02020603050405020304" pitchFamily="18" charset="0"/>
                <a:cs typeface="Times New Roman" panose="02020603050405020304" pitchFamily="18" charset="0"/>
              </a:rPr>
              <a:t>It also provides control over all the configured system, so a </a:t>
            </a:r>
            <a:r>
              <a:rPr lang="en-US" sz="2400" b="0" i="0" dirty="0">
                <a:solidFill>
                  <a:srgbClr val="7030A0"/>
                </a:solidFill>
                <a:effectLst/>
                <a:latin typeface="Times New Roman" panose="02020603050405020304" pitchFamily="18" charset="0"/>
                <a:cs typeface="Times New Roman" panose="02020603050405020304" pitchFamily="18" charset="0"/>
              </a:rPr>
              <a:t>centralized change gets automatically effected.</a:t>
            </a:r>
          </a:p>
          <a:p>
            <a:pPr marL="342900" indent="-342900" algn="l">
              <a:lnSpc>
                <a:spcPct val="150000"/>
              </a:lnSpc>
              <a:buFont typeface="Wingdings" panose="05000000000000000000" pitchFamily="2" charset="2"/>
              <a:buChar char="Ø"/>
            </a:pPr>
            <a:r>
              <a:rPr lang="en-US" sz="2400" b="0" i="0" dirty="0">
                <a:solidFill>
                  <a:srgbClr val="222222"/>
                </a:solidFill>
                <a:effectLst/>
                <a:latin typeface="Times New Roman" panose="02020603050405020304" pitchFamily="18" charset="0"/>
                <a:cs typeface="Times New Roman" panose="02020603050405020304" pitchFamily="18" charset="0"/>
              </a:rPr>
              <a:t>It is also used as a deployment tool as it automatically deploys software to the system. It implements the </a:t>
            </a:r>
            <a:r>
              <a:rPr lang="en-US" sz="2400" i="0" dirty="0">
                <a:solidFill>
                  <a:srgbClr val="7030A0"/>
                </a:solidFill>
                <a:effectLst/>
                <a:latin typeface="Times New Roman" panose="02020603050405020304" pitchFamily="18" charset="0"/>
                <a:cs typeface="Times New Roman" panose="02020603050405020304" pitchFamily="18" charset="0"/>
              </a:rPr>
              <a:t>infrastructure as a code because policies and configurations are written as code.</a:t>
            </a:r>
          </a:p>
          <a:p>
            <a:pPr algn="l" fontAlgn="base"/>
            <a:endParaRPr lang="en-US" sz="2400" b="1"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522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A90C2C-EADB-4B46-9D7C-8CA963852494}"/>
              </a:ext>
            </a:extLst>
          </p:cNvPr>
          <p:cNvSpPr txBox="1"/>
          <p:nvPr/>
        </p:nvSpPr>
        <p:spPr>
          <a:xfrm>
            <a:off x="145774" y="145774"/>
            <a:ext cx="11860696" cy="5632311"/>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Deployment models of configuration management tools</a:t>
            </a:r>
          </a:p>
          <a:p>
            <a:pPr algn="l"/>
            <a:endParaRPr lang="en-US" sz="2400" b="1" i="0" dirty="0">
              <a:solidFill>
                <a:srgbClr val="222222"/>
              </a:solidFill>
              <a:effectLst/>
              <a:latin typeface="Times New Roman" panose="02020603050405020304" pitchFamily="18" charset="0"/>
              <a:cs typeface="Times New Roman" panose="02020603050405020304" pitchFamily="18" charset="0"/>
            </a:endParaRPr>
          </a:p>
          <a:p>
            <a:pPr algn="l"/>
            <a:r>
              <a:rPr lang="en-US" sz="2400" b="0" i="0" dirty="0">
                <a:solidFill>
                  <a:srgbClr val="222222"/>
                </a:solidFill>
                <a:effectLst/>
                <a:latin typeface="Times New Roman" panose="02020603050405020304" pitchFamily="18" charset="0"/>
                <a:cs typeface="Times New Roman" panose="02020603050405020304" pitchFamily="18" charset="0"/>
              </a:rPr>
              <a:t>There are two deployment models for </a:t>
            </a:r>
            <a:r>
              <a:rPr lang="en-US" sz="2400" b="0" i="0" u="none" strike="noStrike" dirty="0">
                <a:solidFill>
                  <a:srgbClr val="222222"/>
                </a:solidFill>
                <a:effectLst/>
                <a:latin typeface="Times New Roman" panose="02020603050405020304" pitchFamily="18" charset="0"/>
                <a:cs typeface="Times New Roman" panose="02020603050405020304" pitchFamily="18" charset="0"/>
                <a:hlinkClick r:id="rId2"/>
              </a:rPr>
              <a:t>configuration management tools</a:t>
            </a:r>
            <a:r>
              <a:rPr lang="en-US" sz="2400" b="0" i="0" dirty="0">
                <a:solidFill>
                  <a:srgbClr val="222222"/>
                </a:solidFill>
                <a:effectLst/>
                <a:latin typeface="Times New Roman" panose="02020603050405020304" pitchFamily="18" charset="0"/>
                <a:cs typeface="Times New Roman" panose="02020603050405020304" pitchFamily="18" charset="0"/>
              </a:rPr>
              <a:t> :</a:t>
            </a:r>
          </a:p>
          <a:p>
            <a:pPr algn="l">
              <a:buFont typeface="Arial" panose="020B0604020202020204" pitchFamily="34" charset="0"/>
              <a:buChar char="•"/>
            </a:pPr>
            <a:r>
              <a:rPr lang="en-US" sz="2400" b="0" i="0" dirty="0">
                <a:solidFill>
                  <a:srgbClr val="222222"/>
                </a:solidFill>
                <a:effectLst/>
                <a:latin typeface="Times New Roman" panose="02020603050405020304" pitchFamily="18" charset="0"/>
                <a:cs typeface="Times New Roman" panose="02020603050405020304" pitchFamily="18" charset="0"/>
              </a:rPr>
              <a:t>Push-based deployment model: initiated by a master node.</a:t>
            </a:r>
          </a:p>
          <a:p>
            <a:pPr algn="l">
              <a:buFont typeface="Arial" panose="020B0604020202020204" pitchFamily="34" charset="0"/>
              <a:buChar char="•"/>
            </a:pPr>
            <a:r>
              <a:rPr lang="en-US" sz="2400" b="0" i="0" dirty="0">
                <a:solidFill>
                  <a:srgbClr val="222222"/>
                </a:solidFill>
                <a:effectLst/>
                <a:latin typeface="Times New Roman" panose="02020603050405020304" pitchFamily="18" charset="0"/>
                <a:cs typeface="Times New Roman" panose="02020603050405020304" pitchFamily="18" charset="0"/>
              </a:rPr>
              <a:t>Pull-based deployment model: initiated by agents.</a:t>
            </a:r>
          </a:p>
          <a:p>
            <a:pPr algn="l">
              <a:buFont typeface="Arial" panose="020B0604020202020204" pitchFamily="34" charset="0"/>
              <a:buChar char="•"/>
            </a:pPr>
            <a:endParaRPr lang="en-US" sz="2400" b="0" i="0" dirty="0">
              <a:solidFill>
                <a:srgbClr val="222222"/>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Push-based deployment model:</a:t>
            </a:r>
          </a:p>
          <a:p>
            <a:pPr algn="l"/>
            <a:r>
              <a:rPr lang="en-US" sz="2400" b="0" i="0" dirty="0">
                <a:solidFill>
                  <a:srgbClr val="222222"/>
                </a:solidFill>
                <a:effectLst/>
                <a:latin typeface="Times New Roman" panose="02020603050405020304" pitchFamily="18" charset="0"/>
                <a:cs typeface="Times New Roman" panose="02020603050405020304" pitchFamily="18" charset="0"/>
              </a:rPr>
              <a:t>In this deployment model master server pushes the </a:t>
            </a:r>
            <a:r>
              <a:rPr lang="en-US" sz="2400" b="0" i="0" dirty="0">
                <a:solidFill>
                  <a:srgbClr val="7030A0"/>
                </a:solidFill>
                <a:effectLst/>
                <a:latin typeface="Times New Roman" panose="02020603050405020304" pitchFamily="18" charset="0"/>
                <a:cs typeface="Times New Roman" panose="02020603050405020304" pitchFamily="18" charset="0"/>
              </a:rPr>
              <a:t>configurations and software to the individual agents. </a:t>
            </a:r>
            <a:r>
              <a:rPr lang="en-US" sz="2400" b="0" i="0" dirty="0">
                <a:solidFill>
                  <a:srgbClr val="222222"/>
                </a:solidFill>
                <a:effectLst/>
                <a:latin typeface="Times New Roman" panose="02020603050405020304" pitchFamily="18" charset="0"/>
                <a:cs typeface="Times New Roman" panose="02020603050405020304" pitchFamily="18" charset="0"/>
              </a:rPr>
              <a:t>After verifying a secure connection, the master runs commands remotely on the agents. For example, </a:t>
            </a:r>
            <a:r>
              <a:rPr lang="en-US" sz="2400" b="0" i="0" dirty="0">
                <a:solidFill>
                  <a:srgbClr val="7030A0"/>
                </a:solidFill>
                <a:effectLst/>
                <a:latin typeface="Times New Roman" panose="02020603050405020304" pitchFamily="18" charset="0"/>
                <a:cs typeface="Times New Roman" panose="02020603050405020304" pitchFamily="18" charset="0"/>
              </a:rPr>
              <a:t>Ansible and Salt Stack</a:t>
            </a:r>
            <a:r>
              <a:rPr lang="en-US" sz="2400" b="0" i="0" dirty="0">
                <a:solidFill>
                  <a:srgbClr val="00B0F0"/>
                </a:solidFill>
                <a:effectLst/>
                <a:latin typeface="Times New Roman" panose="02020603050405020304" pitchFamily="18" charset="0"/>
                <a:cs typeface="Times New Roman" panose="02020603050405020304" pitchFamily="18" charset="0"/>
              </a:rPr>
              <a:t>.</a:t>
            </a:r>
          </a:p>
          <a:p>
            <a:pPr algn="l"/>
            <a:endParaRPr lang="en-US" sz="2400" b="0" i="0" dirty="0">
              <a:solidFill>
                <a:srgbClr val="222222"/>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Pull-based deployment model.</a:t>
            </a:r>
          </a:p>
          <a:p>
            <a:pPr algn="l"/>
            <a:r>
              <a:rPr lang="en-US" sz="2400" b="0" i="0" dirty="0">
                <a:solidFill>
                  <a:srgbClr val="222222"/>
                </a:solidFill>
                <a:effectLst/>
                <a:latin typeface="Times New Roman" panose="02020603050405020304" pitchFamily="18" charset="0"/>
                <a:cs typeface="Times New Roman" panose="02020603050405020304" pitchFamily="18" charset="0"/>
              </a:rPr>
              <a:t>In this deployment model, </a:t>
            </a:r>
            <a:r>
              <a:rPr lang="en-US" sz="2400" b="0" i="0" dirty="0">
                <a:effectLst/>
                <a:latin typeface="Times New Roman" panose="02020603050405020304" pitchFamily="18" charset="0"/>
                <a:cs typeface="Times New Roman" panose="02020603050405020304" pitchFamily="18" charset="0"/>
              </a:rPr>
              <a:t>individual servers contact a master server</a:t>
            </a:r>
            <a:r>
              <a:rPr lang="en-US" sz="2400" b="0" i="0" dirty="0">
                <a:solidFill>
                  <a:srgbClr val="222222"/>
                </a:solidFill>
                <a:effectLst/>
                <a:latin typeface="Times New Roman" panose="02020603050405020304" pitchFamily="18" charset="0"/>
                <a:cs typeface="Times New Roman" panose="02020603050405020304" pitchFamily="18" charset="0"/>
              </a:rPr>
              <a:t>, verify and establish a secure connection, </a:t>
            </a:r>
            <a:r>
              <a:rPr lang="en-US" sz="2400" b="0" i="0" dirty="0">
                <a:solidFill>
                  <a:srgbClr val="7030A0"/>
                </a:solidFill>
                <a:effectLst/>
                <a:latin typeface="Times New Roman" panose="02020603050405020304" pitchFamily="18" charset="0"/>
                <a:cs typeface="Times New Roman" panose="02020603050405020304" pitchFamily="18" charset="0"/>
              </a:rPr>
              <a:t>download their configurations and software and then configure themselves accordingly</a:t>
            </a:r>
            <a:r>
              <a:rPr lang="en-US" sz="2400" b="0" i="0" dirty="0">
                <a:solidFill>
                  <a:srgbClr val="222222"/>
                </a:solidFill>
                <a:effectLst/>
                <a:latin typeface="Times New Roman" panose="02020603050405020304" pitchFamily="18" charset="0"/>
                <a:cs typeface="Times New Roman" panose="02020603050405020304" pitchFamily="18" charset="0"/>
              </a:rPr>
              <a:t> — for example, </a:t>
            </a:r>
            <a:r>
              <a:rPr lang="en-US" sz="2400" b="0" i="0" dirty="0">
                <a:solidFill>
                  <a:srgbClr val="7030A0"/>
                </a:solidFill>
                <a:effectLst/>
                <a:latin typeface="Times New Roman" panose="02020603050405020304" pitchFamily="18" charset="0"/>
                <a:cs typeface="Times New Roman" panose="02020603050405020304" pitchFamily="18" charset="0"/>
              </a:rPr>
              <a:t>Puppet and Chef</a:t>
            </a:r>
            <a:r>
              <a:rPr lang="en-US" sz="2400" b="0" i="0" dirty="0">
                <a:solidFill>
                  <a:srgbClr val="222222"/>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06660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31C263-DDFF-4167-A92D-8D378916B362}"/>
              </a:ext>
            </a:extLst>
          </p:cNvPr>
          <p:cNvSpPr txBox="1"/>
          <p:nvPr/>
        </p:nvSpPr>
        <p:spPr>
          <a:xfrm>
            <a:off x="225287" y="145774"/>
            <a:ext cx="8918713" cy="369332"/>
          </a:xfrm>
          <a:prstGeom prst="rect">
            <a:avLst/>
          </a:prstGeom>
          <a:noFill/>
        </p:spPr>
        <p:txBody>
          <a:bodyPr wrap="square">
            <a:spAutoFit/>
          </a:bodyPr>
          <a:lstStyle/>
          <a:p>
            <a:pPr algn="l"/>
            <a:r>
              <a:rPr lang="en-US" b="1" i="0" dirty="0">
                <a:solidFill>
                  <a:srgbClr val="3A3A3A"/>
                </a:solidFill>
                <a:effectLst/>
                <a:latin typeface="Open Sans" panose="020B0606030504020204" pitchFamily="34" charset="0"/>
              </a:rPr>
              <a:t>Understanding the Puppet Architecture and Puppet Components</a:t>
            </a:r>
          </a:p>
        </p:txBody>
      </p:sp>
      <p:pic>
        <p:nvPicPr>
          <p:cNvPr id="2" name="Picture 2" descr="Puppet Architecture">
            <a:extLst>
              <a:ext uri="{FF2B5EF4-FFF2-40B4-BE49-F238E27FC236}">
                <a16:creationId xmlns:a16="http://schemas.microsoft.com/office/drawing/2014/main" id="{DDD0CBA2-B1AE-4DA3-8DF3-59F5AC51A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87" y="1236528"/>
            <a:ext cx="11350487" cy="5727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8987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A47F77-527A-49E2-9A63-EDB1015EFB70}"/>
              </a:ext>
            </a:extLst>
          </p:cNvPr>
          <p:cNvSpPr txBox="1"/>
          <p:nvPr/>
        </p:nvSpPr>
        <p:spPr>
          <a:xfrm>
            <a:off x="0" y="92766"/>
            <a:ext cx="12085983" cy="6771084"/>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How Puppet works?</a:t>
            </a:r>
          </a:p>
          <a:p>
            <a:pPr algn="l"/>
            <a:r>
              <a:rPr lang="en-US" sz="2400" b="0" i="0" dirty="0">
                <a:solidFill>
                  <a:srgbClr val="222222"/>
                </a:solidFill>
                <a:effectLst/>
                <a:latin typeface="Times New Roman" panose="02020603050405020304" pitchFamily="18" charset="0"/>
                <a:cs typeface="Times New Roman" panose="02020603050405020304" pitchFamily="18" charset="0"/>
              </a:rPr>
              <a:t>Puppet is based on a </a:t>
            </a:r>
            <a:r>
              <a:rPr lang="en-US" sz="2400" b="0" i="0" dirty="0">
                <a:solidFill>
                  <a:srgbClr val="FF0000"/>
                </a:solidFill>
                <a:effectLst/>
                <a:latin typeface="Times New Roman" panose="02020603050405020304" pitchFamily="18" charset="0"/>
                <a:cs typeface="Times New Roman" panose="02020603050405020304" pitchFamily="18" charset="0"/>
              </a:rPr>
              <a:t>Pull deployment model</a:t>
            </a:r>
            <a:r>
              <a:rPr lang="en-US" sz="2400" b="0" i="0" dirty="0">
                <a:solidFill>
                  <a:srgbClr val="222222"/>
                </a:solidFill>
                <a:effectLst/>
                <a:latin typeface="Times New Roman" panose="02020603050405020304" pitchFamily="18" charset="0"/>
                <a:cs typeface="Times New Roman" panose="02020603050405020304" pitchFamily="18" charset="0"/>
              </a:rPr>
              <a:t>, where the agent nodes check in regularly after every </a:t>
            </a:r>
            <a:r>
              <a:rPr lang="en-US" sz="2400" b="1" i="0" dirty="0">
                <a:solidFill>
                  <a:schemeClr val="accent1"/>
                </a:solidFill>
                <a:effectLst/>
                <a:latin typeface="Times New Roman" panose="02020603050405020304" pitchFamily="18" charset="0"/>
                <a:cs typeface="Times New Roman" panose="02020603050405020304" pitchFamily="18" charset="0"/>
              </a:rPr>
              <a:t>1800</a:t>
            </a:r>
            <a:r>
              <a:rPr lang="en-US" sz="2400" b="0" i="0" dirty="0">
                <a:solidFill>
                  <a:schemeClr val="accent1"/>
                </a:solidFill>
                <a:effectLst/>
                <a:latin typeface="Times New Roman" panose="02020603050405020304" pitchFamily="18" charset="0"/>
                <a:cs typeface="Times New Roman" panose="02020603050405020304" pitchFamily="18" charset="0"/>
              </a:rPr>
              <a:t> seconds with the master node to see if anything needs to be updated in the agent</a:t>
            </a:r>
            <a:r>
              <a:rPr lang="en-US" sz="2400" b="0" i="0" dirty="0">
                <a:solidFill>
                  <a:srgbClr val="222222"/>
                </a:solidFill>
                <a:effectLst/>
                <a:latin typeface="Times New Roman" panose="02020603050405020304" pitchFamily="18" charset="0"/>
                <a:cs typeface="Times New Roman" panose="02020603050405020304" pitchFamily="18" charset="0"/>
              </a:rPr>
              <a:t>. If anything needs to be updated the </a:t>
            </a:r>
            <a:r>
              <a:rPr lang="en-US" sz="2400" b="0" i="0" dirty="0">
                <a:solidFill>
                  <a:srgbClr val="FF0000"/>
                </a:solidFill>
                <a:effectLst/>
                <a:latin typeface="Times New Roman" panose="02020603050405020304" pitchFamily="18" charset="0"/>
                <a:cs typeface="Times New Roman" panose="02020603050405020304" pitchFamily="18" charset="0"/>
              </a:rPr>
              <a:t>agent pulls the necessary puppet codes </a:t>
            </a:r>
            <a:r>
              <a:rPr lang="en-US" sz="2400" b="0" i="0" dirty="0">
                <a:solidFill>
                  <a:srgbClr val="222222"/>
                </a:solidFill>
                <a:effectLst/>
                <a:latin typeface="Times New Roman" panose="02020603050405020304" pitchFamily="18" charset="0"/>
                <a:cs typeface="Times New Roman" panose="02020603050405020304" pitchFamily="18" charset="0"/>
              </a:rPr>
              <a:t>from the master and performs required actions.</a:t>
            </a:r>
          </a:p>
          <a:p>
            <a:pPr algn="l"/>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a:r>
              <a:rPr lang="en-US" sz="2400" b="1" i="0" dirty="0">
                <a:solidFill>
                  <a:srgbClr val="222222"/>
                </a:solidFill>
                <a:effectLst/>
                <a:latin typeface="Times New Roman" panose="02020603050405020304" pitchFamily="18" charset="0"/>
                <a:cs typeface="Times New Roman" panose="02020603050405020304" pitchFamily="18" charset="0"/>
              </a:rPr>
              <a:t>Example:</a:t>
            </a:r>
            <a:r>
              <a:rPr lang="en-US" sz="2400" b="0" i="0" dirty="0">
                <a:solidFill>
                  <a:srgbClr val="222222"/>
                </a:solidFill>
                <a:effectLst/>
                <a:latin typeface="Times New Roman" panose="02020603050405020304" pitchFamily="18" charset="0"/>
                <a:cs typeface="Times New Roman" panose="02020603050405020304" pitchFamily="18" charset="0"/>
              </a:rPr>
              <a:t> Master – Agent Setup:</a:t>
            </a:r>
          </a:p>
          <a:p>
            <a:pPr algn="l"/>
            <a:endParaRPr lang="en-US" sz="2200" b="1" i="0" dirty="0">
              <a:solidFill>
                <a:srgbClr val="FF0000"/>
              </a:solidFill>
              <a:effectLst/>
              <a:latin typeface="Times New Roman" panose="02020603050405020304" pitchFamily="18" charset="0"/>
              <a:cs typeface="Times New Roman" panose="02020603050405020304" pitchFamily="18" charset="0"/>
            </a:endParaRPr>
          </a:p>
          <a:p>
            <a:pPr algn="l"/>
            <a:r>
              <a:rPr lang="en-US" sz="2200" b="1" i="0" dirty="0">
                <a:solidFill>
                  <a:srgbClr val="FF0000"/>
                </a:solidFill>
                <a:effectLst/>
                <a:latin typeface="Times New Roman" panose="02020603050405020304" pitchFamily="18" charset="0"/>
                <a:cs typeface="Times New Roman" panose="02020603050405020304" pitchFamily="18" charset="0"/>
              </a:rPr>
              <a:t>The Master:</a:t>
            </a:r>
          </a:p>
          <a:p>
            <a:pPr algn="l"/>
            <a:r>
              <a:rPr lang="en-US" sz="2200" b="0" i="0" dirty="0">
                <a:solidFill>
                  <a:srgbClr val="222222"/>
                </a:solidFill>
                <a:effectLst/>
                <a:latin typeface="Times New Roman" panose="02020603050405020304" pitchFamily="18" charset="0"/>
                <a:cs typeface="Times New Roman" panose="02020603050405020304" pitchFamily="18" charset="0"/>
              </a:rPr>
              <a:t>A Linux based machine with Puppet master software installed on it. </a:t>
            </a:r>
            <a:r>
              <a:rPr lang="en-US" sz="2200" b="0" i="0" dirty="0">
                <a:solidFill>
                  <a:srgbClr val="00B0F0"/>
                </a:solidFill>
                <a:effectLst/>
                <a:latin typeface="Times New Roman" panose="02020603050405020304" pitchFamily="18" charset="0"/>
                <a:cs typeface="Times New Roman" panose="02020603050405020304" pitchFamily="18" charset="0"/>
              </a:rPr>
              <a:t>It is responsible for maintaining configurations in the form of puppet codes.</a:t>
            </a:r>
            <a:r>
              <a:rPr lang="en-US" sz="2200" b="0" i="0" dirty="0">
                <a:solidFill>
                  <a:srgbClr val="222222"/>
                </a:solidFill>
                <a:effectLst/>
                <a:latin typeface="Times New Roman" panose="02020603050405020304" pitchFamily="18" charset="0"/>
                <a:cs typeface="Times New Roman" panose="02020603050405020304" pitchFamily="18" charset="0"/>
              </a:rPr>
              <a:t> The master node can only be Linux.</a:t>
            </a:r>
          </a:p>
          <a:p>
            <a:pPr algn="l"/>
            <a:endParaRPr lang="en-US" sz="2200" b="0" i="0" dirty="0">
              <a:solidFill>
                <a:srgbClr val="FF0000"/>
              </a:solidFill>
              <a:effectLst/>
              <a:latin typeface="Times New Roman" panose="02020603050405020304" pitchFamily="18" charset="0"/>
              <a:cs typeface="Times New Roman" panose="02020603050405020304" pitchFamily="18" charset="0"/>
            </a:endParaRPr>
          </a:p>
          <a:p>
            <a:pPr algn="l"/>
            <a:r>
              <a:rPr lang="en-US" sz="2200" b="1" i="0" dirty="0">
                <a:solidFill>
                  <a:srgbClr val="FF0000"/>
                </a:solidFill>
                <a:effectLst/>
                <a:latin typeface="Times New Roman" panose="02020603050405020304" pitchFamily="18" charset="0"/>
                <a:cs typeface="Times New Roman" panose="02020603050405020304" pitchFamily="18" charset="0"/>
              </a:rPr>
              <a:t>The Agents:</a:t>
            </a:r>
          </a:p>
          <a:p>
            <a:pPr algn="l"/>
            <a:r>
              <a:rPr lang="en-US" sz="2200" b="0" i="0" dirty="0">
                <a:solidFill>
                  <a:srgbClr val="222222"/>
                </a:solidFill>
                <a:effectLst/>
                <a:latin typeface="Times New Roman" panose="02020603050405020304" pitchFamily="18" charset="0"/>
                <a:cs typeface="Times New Roman" panose="02020603050405020304" pitchFamily="18" charset="0"/>
              </a:rPr>
              <a:t>The target machines managed by a puppet with the </a:t>
            </a:r>
            <a:r>
              <a:rPr lang="en-US" sz="2200" b="0" i="0" dirty="0">
                <a:solidFill>
                  <a:srgbClr val="00B0F0"/>
                </a:solidFill>
                <a:effectLst/>
                <a:latin typeface="Times New Roman" panose="02020603050405020304" pitchFamily="18" charset="0"/>
                <a:cs typeface="Times New Roman" panose="02020603050405020304" pitchFamily="18" charset="0"/>
              </a:rPr>
              <a:t>puppet agent software installed</a:t>
            </a:r>
            <a:r>
              <a:rPr lang="en-US" sz="2200" b="0" i="0" dirty="0">
                <a:solidFill>
                  <a:srgbClr val="222222"/>
                </a:solidFill>
                <a:effectLst/>
                <a:latin typeface="Times New Roman" panose="02020603050405020304" pitchFamily="18" charset="0"/>
                <a:cs typeface="Times New Roman" panose="02020603050405020304" pitchFamily="18" charset="0"/>
              </a:rPr>
              <a:t> on them.</a:t>
            </a:r>
          </a:p>
          <a:p>
            <a:pPr algn="l"/>
            <a:endParaRPr lang="en-US" sz="2200" b="0" i="0" dirty="0">
              <a:solidFill>
                <a:srgbClr val="222222"/>
              </a:solidFill>
              <a:effectLst/>
              <a:latin typeface="Times New Roman" panose="02020603050405020304" pitchFamily="18" charset="0"/>
              <a:cs typeface="Times New Roman" panose="02020603050405020304" pitchFamily="18" charset="0"/>
            </a:endParaRPr>
          </a:p>
          <a:p>
            <a:pPr algn="l"/>
            <a:r>
              <a:rPr lang="en-US" sz="2200" b="0" i="0" dirty="0">
                <a:solidFill>
                  <a:srgbClr val="222222"/>
                </a:solidFill>
                <a:effectLst/>
                <a:latin typeface="Times New Roman" panose="02020603050405020304" pitchFamily="18" charset="0"/>
                <a:cs typeface="Times New Roman" panose="02020603050405020304" pitchFamily="18" charset="0"/>
              </a:rPr>
              <a:t>The agent can be configured on any supported operating system such as Linux or Windows or Solaris or Mac OS.</a:t>
            </a:r>
          </a:p>
          <a:p>
            <a:pPr algn="l"/>
            <a:r>
              <a:rPr lang="en-US" sz="2200" b="0" i="0" dirty="0">
                <a:solidFill>
                  <a:srgbClr val="222222"/>
                </a:solidFill>
                <a:effectLst/>
                <a:latin typeface="Times New Roman" panose="02020603050405020304" pitchFamily="18" charset="0"/>
                <a:cs typeface="Times New Roman" panose="02020603050405020304" pitchFamily="18" charset="0"/>
              </a:rPr>
              <a:t>The communication between master and agent is established through </a:t>
            </a:r>
            <a:r>
              <a:rPr lang="en-US" sz="2200" b="0" i="0" dirty="0">
                <a:solidFill>
                  <a:srgbClr val="FF0000"/>
                </a:solidFill>
                <a:effectLst/>
                <a:latin typeface="Times New Roman" panose="02020603050405020304" pitchFamily="18" charset="0"/>
                <a:cs typeface="Times New Roman" panose="02020603050405020304" pitchFamily="18" charset="0"/>
              </a:rPr>
              <a:t>secure certificates</a:t>
            </a:r>
            <a:r>
              <a:rPr lang="en-US" sz="2200" b="0" i="0" dirty="0">
                <a:solidFill>
                  <a:schemeClr val="accent1"/>
                </a:solidFill>
                <a:effectLst/>
                <a:latin typeface="Times New Roman" panose="02020603050405020304" pitchFamily="18" charset="0"/>
                <a:cs typeface="Times New Roman" panose="02020603050405020304" pitchFamily="18" charset="0"/>
              </a:rPr>
              <a:t>.</a:t>
            </a:r>
          </a:p>
          <a:p>
            <a:pPr algn="l"/>
            <a:endParaRPr lang="en-US" sz="2400" b="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2433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937FC2-F150-4F62-8CC3-3160EC2C53FF}"/>
              </a:ext>
            </a:extLst>
          </p:cNvPr>
          <p:cNvSpPr txBox="1"/>
          <p:nvPr/>
        </p:nvSpPr>
        <p:spPr>
          <a:xfrm>
            <a:off x="172278" y="132521"/>
            <a:ext cx="11834192" cy="646331"/>
          </a:xfrm>
          <a:prstGeom prst="rect">
            <a:avLst/>
          </a:prstGeom>
          <a:noFill/>
        </p:spPr>
        <p:txBody>
          <a:bodyPr wrap="square">
            <a:spAutoFit/>
          </a:bodyPr>
          <a:lstStyle/>
          <a:p>
            <a:pPr algn="l">
              <a:buFont typeface="Arial" panose="020B0604020202020204" pitchFamily="34" charset="0"/>
              <a:buChar char="•"/>
            </a:pPr>
            <a:r>
              <a:rPr lang="en-US" b="1" i="0" dirty="0">
                <a:solidFill>
                  <a:srgbClr val="FF0000"/>
                </a:solidFill>
                <a:effectLst/>
                <a:latin typeface="Open Sans" panose="020B0606030504020204" pitchFamily="34" charset="0"/>
              </a:rPr>
              <a:t>Config repository: </a:t>
            </a:r>
            <a:r>
              <a:rPr lang="en-US" b="0" i="0" dirty="0">
                <a:solidFill>
                  <a:srgbClr val="3A3A3A"/>
                </a:solidFill>
                <a:effectLst/>
                <a:latin typeface="Open Sans" panose="020B0606030504020204" pitchFamily="34" charset="0"/>
              </a:rPr>
              <a:t>Config repository is </a:t>
            </a:r>
            <a:r>
              <a:rPr lang="en-US" b="0" i="0" dirty="0">
                <a:solidFill>
                  <a:srgbClr val="FF0000"/>
                </a:solidFill>
                <a:effectLst/>
                <a:latin typeface="Open Sans" panose="020B0606030504020204" pitchFamily="34" charset="0"/>
              </a:rPr>
              <a:t>where the entire server-related configurations and nodes are stored</a:t>
            </a:r>
            <a:r>
              <a:rPr lang="en-US" b="0" i="0" dirty="0">
                <a:solidFill>
                  <a:srgbClr val="3A3A3A"/>
                </a:solidFill>
                <a:effectLst/>
                <a:latin typeface="Open Sans" panose="020B0606030504020204" pitchFamily="34" charset="0"/>
              </a:rPr>
              <a:t>. They can be pulled at any time as required.</a:t>
            </a:r>
          </a:p>
        </p:txBody>
      </p:sp>
      <p:pic>
        <p:nvPicPr>
          <p:cNvPr id="4" name="Picture 3">
            <a:extLst>
              <a:ext uri="{FF2B5EF4-FFF2-40B4-BE49-F238E27FC236}">
                <a16:creationId xmlns:a16="http://schemas.microsoft.com/office/drawing/2014/main" id="{8981D405-E082-43DC-A661-BC365CE6E8E3}"/>
              </a:ext>
            </a:extLst>
          </p:cNvPr>
          <p:cNvPicPr>
            <a:picLocks noChangeAspect="1"/>
          </p:cNvPicPr>
          <p:nvPr/>
        </p:nvPicPr>
        <p:blipFill>
          <a:blip r:embed="rId2"/>
          <a:stretch>
            <a:fillRect/>
          </a:stretch>
        </p:blipFill>
        <p:spPr>
          <a:xfrm>
            <a:off x="172278" y="1099931"/>
            <a:ext cx="11599202" cy="2329069"/>
          </a:xfrm>
          <a:prstGeom prst="rect">
            <a:avLst/>
          </a:prstGeom>
        </p:spPr>
      </p:pic>
    </p:spTree>
    <p:extLst>
      <p:ext uri="{BB962C8B-B14F-4D97-AF65-F5344CB8AC3E}">
        <p14:creationId xmlns:p14="http://schemas.microsoft.com/office/powerpoint/2010/main" val="1774392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uppet Master Agent Communication">
            <a:extLst>
              <a:ext uri="{FF2B5EF4-FFF2-40B4-BE49-F238E27FC236}">
                <a16:creationId xmlns:a16="http://schemas.microsoft.com/office/drawing/2014/main" id="{A1848D1B-1424-49A6-9A9A-4F343BD4CE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97" y="467139"/>
            <a:ext cx="11065564" cy="592372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8FCBCB2-28A1-4954-962E-CDCF05208BED}"/>
              </a:ext>
            </a:extLst>
          </p:cNvPr>
          <p:cNvSpPr txBox="1"/>
          <p:nvPr/>
        </p:nvSpPr>
        <p:spPr>
          <a:xfrm>
            <a:off x="1258957" y="145774"/>
            <a:ext cx="7885043" cy="369332"/>
          </a:xfrm>
          <a:prstGeom prst="rect">
            <a:avLst/>
          </a:prstGeom>
          <a:noFill/>
        </p:spPr>
        <p:txBody>
          <a:bodyPr wrap="square">
            <a:spAutoFit/>
          </a:bodyPr>
          <a:lstStyle/>
          <a:p>
            <a:r>
              <a:rPr lang="en-IN" b="1" i="0" dirty="0">
                <a:solidFill>
                  <a:srgbClr val="FF0000"/>
                </a:solidFill>
                <a:effectLst/>
                <a:latin typeface="Source Sans Pro" panose="020B0503030403020204" pitchFamily="34" charset="0"/>
              </a:rPr>
              <a:t>Puppet Master Agent Communication</a:t>
            </a:r>
            <a:endParaRPr lang="en-IN" b="1" dirty="0">
              <a:solidFill>
                <a:srgbClr val="FF0000"/>
              </a:solidFill>
            </a:endParaRPr>
          </a:p>
        </p:txBody>
      </p:sp>
      <p:sp>
        <p:nvSpPr>
          <p:cNvPr id="5" name="TextBox 4">
            <a:extLst>
              <a:ext uri="{FF2B5EF4-FFF2-40B4-BE49-F238E27FC236}">
                <a16:creationId xmlns:a16="http://schemas.microsoft.com/office/drawing/2014/main" id="{11770DE6-67E1-4998-BCC2-E4A67266BFBA}"/>
              </a:ext>
            </a:extLst>
          </p:cNvPr>
          <p:cNvSpPr txBox="1"/>
          <p:nvPr/>
        </p:nvSpPr>
        <p:spPr>
          <a:xfrm>
            <a:off x="556592" y="649357"/>
            <a:ext cx="2703444" cy="369332"/>
          </a:xfrm>
          <a:prstGeom prst="rect">
            <a:avLst/>
          </a:prstGeom>
          <a:noFill/>
        </p:spPr>
        <p:txBody>
          <a:bodyPr wrap="square">
            <a:spAutoFit/>
          </a:bodyPr>
          <a:lstStyle/>
          <a:p>
            <a:r>
              <a:rPr lang="en-IN" b="1" i="0" dirty="0">
                <a:solidFill>
                  <a:srgbClr val="202124"/>
                </a:solidFill>
                <a:effectLst/>
                <a:latin typeface="arial" panose="020B0604020202020204" pitchFamily="34" charset="0"/>
              </a:rPr>
              <a:t>Secure Sockets Layer</a:t>
            </a:r>
            <a:endParaRPr lang="en-IN" dirty="0"/>
          </a:p>
        </p:txBody>
      </p:sp>
    </p:spTree>
    <p:extLst>
      <p:ext uri="{BB962C8B-B14F-4D97-AF65-F5344CB8AC3E}">
        <p14:creationId xmlns:p14="http://schemas.microsoft.com/office/powerpoint/2010/main" val="402879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4E76E7-4A6D-44A6-BFA6-53CC2C335470}"/>
              </a:ext>
            </a:extLst>
          </p:cNvPr>
          <p:cNvSpPr txBox="1"/>
          <p:nvPr/>
        </p:nvSpPr>
        <p:spPr>
          <a:xfrm>
            <a:off x="238539" y="159026"/>
            <a:ext cx="11860696" cy="2677656"/>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Communication between the Master and the Agent:</a:t>
            </a:r>
          </a:p>
          <a:p>
            <a:pPr algn="l"/>
            <a:r>
              <a:rPr lang="en-US" sz="2400" b="1" i="0" dirty="0">
                <a:solidFill>
                  <a:srgbClr val="222222"/>
                </a:solidFill>
                <a:effectLst/>
                <a:latin typeface="Times New Roman" panose="02020603050405020304" pitchFamily="18" charset="0"/>
                <a:cs typeface="Times New Roman" panose="02020603050405020304" pitchFamily="18" charset="0"/>
              </a:rPr>
              <a:t>Step 1) </a:t>
            </a:r>
            <a:r>
              <a:rPr lang="en-US" sz="2400" b="0" i="0" dirty="0">
                <a:solidFill>
                  <a:srgbClr val="222222"/>
                </a:solidFill>
                <a:effectLst/>
                <a:latin typeface="Times New Roman" panose="02020603050405020304" pitchFamily="18" charset="0"/>
                <a:cs typeface="Times New Roman" panose="02020603050405020304" pitchFamily="18" charset="0"/>
              </a:rPr>
              <a:t>Once the connectivity is established between the agent and the master, the Puppet agent sends the data about its state to the Puppet master server. </a:t>
            </a:r>
            <a:r>
              <a:rPr lang="en-US" sz="2400" b="0" i="0" dirty="0">
                <a:solidFill>
                  <a:srgbClr val="FF0000"/>
                </a:solidFill>
                <a:effectLst/>
                <a:latin typeface="Times New Roman" panose="02020603050405020304" pitchFamily="18" charset="0"/>
                <a:cs typeface="Times New Roman" panose="02020603050405020304" pitchFamily="18" charset="0"/>
              </a:rPr>
              <a:t>These are called Facts</a:t>
            </a:r>
            <a:r>
              <a:rPr lang="en-US" sz="2400" b="0" i="0" dirty="0">
                <a:solidFill>
                  <a:srgbClr val="222222"/>
                </a:solidFill>
                <a:effectLst/>
                <a:latin typeface="Times New Roman" panose="02020603050405020304" pitchFamily="18" charset="0"/>
                <a:cs typeface="Times New Roman" panose="02020603050405020304" pitchFamily="18" charset="0"/>
              </a:rPr>
              <a:t>: This information includes the hostname, kernel details, IP address, file name details, etc.…  </a:t>
            </a:r>
          </a:p>
          <a:p>
            <a:pPr algn="l"/>
            <a:endParaRPr lang="en-US" dirty="0">
              <a:solidFill>
                <a:srgbClr val="222222"/>
              </a:solidFill>
              <a:latin typeface="Source Sans Pro" panose="020B0503030403020204" pitchFamily="34" charset="0"/>
            </a:endParaRPr>
          </a:p>
          <a:p>
            <a:pPr algn="ctr"/>
            <a:endParaRPr lang="en-US" b="0" i="0" dirty="0">
              <a:solidFill>
                <a:schemeClr val="accent1"/>
              </a:solidFill>
              <a:effectLst/>
              <a:latin typeface="Source Sans Pro" panose="020B0503030403020204" pitchFamily="34" charset="0"/>
            </a:endParaRPr>
          </a:p>
          <a:p>
            <a:pPr algn="ctr"/>
            <a:endParaRPr lang="en-US" dirty="0">
              <a:solidFill>
                <a:schemeClr val="accent1"/>
              </a:solidFill>
              <a:latin typeface="Source Sans Pro" panose="020B0503030403020204" pitchFamily="34" charset="0"/>
            </a:endParaRPr>
          </a:p>
          <a:p>
            <a:pPr algn="ctr"/>
            <a:r>
              <a:rPr lang="en-US" b="0" i="0" dirty="0">
                <a:solidFill>
                  <a:schemeClr val="accent1"/>
                </a:solidFill>
                <a:effectLst/>
                <a:latin typeface="Source Sans Pro" panose="020B0503030403020204" pitchFamily="34" charset="0"/>
              </a:rPr>
              <a:t>Agent Sends Facts to Master</a:t>
            </a:r>
          </a:p>
        </p:txBody>
      </p:sp>
      <p:pic>
        <p:nvPicPr>
          <p:cNvPr id="4098" name="Picture 2" descr="Agent Sends Facts to Master">
            <a:extLst>
              <a:ext uri="{FF2B5EF4-FFF2-40B4-BE49-F238E27FC236}">
                <a16:creationId xmlns:a16="http://schemas.microsoft.com/office/drawing/2014/main" id="{3E4A2EA4-91F9-4D1E-A390-7E9691EE7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0951" y="3101009"/>
            <a:ext cx="6022805" cy="386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203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37C675-6670-497F-9744-CFC32ABCF64E}"/>
              </a:ext>
            </a:extLst>
          </p:cNvPr>
          <p:cNvSpPr txBox="1"/>
          <p:nvPr/>
        </p:nvSpPr>
        <p:spPr>
          <a:xfrm>
            <a:off x="198783" y="145774"/>
            <a:ext cx="11847443" cy="2862322"/>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Step 2) </a:t>
            </a:r>
            <a:r>
              <a:rPr lang="en-US" sz="2400" b="0" i="0" dirty="0">
                <a:solidFill>
                  <a:srgbClr val="222222"/>
                </a:solidFill>
                <a:effectLst/>
                <a:latin typeface="Times New Roman" panose="02020603050405020304" pitchFamily="18" charset="0"/>
                <a:cs typeface="Times New Roman" panose="02020603050405020304" pitchFamily="18" charset="0"/>
              </a:rPr>
              <a:t>Puppet Master uses this data and compiles a list with the configuration to be applied to the agent. </a:t>
            </a:r>
            <a:r>
              <a:rPr lang="en-US" sz="2400" b="0" i="0" dirty="0">
                <a:solidFill>
                  <a:srgbClr val="FF0000"/>
                </a:solidFill>
                <a:effectLst/>
                <a:latin typeface="Times New Roman" panose="02020603050405020304" pitchFamily="18" charset="0"/>
                <a:cs typeface="Times New Roman" panose="02020603050405020304" pitchFamily="18" charset="0"/>
              </a:rPr>
              <a:t>This list of configuration to be performed on an agent is known as a </a:t>
            </a:r>
            <a:r>
              <a:rPr lang="en-US" sz="2400" b="1" i="0" dirty="0">
                <a:solidFill>
                  <a:srgbClr val="FF0000"/>
                </a:solidFill>
                <a:effectLst/>
                <a:latin typeface="Times New Roman" panose="02020603050405020304" pitchFamily="18" charset="0"/>
                <a:cs typeface="Times New Roman" panose="02020603050405020304" pitchFamily="18" charset="0"/>
              </a:rPr>
              <a:t>catalog</a:t>
            </a:r>
            <a:r>
              <a:rPr lang="en-US" sz="2400" b="1" i="0" dirty="0">
                <a:solidFill>
                  <a:srgbClr val="222222"/>
                </a:solidFill>
                <a:effectLst/>
                <a:latin typeface="Times New Roman" panose="02020603050405020304" pitchFamily="18" charset="0"/>
                <a:cs typeface="Times New Roman" panose="02020603050405020304" pitchFamily="18" charset="0"/>
              </a:rPr>
              <a:t>. </a:t>
            </a:r>
            <a:r>
              <a:rPr lang="en-US" sz="2400" b="0" i="0" dirty="0">
                <a:solidFill>
                  <a:srgbClr val="222222"/>
                </a:solidFill>
                <a:effectLst/>
                <a:latin typeface="Times New Roman" panose="02020603050405020304" pitchFamily="18" charset="0"/>
                <a:cs typeface="Times New Roman" panose="02020603050405020304" pitchFamily="18" charset="0"/>
              </a:rPr>
              <a:t>This could be changed such as package installation, upgrades or removals, File System creation, user creation or deletion, server reboot, IP configuration changes, etc.</a:t>
            </a:r>
          </a:p>
          <a:p>
            <a:pPr algn="l"/>
            <a:endParaRPr lang="en-US" sz="2400" dirty="0">
              <a:solidFill>
                <a:schemeClr val="accent1"/>
              </a:solidFill>
              <a:latin typeface="Times New Roman" panose="02020603050405020304" pitchFamily="18" charset="0"/>
              <a:cs typeface="Times New Roman" panose="02020603050405020304" pitchFamily="18" charset="0"/>
            </a:endParaRPr>
          </a:p>
          <a:p>
            <a:pPr algn="ctr"/>
            <a:r>
              <a:rPr lang="en-US" sz="2400" b="0" i="0" dirty="0">
                <a:solidFill>
                  <a:srgbClr val="FF0000"/>
                </a:solidFill>
                <a:effectLst/>
                <a:latin typeface="Times New Roman" panose="02020603050405020304" pitchFamily="18" charset="0"/>
                <a:cs typeface="Times New Roman" panose="02020603050405020304" pitchFamily="18" charset="0"/>
              </a:rPr>
              <a:t>Master sends a catalog to Agent</a:t>
            </a:r>
          </a:p>
          <a:p>
            <a:br>
              <a:rPr lang="en-US" dirty="0"/>
            </a:br>
            <a:endParaRPr lang="en-IN" dirty="0"/>
          </a:p>
        </p:txBody>
      </p:sp>
      <p:pic>
        <p:nvPicPr>
          <p:cNvPr id="5122" name="Picture 2" descr="Master sends a catalog to Agent">
            <a:extLst>
              <a:ext uri="{FF2B5EF4-FFF2-40B4-BE49-F238E27FC236}">
                <a16:creationId xmlns:a16="http://schemas.microsoft.com/office/drawing/2014/main" id="{44A8F260-8180-4A4D-93BB-C06AD00D3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6476" y="2835965"/>
            <a:ext cx="6667500" cy="3776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546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11FD15-E87C-40E0-9DB7-DE7161BC4F90}"/>
              </a:ext>
            </a:extLst>
          </p:cNvPr>
          <p:cNvSpPr txBox="1"/>
          <p:nvPr/>
        </p:nvSpPr>
        <p:spPr>
          <a:xfrm>
            <a:off x="357809" y="159026"/>
            <a:ext cx="11595652" cy="2308324"/>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Step 3) </a:t>
            </a:r>
            <a:r>
              <a:rPr lang="en-US" sz="2400" b="0" i="0" dirty="0">
                <a:solidFill>
                  <a:srgbClr val="222222"/>
                </a:solidFill>
                <a:effectLst/>
                <a:latin typeface="Times New Roman" panose="02020603050405020304" pitchFamily="18" charset="0"/>
                <a:cs typeface="Times New Roman" panose="02020603050405020304" pitchFamily="18" charset="0"/>
              </a:rPr>
              <a:t>The agent uses this list of configuration to apply any required </a:t>
            </a:r>
            <a:r>
              <a:rPr lang="en-US" sz="2400" b="0" i="0" dirty="0">
                <a:solidFill>
                  <a:srgbClr val="FF0000"/>
                </a:solidFill>
                <a:effectLst/>
                <a:latin typeface="Times New Roman" panose="02020603050405020304" pitchFamily="18" charset="0"/>
                <a:cs typeface="Times New Roman" panose="02020603050405020304" pitchFamily="18" charset="0"/>
              </a:rPr>
              <a:t>configuration changes on the node.</a:t>
            </a:r>
          </a:p>
          <a:p>
            <a:pPr algn="l"/>
            <a:r>
              <a:rPr lang="en-US" sz="2400" b="0" i="0" dirty="0">
                <a:solidFill>
                  <a:srgbClr val="222222"/>
                </a:solidFill>
                <a:effectLst/>
                <a:latin typeface="Times New Roman" panose="02020603050405020304" pitchFamily="18" charset="0"/>
                <a:cs typeface="Times New Roman" panose="02020603050405020304" pitchFamily="18" charset="0"/>
              </a:rPr>
              <a:t>In case there are no drifts in the configuration, Agent does not perform any configuration changes and leaves the node to run with the same configuration.</a:t>
            </a:r>
          </a:p>
          <a:p>
            <a:pPr algn="l"/>
            <a:endParaRPr lang="en-US" sz="2400" dirty="0">
              <a:solidFill>
                <a:srgbClr val="222222"/>
              </a:solidFill>
              <a:latin typeface="Times New Roman" panose="02020603050405020304" pitchFamily="18" charset="0"/>
              <a:cs typeface="Times New Roman" panose="02020603050405020304" pitchFamily="18" charset="0"/>
            </a:endParaRPr>
          </a:p>
          <a:p>
            <a:pPr algn="l"/>
            <a:r>
              <a:rPr lang="en-IN" sz="2400" b="0" i="0" dirty="0">
                <a:solidFill>
                  <a:srgbClr val="222222"/>
                </a:solidFill>
                <a:effectLst/>
                <a:latin typeface="Times New Roman" panose="02020603050405020304" pitchFamily="18" charset="0"/>
                <a:cs typeface="Times New Roman" panose="02020603050405020304" pitchFamily="18" charset="0"/>
              </a:rPr>
              <a:t>Agent applies configuration</a:t>
            </a:r>
            <a:endParaRPr lang="en-US" sz="2400" b="0" i="0" dirty="0">
              <a:solidFill>
                <a:srgbClr val="222222"/>
              </a:solidFill>
              <a:effectLst/>
              <a:latin typeface="Times New Roman" panose="02020603050405020304" pitchFamily="18" charset="0"/>
              <a:cs typeface="Times New Roman" panose="02020603050405020304" pitchFamily="18" charset="0"/>
            </a:endParaRPr>
          </a:p>
        </p:txBody>
      </p:sp>
      <p:pic>
        <p:nvPicPr>
          <p:cNvPr id="6146" name="Picture 2" descr="Agent applies configuration">
            <a:extLst>
              <a:ext uri="{FF2B5EF4-FFF2-40B4-BE49-F238E27FC236}">
                <a16:creationId xmlns:a16="http://schemas.microsoft.com/office/drawing/2014/main" id="{217DF740-0AA8-468C-837F-A0E9A83E44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572" y="3000402"/>
            <a:ext cx="6316315" cy="24275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BFBE9BD-CE5F-4BA6-B62D-646951D19B87}"/>
              </a:ext>
            </a:extLst>
          </p:cNvPr>
          <p:cNvSpPr txBox="1"/>
          <p:nvPr/>
        </p:nvSpPr>
        <p:spPr>
          <a:xfrm>
            <a:off x="0" y="4214191"/>
            <a:ext cx="11953461" cy="2492990"/>
          </a:xfrm>
          <a:prstGeom prst="rect">
            <a:avLst/>
          </a:prstGeom>
          <a:noFill/>
        </p:spPr>
        <p:txBody>
          <a:bodyPr wrap="square">
            <a:spAutoFit/>
          </a:bodyPr>
          <a:lstStyle/>
          <a:p>
            <a:endParaRPr lang="en-US" b="1" i="0" dirty="0">
              <a:solidFill>
                <a:srgbClr val="FF0000"/>
              </a:solidFill>
              <a:effectLst/>
              <a:latin typeface="Source Sans Pro" panose="020B0503030403020204" pitchFamily="34" charset="0"/>
            </a:endParaRPr>
          </a:p>
          <a:p>
            <a:endParaRPr lang="en-US" b="1" dirty="0">
              <a:solidFill>
                <a:srgbClr val="FF0000"/>
              </a:solidFill>
              <a:latin typeface="Source Sans Pro" panose="020B0503030403020204" pitchFamily="34" charset="0"/>
            </a:endParaRPr>
          </a:p>
          <a:p>
            <a:endParaRPr lang="en-US" b="1" i="0" dirty="0">
              <a:solidFill>
                <a:srgbClr val="FF0000"/>
              </a:solidFill>
              <a:effectLst/>
              <a:latin typeface="Source Sans Pro" panose="020B0503030403020204" pitchFamily="34" charset="0"/>
            </a:endParaRPr>
          </a:p>
          <a:p>
            <a:endParaRPr lang="en-US" b="1" dirty="0">
              <a:solidFill>
                <a:srgbClr val="FF0000"/>
              </a:solidFill>
              <a:latin typeface="Source Sans Pro" panose="020B0503030403020204" pitchFamily="34" charset="0"/>
            </a:endParaRPr>
          </a:p>
          <a:p>
            <a:endParaRPr lang="en-US" b="1" i="0" dirty="0">
              <a:solidFill>
                <a:srgbClr val="FF0000"/>
              </a:solidFill>
              <a:effectLst/>
              <a:latin typeface="Source Sans Pro" panose="020B0503030403020204" pitchFamily="34" charset="0"/>
            </a:endParaRPr>
          </a:p>
          <a:p>
            <a:endParaRPr lang="en-US" b="1" dirty="0">
              <a:solidFill>
                <a:srgbClr val="FF0000"/>
              </a:solidFill>
              <a:latin typeface="Source Sans Pro" panose="020B0503030403020204" pitchFamily="34" charset="0"/>
            </a:endParaRPr>
          </a:p>
          <a:p>
            <a:r>
              <a:rPr lang="en-US" sz="2400" b="1" i="0" dirty="0">
                <a:solidFill>
                  <a:srgbClr val="FF0000"/>
                </a:solidFill>
                <a:effectLst/>
                <a:latin typeface="Source Sans Pro" panose="020B0503030403020204" pitchFamily="34" charset="0"/>
              </a:rPr>
              <a:t>Step 4) </a:t>
            </a:r>
            <a:r>
              <a:rPr lang="en-US" sz="2400" b="0" i="0" dirty="0">
                <a:solidFill>
                  <a:srgbClr val="222222"/>
                </a:solidFill>
                <a:effectLst/>
                <a:latin typeface="Source Sans Pro" panose="020B0503030403020204" pitchFamily="34" charset="0"/>
              </a:rPr>
              <a:t>Once it is done the node reports back to puppet master </a:t>
            </a:r>
            <a:r>
              <a:rPr lang="en-US" sz="2400" b="0" i="0" dirty="0">
                <a:solidFill>
                  <a:srgbClr val="FF0000"/>
                </a:solidFill>
                <a:effectLst/>
                <a:latin typeface="Source Sans Pro" panose="020B0503030403020204" pitchFamily="34" charset="0"/>
              </a:rPr>
              <a:t>indicating that the configuration has been applied and completed.</a:t>
            </a:r>
            <a:endParaRPr lang="en-IN" sz="2400" dirty="0">
              <a:solidFill>
                <a:srgbClr val="FF0000"/>
              </a:solidFill>
            </a:endParaRPr>
          </a:p>
        </p:txBody>
      </p:sp>
    </p:spTree>
    <p:extLst>
      <p:ext uri="{BB962C8B-B14F-4D97-AF65-F5344CB8AC3E}">
        <p14:creationId xmlns:p14="http://schemas.microsoft.com/office/powerpoint/2010/main" val="3975274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B28F3E-BDAB-4DD2-9166-BFEE3FF1C0CB}"/>
              </a:ext>
            </a:extLst>
          </p:cNvPr>
          <p:cNvSpPr txBox="1"/>
          <p:nvPr/>
        </p:nvSpPr>
        <p:spPr>
          <a:xfrm>
            <a:off x="172278" y="198784"/>
            <a:ext cx="11622156" cy="4154984"/>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The Connection Between Puppet Master Server and Puppet Agent Nodes</a:t>
            </a:r>
          </a:p>
          <a:p>
            <a:pPr algn="just"/>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just"/>
            <a:r>
              <a:rPr lang="en-US" sz="2400" b="0" i="0" dirty="0">
                <a:solidFill>
                  <a:srgbClr val="3A3A3A"/>
                </a:solidFill>
                <a:effectLst/>
                <a:latin typeface="Times New Roman" panose="02020603050405020304" pitchFamily="18" charset="0"/>
                <a:cs typeface="Times New Roman" panose="02020603050405020304" pitchFamily="18" charset="0"/>
              </a:rPr>
              <a:t>As we can see, the Puppet master and the Puppet agents have to communicate with each other in order to let Puppet work seamlessly, but how exactly do they communicate?</a:t>
            </a:r>
          </a:p>
          <a:p>
            <a:pPr algn="just"/>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just"/>
            <a:r>
              <a:rPr lang="en-US" sz="2400" b="0" i="0" dirty="0">
                <a:solidFill>
                  <a:schemeClr val="accent1"/>
                </a:solidFill>
                <a:effectLst/>
                <a:latin typeface="Times New Roman" panose="02020603050405020304" pitchFamily="18" charset="0"/>
                <a:cs typeface="Times New Roman" panose="02020603050405020304" pitchFamily="18" charset="0"/>
              </a:rPr>
              <a:t>Let’s understand the workflow of Puppet step by step:</a:t>
            </a:r>
          </a:p>
          <a:p>
            <a:pPr algn="just"/>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The nodes that the Puppet master controls have Puppet agents installed on them</a:t>
            </a:r>
            <a:r>
              <a:rPr lang="en-US" sz="2400" b="0" i="0" dirty="0">
                <a:solidFill>
                  <a:srgbClr val="3A3A3A"/>
                </a:solidFill>
                <a:effectLst/>
                <a:latin typeface="Times New Roman" panose="02020603050405020304" pitchFamily="18" charset="0"/>
                <a:cs typeface="Times New Roman" panose="02020603050405020304" pitchFamily="18" charset="0"/>
              </a:rPr>
              <a:t>. The agents collect all the configuration information about their particular nodes </a:t>
            </a:r>
            <a:r>
              <a:rPr lang="en-US" sz="2400" b="0" i="0" dirty="0">
                <a:solidFill>
                  <a:srgbClr val="FF0000"/>
                </a:solidFill>
                <a:effectLst/>
                <a:latin typeface="Times New Roman" panose="02020603050405020304" pitchFamily="18" charset="0"/>
                <a:cs typeface="Times New Roman" panose="02020603050405020304" pitchFamily="18" charset="0"/>
              </a:rPr>
              <a:t>using facts</a:t>
            </a:r>
            <a:r>
              <a:rPr lang="en-US" sz="2400" b="0" i="0" dirty="0">
                <a:solidFill>
                  <a:srgbClr val="3A3A3A"/>
                </a:solidFill>
                <a:effectLst/>
                <a:latin typeface="Times New Roman" panose="02020603050405020304" pitchFamily="18" charset="0"/>
                <a:cs typeface="Times New Roman" panose="02020603050405020304" pitchFamily="18" charset="0"/>
              </a:rPr>
              <a:t>. Agents then send facts to the Puppet master.</a:t>
            </a:r>
          </a:p>
          <a:p>
            <a:pPr algn="l"/>
            <a:endParaRPr lang="en-US" sz="24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6650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7E573F-DDD5-4D26-A3AA-351C05AD6836}"/>
              </a:ext>
            </a:extLst>
          </p:cNvPr>
          <p:cNvSpPr txBox="1"/>
          <p:nvPr/>
        </p:nvSpPr>
        <p:spPr>
          <a:xfrm>
            <a:off x="92765" y="119270"/>
            <a:ext cx="12006470" cy="6001643"/>
          </a:xfrm>
          <a:prstGeom prst="rect">
            <a:avLst/>
          </a:prstGeom>
          <a:noFill/>
        </p:spPr>
        <p:txBody>
          <a:bodyPr wrap="square">
            <a:spAutoFit/>
          </a:bodyPr>
          <a:lstStyle/>
          <a:p>
            <a:pPr algn="l">
              <a:buFont typeface="Arial" panose="020B0604020202020204" pitchFamily="34" charset="0"/>
              <a:buChar char="•"/>
            </a:pPr>
            <a:r>
              <a:rPr lang="en-US" sz="2400" b="0" i="0" dirty="0">
                <a:solidFill>
                  <a:srgbClr val="3A3A3A"/>
                </a:solidFill>
                <a:effectLst/>
                <a:latin typeface="Times New Roman" panose="02020603050405020304" pitchFamily="18" charset="0"/>
                <a:cs typeface="Times New Roman" panose="02020603050405020304" pitchFamily="18" charset="0"/>
              </a:rPr>
              <a:t>After gaining all the information, </a:t>
            </a:r>
            <a:r>
              <a:rPr lang="en-US" sz="2400" b="0" i="0" dirty="0">
                <a:solidFill>
                  <a:srgbClr val="FF0000"/>
                </a:solidFill>
                <a:effectLst/>
                <a:latin typeface="Times New Roman" panose="02020603050405020304" pitchFamily="18" charset="0"/>
                <a:cs typeface="Times New Roman" panose="02020603050405020304" pitchFamily="18" charset="0"/>
              </a:rPr>
              <a:t>the Puppet master compiles a catalog based on how the nodes should be configured</a:t>
            </a:r>
            <a:r>
              <a:rPr lang="en-US" sz="2400" b="0" i="0" dirty="0">
                <a:solidFill>
                  <a:srgbClr val="3A3A3A"/>
                </a:solidFill>
                <a:effectLst/>
                <a:latin typeface="Times New Roman" panose="02020603050405020304" pitchFamily="18" charset="0"/>
                <a:cs typeface="Times New Roman" panose="02020603050405020304" pitchFamily="18" charset="0"/>
              </a:rPr>
              <a:t>. The Puppet master then sends back the catalog to the agents.</a:t>
            </a:r>
          </a:p>
          <a:p>
            <a:pPr algn="l"/>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3A3A3A"/>
                </a:solidFill>
                <a:effectLst/>
                <a:latin typeface="Times New Roman" panose="02020603050405020304" pitchFamily="18" charset="0"/>
                <a:cs typeface="Times New Roman" panose="02020603050405020304" pitchFamily="18" charset="0"/>
              </a:rPr>
              <a:t>Each agent uses these catalogs and the information in them to make necessary configuration updates on their nodes and then reports back to the Puppet master.</a:t>
            </a:r>
          </a:p>
          <a:p>
            <a:pPr algn="l"/>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3A3A3A"/>
                </a:solidFill>
                <a:effectLst/>
                <a:latin typeface="Times New Roman" panose="02020603050405020304" pitchFamily="18" charset="0"/>
                <a:cs typeface="Times New Roman" panose="02020603050405020304" pitchFamily="18" charset="0"/>
              </a:rPr>
              <a:t>The Puppet master can also share the reports with a third-party tool if needed.</a:t>
            </a:r>
          </a:p>
          <a:p>
            <a:pPr algn="l">
              <a:buFont typeface="Arial" panose="020B0604020202020204" pitchFamily="34" charset="0"/>
              <a:buChar char="•"/>
            </a:pPr>
            <a:endParaRPr lang="en-US" sz="2400" dirty="0">
              <a:solidFill>
                <a:srgbClr val="3A3A3A"/>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3A3A3A"/>
                </a:solidFill>
                <a:effectLst/>
                <a:latin typeface="Times New Roman" panose="02020603050405020304" pitchFamily="18" charset="0"/>
                <a:cs typeface="Times New Roman" panose="02020603050405020304" pitchFamily="18" charset="0"/>
              </a:rPr>
              <a:t>The Puppet master communicates with a Puppet agent via HTTPS (</a:t>
            </a:r>
            <a:r>
              <a:rPr lang="en-US" sz="2400" b="0" i="0" dirty="0" err="1">
                <a:solidFill>
                  <a:srgbClr val="3A3A3A"/>
                </a:solidFill>
                <a:effectLst/>
                <a:latin typeface="Times New Roman" panose="02020603050405020304" pitchFamily="18" charset="0"/>
                <a:cs typeface="Times New Roman" panose="02020603050405020304" pitchFamily="18" charset="0"/>
              </a:rPr>
              <a:t>HyperText</a:t>
            </a:r>
            <a:r>
              <a:rPr lang="en-US" sz="2400" b="0" i="0" dirty="0">
                <a:solidFill>
                  <a:srgbClr val="3A3A3A"/>
                </a:solidFill>
                <a:effectLst/>
                <a:latin typeface="Times New Roman" panose="02020603050405020304" pitchFamily="18" charset="0"/>
                <a:cs typeface="Times New Roman" panose="02020603050405020304" pitchFamily="18" charset="0"/>
              </a:rPr>
              <a:t> Transfer Protocol Secure) with client verification. </a:t>
            </a:r>
          </a:p>
          <a:p>
            <a:pPr algn="l">
              <a:buFont typeface="Arial" panose="020B0604020202020204" pitchFamily="34" charset="0"/>
              <a:buChar char="•"/>
            </a:pPr>
            <a:endParaRPr lang="en-US" sz="2400" dirty="0">
              <a:solidFill>
                <a:srgbClr val="3A3A3A"/>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3A3A3A"/>
                </a:solidFill>
                <a:effectLst/>
                <a:latin typeface="Times New Roman" panose="02020603050405020304" pitchFamily="18" charset="0"/>
                <a:cs typeface="Times New Roman" panose="02020603050405020304" pitchFamily="18" charset="0"/>
              </a:rPr>
              <a:t>The Puppet master provides an HTTP interface. Whenever the Puppet agent has to make a request or submission to the Puppet master, </a:t>
            </a:r>
          </a:p>
          <a:p>
            <a:pPr algn="l">
              <a:buFont typeface="Arial" panose="020B0604020202020204" pitchFamily="34" charset="0"/>
              <a:buChar char="•"/>
            </a:pPr>
            <a:endParaRPr lang="en-US" sz="2400" dirty="0">
              <a:solidFill>
                <a:srgbClr val="3A3A3A"/>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3A3A3A"/>
                </a:solidFill>
                <a:effectLst/>
                <a:latin typeface="Times New Roman" panose="02020603050405020304" pitchFamily="18" charset="0"/>
                <a:cs typeface="Times New Roman" panose="02020603050405020304" pitchFamily="18" charset="0"/>
              </a:rPr>
              <a:t>it just makes an HTTPS request to one of the endpoints available in the HTTP interface provided by the Puppet master.</a:t>
            </a:r>
          </a:p>
        </p:txBody>
      </p:sp>
    </p:spTree>
    <p:extLst>
      <p:ext uri="{BB962C8B-B14F-4D97-AF65-F5344CB8AC3E}">
        <p14:creationId xmlns:p14="http://schemas.microsoft.com/office/powerpoint/2010/main" val="4076414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the Puppet connections are getting established between puppet master server and Puppet agent nodes">
            <a:extLst>
              <a:ext uri="{FF2B5EF4-FFF2-40B4-BE49-F238E27FC236}">
                <a16:creationId xmlns:a16="http://schemas.microsoft.com/office/drawing/2014/main" id="{6B85D90C-C9CA-42FA-8E9C-B4F4890E3B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827" y="136090"/>
            <a:ext cx="11383616" cy="6185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946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ansible-introduction">
            <a:extLst>
              <a:ext uri="{FF2B5EF4-FFF2-40B4-BE49-F238E27FC236}">
                <a16:creationId xmlns:a16="http://schemas.microsoft.com/office/drawing/2014/main" id="{4142888B-FA3C-42B3-B21D-C1E84288BA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304" y="258655"/>
            <a:ext cx="11860696" cy="5996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788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12AF27-ED8D-4F3F-A86B-BFA09F428929}"/>
              </a:ext>
            </a:extLst>
          </p:cNvPr>
          <p:cNvSpPr txBox="1"/>
          <p:nvPr/>
        </p:nvSpPr>
        <p:spPr>
          <a:xfrm>
            <a:off x="0" y="1"/>
            <a:ext cx="12192000" cy="6001643"/>
          </a:xfrm>
          <a:prstGeom prst="rect">
            <a:avLst/>
          </a:prstGeom>
          <a:no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What is Ansible?(Push based)</a:t>
            </a:r>
          </a:p>
          <a:p>
            <a:pPr algn="just"/>
            <a:endParaRPr lang="en-US" sz="2400" b="1" dirty="0">
              <a:solidFill>
                <a:srgbClr val="262524"/>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solidFill>
                  <a:srgbClr val="262524"/>
                </a:solidFill>
                <a:latin typeface="Times New Roman" panose="02020603050405020304" pitchFamily="18" charset="0"/>
                <a:cs typeface="Times New Roman" panose="02020603050405020304" pitchFamily="18" charset="0"/>
              </a:rPr>
              <a:t>Ansible is an open source </a:t>
            </a:r>
            <a:r>
              <a:rPr lang="en-US" sz="2400" dirty="0">
                <a:solidFill>
                  <a:srgbClr val="FF4E00"/>
                </a:solidFill>
                <a:latin typeface="Times New Roman" panose="02020603050405020304" pitchFamily="18" charset="0"/>
                <a:cs typeface="Times New Roman" panose="02020603050405020304" pitchFamily="18" charset="0"/>
                <a:hlinkClick r:id="rId2"/>
              </a:rPr>
              <a:t>DevOps</a:t>
            </a:r>
            <a:r>
              <a:rPr lang="en-US" sz="2400" dirty="0">
                <a:solidFill>
                  <a:srgbClr val="262524"/>
                </a:solidFill>
                <a:latin typeface="Times New Roman" panose="02020603050405020304" pitchFamily="18" charset="0"/>
                <a:cs typeface="Times New Roman" panose="02020603050405020304" pitchFamily="18" charset="0"/>
              </a:rPr>
              <a:t> tool which can help the business in configuration management, deployment, provisioning(</a:t>
            </a:r>
            <a:r>
              <a:rPr lang="en-US" sz="2400" b="1" i="0" dirty="0">
                <a:solidFill>
                  <a:srgbClr val="202124"/>
                </a:solidFill>
                <a:effectLst/>
                <a:latin typeface="Times New Roman" panose="02020603050405020304" pitchFamily="18" charset="0"/>
                <a:cs typeface="Times New Roman" panose="02020603050405020304" pitchFamily="18" charset="0"/>
              </a:rPr>
              <a:t>the process of setting up IT infrastructure</a:t>
            </a:r>
            <a:r>
              <a:rPr lang="en-US" sz="2400" dirty="0">
                <a:solidFill>
                  <a:srgbClr val="262524"/>
                </a:solidFill>
                <a:latin typeface="Times New Roman" panose="02020603050405020304" pitchFamily="18" charset="0"/>
                <a:cs typeface="Times New Roman" panose="02020603050405020304" pitchFamily="18" charset="0"/>
              </a:rPr>
              <a:t>), etc.</a:t>
            </a:r>
          </a:p>
          <a:p>
            <a:pPr marL="342900" indent="-342900" algn="just">
              <a:buFont typeface="Wingdings" panose="05000000000000000000" pitchFamily="2" charset="2"/>
              <a:buChar char="§"/>
            </a:pPr>
            <a:endParaRPr lang="en-US" sz="2400" dirty="0">
              <a:solidFill>
                <a:srgbClr val="262524"/>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solidFill>
                  <a:srgbClr val="262524"/>
                </a:solidFill>
                <a:latin typeface="Times New Roman" panose="02020603050405020304" pitchFamily="18" charset="0"/>
                <a:cs typeface="Times New Roman" panose="02020603050405020304" pitchFamily="18" charset="0"/>
              </a:rPr>
              <a:t>It leverages SSH(</a:t>
            </a:r>
            <a:r>
              <a:rPr lang="en-US" sz="2400" b="0" i="0" dirty="0">
                <a:solidFill>
                  <a:srgbClr val="0070C0"/>
                </a:solidFill>
                <a:effectLst/>
                <a:latin typeface="Times New Roman" panose="02020603050405020304" pitchFamily="18" charset="0"/>
                <a:cs typeface="Times New Roman" panose="02020603050405020304" pitchFamily="18" charset="0"/>
              </a:rPr>
              <a:t>Secure Shell is </a:t>
            </a:r>
            <a:r>
              <a:rPr lang="en-US" sz="2400" b="1" i="0" dirty="0">
                <a:solidFill>
                  <a:srgbClr val="0070C0"/>
                </a:solidFill>
                <a:effectLst/>
                <a:latin typeface="Times New Roman" panose="02020603050405020304" pitchFamily="18" charset="0"/>
                <a:cs typeface="Times New Roman" panose="02020603050405020304" pitchFamily="18" charset="0"/>
              </a:rPr>
              <a:t>a network communication protocol that enables two com</a:t>
            </a:r>
            <a:r>
              <a:rPr lang="en-US" sz="2400" dirty="0">
                <a:solidFill>
                  <a:srgbClr val="FF0000"/>
                </a:solidFill>
                <a:latin typeface="Times New Roman" panose="02020603050405020304" pitchFamily="18" charset="0"/>
                <a:cs typeface="Times New Roman" panose="02020603050405020304" pitchFamily="18" charset="0"/>
              </a:rPr>
              <a:t>(http or hypertext transfer protocol, which is the protocol used to transfer hypertext such as web pages)</a:t>
            </a:r>
            <a:r>
              <a:rPr lang="en-US" sz="2400" b="1" i="0" dirty="0">
                <a:solidFill>
                  <a:srgbClr val="0070C0"/>
                </a:solidFill>
                <a:effectLst/>
                <a:latin typeface="Times New Roman" panose="02020603050405020304" pitchFamily="18" charset="0"/>
                <a:cs typeface="Times New Roman" panose="02020603050405020304" pitchFamily="18" charset="0"/>
              </a:rPr>
              <a:t> to communicate..</a:t>
            </a:r>
            <a:r>
              <a:rPr lang="en-US" sz="2400" b="0" i="0" dirty="0">
                <a:solidFill>
                  <a:srgbClr val="0070C0"/>
                </a:solidFill>
                <a:effectLst/>
                <a:latin typeface="Times New Roman" panose="02020603050405020304" pitchFamily="18" charset="0"/>
                <a:cs typeface="Times New Roman" panose="02020603050405020304" pitchFamily="18" charset="0"/>
              </a:rPr>
              <a:t> and share data </a:t>
            </a:r>
            <a:r>
              <a:rPr lang="en-US" sz="2400" dirty="0">
                <a:solidFill>
                  <a:srgbClr val="262524"/>
                </a:solidFill>
                <a:latin typeface="Times New Roman" panose="02020603050405020304" pitchFamily="18" charset="0"/>
                <a:cs typeface="Times New Roman" panose="02020603050405020304" pitchFamily="18" charset="0"/>
              </a:rPr>
              <a:t>to communicate between servers. </a:t>
            </a:r>
          </a:p>
          <a:p>
            <a:pPr marL="342900" indent="-342900" algn="just">
              <a:buFont typeface="Wingdings" panose="05000000000000000000" pitchFamily="2" charset="2"/>
              <a:buChar char="§"/>
            </a:pPr>
            <a:endParaRPr lang="en-US" sz="2400" dirty="0">
              <a:solidFill>
                <a:srgbClr val="262524"/>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solidFill>
                  <a:srgbClr val="262524"/>
                </a:solidFill>
                <a:latin typeface="Times New Roman" panose="02020603050405020304" pitchFamily="18" charset="0"/>
                <a:cs typeface="Times New Roman" panose="02020603050405020304" pitchFamily="18" charset="0"/>
              </a:rPr>
              <a:t>Ansible provides reliability, consistency, and scalability to your IT infrastructure. You can automate configurations of databases, storage, networks, firewalls using Ansible.</a:t>
            </a:r>
          </a:p>
          <a:p>
            <a:pPr marL="342900" indent="-342900" algn="just">
              <a:buFont typeface="Wingdings" panose="05000000000000000000" pitchFamily="2" charset="2"/>
              <a:buChar char="§"/>
            </a:pPr>
            <a:endParaRPr lang="en-US" sz="2400" dirty="0">
              <a:solidFill>
                <a:srgbClr val="262524"/>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solidFill>
                  <a:srgbClr val="262524"/>
                </a:solidFill>
                <a:latin typeface="Times New Roman" panose="02020603050405020304" pitchFamily="18" charset="0"/>
                <a:cs typeface="Times New Roman" panose="02020603050405020304" pitchFamily="18" charset="0"/>
              </a:rPr>
              <a:t> It makes sure that all the necessary packages and all other software are consistent on the server to run the application.</a:t>
            </a:r>
          </a:p>
          <a:p>
            <a:pPr algn="just"/>
            <a:endParaRPr lang="en-US" sz="2400" dirty="0">
              <a:solidFill>
                <a:srgbClr val="262524"/>
              </a:solidFill>
              <a:latin typeface="Times New Roman" panose="02020603050405020304" pitchFamily="18" charset="0"/>
              <a:cs typeface="Times New Roman" panose="02020603050405020304" pitchFamily="18" charset="0"/>
            </a:endParaRPr>
          </a:p>
          <a:p>
            <a:pPr algn="just"/>
            <a:endParaRPr lang="en-US" sz="2400" b="0" i="0" dirty="0">
              <a:solidFill>
                <a:srgbClr val="26252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154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CE027E-6811-4105-87CD-415313C5CBB5}"/>
              </a:ext>
            </a:extLst>
          </p:cNvPr>
          <p:cNvSpPr txBox="1"/>
          <p:nvPr/>
        </p:nvSpPr>
        <p:spPr>
          <a:xfrm>
            <a:off x="0" y="1"/>
            <a:ext cx="12192000" cy="5262979"/>
          </a:xfrm>
          <a:prstGeom prst="rect">
            <a:avLst/>
          </a:prstGeom>
          <a:noFill/>
        </p:spPr>
        <p:txBody>
          <a:bodyPr wrap="square">
            <a:spAutoFit/>
          </a:bodyPr>
          <a:lstStyle/>
          <a:p>
            <a:pPr algn="just"/>
            <a:endParaRPr lang="en-US" sz="2400" dirty="0">
              <a:solidFill>
                <a:srgbClr val="7030A0"/>
              </a:solidFill>
              <a:latin typeface="Times New Roman" panose="02020603050405020304" pitchFamily="18" charset="0"/>
              <a:cs typeface="Times New Roman" panose="02020603050405020304" pitchFamily="18" charset="0"/>
            </a:endParaRPr>
          </a:p>
          <a:p>
            <a:pPr algn="just"/>
            <a:r>
              <a:rPr lang="en-US" sz="2400" dirty="0">
                <a:solidFill>
                  <a:srgbClr val="7030A0"/>
                </a:solidFill>
                <a:latin typeface="Times New Roman" panose="02020603050405020304" pitchFamily="18" charset="0"/>
                <a:cs typeface="Times New Roman" panose="02020603050405020304" pitchFamily="18" charset="0"/>
              </a:rPr>
              <a:t>Let’s take an example; you’ve got a debug version of an application that is built on visual C++. </a:t>
            </a:r>
          </a:p>
          <a:p>
            <a:pPr algn="just"/>
            <a:endParaRPr lang="en-US" sz="2400" dirty="0">
              <a:solidFill>
                <a:srgbClr val="7030A0"/>
              </a:solidFill>
              <a:latin typeface="Times New Roman" panose="02020603050405020304" pitchFamily="18" charset="0"/>
              <a:cs typeface="Times New Roman" panose="02020603050405020304" pitchFamily="18" charset="0"/>
            </a:endParaRPr>
          </a:p>
          <a:p>
            <a:pPr algn="just"/>
            <a:r>
              <a:rPr lang="en-US" sz="2400" dirty="0">
                <a:solidFill>
                  <a:srgbClr val="7030A0"/>
                </a:solidFill>
                <a:latin typeface="Times New Roman" panose="02020603050405020304" pitchFamily="18" charset="0"/>
                <a:cs typeface="Times New Roman" panose="02020603050405020304" pitchFamily="18" charset="0"/>
              </a:rPr>
              <a:t>Now if you want to run that application on a computer, you would need to meet some prerequisites like Microsoft Visual C++ library DLLs, and you would need visual C++ installed in your computer. </a:t>
            </a:r>
          </a:p>
          <a:p>
            <a:pPr algn="just"/>
            <a:endParaRPr lang="en-US" sz="2400" dirty="0">
              <a:solidFill>
                <a:srgbClr val="7030A0"/>
              </a:solidFill>
              <a:latin typeface="Times New Roman" panose="02020603050405020304" pitchFamily="18" charset="0"/>
              <a:cs typeface="Times New Roman" panose="02020603050405020304" pitchFamily="18" charset="0"/>
            </a:endParaRPr>
          </a:p>
          <a:p>
            <a:pPr algn="just"/>
            <a:r>
              <a:rPr lang="en-US" sz="2400" dirty="0">
                <a:solidFill>
                  <a:srgbClr val="7030A0"/>
                </a:solidFill>
                <a:latin typeface="Times New Roman" panose="02020603050405020304" pitchFamily="18" charset="0"/>
                <a:cs typeface="Times New Roman" panose="02020603050405020304" pitchFamily="18" charset="0"/>
              </a:rPr>
              <a:t>So, this is the part where Ansible will make sure that all these basic packages and all the software’s are installed in your computer so that your application can run smoothly on all the environments, may it be test or production environment.</a:t>
            </a:r>
          </a:p>
          <a:p>
            <a:pPr algn="just"/>
            <a:endParaRPr lang="en-US" sz="2400" dirty="0">
              <a:solidFill>
                <a:srgbClr val="7030A0"/>
              </a:solidFill>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It also holds all the historical data of your application, so if at any time you want to roll back to the previous version, or you want to upgrade it, you can easily do that.</a:t>
            </a:r>
          </a:p>
          <a:p>
            <a:pPr algn="just"/>
            <a:endParaRPr lang="en-US" sz="2400" dirty="0">
              <a:solidFill>
                <a:srgbClr val="26252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7713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230E92-D81E-4EBA-8AAA-CEE6BB904A17}"/>
              </a:ext>
            </a:extLst>
          </p:cNvPr>
          <p:cNvSpPr txBox="1"/>
          <p:nvPr/>
        </p:nvSpPr>
        <p:spPr>
          <a:xfrm>
            <a:off x="212035" y="92765"/>
            <a:ext cx="8931965" cy="369332"/>
          </a:xfrm>
          <a:prstGeom prst="rect">
            <a:avLst/>
          </a:prstGeom>
          <a:noFill/>
        </p:spPr>
        <p:txBody>
          <a:bodyPr wrap="square">
            <a:spAutoFit/>
          </a:bodyPr>
          <a:lstStyle/>
          <a:p>
            <a:pPr algn="just"/>
            <a:r>
              <a:rPr lang="en-IN" b="1" i="0" dirty="0">
                <a:solidFill>
                  <a:srgbClr val="262524"/>
                </a:solidFill>
                <a:effectLst/>
                <a:latin typeface="Geekflare"/>
              </a:rPr>
              <a:t>How Ansible Works?</a:t>
            </a:r>
          </a:p>
        </p:txBody>
      </p:sp>
      <p:pic>
        <p:nvPicPr>
          <p:cNvPr id="4098" name="Picture 2" descr="how ansible works">
            <a:extLst>
              <a:ext uri="{FF2B5EF4-FFF2-40B4-BE49-F238E27FC236}">
                <a16:creationId xmlns:a16="http://schemas.microsoft.com/office/drawing/2014/main" id="{AF3E323F-048D-4E92-AD17-3063733EAD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71" y="462097"/>
            <a:ext cx="11025808" cy="44412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2AF5BD-8572-4273-94BA-77B4C6D1A1A9}"/>
              </a:ext>
            </a:extLst>
          </p:cNvPr>
          <p:cNvSpPr txBox="1"/>
          <p:nvPr/>
        </p:nvSpPr>
        <p:spPr>
          <a:xfrm>
            <a:off x="397565" y="4201942"/>
            <a:ext cx="11383617" cy="2585323"/>
          </a:xfrm>
          <a:prstGeom prst="rect">
            <a:avLst/>
          </a:prstGeom>
          <a:noFill/>
        </p:spPr>
        <p:txBody>
          <a:bodyPr wrap="square">
            <a:spAutoFit/>
          </a:bodyPr>
          <a:lstStyle/>
          <a:p>
            <a:pPr algn="l"/>
            <a:endParaRPr lang="en-US" b="0" i="0" dirty="0">
              <a:solidFill>
                <a:srgbClr val="202124"/>
              </a:solidFill>
              <a:effectLst/>
              <a:latin typeface="arial" panose="020B0604020202020204" pitchFamily="34" charset="0"/>
            </a:endParaRPr>
          </a:p>
          <a:p>
            <a:pPr algn="l"/>
            <a:endParaRPr lang="en-US" dirty="0">
              <a:solidFill>
                <a:srgbClr val="202124"/>
              </a:solidFill>
              <a:latin typeface="arial" panose="020B0604020202020204" pitchFamily="34" charset="0"/>
            </a:endParaRPr>
          </a:p>
          <a:p>
            <a:pPr algn="l"/>
            <a:endParaRPr lang="en-US" b="0" i="0" dirty="0">
              <a:solidFill>
                <a:srgbClr val="202124"/>
              </a:solidFill>
              <a:effectLst/>
              <a:latin typeface="arial" panose="020B0604020202020204" pitchFamily="34" charset="0"/>
            </a:endParaRPr>
          </a:p>
          <a:p>
            <a:pPr algn="l"/>
            <a:endParaRPr lang="en-US" dirty="0">
              <a:solidFill>
                <a:srgbClr val="202124"/>
              </a:solidFill>
              <a:latin typeface="arial" panose="020B0604020202020204" pitchFamily="34" charset="0"/>
            </a:endParaRPr>
          </a:p>
          <a:p>
            <a:pPr algn="l"/>
            <a:endParaRPr lang="en-US" b="0" i="0" dirty="0">
              <a:solidFill>
                <a:srgbClr val="202124"/>
              </a:solidFill>
              <a:effectLst/>
              <a:latin typeface="arial" panose="020B0604020202020204" pitchFamily="34" charset="0"/>
            </a:endParaRPr>
          </a:p>
          <a:p>
            <a:pPr algn="l"/>
            <a:r>
              <a:rPr lang="en-US" b="0" i="0" dirty="0">
                <a:solidFill>
                  <a:srgbClr val="202124"/>
                </a:solidFill>
                <a:effectLst/>
                <a:latin typeface="arial" panose="020B0604020202020204" pitchFamily="34" charset="0"/>
              </a:rPr>
              <a:t>What are playbook tasks?</a:t>
            </a:r>
          </a:p>
          <a:p>
            <a:pPr algn="l"/>
            <a:r>
              <a:rPr lang="en-US" b="0" i="0" dirty="0">
                <a:solidFill>
                  <a:srgbClr val="FF0000"/>
                </a:solidFill>
                <a:effectLst/>
                <a:latin typeface="arial" panose="020B0604020202020204" pitchFamily="34" charset="0"/>
              </a:rPr>
              <a:t>A task is </a:t>
            </a:r>
            <a:r>
              <a:rPr lang="en-US" b="1" i="0" dirty="0">
                <a:solidFill>
                  <a:srgbClr val="FF0000"/>
                </a:solidFill>
                <a:effectLst/>
                <a:latin typeface="arial" panose="020B0604020202020204" pitchFamily="34" charset="0"/>
              </a:rPr>
              <a:t>the smallest unit of action you can automate using an</a:t>
            </a:r>
            <a:r>
              <a:rPr lang="en-US" b="0" i="0" dirty="0">
                <a:solidFill>
                  <a:srgbClr val="FF0000"/>
                </a:solidFill>
                <a:effectLst/>
                <a:latin typeface="arial" panose="020B0604020202020204" pitchFamily="34" charset="0"/>
              </a:rPr>
              <a:t> Ansible playbook. </a:t>
            </a:r>
            <a:r>
              <a:rPr lang="en-US" b="0" i="0" dirty="0">
                <a:solidFill>
                  <a:srgbClr val="202124"/>
                </a:solidFill>
                <a:effectLst/>
                <a:latin typeface="arial" panose="020B0604020202020204" pitchFamily="34" charset="0"/>
              </a:rPr>
              <a:t>Playbooks typically contain a series of tasks that serve a goal, such as to set up a web server, or to deploy an application to remote environments. Ansible executes tasks in the same order they are defined inside a playbook.</a:t>
            </a:r>
          </a:p>
        </p:txBody>
      </p:sp>
    </p:spTree>
    <p:extLst>
      <p:ext uri="{BB962C8B-B14F-4D97-AF65-F5344CB8AC3E}">
        <p14:creationId xmlns:p14="http://schemas.microsoft.com/office/powerpoint/2010/main" val="2759363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5D6287-645F-483D-8BAF-E427557331A4}"/>
              </a:ext>
            </a:extLst>
          </p:cNvPr>
          <p:cNvSpPr txBox="1"/>
          <p:nvPr/>
        </p:nvSpPr>
        <p:spPr>
          <a:xfrm>
            <a:off x="0" y="1"/>
            <a:ext cx="12192000" cy="6340197"/>
          </a:xfrm>
          <a:prstGeom prst="rect">
            <a:avLst/>
          </a:prstGeom>
          <a:noFill/>
        </p:spPr>
        <p:txBody>
          <a:bodyPr wrap="square">
            <a:spAutoFit/>
          </a:bodyPr>
          <a:lstStyle/>
          <a:p>
            <a:pPr algn="just"/>
            <a:r>
              <a:rPr lang="en-US" sz="2100" b="1" i="0" dirty="0">
                <a:solidFill>
                  <a:srgbClr val="7030A0"/>
                </a:solidFill>
                <a:effectLst/>
                <a:latin typeface="Times New Roman" panose="02020603050405020304" pitchFamily="18" charset="0"/>
                <a:cs typeface="Times New Roman" panose="02020603050405020304" pitchFamily="18" charset="0"/>
              </a:rPr>
              <a:t>Ansible Workflow</a:t>
            </a:r>
          </a:p>
          <a:p>
            <a:pPr algn="just"/>
            <a:endParaRPr lang="en-US" sz="2100" b="1" i="0" dirty="0">
              <a:solidFill>
                <a:srgbClr val="7030A0"/>
              </a:solidFill>
              <a:effectLst/>
              <a:latin typeface="Times New Roman" panose="02020603050405020304" pitchFamily="18" charset="0"/>
              <a:cs typeface="Times New Roman" panose="02020603050405020304" pitchFamily="18" charset="0"/>
            </a:endParaRPr>
          </a:p>
          <a:p>
            <a:pPr algn="just"/>
            <a:r>
              <a:rPr lang="en-US" sz="2100" b="0" i="0" dirty="0">
                <a:solidFill>
                  <a:srgbClr val="333333"/>
                </a:solidFill>
                <a:effectLst/>
                <a:latin typeface="Times New Roman" panose="02020603050405020304" pitchFamily="18" charset="0"/>
                <a:cs typeface="Times New Roman" panose="02020603050405020304" pitchFamily="18" charset="0"/>
              </a:rPr>
              <a:t>Ansible works by connecting to your nodes and </a:t>
            </a:r>
            <a:r>
              <a:rPr lang="en-US" sz="2100" b="0" i="0" dirty="0">
                <a:solidFill>
                  <a:srgbClr val="7030A0"/>
                </a:solidFill>
                <a:effectLst/>
                <a:latin typeface="Times New Roman" panose="02020603050405020304" pitchFamily="18" charset="0"/>
                <a:cs typeface="Times New Roman" panose="02020603050405020304" pitchFamily="18" charset="0"/>
              </a:rPr>
              <a:t>pushing out a small program called </a:t>
            </a:r>
            <a:r>
              <a:rPr lang="en-US" sz="2100" b="1" i="0" dirty="0">
                <a:solidFill>
                  <a:srgbClr val="7030A0"/>
                </a:solidFill>
                <a:effectLst/>
                <a:latin typeface="Times New Roman" panose="02020603050405020304" pitchFamily="18" charset="0"/>
                <a:cs typeface="Times New Roman" panose="02020603050405020304" pitchFamily="18" charset="0"/>
              </a:rPr>
              <a:t>Ansible modules</a:t>
            </a:r>
            <a:r>
              <a:rPr lang="en-US" sz="2100" b="0" i="0" dirty="0">
                <a:solidFill>
                  <a:srgbClr val="7030A0"/>
                </a:solidFill>
                <a:effectLst/>
                <a:latin typeface="Times New Roman" panose="02020603050405020304" pitchFamily="18" charset="0"/>
                <a:cs typeface="Times New Roman" panose="02020603050405020304" pitchFamily="18" charset="0"/>
              </a:rPr>
              <a:t> to them. </a:t>
            </a:r>
          </a:p>
          <a:p>
            <a:pPr algn="just"/>
            <a:endParaRPr lang="en-US" sz="2100" dirty="0">
              <a:solidFill>
                <a:srgbClr val="7030A0"/>
              </a:solidFill>
              <a:latin typeface="Times New Roman" panose="02020603050405020304" pitchFamily="18" charset="0"/>
              <a:cs typeface="Times New Roman" panose="02020603050405020304" pitchFamily="18" charset="0"/>
            </a:endParaRPr>
          </a:p>
          <a:p>
            <a:pPr algn="just"/>
            <a:r>
              <a:rPr lang="en-US" sz="2100" b="0" i="0" dirty="0">
                <a:solidFill>
                  <a:srgbClr val="333333"/>
                </a:solidFill>
                <a:effectLst/>
                <a:latin typeface="Times New Roman" panose="02020603050405020304" pitchFamily="18" charset="0"/>
                <a:cs typeface="Times New Roman" panose="02020603050405020304" pitchFamily="18" charset="0"/>
              </a:rPr>
              <a:t>Then Ansible executed these </a:t>
            </a:r>
            <a:r>
              <a:rPr lang="en-US" sz="2800" b="0" i="0" dirty="0">
                <a:solidFill>
                  <a:srgbClr val="FF0000"/>
                </a:solidFill>
                <a:effectLst/>
                <a:latin typeface="Times New Roman" panose="02020603050405020304" pitchFamily="18" charset="0"/>
                <a:cs typeface="Times New Roman" panose="02020603050405020304" pitchFamily="18" charset="0"/>
              </a:rPr>
              <a:t>modules</a:t>
            </a:r>
            <a:r>
              <a:rPr lang="en-US" sz="2100" b="0" i="0" dirty="0">
                <a:solidFill>
                  <a:srgbClr val="FF0000"/>
                </a:solidFill>
                <a:effectLst/>
                <a:latin typeface="Times New Roman" panose="02020603050405020304" pitchFamily="18" charset="0"/>
                <a:cs typeface="Times New Roman" panose="02020603050405020304" pitchFamily="18" charset="0"/>
              </a:rPr>
              <a:t> and removed them after finished. </a:t>
            </a:r>
            <a:r>
              <a:rPr lang="en-US" sz="2100" b="0" i="0" dirty="0">
                <a:solidFill>
                  <a:srgbClr val="333333"/>
                </a:solidFill>
                <a:effectLst/>
                <a:latin typeface="Times New Roman" panose="02020603050405020304" pitchFamily="18" charset="0"/>
                <a:cs typeface="Times New Roman" panose="02020603050405020304" pitchFamily="18" charset="0"/>
              </a:rPr>
              <a:t>The library of modules can reside on any machine.</a:t>
            </a:r>
          </a:p>
          <a:p>
            <a:pPr algn="just"/>
            <a:endParaRPr lang="en-US" sz="2100" dirty="0">
              <a:solidFill>
                <a:srgbClr val="333333"/>
              </a:solidFill>
              <a:latin typeface="Times New Roman" panose="02020603050405020304" pitchFamily="18" charset="0"/>
              <a:cs typeface="Times New Roman" panose="02020603050405020304" pitchFamily="18" charset="0"/>
            </a:endParaRPr>
          </a:p>
          <a:p>
            <a:pPr algn="just"/>
            <a:r>
              <a:rPr lang="en-US" sz="2100" b="0" i="0" dirty="0">
                <a:solidFill>
                  <a:srgbClr val="333333"/>
                </a:solidFill>
                <a:effectLst/>
                <a:latin typeface="Times New Roman" panose="02020603050405020304" pitchFamily="18" charset="0"/>
                <a:cs typeface="Times New Roman" panose="02020603050405020304" pitchFamily="18" charset="0"/>
              </a:rPr>
              <a:t>In the above image, the </a:t>
            </a:r>
            <a:r>
              <a:rPr lang="en-US" sz="2100" b="1" i="0" dirty="0">
                <a:solidFill>
                  <a:srgbClr val="FF0000"/>
                </a:solidFill>
                <a:effectLst/>
                <a:latin typeface="Times New Roman" panose="02020603050405020304" pitchFamily="18" charset="0"/>
                <a:cs typeface="Times New Roman" panose="02020603050405020304" pitchFamily="18" charset="0"/>
              </a:rPr>
              <a:t>Management Node</a:t>
            </a:r>
            <a:r>
              <a:rPr lang="en-US" sz="2100" b="0" i="0" dirty="0">
                <a:solidFill>
                  <a:srgbClr val="FF0000"/>
                </a:solidFill>
                <a:effectLst/>
                <a:latin typeface="Times New Roman" panose="02020603050405020304" pitchFamily="18" charset="0"/>
                <a:cs typeface="Times New Roman" panose="02020603050405020304" pitchFamily="18" charset="0"/>
              </a:rPr>
              <a:t> </a:t>
            </a:r>
            <a:r>
              <a:rPr lang="en-US" sz="2100" b="0" i="0" dirty="0">
                <a:solidFill>
                  <a:srgbClr val="333333"/>
                </a:solidFill>
                <a:effectLst/>
                <a:latin typeface="Times New Roman" panose="02020603050405020304" pitchFamily="18" charset="0"/>
                <a:cs typeface="Times New Roman" panose="02020603050405020304" pitchFamily="18" charset="0"/>
              </a:rPr>
              <a:t>is the controlling node that controls the entire execution of the playbook. </a:t>
            </a:r>
          </a:p>
          <a:p>
            <a:pPr algn="just"/>
            <a:endParaRPr lang="en-US" sz="2100" dirty="0">
              <a:solidFill>
                <a:srgbClr val="333333"/>
              </a:solidFill>
              <a:latin typeface="Times New Roman" panose="02020603050405020304" pitchFamily="18" charset="0"/>
              <a:cs typeface="Times New Roman" panose="02020603050405020304" pitchFamily="18" charset="0"/>
            </a:endParaRPr>
          </a:p>
          <a:p>
            <a:pPr algn="just"/>
            <a:r>
              <a:rPr lang="en-US" sz="2100" b="0" i="0" dirty="0">
                <a:solidFill>
                  <a:srgbClr val="333333"/>
                </a:solidFill>
                <a:effectLst/>
                <a:latin typeface="Times New Roman" panose="02020603050405020304" pitchFamily="18" charset="0"/>
                <a:cs typeface="Times New Roman" panose="02020603050405020304" pitchFamily="18" charset="0"/>
              </a:rPr>
              <a:t>The </a:t>
            </a:r>
            <a:r>
              <a:rPr lang="en-US" sz="2100" b="1" i="0" dirty="0">
                <a:solidFill>
                  <a:srgbClr val="FF0000"/>
                </a:solidFill>
                <a:effectLst/>
                <a:latin typeface="Times New Roman" panose="02020603050405020304" pitchFamily="18" charset="0"/>
                <a:cs typeface="Times New Roman" panose="02020603050405020304" pitchFamily="18" charset="0"/>
              </a:rPr>
              <a:t>inventory</a:t>
            </a:r>
            <a:r>
              <a:rPr lang="en-US" sz="2100" b="0" i="0" dirty="0">
                <a:solidFill>
                  <a:srgbClr val="333333"/>
                </a:solidFill>
                <a:effectLst/>
                <a:latin typeface="Times New Roman" panose="02020603050405020304" pitchFamily="18" charset="0"/>
                <a:cs typeface="Times New Roman" panose="02020603050405020304" pitchFamily="18" charset="0"/>
              </a:rPr>
              <a:t> file provides the list of hosts where the Ansible modules need to be run. </a:t>
            </a:r>
          </a:p>
          <a:p>
            <a:pPr algn="just"/>
            <a:endParaRPr lang="en-US" sz="2100" dirty="0">
              <a:solidFill>
                <a:srgbClr val="333333"/>
              </a:solidFill>
              <a:latin typeface="Times New Roman" panose="02020603050405020304" pitchFamily="18" charset="0"/>
              <a:cs typeface="Times New Roman" panose="02020603050405020304" pitchFamily="18" charset="0"/>
            </a:endParaRPr>
          </a:p>
          <a:p>
            <a:pPr algn="just"/>
            <a:r>
              <a:rPr lang="en-US" sz="2100" b="0" i="0" dirty="0">
                <a:solidFill>
                  <a:srgbClr val="333333"/>
                </a:solidFill>
                <a:effectLst/>
                <a:latin typeface="Times New Roman" panose="02020603050405020304" pitchFamily="18" charset="0"/>
                <a:cs typeface="Times New Roman" panose="02020603050405020304" pitchFamily="18" charset="0"/>
              </a:rPr>
              <a:t>The </a:t>
            </a:r>
            <a:r>
              <a:rPr lang="en-US" sz="2100" b="1" i="0" dirty="0">
                <a:solidFill>
                  <a:srgbClr val="FF0000"/>
                </a:solidFill>
                <a:effectLst/>
                <a:latin typeface="Times New Roman" panose="02020603050405020304" pitchFamily="18" charset="0"/>
                <a:cs typeface="Times New Roman" panose="02020603050405020304" pitchFamily="18" charset="0"/>
              </a:rPr>
              <a:t>Management Nod</a:t>
            </a:r>
            <a:r>
              <a:rPr lang="en-US" sz="2100" b="1" i="0" dirty="0">
                <a:solidFill>
                  <a:srgbClr val="333333"/>
                </a:solidFill>
                <a:effectLst/>
                <a:latin typeface="Times New Roman" panose="02020603050405020304" pitchFamily="18" charset="0"/>
                <a:cs typeface="Times New Roman" panose="02020603050405020304" pitchFamily="18" charset="0"/>
              </a:rPr>
              <a:t>e</a:t>
            </a:r>
            <a:r>
              <a:rPr lang="en-US" sz="2100" b="0" i="0" dirty="0">
                <a:solidFill>
                  <a:srgbClr val="333333"/>
                </a:solidFill>
                <a:effectLst/>
                <a:latin typeface="Times New Roman" panose="02020603050405020304" pitchFamily="18" charset="0"/>
                <a:cs typeface="Times New Roman" panose="02020603050405020304" pitchFamily="18" charset="0"/>
              </a:rPr>
              <a:t> makes an </a:t>
            </a:r>
            <a:r>
              <a:rPr lang="en-US" sz="2100" b="1" i="0" dirty="0">
                <a:solidFill>
                  <a:srgbClr val="333333"/>
                </a:solidFill>
                <a:effectLst/>
                <a:latin typeface="Times New Roman" panose="02020603050405020304" pitchFamily="18" charset="0"/>
                <a:cs typeface="Times New Roman" panose="02020603050405020304" pitchFamily="18" charset="0"/>
              </a:rPr>
              <a:t>SSH</a:t>
            </a:r>
            <a:r>
              <a:rPr lang="en-US" sz="2100" b="0" i="0" dirty="0">
                <a:solidFill>
                  <a:srgbClr val="333333"/>
                </a:solidFill>
                <a:effectLst/>
                <a:latin typeface="Times New Roman" panose="02020603050405020304" pitchFamily="18" charset="0"/>
                <a:cs typeface="Times New Roman" panose="02020603050405020304" pitchFamily="18" charset="0"/>
              </a:rPr>
              <a:t> connection and executes the small modules on the host's machine and install the software.</a:t>
            </a:r>
          </a:p>
          <a:p>
            <a:pPr algn="just"/>
            <a:endParaRPr lang="en-US" sz="2100" dirty="0">
              <a:solidFill>
                <a:srgbClr val="333333"/>
              </a:solidFill>
              <a:latin typeface="Times New Roman" panose="02020603050405020304" pitchFamily="18" charset="0"/>
              <a:cs typeface="Times New Roman" panose="02020603050405020304" pitchFamily="18" charset="0"/>
            </a:endParaRPr>
          </a:p>
          <a:p>
            <a:pPr algn="just"/>
            <a:r>
              <a:rPr lang="en-US" sz="2100" b="0" i="0" dirty="0">
                <a:solidFill>
                  <a:srgbClr val="333333"/>
                </a:solidFill>
                <a:effectLst/>
                <a:latin typeface="Times New Roman" panose="02020603050405020304" pitchFamily="18" charset="0"/>
                <a:cs typeface="Times New Roman" panose="02020603050405020304" pitchFamily="18" charset="0"/>
              </a:rPr>
              <a:t>Ansible removes the modules once those are installed so expertly. It connects to the host machine executes the instructions, and if it is successfully installed, </a:t>
            </a:r>
            <a:r>
              <a:rPr lang="en-US" sz="2100" b="0" i="0" dirty="0">
                <a:solidFill>
                  <a:srgbClr val="FF0000"/>
                </a:solidFill>
                <a:effectLst/>
                <a:latin typeface="Times New Roman" panose="02020603050405020304" pitchFamily="18" charset="0"/>
                <a:cs typeface="Times New Roman" panose="02020603050405020304" pitchFamily="18" charset="0"/>
              </a:rPr>
              <a:t>then remove that code in which one was copied on the host machine.</a:t>
            </a:r>
          </a:p>
          <a:p>
            <a:pPr algn="just"/>
            <a:endParaRPr lang="en-US" sz="21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938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36A5D9-ED19-43ED-8B76-841FBFA7AF93}"/>
              </a:ext>
            </a:extLst>
          </p:cNvPr>
          <p:cNvSpPr txBox="1"/>
          <p:nvPr/>
        </p:nvSpPr>
        <p:spPr>
          <a:xfrm>
            <a:off x="198783" y="198784"/>
            <a:ext cx="11754678" cy="6001643"/>
          </a:xfrm>
          <a:prstGeom prst="rect">
            <a:avLst/>
          </a:prstGeom>
          <a:noFill/>
        </p:spPr>
        <p:txBody>
          <a:bodyPr wrap="square">
            <a:spAutoFit/>
          </a:bodyPr>
          <a:lstStyle/>
          <a:p>
            <a:pPr algn="just"/>
            <a:r>
              <a:rPr lang="en-US" sz="2400" b="0" i="0" dirty="0">
                <a:solidFill>
                  <a:srgbClr val="262524"/>
                </a:solidFill>
                <a:effectLst/>
                <a:latin typeface="Times New Roman" panose="02020603050405020304" pitchFamily="18" charset="0"/>
                <a:cs typeface="Times New Roman" panose="02020603050405020304" pitchFamily="18" charset="0"/>
              </a:rPr>
              <a:t>Let’s take a look at some of the following features.</a:t>
            </a:r>
          </a:p>
          <a:p>
            <a:pPr algn="just"/>
            <a:endParaRPr lang="en-US" sz="2400" b="0" i="0" dirty="0">
              <a:solidFill>
                <a:srgbClr val="262524"/>
              </a:solidFill>
              <a:effectLst/>
              <a:latin typeface="Times New Roman" panose="02020603050405020304" pitchFamily="18" charset="0"/>
              <a:cs typeface="Times New Roman" panose="02020603050405020304" pitchFamily="18" charset="0"/>
            </a:endParaRPr>
          </a:p>
          <a:p>
            <a:pPr algn="just"/>
            <a:r>
              <a:rPr lang="en-US" sz="2400" b="1" i="0" dirty="0">
                <a:solidFill>
                  <a:srgbClr val="262524"/>
                </a:solidFill>
                <a:effectLst/>
                <a:latin typeface="Times New Roman" panose="02020603050405020304" pitchFamily="18" charset="0"/>
                <a:cs typeface="Times New Roman" panose="02020603050405020304" pitchFamily="18" charset="0"/>
              </a:rPr>
              <a:t>Agentless </a:t>
            </a:r>
            <a:r>
              <a:rPr lang="en-US" sz="2400" b="0" i="0" dirty="0">
                <a:solidFill>
                  <a:srgbClr val="262524"/>
                </a:solidFill>
                <a:effectLst/>
                <a:latin typeface="Times New Roman" panose="02020603050405020304" pitchFamily="18" charset="0"/>
                <a:cs typeface="Times New Roman" panose="02020603050405020304" pitchFamily="18" charset="0"/>
              </a:rPr>
              <a:t>– Which means there is no kind of software or any </a:t>
            </a:r>
            <a:r>
              <a:rPr lang="en-US" sz="2400" b="0" i="0" dirty="0">
                <a:solidFill>
                  <a:srgbClr val="FF0000"/>
                </a:solidFill>
                <a:effectLst/>
                <a:latin typeface="Times New Roman" panose="02020603050405020304" pitchFamily="18" charset="0"/>
                <a:cs typeface="Times New Roman" panose="02020603050405020304" pitchFamily="18" charset="0"/>
              </a:rPr>
              <a:t>agent managing the node like other solution such as puppet and chef</a:t>
            </a:r>
            <a:r>
              <a:rPr lang="en-US" sz="2400" b="0" i="0" dirty="0">
                <a:solidFill>
                  <a:srgbClr val="262524"/>
                </a:solidFill>
                <a:effectLst/>
                <a:latin typeface="Times New Roman" panose="02020603050405020304" pitchFamily="18" charset="0"/>
                <a:cs typeface="Times New Roman" panose="02020603050405020304" pitchFamily="18" charset="0"/>
              </a:rPr>
              <a:t>.</a:t>
            </a:r>
          </a:p>
          <a:p>
            <a:pPr algn="just"/>
            <a:endParaRPr lang="en-US" sz="2400" b="0" i="0" dirty="0">
              <a:solidFill>
                <a:srgbClr val="262524"/>
              </a:solidFill>
              <a:effectLst/>
              <a:latin typeface="Times New Roman" panose="02020603050405020304" pitchFamily="18" charset="0"/>
              <a:cs typeface="Times New Roman" panose="02020603050405020304" pitchFamily="18" charset="0"/>
            </a:endParaRPr>
          </a:p>
          <a:p>
            <a:pPr algn="just"/>
            <a:r>
              <a:rPr lang="en-US" sz="2400" b="1" i="0" dirty="0">
                <a:solidFill>
                  <a:srgbClr val="262524"/>
                </a:solidFill>
                <a:effectLst/>
                <a:latin typeface="Times New Roman" panose="02020603050405020304" pitchFamily="18" charset="0"/>
                <a:cs typeface="Times New Roman" panose="02020603050405020304" pitchFamily="18" charset="0"/>
              </a:rPr>
              <a:t>Python </a:t>
            </a:r>
            <a:r>
              <a:rPr lang="en-US" sz="2400" b="0" i="0" dirty="0">
                <a:solidFill>
                  <a:srgbClr val="262524"/>
                </a:solidFill>
                <a:effectLst/>
                <a:latin typeface="Times New Roman" panose="02020603050405020304" pitchFamily="18" charset="0"/>
                <a:cs typeface="Times New Roman" panose="02020603050405020304" pitchFamily="18" charset="0"/>
              </a:rPr>
              <a:t>– Built on top of </a:t>
            </a:r>
            <a:r>
              <a:rPr lang="en-US" sz="2400" b="0" i="0" dirty="0">
                <a:solidFill>
                  <a:srgbClr val="FF0000"/>
                </a:solidFill>
                <a:effectLst/>
                <a:latin typeface="Times New Roman" panose="02020603050405020304" pitchFamily="18" charset="0"/>
                <a:cs typeface="Times New Roman" panose="02020603050405020304" pitchFamily="18" charset="0"/>
              </a:rPr>
              <a:t>python</a:t>
            </a:r>
            <a:r>
              <a:rPr lang="en-US" sz="2400" b="0" i="0" dirty="0">
                <a:solidFill>
                  <a:srgbClr val="262524"/>
                </a:solidFill>
                <a:effectLst/>
                <a:latin typeface="Times New Roman" panose="02020603050405020304" pitchFamily="18" charset="0"/>
                <a:cs typeface="Times New Roman" panose="02020603050405020304" pitchFamily="18" charset="0"/>
              </a:rPr>
              <a:t>, which is fast and one of the robust programming languages in today’s world.</a:t>
            </a:r>
          </a:p>
          <a:p>
            <a:pPr algn="just"/>
            <a:endParaRPr lang="en-US" sz="2400" b="0" i="0" dirty="0">
              <a:solidFill>
                <a:srgbClr val="262524"/>
              </a:solidFill>
              <a:effectLst/>
              <a:latin typeface="Times New Roman" panose="02020603050405020304" pitchFamily="18" charset="0"/>
              <a:cs typeface="Times New Roman" panose="02020603050405020304" pitchFamily="18" charset="0"/>
            </a:endParaRPr>
          </a:p>
          <a:p>
            <a:pPr algn="just"/>
            <a:r>
              <a:rPr lang="en-US" sz="2400" b="1" i="0" dirty="0">
                <a:solidFill>
                  <a:srgbClr val="262524"/>
                </a:solidFill>
                <a:effectLst/>
                <a:latin typeface="Times New Roman" panose="02020603050405020304" pitchFamily="18" charset="0"/>
                <a:cs typeface="Times New Roman" panose="02020603050405020304" pitchFamily="18" charset="0"/>
              </a:rPr>
              <a:t>SSH </a:t>
            </a:r>
            <a:r>
              <a:rPr lang="en-US" sz="2400" b="0" i="0" dirty="0">
                <a:solidFill>
                  <a:srgbClr val="262524"/>
                </a:solidFill>
                <a:effectLst/>
                <a:latin typeface="Times New Roman" panose="02020603050405020304" pitchFamily="18" charset="0"/>
                <a:cs typeface="Times New Roman" panose="02020603050405020304" pitchFamily="18" charset="0"/>
              </a:rPr>
              <a:t>– Very simple password less network authentication protocol which is secure. So, your responsibility is to copy this key to the client</a:t>
            </a:r>
          </a:p>
          <a:p>
            <a:pPr algn="just"/>
            <a:endParaRPr lang="en-US" sz="2400" b="1" i="0" dirty="0">
              <a:solidFill>
                <a:srgbClr val="262524"/>
              </a:solidFill>
              <a:effectLst/>
              <a:latin typeface="Times New Roman" panose="02020603050405020304" pitchFamily="18" charset="0"/>
              <a:cs typeface="Times New Roman" panose="02020603050405020304" pitchFamily="18" charset="0"/>
            </a:endParaRPr>
          </a:p>
          <a:p>
            <a:pPr algn="just"/>
            <a:r>
              <a:rPr lang="en-US" sz="2400" b="1" i="0" dirty="0">
                <a:solidFill>
                  <a:srgbClr val="262524"/>
                </a:solidFill>
                <a:effectLst/>
                <a:latin typeface="Times New Roman" panose="02020603050405020304" pitchFamily="18" charset="0"/>
                <a:cs typeface="Times New Roman" panose="02020603050405020304" pitchFamily="18" charset="0"/>
              </a:rPr>
              <a:t>Push architecture</a:t>
            </a:r>
            <a:r>
              <a:rPr lang="en-US" sz="2400" b="0" i="0" dirty="0">
                <a:solidFill>
                  <a:srgbClr val="262524"/>
                </a:solidFill>
                <a:effectLst/>
                <a:latin typeface="Times New Roman" panose="02020603050405020304" pitchFamily="18" charset="0"/>
                <a:cs typeface="Times New Roman" panose="02020603050405020304" pitchFamily="18" charset="0"/>
              </a:rPr>
              <a:t> –  Push the necessary configurations to them, clients. All you have to do is, write down those configurations </a:t>
            </a:r>
            <a:r>
              <a:rPr lang="en-US" sz="2400" b="0" i="0" dirty="0">
                <a:solidFill>
                  <a:srgbClr val="FF0000"/>
                </a:solidFill>
                <a:effectLst/>
                <a:latin typeface="Times New Roman" panose="02020603050405020304" pitchFamily="18" charset="0"/>
                <a:cs typeface="Times New Roman" panose="02020603050405020304" pitchFamily="18" charset="0"/>
              </a:rPr>
              <a:t>(playbook) and push them all at once to the nodes</a:t>
            </a:r>
            <a:r>
              <a:rPr lang="en-US" sz="2400" b="0" i="0" dirty="0">
                <a:solidFill>
                  <a:srgbClr val="262524"/>
                </a:solidFill>
                <a:effectLst/>
                <a:latin typeface="Times New Roman" panose="02020603050405020304" pitchFamily="18" charset="0"/>
                <a:cs typeface="Times New Roman" panose="02020603050405020304" pitchFamily="18" charset="0"/>
              </a:rPr>
              <a:t>. You see how powerful it can be to push the changes to thousands of servers in minutes.</a:t>
            </a:r>
          </a:p>
          <a:p>
            <a:pPr algn="just"/>
            <a:endParaRPr lang="en-US" sz="2400" b="0" i="0" dirty="0">
              <a:solidFill>
                <a:srgbClr val="262524"/>
              </a:solidFill>
              <a:effectLst/>
              <a:latin typeface="Times New Roman" panose="02020603050405020304" pitchFamily="18" charset="0"/>
              <a:cs typeface="Times New Roman" panose="02020603050405020304" pitchFamily="18" charset="0"/>
            </a:endParaRPr>
          </a:p>
          <a:p>
            <a:pPr algn="just"/>
            <a:r>
              <a:rPr lang="en-US" sz="2400" b="1" i="0" dirty="0">
                <a:solidFill>
                  <a:srgbClr val="262524"/>
                </a:solidFill>
                <a:effectLst/>
                <a:latin typeface="Times New Roman" panose="02020603050405020304" pitchFamily="18" charset="0"/>
                <a:cs typeface="Times New Roman" panose="02020603050405020304" pitchFamily="18" charset="0"/>
              </a:rPr>
              <a:t>Setup </a:t>
            </a:r>
            <a:r>
              <a:rPr lang="en-US" sz="2400" b="0" i="0" dirty="0">
                <a:solidFill>
                  <a:srgbClr val="262524"/>
                </a:solidFill>
                <a:effectLst/>
                <a:latin typeface="Times New Roman" panose="02020603050405020304" pitchFamily="18" charset="0"/>
                <a:cs typeface="Times New Roman" panose="02020603050405020304" pitchFamily="18" charset="0"/>
              </a:rPr>
              <a:t>–  a minimal requirement and configuration needed to get it to work.</a:t>
            </a:r>
          </a:p>
        </p:txBody>
      </p:sp>
    </p:spTree>
    <p:extLst>
      <p:ext uri="{BB962C8B-B14F-4D97-AF65-F5344CB8AC3E}">
        <p14:creationId xmlns:p14="http://schemas.microsoft.com/office/powerpoint/2010/main" val="4163676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6752E4-B1D3-4629-8F5A-9F8D56C39E30}"/>
              </a:ext>
            </a:extLst>
          </p:cNvPr>
          <p:cNvSpPr txBox="1"/>
          <p:nvPr/>
        </p:nvSpPr>
        <p:spPr>
          <a:xfrm>
            <a:off x="0" y="1"/>
            <a:ext cx="12192001" cy="6930615"/>
          </a:xfrm>
          <a:prstGeom prst="rect">
            <a:avLst/>
          </a:prstGeom>
          <a:noFill/>
        </p:spPr>
        <p:txBody>
          <a:bodyPr wrap="square">
            <a:spAutoFit/>
          </a:bodyPr>
          <a:lstStyle/>
          <a:p>
            <a:pPr algn="l">
              <a:lnSpc>
                <a:spcPct val="150000"/>
              </a:lnSpc>
            </a:pPr>
            <a:r>
              <a:rPr lang="en-US" sz="2300" b="1" i="0" dirty="0">
                <a:solidFill>
                  <a:srgbClr val="FF0000"/>
                </a:solidFill>
                <a:effectLst/>
                <a:latin typeface="Times New Roman" panose="02020603050405020304" pitchFamily="18" charset="0"/>
                <a:cs typeface="Times New Roman" panose="02020603050405020304" pitchFamily="18" charset="0"/>
              </a:rPr>
              <a:t>Benefits of Ansible</a:t>
            </a:r>
          </a:p>
          <a:p>
            <a:pPr algn="l">
              <a:lnSpc>
                <a:spcPct val="150000"/>
              </a:lnSpc>
              <a:buFont typeface="Arial" panose="020B0604020202020204" pitchFamily="34" charset="0"/>
              <a:buChar char="•"/>
            </a:pPr>
            <a:r>
              <a:rPr lang="en-US" sz="2300" b="0" i="0" dirty="0">
                <a:solidFill>
                  <a:srgbClr val="FF0000"/>
                </a:solidFill>
                <a:effectLst/>
                <a:latin typeface="Times New Roman" panose="02020603050405020304" pitchFamily="18" charset="0"/>
                <a:cs typeface="Times New Roman" panose="02020603050405020304" pitchFamily="18" charset="0"/>
              </a:rPr>
              <a:t>Free</a:t>
            </a:r>
            <a:r>
              <a:rPr lang="en-US" sz="2300" b="0" i="0" dirty="0">
                <a:solidFill>
                  <a:srgbClr val="51565E"/>
                </a:solidFill>
                <a:effectLst/>
                <a:latin typeface="Times New Roman" panose="02020603050405020304" pitchFamily="18" charset="0"/>
                <a:cs typeface="Times New Roman" panose="02020603050405020304" pitchFamily="18" charset="0"/>
              </a:rPr>
              <a:t>: Ansible is an open-source tool.</a:t>
            </a:r>
          </a:p>
          <a:p>
            <a:pPr algn="l">
              <a:lnSpc>
                <a:spcPct val="150000"/>
              </a:lnSpc>
              <a:buFont typeface="Arial" panose="020B0604020202020204" pitchFamily="34" charset="0"/>
              <a:buChar char="•"/>
            </a:pPr>
            <a:r>
              <a:rPr lang="en-US" sz="2300" b="0" i="0" dirty="0">
                <a:solidFill>
                  <a:srgbClr val="FF0000"/>
                </a:solidFill>
                <a:effectLst/>
                <a:latin typeface="Times New Roman" panose="02020603050405020304" pitchFamily="18" charset="0"/>
                <a:cs typeface="Times New Roman" panose="02020603050405020304" pitchFamily="18" charset="0"/>
              </a:rPr>
              <a:t>Very simple to set up and use</a:t>
            </a:r>
            <a:r>
              <a:rPr lang="en-US" sz="2300" b="0" i="0" dirty="0">
                <a:solidFill>
                  <a:srgbClr val="51565E"/>
                </a:solidFill>
                <a:effectLst/>
                <a:latin typeface="Times New Roman" panose="02020603050405020304" pitchFamily="18" charset="0"/>
                <a:cs typeface="Times New Roman" panose="02020603050405020304" pitchFamily="18" charset="0"/>
              </a:rPr>
              <a:t>: No special coding skills are necessary to use Ansible’s playbooks (more on playbooks later).</a:t>
            </a:r>
          </a:p>
          <a:p>
            <a:pPr algn="l">
              <a:lnSpc>
                <a:spcPct val="150000"/>
              </a:lnSpc>
              <a:buFont typeface="Arial" panose="020B0604020202020204" pitchFamily="34" charset="0"/>
              <a:buChar char="•"/>
            </a:pPr>
            <a:r>
              <a:rPr lang="en-US" sz="2300" b="0" i="0" dirty="0">
                <a:solidFill>
                  <a:srgbClr val="FF0000"/>
                </a:solidFill>
                <a:effectLst/>
                <a:latin typeface="Times New Roman" panose="02020603050405020304" pitchFamily="18" charset="0"/>
                <a:cs typeface="Times New Roman" panose="02020603050405020304" pitchFamily="18" charset="0"/>
              </a:rPr>
              <a:t>Powerful</a:t>
            </a:r>
            <a:r>
              <a:rPr lang="en-US" sz="2300" b="0" i="0" dirty="0">
                <a:solidFill>
                  <a:srgbClr val="51565E"/>
                </a:solidFill>
                <a:effectLst/>
                <a:latin typeface="Times New Roman" panose="02020603050405020304" pitchFamily="18" charset="0"/>
                <a:cs typeface="Times New Roman" panose="02020603050405020304" pitchFamily="18" charset="0"/>
              </a:rPr>
              <a:t>: Ansible lets you model even highly complex IT workflows. </a:t>
            </a:r>
          </a:p>
          <a:p>
            <a:pPr algn="l">
              <a:lnSpc>
                <a:spcPct val="150000"/>
              </a:lnSpc>
              <a:buFont typeface="Arial" panose="020B0604020202020204" pitchFamily="34" charset="0"/>
              <a:buChar char="•"/>
            </a:pPr>
            <a:r>
              <a:rPr lang="en-US" sz="2300" b="0" i="0" dirty="0">
                <a:solidFill>
                  <a:srgbClr val="FF0000"/>
                </a:solidFill>
                <a:effectLst/>
                <a:latin typeface="Times New Roman" panose="02020603050405020304" pitchFamily="18" charset="0"/>
                <a:cs typeface="Times New Roman" panose="02020603050405020304" pitchFamily="18" charset="0"/>
              </a:rPr>
              <a:t>Flexible</a:t>
            </a:r>
            <a:r>
              <a:rPr lang="en-US" sz="2300" b="0" i="0" dirty="0">
                <a:solidFill>
                  <a:srgbClr val="51565E"/>
                </a:solidFill>
                <a:effectLst/>
                <a:latin typeface="Times New Roman" panose="02020603050405020304" pitchFamily="18" charset="0"/>
                <a:cs typeface="Times New Roman" panose="02020603050405020304" pitchFamily="18" charset="0"/>
              </a:rPr>
              <a:t>: You can orchestrate the entire application environment no matter where it’s deployed. You can also customize it based on your needs.</a:t>
            </a:r>
          </a:p>
          <a:p>
            <a:pPr algn="l">
              <a:lnSpc>
                <a:spcPct val="150000"/>
              </a:lnSpc>
              <a:buFont typeface="Arial" panose="020B0604020202020204" pitchFamily="34" charset="0"/>
              <a:buChar char="•"/>
            </a:pPr>
            <a:r>
              <a:rPr lang="en-US" sz="2300" b="0" i="0" dirty="0">
                <a:solidFill>
                  <a:srgbClr val="FF0000"/>
                </a:solidFill>
                <a:effectLst/>
                <a:latin typeface="Times New Roman" panose="02020603050405020304" pitchFamily="18" charset="0"/>
                <a:cs typeface="Times New Roman" panose="02020603050405020304" pitchFamily="18" charset="0"/>
              </a:rPr>
              <a:t>Agentless</a:t>
            </a:r>
            <a:r>
              <a:rPr lang="en-US" sz="2300" b="0" i="0" dirty="0">
                <a:solidFill>
                  <a:srgbClr val="51565E"/>
                </a:solidFill>
                <a:effectLst/>
                <a:latin typeface="Times New Roman" panose="02020603050405020304" pitchFamily="18" charset="0"/>
                <a:cs typeface="Times New Roman" panose="02020603050405020304" pitchFamily="18" charset="0"/>
              </a:rPr>
              <a:t>: You don’t need to install any other software or firewall ports on the client systems you want to automate. You also don’t have to set up a separate management structure.</a:t>
            </a:r>
          </a:p>
          <a:p>
            <a:pPr algn="l">
              <a:lnSpc>
                <a:spcPct val="150000"/>
              </a:lnSpc>
              <a:buFont typeface="Arial" panose="020B0604020202020204" pitchFamily="34" charset="0"/>
              <a:buChar char="•"/>
            </a:pPr>
            <a:r>
              <a:rPr lang="en-US" sz="2300" b="0" i="0" dirty="0">
                <a:solidFill>
                  <a:srgbClr val="FF0000"/>
                </a:solidFill>
                <a:effectLst/>
                <a:latin typeface="Times New Roman" panose="02020603050405020304" pitchFamily="18" charset="0"/>
                <a:cs typeface="Times New Roman" panose="02020603050405020304" pitchFamily="18" charset="0"/>
              </a:rPr>
              <a:t>Efficient</a:t>
            </a:r>
            <a:r>
              <a:rPr lang="en-US" sz="2300" b="0" i="0" dirty="0">
                <a:solidFill>
                  <a:srgbClr val="51565E"/>
                </a:solidFill>
                <a:effectLst/>
                <a:latin typeface="Times New Roman" panose="02020603050405020304" pitchFamily="18" charset="0"/>
                <a:cs typeface="Times New Roman" panose="02020603050405020304" pitchFamily="18" charset="0"/>
              </a:rPr>
              <a:t>: Because you don’t need to install any extra software, there’s more room for application resources on your server.</a:t>
            </a:r>
          </a:p>
          <a:p>
            <a:pPr algn="l">
              <a:lnSpc>
                <a:spcPct val="150000"/>
              </a:lnSpc>
            </a:pPr>
            <a:r>
              <a:rPr lang="en-US" sz="2300" b="0" i="0" dirty="0">
                <a:solidFill>
                  <a:srgbClr val="51565E"/>
                </a:solidFill>
                <a:effectLst/>
                <a:latin typeface="Times New Roman" panose="02020603050405020304" pitchFamily="18" charset="0"/>
                <a:cs typeface="Times New Roman" panose="02020603050405020304" pitchFamily="18" charset="0"/>
              </a:rPr>
              <a:t>Next, in our path to understanding what ansible is, let us find out the features and capabilities of Ansible.</a:t>
            </a:r>
          </a:p>
        </p:txBody>
      </p:sp>
    </p:spTree>
    <p:extLst>
      <p:ext uri="{BB962C8B-B14F-4D97-AF65-F5344CB8AC3E}">
        <p14:creationId xmlns:p14="http://schemas.microsoft.com/office/powerpoint/2010/main" val="1654608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A39CE-0A7C-4BEC-828F-C1586438FDEA}"/>
              </a:ext>
            </a:extLst>
          </p:cNvPr>
          <p:cNvSpPr>
            <a:spLocks noGrp="1"/>
          </p:cNvSpPr>
          <p:nvPr>
            <p:ph type="ctrTitle"/>
          </p:nvPr>
        </p:nvSpPr>
        <p:spPr/>
        <p:txBody>
          <a:bodyPr/>
          <a:lstStyle/>
          <a:p>
            <a:r>
              <a:rPr lang="en-US" dirty="0"/>
              <a:t>CHEF</a:t>
            </a:r>
            <a:endParaRPr lang="en-IN" dirty="0"/>
          </a:p>
        </p:txBody>
      </p:sp>
      <p:sp>
        <p:nvSpPr>
          <p:cNvPr id="3" name="Subtitle 2">
            <a:extLst>
              <a:ext uri="{FF2B5EF4-FFF2-40B4-BE49-F238E27FC236}">
                <a16:creationId xmlns:a16="http://schemas.microsoft.com/office/drawing/2014/main" id="{DA4E381C-AEAB-425F-82DA-86E8C692908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77405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DC29FA-C218-41A5-A7DF-788C42BA7AD1}"/>
              </a:ext>
            </a:extLst>
          </p:cNvPr>
          <p:cNvSpPr txBox="1"/>
          <p:nvPr/>
        </p:nvSpPr>
        <p:spPr>
          <a:xfrm>
            <a:off x="0" y="1"/>
            <a:ext cx="12192000" cy="6740307"/>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Chef is an automation platform that configures and manages your network infrastructure</a:t>
            </a:r>
            <a:r>
              <a:rPr lang="en-US" sz="2400" b="0" i="0" dirty="0">
                <a:solidFill>
                  <a:srgbClr val="333333"/>
                </a:solidFill>
                <a:effectLst/>
                <a:latin typeface="Times New Roman" panose="02020603050405020304" pitchFamily="18" charset="0"/>
                <a:cs typeface="Times New Roman" panose="02020603050405020304" pitchFamily="18" charset="0"/>
              </a:rPr>
              <a:t>.(</a:t>
            </a:r>
            <a:r>
              <a:rPr lang="en-US" sz="2400" b="1" i="0" dirty="0">
                <a:solidFill>
                  <a:srgbClr val="7030A0"/>
                </a:solidFill>
                <a:effectLst/>
                <a:latin typeface="Times New Roman" panose="02020603050405020304" pitchFamily="18" charset="0"/>
                <a:cs typeface="Times New Roman" panose="02020603050405020304" pitchFamily="18" charset="0"/>
              </a:rPr>
              <a:t>PULL BASED</a:t>
            </a:r>
            <a:r>
              <a:rPr lang="en-US" sz="2400" b="0" i="0" dirty="0">
                <a:solidFill>
                  <a:srgbClr val="333333"/>
                </a:solidFill>
                <a:effectLst/>
                <a:latin typeface="Times New Roman" panose="02020603050405020304" pitchFamily="18" charset="0"/>
                <a:cs typeface="Times New Roman" panose="02020603050405020304" pitchFamily="18" charset="0"/>
              </a:rPr>
              <a:t>) Chief transforms infrastructure into code. “Infrastructure into code” here means “deploy your code/application/configuration and policy” on many machines or instances automatically via your code.  </a:t>
            </a:r>
          </a:p>
          <a:p>
            <a:pPr algn="l"/>
            <a:endParaRPr lang="en-US" sz="2400" dirty="0">
              <a:solidFill>
                <a:srgbClr val="333333"/>
              </a:solidFill>
              <a:latin typeface="Times New Roman" panose="02020603050405020304" pitchFamily="18" charset="0"/>
              <a:cs typeface="Times New Roman" panose="02020603050405020304" pitchFamily="18" charset="0"/>
            </a:endParaRPr>
          </a:p>
          <a:p>
            <a:pPr algn="l"/>
            <a:r>
              <a:rPr lang="en-US" sz="2400" b="0" i="0" dirty="0">
                <a:solidFill>
                  <a:srgbClr val="292929"/>
                </a:solidFill>
                <a:effectLst/>
                <a:latin typeface="charter"/>
              </a:rPr>
              <a:t>Chef is a tool used for Configuration Management which closely competes with Puppet. Chef is an automation tool that provides a way to define infrastructure as code.</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r>
              <a:rPr lang="en-US" sz="2400" b="0" i="0" dirty="0">
                <a:solidFill>
                  <a:srgbClr val="333333"/>
                </a:solidFill>
                <a:effectLst/>
                <a:latin typeface="Times New Roman" panose="02020603050405020304" pitchFamily="18" charset="0"/>
                <a:cs typeface="Times New Roman" panose="02020603050405020304" pitchFamily="18" charset="0"/>
              </a:rPr>
              <a:t>As shown in the diagram below, there are three major Chef components:</a:t>
            </a:r>
          </a:p>
          <a:p>
            <a:pPr algn="l"/>
            <a:endParaRPr lang="en-US" sz="2400" dirty="0">
              <a:solidFill>
                <a:srgbClr val="333333"/>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400" b="0" i="0" dirty="0">
                <a:solidFill>
                  <a:srgbClr val="002060"/>
                </a:solidFill>
                <a:effectLst/>
                <a:latin typeface="charter"/>
              </a:rPr>
              <a:t>Workstation</a:t>
            </a:r>
          </a:p>
          <a:p>
            <a:pPr algn="l"/>
            <a:endParaRPr lang="en-IN" sz="2400" b="0" i="0" dirty="0">
              <a:solidFill>
                <a:srgbClr val="002060"/>
              </a:solidFill>
              <a:effectLst/>
              <a:latin typeface="charter"/>
            </a:endParaRPr>
          </a:p>
          <a:p>
            <a:pPr algn="l">
              <a:buFont typeface="Arial" panose="020B0604020202020204" pitchFamily="34" charset="0"/>
              <a:buChar char="•"/>
            </a:pPr>
            <a:r>
              <a:rPr lang="en-IN" sz="2400" b="0" i="0" dirty="0">
                <a:solidFill>
                  <a:srgbClr val="002060"/>
                </a:solidFill>
                <a:effectLst/>
                <a:latin typeface="charter"/>
              </a:rPr>
              <a:t>Server</a:t>
            </a:r>
          </a:p>
          <a:p>
            <a:pPr algn="l"/>
            <a:endParaRPr lang="en-IN" sz="2400" b="0" i="0" dirty="0">
              <a:solidFill>
                <a:srgbClr val="002060"/>
              </a:solidFill>
              <a:effectLst/>
              <a:latin typeface="charter"/>
            </a:endParaRPr>
          </a:p>
          <a:p>
            <a:pPr algn="l">
              <a:buFont typeface="Arial" panose="020B0604020202020204" pitchFamily="34" charset="0"/>
              <a:buChar char="•"/>
            </a:pPr>
            <a:r>
              <a:rPr lang="en-IN" sz="2400" b="0" i="0" dirty="0">
                <a:solidFill>
                  <a:srgbClr val="002060"/>
                </a:solidFill>
                <a:effectLst/>
                <a:latin typeface="charter"/>
              </a:rPr>
              <a:t>Nodes</a:t>
            </a: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a:p>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108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C3843B8-AF7C-4948-8C72-DD42C0CB81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75" y="185531"/>
            <a:ext cx="1203425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B6A051C-0262-45DE-AA26-D7EC70090D16}"/>
              </a:ext>
            </a:extLst>
          </p:cNvPr>
          <p:cNvSpPr/>
          <p:nvPr/>
        </p:nvSpPr>
        <p:spPr>
          <a:xfrm>
            <a:off x="3631096" y="5353878"/>
            <a:ext cx="2955234" cy="6493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Knife ..tool</a:t>
            </a:r>
            <a:endParaRPr lang="en-IN" dirty="0"/>
          </a:p>
        </p:txBody>
      </p:sp>
      <p:cxnSp>
        <p:nvCxnSpPr>
          <p:cNvPr id="5" name="Connector: Elbow 4">
            <a:extLst>
              <a:ext uri="{FF2B5EF4-FFF2-40B4-BE49-F238E27FC236}">
                <a16:creationId xmlns:a16="http://schemas.microsoft.com/office/drawing/2014/main" id="{655D4909-3FA1-4501-9110-864601B5E35D}"/>
              </a:ext>
            </a:extLst>
          </p:cNvPr>
          <p:cNvCxnSpPr>
            <a:cxnSpLocks/>
          </p:cNvCxnSpPr>
          <p:nvPr/>
        </p:nvCxnSpPr>
        <p:spPr>
          <a:xfrm rot="16200000" flipV="1">
            <a:off x="3710611" y="4293706"/>
            <a:ext cx="1669773" cy="23853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66BBEFB9-6F38-43DC-A819-7B5895C18E78}"/>
              </a:ext>
            </a:extLst>
          </p:cNvPr>
          <p:cNvCxnSpPr/>
          <p:nvPr/>
        </p:nvCxnSpPr>
        <p:spPr>
          <a:xfrm flipV="1">
            <a:off x="6414052" y="4518991"/>
            <a:ext cx="1298713" cy="728871"/>
          </a:xfrm>
          <a:prstGeom prst="bentConnector3">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3101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F55878-693B-4AC6-9966-6FA9EB605433}"/>
              </a:ext>
            </a:extLst>
          </p:cNvPr>
          <p:cNvSpPr txBox="1"/>
          <p:nvPr/>
        </p:nvSpPr>
        <p:spPr>
          <a:xfrm>
            <a:off x="1" y="132521"/>
            <a:ext cx="12191999" cy="8217634"/>
          </a:xfrm>
          <a:prstGeom prst="rect">
            <a:avLst/>
          </a:prstGeom>
          <a:noFill/>
        </p:spPr>
        <p:txBody>
          <a:bodyPr wrap="square">
            <a:spAutoFit/>
          </a:bodyPr>
          <a:lstStyle/>
          <a:p>
            <a:pPr algn="l"/>
            <a:r>
              <a:rPr lang="en-US" sz="2400" b="0" i="0" dirty="0">
                <a:solidFill>
                  <a:srgbClr val="333333"/>
                </a:solidFill>
                <a:effectLst/>
                <a:latin typeface="Times New Roman" panose="02020603050405020304" pitchFamily="18" charset="0"/>
                <a:cs typeface="Times New Roman" panose="02020603050405020304" pitchFamily="18" charset="0"/>
              </a:rPr>
              <a:t> </a:t>
            </a:r>
            <a:r>
              <a:rPr lang="en-US" sz="2400" b="1" i="0" dirty="0">
                <a:solidFill>
                  <a:srgbClr val="FF0000"/>
                </a:solidFill>
                <a:effectLst/>
                <a:latin typeface="Times New Roman" panose="02020603050405020304" pitchFamily="18" charset="0"/>
                <a:cs typeface="Times New Roman" panose="02020603050405020304" pitchFamily="18" charset="0"/>
              </a:rPr>
              <a:t>Workstations</a:t>
            </a:r>
            <a:r>
              <a:rPr lang="en-US" sz="2400" b="0" i="0" dirty="0">
                <a:solidFill>
                  <a:srgbClr val="FF0000"/>
                </a:solidFill>
                <a:effectLst/>
                <a:latin typeface="Times New Roman" panose="02020603050405020304" pitchFamily="18" charset="0"/>
                <a:cs typeface="Times New Roman" panose="02020603050405020304" pitchFamily="18" charset="0"/>
              </a:rPr>
              <a:t>: </a:t>
            </a:r>
            <a:r>
              <a:rPr lang="en-US" sz="2400" b="0" i="0" dirty="0">
                <a:solidFill>
                  <a:srgbClr val="333333"/>
                </a:solidFill>
                <a:effectLst/>
                <a:latin typeface="Times New Roman" panose="02020603050405020304" pitchFamily="18" charset="0"/>
                <a:cs typeface="Times New Roman" panose="02020603050405020304" pitchFamily="18" charset="0"/>
              </a:rPr>
              <a:t>simply personal computers where all development configuration code is created, tested, and changed before uploading to the Chef Server. </a:t>
            </a:r>
          </a:p>
          <a:p>
            <a:pPr algn="l"/>
            <a:endParaRPr lang="en-US" sz="2400" dirty="0">
              <a:solidFill>
                <a:srgbClr val="333333"/>
              </a:solidFill>
              <a:latin typeface="Times New Roman" panose="02020603050405020304" pitchFamily="18" charset="0"/>
              <a:cs typeface="Times New Roman" panose="02020603050405020304" pitchFamily="18" charset="0"/>
            </a:endParaRPr>
          </a:p>
          <a:p>
            <a:pPr algn="l"/>
            <a:r>
              <a:rPr lang="en-US" sz="2400" b="0" i="0" dirty="0">
                <a:solidFill>
                  <a:srgbClr val="333333"/>
                </a:solidFill>
                <a:effectLst/>
                <a:latin typeface="Times New Roman" panose="02020603050405020304" pitchFamily="18" charset="0"/>
                <a:cs typeface="Times New Roman" panose="02020603050405020304" pitchFamily="18" charset="0"/>
              </a:rPr>
              <a:t>Each Chef workstation also has </a:t>
            </a:r>
            <a:r>
              <a:rPr lang="en-US" sz="2400" b="0" i="0" dirty="0">
                <a:solidFill>
                  <a:srgbClr val="FF0000"/>
                </a:solidFill>
                <a:effectLst/>
                <a:latin typeface="Times New Roman" panose="02020603050405020304" pitchFamily="18" charset="0"/>
                <a:cs typeface="Times New Roman" panose="02020603050405020304" pitchFamily="18" charset="0"/>
              </a:rPr>
              <a:t>a command line tool called “Knife”, </a:t>
            </a:r>
            <a:r>
              <a:rPr lang="en-US" sz="2400" b="0" i="0" dirty="0">
                <a:solidFill>
                  <a:srgbClr val="333333"/>
                </a:solidFill>
                <a:effectLst/>
                <a:latin typeface="Times New Roman" panose="02020603050405020304" pitchFamily="18" charset="0"/>
                <a:cs typeface="Times New Roman" panose="02020603050405020304" pitchFamily="18" charset="0"/>
              </a:rPr>
              <a:t>which will be used to upload configuration changes to the Chef Server.</a:t>
            </a: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Workstations are the place to write </a:t>
            </a:r>
            <a:r>
              <a:rPr lang="en-US" sz="2400" b="0" i="0" dirty="0">
                <a:solidFill>
                  <a:srgbClr val="002060"/>
                </a:solidFill>
                <a:effectLst/>
                <a:latin typeface="Times New Roman" panose="02020603050405020304" pitchFamily="18" charset="0"/>
                <a:cs typeface="Times New Roman" panose="02020603050405020304" pitchFamily="18" charset="0"/>
              </a:rPr>
              <a:t>Recipes and Cookbooks</a:t>
            </a:r>
            <a:r>
              <a:rPr lang="en-US" sz="2400" b="0" i="0" dirty="0">
                <a:solidFill>
                  <a:srgbClr val="FF0000"/>
                </a:solidFill>
                <a:effectLst/>
                <a:latin typeface="Times New Roman" panose="02020603050405020304" pitchFamily="18" charset="0"/>
                <a:cs typeface="Times New Roman" panose="02020603050405020304" pitchFamily="18" charset="0"/>
              </a:rPr>
              <a:t>:</a:t>
            </a:r>
          </a:p>
          <a:p>
            <a:pPr algn="l"/>
            <a:endParaRPr lang="en-US" sz="2400" dirty="0">
              <a:solidFill>
                <a:srgbClr val="FF0000"/>
              </a:solidFill>
              <a:latin typeface="Times New Roman" panose="02020603050405020304" pitchFamily="18" charset="0"/>
              <a:cs typeface="Times New Roman" panose="02020603050405020304" pitchFamily="18" charset="0"/>
            </a:endParaRPr>
          </a:p>
          <a:p>
            <a:pPr algn="l"/>
            <a:endParaRPr lang="en-US" sz="2400" b="0" i="0" dirty="0">
              <a:solidFill>
                <a:srgbClr val="FF000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FF0000"/>
                </a:solidFill>
                <a:effectLst/>
                <a:latin typeface="Times New Roman" panose="02020603050405020304" pitchFamily="18" charset="0"/>
                <a:cs typeface="Times New Roman" panose="02020603050405020304" pitchFamily="18" charset="0"/>
              </a:rPr>
              <a:t>Recipes</a:t>
            </a:r>
            <a:r>
              <a:rPr lang="en-US" sz="2400" b="0" i="0" dirty="0">
                <a:solidFill>
                  <a:srgbClr val="333333"/>
                </a:solidFill>
                <a:effectLst/>
                <a:latin typeface="Times New Roman" panose="02020603050405020304" pitchFamily="18" charset="0"/>
                <a:cs typeface="Times New Roman" panose="02020603050405020304" pitchFamily="18" charset="0"/>
              </a:rPr>
              <a:t>: A Recipe is a collection of resources that </a:t>
            </a:r>
            <a:r>
              <a:rPr lang="en-US" sz="2400" b="0" i="0" dirty="0">
                <a:solidFill>
                  <a:srgbClr val="0070C0"/>
                </a:solidFill>
                <a:effectLst/>
                <a:latin typeface="Times New Roman" panose="02020603050405020304" pitchFamily="18" charset="0"/>
                <a:cs typeface="Times New Roman" panose="02020603050405020304" pitchFamily="18" charset="0"/>
              </a:rPr>
              <a:t>describes a particular configuration ,how to </a:t>
            </a:r>
            <a:r>
              <a:rPr lang="en-US" sz="2400" b="0" i="0" dirty="0" err="1">
                <a:solidFill>
                  <a:srgbClr val="0070C0"/>
                </a:solidFill>
                <a:effectLst/>
                <a:latin typeface="Times New Roman" panose="02020603050405020304" pitchFamily="18" charset="0"/>
                <a:cs typeface="Times New Roman" panose="02020603050405020304" pitchFamily="18" charset="0"/>
              </a:rPr>
              <a:t>implement,code</a:t>
            </a:r>
            <a:r>
              <a:rPr lang="en-US" sz="2400" dirty="0">
                <a:solidFill>
                  <a:srgbClr val="0070C0"/>
                </a:solidFill>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Ø"/>
            </a:pPr>
            <a:r>
              <a:rPr lang="en-US" sz="2400" b="0" i="0" dirty="0">
                <a:solidFill>
                  <a:srgbClr val="FF0000"/>
                </a:solidFill>
                <a:effectLst/>
                <a:latin typeface="Times New Roman" panose="02020603050405020304" pitchFamily="18" charset="0"/>
                <a:cs typeface="Times New Roman" panose="02020603050405020304" pitchFamily="18" charset="0"/>
              </a:rPr>
              <a:t>Cookbooks: </a:t>
            </a:r>
            <a:r>
              <a:rPr lang="en-US" sz="2400" b="0" i="0" dirty="0">
                <a:solidFill>
                  <a:srgbClr val="7030A0"/>
                </a:solidFill>
                <a:effectLst/>
                <a:latin typeface="Times New Roman" panose="02020603050405020304" pitchFamily="18" charset="0"/>
                <a:cs typeface="Times New Roman" panose="02020603050405020304" pitchFamily="18" charset="0"/>
              </a:rPr>
              <a:t>Multiple Recipes can be grouped together to form a Cookbook</a:t>
            </a:r>
            <a:r>
              <a:rPr lang="en-US" sz="2400" b="0" i="0" dirty="0">
                <a:solidFill>
                  <a:srgbClr val="333333"/>
                </a:solidFill>
                <a:effectLst/>
                <a:latin typeface="Times New Roman" panose="02020603050405020304" pitchFamily="18" charset="0"/>
                <a:cs typeface="Times New Roman" panose="02020603050405020304" pitchFamily="18" charset="0"/>
              </a:rPr>
              <a:t>. A Cookbook defines a scenario and contains everything that is required to support that scenario.</a:t>
            </a:r>
            <a:endParaRPr lang="en-US" sz="2400" b="0" i="0" dirty="0">
              <a:solidFill>
                <a:srgbClr val="0070C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US" sz="2400" dirty="0">
              <a:solidFill>
                <a:srgbClr val="0070C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0070C0"/>
                </a:solidFill>
                <a:effectLst/>
                <a:latin typeface="Times New Roman" panose="02020603050405020304" pitchFamily="18" charset="0"/>
                <a:cs typeface="Times New Roman" panose="02020603050405020304" pitchFamily="18" charset="0"/>
              </a:rPr>
              <a:t>policy</a:t>
            </a:r>
            <a:r>
              <a:rPr lang="en-US" sz="2400" b="0" i="0" dirty="0">
                <a:solidFill>
                  <a:srgbClr val="333333"/>
                </a:solidFill>
                <a:effectLst/>
                <a:latin typeface="Times New Roman" panose="02020603050405020304" pitchFamily="18" charset="0"/>
                <a:cs typeface="Times New Roman" panose="02020603050405020304" pitchFamily="18" charset="0"/>
              </a:rPr>
              <a:t>. It describes everything that is required to configure part of a system and in which order it is to be used. The user writes Recipes that describe </a:t>
            </a:r>
          </a:p>
          <a:p>
            <a:pPr marL="342900" indent="-342900" algn="l">
              <a:buFont typeface="Wingdings" panose="05000000000000000000" pitchFamily="2" charset="2"/>
              <a:buChar char="Ø"/>
            </a:pPr>
            <a:endParaRPr lang="en-US" sz="2400" dirty="0">
              <a:solidFill>
                <a:srgbClr val="333333"/>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how Chef manages applications and utilities (such as Apache HTTP Server, MySQL, or Hadoop) and how they are to be configured.</a:t>
            </a: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065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AC8C59-DB22-4B06-9474-91C6B26BDDC2}"/>
              </a:ext>
            </a:extLst>
          </p:cNvPr>
          <p:cNvSpPr txBox="1"/>
          <p:nvPr/>
        </p:nvSpPr>
        <p:spPr>
          <a:xfrm>
            <a:off x="172277" y="291548"/>
            <a:ext cx="11754679" cy="3785652"/>
          </a:xfrm>
          <a:prstGeom prst="rect">
            <a:avLst/>
          </a:prstGeom>
          <a:noFill/>
        </p:spPr>
        <p:txBody>
          <a:bodyPr wrap="square">
            <a:spAutoFit/>
          </a:bodyPr>
          <a:lstStyle/>
          <a:p>
            <a:pPr marL="285750" indent="-285750" algn="l">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 </a:t>
            </a:r>
            <a:r>
              <a:rPr lang="en-US" sz="2400" b="0" i="0" dirty="0">
                <a:solidFill>
                  <a:srgbClr val="FF0000"/>
                </a:solidFill>
                <a:effectLst/>
                <a:latin typeface="Times New Roman" panose="02020603050405020304" pitchFamily="18" charset="0"/>
                <a:cs typeface="Times New Roman" panose="02020603050405020304" pitchFamily="18" charset="0"/>
              </a:rPr>
              <a:t>Cookbooks: </a:t>
            </a:r>
            <a:r>
              <a:rPr lang="en-US" sz="2400" b="0" i="0" dirty="0">
                <a:solidFill>
                  <a:srgbClr val="7030A0"/>
                </a:solidFill>
                <a:effectLst/>
                <a:latin typeface="Times New Roman" panose="02020603050405020304" pitchFamily="18" charset="0"/>
                <a:cs typeface="Times New Roman" panose="02020603050405020304" pitchFamily="18" charset="0"/>
              </a:rPr>
              <a:t>Multiple Recipes can be grouped together to form a Cookbook</a:t>
            </a:r>
            <a:r>
              <a:rPr lang="en-US" sz="2400" b="0" i="0" dirty="0">
                <a:solidFill>
                  <a:srgbClr val="333333"/>
                </a:solidFill>
                <a:effectLst/>
                <a:latin typeface="Times New Roman" panose="02020603050405020304" pitchFamily="18" charset="0"/>
                <a:cs typeface="Times New Roman" panose="02020603050405020304" pitchFamily="18" charset="0"/>
              </a:rPr>
              <a:t>. A Cookbook defines a scenario and contains everything that is required to support that scenario. </a:t>
            </a:r>
          </a:p>
          <a:p>
            <a:pPr marL="285750" indent="-285750" algn="l">
              <a:buFont typeface="Wingdings" panose="05000000000000000000" pitchFamily="2" charset="2"/>
              <a:buChar char="Ø"/>
            </a:pPr>
            <a:endParaRPr lang="en-US" sz="2400" dirty="0">
              <a:solidFill>
                <a:srgbClr val="333333"/>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A Cookbook also includes </a:t>
            </a:r>
            <a:r>
              <a:rPr lang="en-US" sz="2400" b="0" i="0" dirty="0">
                <a:solidFill>
                  <a:srgbClr val="FF0000"/>
                </a:solidFill>
                <a:effectLst/>
                <a:latin typeface="Times New Roman" panose="02020603050405020304" pitchFamily="18" charset="0"/>
                <a:cs typeface="Times New Roman" panose="02020603050405020304" pitchFamily="18" charset="0"/>
              </a:rPr>
              <a:t>attributes, libraries, metadata, and other files</a:t>
            </a:r>
            <a:r>
              <a:rPr lang="en-US" sz="2400" b="0" i="0" dirty="0">
                <a:solidFill>
                  <a:srgbClr val="333333"/>
                </a:solidFill>
                <a:effectLst/>
                <a:latin typeface="Times New Roman" panose="02020603050405020304" pitchFamily="18" charset="0"/>
                <a:cs typeface="Times New Roman" panose="02020603050405020304" pitchFamily="18" charset="0"/>
              </a:rPr>
              <a:t> that are necessary for supporting each configuration. </a:t>
            </a:r>
          </a:p>
          <a:p>
            <a:pPr marL="285750" indent="-285750" algn="l">
              <a:buFont typeface="Wingdings" panose="05000000000000000000" pitchFamily="2" charset="2"/>
              <a:buChar char="Ø"/>
            </a:pPr>
            <a:endParaRPr lang="en-US" sz="2400" dirty="0">
              <a:solidFill>
                <a:srgbClr val="333333"/>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Cookbooks are created using </a:t>
            </a:r>
            <a:r>
              <a:rPr lang="en-US" sz="2400" b="0" i="0" dirty="0">
                <a:solidFill>
                  <a:srgbClr val="FF0000"/>
                </a:solidFill>
                <a:effectLst/>
                <a:latin typeface="Times New Roman" panose="02020603050405020304" pitchFamily="18" charset="0"/>
                <a:cs typeface="Times New Roman" panose="02020603050405020304" pitchFamily="18" charset="0"/>
              </a:rPr>
              <a:t>Ruby language is</a:t>
            </a:r>
            <a:r>
              <a:rPr lang="en-US" sz="2400" b="0" i="0" dirty="0">
                <a:solidFill>
                  <a:srgbClr val="333333"/>
                </a:solidFill>
                <a:effectLst/>
                <a:latin typeface="Times New Roman" panose="02020603050405020304" pitchFamily="18" charset="0"/>
                <a:cs typeface="Times New Roman" panose="02020603050405020304" pitchFamily="18" charset="0"/>
              </a:rPr>
              <a:t> used for specific resources.</a:t>
            </a:r>
          </a:p>
          <a:p>
            <a:pPr algn="l"/>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a:endParaRPr lang="en-US" sz="2400" dirty="0">
              <a:solidFill>
                <a:srgbClr val="FF000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1" i="0" dirty="0">
                <a:solidFill>
                  <a:srgbClr val="7030A0"/>
                </a:solidFill>
                <a:effectLst/>
                <a:latin typeface="Times New Roman" panose="02020603050405020304" pitchFamily="18" charset="0"/>
                <a:cs typeface="Times New Roman" panose="02020603050405020304" pitchFamily="18" charset="0"/>
              </a:rPr>
              <a:t>Writing Cookbooks and Recipes that will later be pushed to the central Chef Server</a:t>
            </a:r>
            <a:endParaRPr lang="en-US" sz="2400" b="0" i="0" dirty="0">
              <a:solidFill>
                <a:srgbClr val="7030A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700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70C8EE-5399-4284-9561-492AC4A54D97}"/>
              </a:ext>
            </a:extLst>
          </p:cNvPr>
          <p:cNvSpPr txBox="1"/>
          <p:nvPr/>
        </p:nvSpPr>
        <p:spPr>
          <a:xfrm>
            <a:off x="0" y="145774"/>
            <a:ext cx="12192000" cy="5948807"/>
          </a:xfrm>
          <a:prstGeom prst="rect">
            <a:avLst/>
          </a:prstGeom>
          <a:noFill/>
        </p:spPr>
        <p:txBody>
          <a:bodyPr wrap="square">
            <a:spAutoFit/>
          </a:bodyPr>
          <a:lstStyle/>
          <a:p>
            <a:pPr marL="285750" indent="-285750" algn="l">
              <a:buFont typeface="Wingdings" panose="05000000000000000000" pitchFamily="2" charset="2"/>
              <a:buChar char="Ø"/>
            </a:pPr>
            <a:r>
              <a:rPr lang="en-US" sz="2300" b="1" i="0" dirty="0">
                <a:solidFill>
                  <a:srgbClr val="FF0000"/>
                </a:solidFill>
                <a:effectLst/>
                <a:latin typeface="Times New Roman" panose="02020603050405020304" pitchFamily="18" charset="0"/>
                <a:cs typeface="Times New Roman" panose="02020603050405020304" pitchFamily="18" charset="0"/>
              </a:rPr>
              <a:t>Chef Server</a:t>
            </a:r>
            <a:r>
              <a:rPr lang="en-US" sz="2300" b="0" i="0" dirty="0">
                <a:solidFill>
                  <a:srgbClr val="FF0000"/>
                </a:solidFill>
                <a:effectLst/>
                <a:latin typeface="Times New Roman" panose="02020603050405020304" pitchFamily="18" charset="0"/>
                <a:cs typeface="Times New Roman" panose="02020603050405020304" pitchFamily="18" charset="0"/>
              </a:rPr>
              <a:t>: </a:t>
            </a:r>
            <a:r>
              <a:rPr lang="en-US" sz="2300" b="0" i="0" dirty="0">
                <a:solidFill>
                  <a:srgbClr val="333333"/>
                </a:solidFill>
                <a:effectLst/>
                <a:latin typeface="Times New Roman" panose="02020603050405020304" pitchFamily="18" charset="0"/>
                <a:cs typeface="Times New Roman" panose="02020603050405020304" pitchFamily="18" charset="0"/>
              </a:rPr>
              <a:t>The centralized store of our infrastructure’s configuration. The Chef server stores, manages and provides configuration to all nodes that make up the infrastructure.</a:t>
            </a:r>
          </a:p>
          <a:p>
            <a:pPr marL="285750" indent="-285750" algn="l">
              <a:buFont typeface="Wingdings" panose="05000000000000000000" pitchFamily="2" charset="2"/>
              <a:buChar char="Ø"/>
            </a:pPr>
            <a:endParaRPr lang="en-US" sz="2300" b="0" i="0" dirty="0">
              <a:solidFill>
                <a:srgbClr val="333333"/>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300" b="1" i="0" dirty="0">
                <a:solidFill>
                  <a:srgbClr val="FF0000"/>
                </a:solidFill>
                <a:effectLst/>
                <a:latin typeface="Times New Roman" panose="02020603050405020304" pitchFamily="18" charset="0"/>
                <a:cs typeface="Times New Roman" panose="02020603050405020304" pitchFamily="18" charset="0"/>
              </a:rPr>
              <a:t>Nodes</a:t>
            </a:r>
            <a:r>
              <a:rPr lang="en-US" sz="2300" b="0" i="0" dirty="0">
                <a:solidFill>
                  <a:srgbClr val="333333"/>
                </a:solidFill>
                <a:effectLst/>
                <a:latin typeface="Times New Roman" panose="02020603050405020304" pitchFamily="18" charset="0"/>
                <a:cs typeface="Times New Roman" panose="02020603050405020304" pitchFamily="18" charset="0"/>
              </a:rPr>
              <a:t>: are the servers </a:t>
            </a:r>
            <a:r>
              <a:rPr lang="en-US" sz="2300" b="0" i="0" dirty="0">
                <a:solidFill>
                  <a:srgbClr val="0070C0"/>
                </a:solidFill>
                <a:effectLst/>
                <a:latin typeface="Times New Roman" panose="02020603050405020304" pitchFamily="18" charset="0"/>
                <a:cs typeface="Times New Roman" panose="02020603050405020304" pitchFamily="18" charset="0"/>
              </a:rPr>
              <a:t>where your code needs to run</a:t>
            </a:r>
            <a:r>
              <a:rPr lang="en-US" sz="2300" b="0" i="0" dirty="0">
                <a:solidFill>
                  <a:srgbClr val="333333"/>
                </a:solidFill>
                <a:effectLst/>
                <a:latin typeface="Times New Roman" panose="02020603050405020304" pitchFamily="18" charset="0"/>
                <a:cs typeface="Times New Roman" panose="02020603050405020304" pitchFamily="18" charset="0"/>
              </a:rPr>
              <a:t>. Chef server manages Nodes by </a:t>
            </a:r>
            <a:r>
              <a:rPr lang="en-US" sz="2300" b="1" i="0" dirty="0">
                <a:solidFill>
                  <a:srgbClr val="333333"/>
                </a:solidFill>
                <a:effectLst/>
                <a:latin typeface="Times New Roman" panose="02020603050405020304" pitchFamily="18" charset="0"/>
                <a:cs typeface="Times New Roman" panose="02020603050405020304" pitchFamily="18" charset="0"/>
              </a:rPr>
              <a:t>Chef client</a:t>
            </a:r>
            <a:r>
              <a:rPr lang="en-US" sz="2300" b="0" i="0" dirty="0">
                <a:solidFill>
                  <a:srgbClr val="333333"/>
                </a:solidFill>
                <a:effectLst/>
                <a:latin typeface="Times New Roman" panose="02020603050405020304" pitchFamily="18" charset="0"/>
                <a:cs typeface="Times New Roman" panose="02020603050405020304" pitchFamily="18" charset="0"/>
              </a:rPr>
              <a:t>, which is a software installed on each Node. </a:t>
            </a:r>
          </a:p>
          <a:p>
            <a:pPr marL="285750" indent="-285750" algn="l">
              <a:buFont typeface="Wingdings" panose="05000000000000000000" pitchFamily="2" charset="2"/>
              <a:buChar char="Ø"/>
            </a:pPr>
            <a:endParaRPr lang="en-US" sz="2300" dirty="0">
              <a:solidFill>
                <a:srgbClr val="333333"/>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300" b="0" i="0" dirty="0">
                <a:solidFill>
                  <a:srgbClr val="333333"/>
                </a:solidFill>
                <a:effectLst/>
                <a:latin typeface="Times New Roman" panose="02020603050405020304" pitchFamily="18" charset="0"/>
                <a:cs typeface="Times New Roman" panose="02020603050405020304" pitchFamily="18" charset="0"/>
              </a:rPr>
              <a:t>Chef client retrieving configuration information from the Chef Server. </a:t>
            </a:r>
            <a:r>
              <a:rPr lang="en-US" sz="2300" b="0" i="0" dirty="0">
                <a:solidFill>
                  <a:srgbClr val="0070C0"/>
                </a:solidFill>
                <a:effectLst/>
                <a:latin typeface="Times New Roman" panose="02020603050405020304" pitchFamily="18" charset="0"/>
                <a:cs typeface="Times New Roman" panose="02020603050405020304" pitchFamily="18" charset="0"/>
              </a:rPr>
              <a:t>Nodes can be a cloud-based/virtual/physical server in your own data center.</a:t>
            </a:r>
          </a:p>
          <a:p>
            <a:pPr algn="l"/>
            <a:endParaRPr lang="en-US" sz="2300" b="0" i="0" dirty="0">
              <a:solidFill>
                <a:srgbClr val="333333"/>
              </a:solidFill>
              <a:effectLst/>
              <a:latin typeface="Times New Roman" panose="02020603050405020304" pitchFamily="18" charset="0"/>
              <a:cs typeface="Times New Roman" panose="02020603050405020304" pitchFamily="18" charset="0"/>
            </a:endParaRPr>
          </a:p>
          <a:p>
            <a:pPr algn="l"/>
            <a:r>
              <a:rPr lang="en-US" sz="2300" b="0" i="0" dirty="0">
                <a:solidFill>
                  <a:srgbClr val="333333"/>
                </a:solidFill>
                <a:effectLst/>
                <a:latin typeface="Times New Roman" panose="02020603050405020304" pitchFamily="18" charset="0"/>
                <a:cs typeface="Times New Roman" panose="02020603050405020304" pitchFamily="18" charset="0"/>
              </a:rPr>
              <a:t>Any changes made to your infrastructure code must pass through the Chef server in order to be applied to nodes. </a:t>
            </a:r>
            <a:r>
              <a:rPr lang="en-US" sz="2300" b="0" i="0" dirty="0">
                <a:solidFill>
                  <a:srgbClr val="0070C0"/>
                </a:solidFill>
                <a:effectLst/>
                <a:latin typeface="Times New Roman" panose="02020603050405020304" pitchFamily="18" charset="0"/>
                <a:cs typeface="Times New Roman" panose="02020603050405020304" pitchFamily="18" charset="0"/>
              </a:rPr>
              <a:t>Prior to accepting or pushing changes, the Chef server authenticates all communication via its REST API using public key encryption.</a:t>
            </a:r>
          </a:p>
          <a:p>
            <a:pPr algn="l"/>
            <a:endParaRPr lang="en-US" sz="2300" b="0" i="0" dirty="0">
              <a:solidFill>
                <a:srgbClr val="333333"/>
              </a:solidFill>
              <a:effectLst/>
              <a:latin typeface="Times New Roman" panose="02020603050405020304" pitchFamily="18" charset="0"/>
              <a:cs typeface="Times New Roman" panose="02020603050405020304" pitchFamily="18" charset="0"/>
            </a:endParaRPr>
          </a:p>
          <a:p>
            <a:pPr algn="l"/>
            <a:r>
              <a:rPr lang="en-US" sz="2300" b="0" i="0" dirty="0">
                <a:solidFill>
                  <a:srgbClr val="FF0000"/>
                </a:solidFill>
                <a:effectLst/>
                <a:latin typeface="Times New Roman" panose="02020603050405020304" pitchFamily="18" charset="0"/>
                <a:cs typeface="Times New Roman" panose="02020603050405020304" pitchFamily="18" charset="0"/>
              </a:rPr>
              <a:t>Chef client periodically pulls Chef server to see if there are any changes in cookbooks or settings</a:t>
            </a:r>
            <a:r>
              <a:rPr lang="en-US" sz="2300" b="0" i="0" dirty="0">
                <a:solidFill>
                  <a:srgbClr val="333333"/>
                </a:solidFill>
                <a:effectLst/>
                <a:latin typeface="Times New Roman" panose="02020603050405020304" pitchFamily="18" charset="0"/>
                <a:cs typeface="Times New Roman" panose="02020603050405020304" pitchFamily="18" charset="0"/>
              </a:rPr>
              <a:t>. If there are changes then Chef server sends the latest configuration information to Chef client. Chef client applies these changes to nodes.</a:t>
            </a:r>
          </a:p>
        </p:txBody>
      </p:sp>
    </p:spTree>
    <p:extLst>
      <p:ext uri="{BB962C8B-B14F-4D97-AF65-F5344CB8AC3E}">
        <p14:creationId xmlns:p14="http://schemas.microsoft.com/office/powerpoint/2010/main" val="733212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0D350E1-0169-4353-B07A-128409D7C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1234" y="1049341"/>
            <a:ext cx="9613417" cy="4759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496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61C4-F40A-4AC3-9FA7-C1F9AC0E2A9A}"/>
              </a:ext>
            </a:extLst>
          </p:cNvPr>
          <p:cNvSpPr>
            <a:spLocks noGrp="1"/>
          </p:cNvSpPr>
          <p:nvPr>
            <p:ph type="ctrTitle"/>
          </p:nvPr>
        </p:nvSpPr>
        <p:spPr/>
        <p:txBody>
          <a:bodyPr/>
          <a:lstStyle/>
          <a:p>
            <a:r>
              <a:rPr lang="en-US" dirty="0"/>
              <a:t>SALTSTAKER</a:t>
            </a:r>
            <a:endParaRPr lang="en-IN" dirty="0"/>
          </a:p>
        </p:txBody>
      </p:sp>
      <p:sp>
        <p:nvSpPr>
          <p:cNvPr id="3" name="Subtitle 2">
            <a:extLst>
              <a:ext uri="{FF2B5EF4-FFF2-40B4-BE49-F238E27FC236}">
                <a16:creationId xmlns:a16="http://schemas.microsoft.com/office/drawing/2014/main" id="{95467AC3-17F4-452C-98A5-271D14C1134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533429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21" y="490330"/>
            <a:ext cx="11940209" cy="5789609"/>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Why </a:t>
            </a:r>
            <a:r>
              <a:rPr lang="en-US" sz="2400" b="1" dirty="0" err="1">
                <a:latin typeface="Times New Roman" panose="02020603050405020304" pitchFamily="18" charset="0"/>
                <a:cs typeface="Times New Roman" panose="02020603050405020304" pitchFamily="18" charset="0"/>
              </a:rPr>
              <a:t>Saltstack</a:t>
            </a:r>
            <a:r>
              <a:rPr lang="en-US" sz="2400" b="1" dirty="0">
                <a:latin typeface="Times New Roman" panose="02020603050405020304" pitchFamily="18" charset="0"/>
                <a:cs typeface="Times New Roman" panose="02020603050405020304" pitchFamily="18" charset="0"/>
              </a:rPr>
              <a:t>?</a:t>
            </a:r>
          </a:p>
          <a:p>
            <a:endParaRPr lang="en-US" sz="2400" b="1"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SaltStack</a:t>
            </a:r>
            <a:r>
              <a:rPr lang="en-US" sz="2400" dirty="0">
                <a:latin typeface="Times New Roman" panose="02020603050405020304" pitchFamily="18" charset="0"/>
                <a:cs typeface="Times New Roman" panose="02020603050405020304" pitchFamily="18" charset="0"/>
              </a:rPr>
              <a:t> Architecture is developed for providing speed and scale.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is the reason why this architecture is used for managing the thousands of servers at Google, Linked In, and many more companies. </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For example -</a:t>
            </a:r>
            <a:r>
              <a:rPr lang="en-US" sz="2400" dirty="0">
                <a:latin typeface="Times New Roman" panose="02020603050405020304" pitchFamily="18" charset="0"/>
                <a:cs typeface="Times New Roman" panose="02020603050405020304" pitchFamily="18" charset="0"/>
              </a:rPr>
              <a:t> If a user has thousands of servers and the user wants to perform functions on every server. A user would be required to log in to every server and perform functions one at a time. This process will be very complicated and time-consuming as functions like software installation and configuration based on particular criteria may consume a lot of time.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To overcome this problem, </a:t>
            </a:r>
            <a:r>
              <a:rPr lang="en-US" sz="2400" dirty="0" err="1">
                <a:latin typeface="Times New Roman" panose="02020603050405020304" pitchFamily="18" charset="0"/>
                <a:cs typeface="Times New Roman" panose="02020603050405020304" pitchFamily="18" charset="0"/>
              </a:rPr>
              <a:t>SaltStack</a:t>
            </a:r>
            <a:r>
              <a:rPr lang="en-US" sz="2400" dirty="0">
                <a:latin typeface="Times New Roman" panose="02020603050405020304" pitchFamily="18" charset="0"/>
                <a:cs typeface="Times New Roman" panose="02020603050405020304" pitchFamily="18" charset="0"/>
              </a:rPr>
              <a:t> Architecture has been introduced as one can perform different functions just by typing one command. Thus, </a:t>
            </a:r>
            <a:r>
              <a:rPr lang="en-US" sz="2400" dirty="0" err="1">
                <a:latin typeface="Times New Roman" panose="02020603050405020304" pitchFamily="18" charset="0"/>
                <a:cs typeface="Times New Roman" panose="02020603050405020304" pitchFamily="18" charset="0"/>
              </a:rPr>
              <a:t>SaltStack</a:t>
            </a:r>
            <a:r>
              <a:rPr lang="en-US" sz="2400" dirty="0">
                <a:latin typeface="Times New Roman" panose="02020603050405020304" pitchFamily="18" charset="0"/>
                <a:cs typeface="Times New Roman" panose="02020603050405020304" pitchFamily="18" charset="0"/>
              </a:rPr>
              <a:t> is a single solution to overcome all such issues</a:t>
            </a:r>
          </a:p>
        </p:txBody>
      </p:sp>
    </p:spTree>
    <p:extLst>
      <p:ext uri="{BB962C8B-B14F-4D97-AF65-F5344CB8AC3E}">
        <p14:creationId xmlns:p14="http://schemas.microsoft.com/office/powerpoint/2010/main" val="2836796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19DA9A-640F-4CF1-9FA8-582BEFFE0228}"/>
              </a:ext>
            </a:extLst>
          </p:cNvPr>
          <p:cNvSpPr txBox="1"/>
          <p:nvPr/>
        </p:nvSpPr>
        <p:spPr>
          <a:xfrm>
            <a:off x="0" y="1"/>
            <a:ext cx="12192000" cy="1200329"/>
          </a:xfrm>
          <a:prstGeom prst="rect">
            <a:avLst/>
          </a:prstGeom>
          <a:noFill/>
        </p:spPr>
        <p:txBody>
          <a:bodyPr wrap="square">
            <a:spAutoFit/>
          </a:bodyPr>
          <a:lstStyle/>
          <a:p>
            <a:pPr algn="l"/>
            <a:r>
              <a:rPr lang="en-US" dirty="0">
                <a:solidFill>
                  <a:srgbClr val="FF0000"/>
                </a:solidFill>
                <a:latin typeface="Lato" panose="020F0502020204030203" pitchFamily="34" charset="0"/>
              </a:rPr>
              <a:t>Salt uses a server-agent communication model</a:t>
            </a:r>
            <a:r>
              <a:rPr lang="en-US" dirty="0">
                <a:solidFill>
                  <a:srgbClr val="333333"/>
                </a:solidFill>
                <a:latin typeface="Lato" panose="020F0502020204030203" pitchFamily="34" charset="0"/>
              </a:rPr>
              <a:t>, The server component is called the Salt master, and the agent is called the Salt minion.</a:t>
            </a:r>
          </a:p>
          <a:p>
            <a:br>
              <a:rPr lang="en-US" dirty="0">
                <a:solidFill>
                  <a:srgbClr val="337AB7"/>
                </a:solidFill>
                <a:latin typeface="Lato" panose="020F0502020204030203" pitchFamily="34" charset="0"/>
                <a:hlinkClick r:id="rId2"/>
              </a:rPr>
            </a:br>
            <a:endParaRPr lang="en-IN" dirty="0"/>
          </a:p>
        </p:txBody>
      </p:sp>
      <p:pic>
        <p:nvPicPr>
          <p:cNvPr id="1028" name="Picture 4">
            <a:extLst>
              <a:ext uri="{FF2B5EF4-FFF2-40B4-BE49-F238E27FC236}">
                <a16:creationId xmlns:a16="http://schemas.microsoft.com/office/drawing/2014/main" id="{6A50F3E2-78B0-469C-B34E-A50BF81E9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7608" y="1200330"/>
            <a:ext cx="7128792" cy="4532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88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89F6DB-0614-480B-8B15-152648B85C01}"/>
              </a:ext>
            </a:extLst>
          </p:cNvPr>
          <p:cNvSpPr txBox="1"/>
          <p:nvPr/>
        </p:nvSpPr>
        <p:spPr>
          <a:xfrm>
            <a:off x="172277" y="116632"/>
            <a:ext cx="11913705" cy="646331"/>
          </a:xfrm>
          <a:prstGeom prst="rect">
            <a:avLst/>
          </a:prstGeom>
          <a:noFill/>
        </p:spPr>
        <p:txBody>
          <a:bodyPr wrap="square">
            <a:spAutoFit/>
          </a:bodyPr>
          <a:lstStyle/>
          <a:p>
            <a:r>
              <a:rPr lang="en-US" dirty="0">
                <a:solidFill>
                  <a:srgbClr val="333333"/>
                </a:solidFill>
                <a:latin typeface="Lato" panose="020F0502020204030203" pitchFamily="34" charset="0"/>
              </a:rPr>
              <a:t>The Salt master is responsible for sending commands to Salt minions, and then aggregating and displaying the results of those commands. A single Salt master can manage thousands of systems.</a:t>
            </a:r>
            <a:endParaRPr lang="en-IN" dirty="0"/>
          </a:p>
        </p:txBody>
      </p:sp>
      <p:pic>
        <p:nvPicPr>
          <p:cNvPr id="5" name="Picture 4">
            <a:extLst>
              <a:ext uri="{FF2B5EF4-FFF2-40B4-BE49-F238E27FC236}">
                <a16:creationId xmlns:a16="http://schemas.microsoft.com/office/drawing/2014/main" id="{97495B83-ABB8-4910-A8EE-E6F638492AF6}"/>
              </a:ext>
            </a:extLst>
          </p:cNvPr>
          <p:cNvPicPr>
            <a:picLocks noChangeAspect="1"/>
          </p:cNvPicPr>
          <p:nvPr/>
        </p:nvPicPr>
        <p:blipFill>
          <a:blip r:embed="rId2"/>
          <a:stretch>
            <a:fillRect/>
          </a:stretch>
        </p:blipFill>
        <p:spPr>
          <a:xfrm>
            <a:off x="2423592" y="1484785"/>
            <a:ext cx="7581900" cy="4333875"/>
          </a:xfrm>
          <a:prstGeom prst="rect">
            <a:avLst/>
          </a:prstGeom>
        </p:spPr>
      </p:pic>
    </p:spTree>
    <p:extLst>
      <p:ext uri="{BB962C8B-B14F-4D97-AF65-F5344CB8AC3E}">
        <p14:creationId xmlns:p14="http://schemas.microsoft.com/office/powerpoint/2010/main" val="26693304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024562-8492-4773-84CA-4001531E3A14}"/>
              </a:ext>
            </a:extLst>
          </p:cNvPr>
          <p:cNvPicPr>
            <a:picLocks noChangeAspect="1"/>
          </p:cNvPicPr>
          <p:nvPr/>
        </p:nvPicPr>
        <p:blipFill>
          <a:blip r:embed="rId2"/>
          <a:stretch>
            <a:fillRect/>
          </a:stretch>
        </p:blipFill>
        <p:spPr>
          <a:xfrm>
            <a:off x="410819" y="288445"/>
            <a:ext cx="10676392" cy="6281109"/>
          </a:xfrm>
          <a:prstGeom prst="rect">
            <a:avLst/>
          </a:prstGeom>
        </p:spPr>
      </p:pic>
    </p:spTree>
    <p:extLst>
      <p:ext uri="{BB962C8B-B14F-4D97-AF65-F5344CB8AC3E}">
        <p14:creationId xmlns:p14="http://schemas.microsoft.com/office/powerpoint/2010/main" val="2394988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6797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2812</TotalTime>
  <Words>2699</Words>
  <Application>Microsoft Office PowerPoint</Application>
  <PresentationFormat>Widescreen</PresentationFormat>
  <Paragraphs>211</Paragraphs>
  <Slides>37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37</vt:i4>
      </vt:variant>
    </vt:vector>
  </HeadingPairs>
  <TitlesOfParts>
    <vt:vector size="49" baseType="lpstr">
      <vt:lpstr>Arial</vt:lpstr>
      <vt:lpstr>Arial</vt:lpstr>
      <vt:lpstr>Calibri</vt:lpstr>
      <vt:lpstr>Calibri Light</vt:lpstr>
      <vt:lpstr>charter</vt:lpstr>
      <vt:lpstr>Geekflare</vt:lpstr>
      <vt:lpstr>Lato</vt:lpstr>
      <vt:lpstr>Open Sans</vt:lpstr>
      <vt:lpstr>Source Sans Pro</vt:lpstr>
      <vt:lpstr>Times New Roman</vt:lpstr>
      <vt:lpstr>Wingdings</vt:lpstr>
      <vt:lpstr>Office Theme</vt:lpstr>
      <vt:lpstr>PUPPET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CHEF</vt:lpstr>
      <vt:lpstr>PowerPoint Presentation</vt:lpstr>
      <vt:lpstr>PowerPoint Presentation</vt:lpstr>
      <vt:lpstr>PowerPoint Presentation</vt:lpstr>
      <vt:lpstr>PowerPoint Presentation</vt:lpstr>
      <vt:lpstr>PowerPoint Presentation</vt:lpstr>
      <vt:lpstr>PowerPoint Presentation</vt:lpstr>
      <vt:lpstr>SALTSTAKER</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19</cp:revision>
  <dcterms:created xsi:type="dcterms:W3CDTF">2021-10-25T07:10:43Z</dcterms:created>
  <dcterms:modified xsi:type="dcterms:W3CDTF">2021-11-03T05:28:20Z</dcterms:modified>
</cp:coreProperties>
</file>