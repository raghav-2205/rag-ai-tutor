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Montserrat"/>
      <p:regular r:id="rId30"/>
      <p:bold r:id="rId31"/>
      <p:italic r:id="rId32"/>
      <p:boldItalic r:id="rId33"/>
    </p:embeddedFont>
    <p:embeddedFont>
      <p:font typeface="Helvetica Neue"/>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7.xml"/><Relationship Id="rId33" Type="http://schemas.openxmlformats.org/officeDocument/2006/relationships/font" Target="fonts/Montserrat-boldItalic.fntdata"/><Relationship Id="rId10" Type="http://schemas.openxmlformats.org/officeDocument/2006/relationships/slide" Target="slides/slide6.xml"/><Relationship Id="rId32" Type="http://schemas.openxmlformats.org/officeDocument/2006/relationships/font" Target="fonts/Montserrat-italic.fntdata"/><Relationship Id="rId13" Type="http://schemas.openxmlformats.org/officeDocument/2006/relationships/slide" Target="slides/slide9.xml"/><Relationship Id="rId35" Type="http://schemas.openxmlformats.org/officeDocument/2006/relationships/font" Target="fonts/HelveticaNeue-bold.fntdata"/><Relationship Id="rId12" Type="http://schemas.openxmlformats.org/officeDocument/2006/relationships/slide" Target="slides/slide8.xml"/><Relationship Id="rId34" Type="http://schemas.openxmlformats.org/officeDocument/2006/relationships/font" Target="fonts/HelveticaNeue-regular.fntdata"/><Relationship Id="rId15" Type="http://schemas.openxmlformats.org/officeDocument/2006/relationships/slide" Target="slides/slide11.xml"/><Relationship Id="rId37" Type="http://schemas.openxmlformats.org/officeDocument/2006/relationships/font" Target="fonts/HelveticaNeue-boldItalic.fntdata"/><Relationship Id="rId14" Type="http://schemas.openxmlformats.org/officeDocument/2006/relationships/slide" Target="slides/slide10.xml"/><Relationship Id="rId36" Type="http://schemas.openxmlformats.org/officeDocument/2006/relationships/font" Target="fonts/HelveticaNeue-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pmi.org/disciplined-agile/process/release-managemen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948069"/>
            <a:ext cx="9263270" cy="156189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Release Management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0" l="0" r="0" t="0"/>
          <a:stretch/>
        </p:blipFill>
        <p:spPr>
          <a:xfrm>
            <a:off x="311025" y="646043"/>
            <a:ext cx="11569949" cy="55659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the release management lifecycle" id="94" name="Google Shape;94;p15"/>
          <p:cNvPicPr preferRelativeResize="0"/>
          <p:nvPr/>
        </p:nvPicPr>
        <p:blipFill rotWithShape="1">
          <a:blip r:embed="rId3">
            <a:alphaModFix/>
          </a:blip>
          <a:srcRect b="0" l="0" r="0" t="0"/>
          <a:stretch/>
        </p:blipFill>
        <p:spPr>
          <a:xfrm>
            <a:off x="1232451" y="0"/>
            <a:ext cx="9197009"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6"/>
          <p:cNvPicPr preferRelativeResize="0"/>
          <p:nvPr/>
        </p:nvPicPr>
        <p:blipFill rotWithShape="1">
          <a:blip r:embed="rId3">
            <a:alphaModFix/>
          </a:blip>
          <a:srcRect b="0" l="0" r="0" t="0"/>
          <a:stretch/>
        </p:blipFill>
        <p:spPr>
          <a:xfrm>
            <a:off x="1387231" y="689114"/>
            <a:ext cx="9417537" cy="57116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rotWithShape="1">
          <a:blip r:embed="rId3">
            <a:alphaModFix/>
          </a:blip>
          <a:srcRect b="0" l="0" r="0" t="0"/>
          <a:stretch/>
        </p:blipFill>
        <p:spPr>
          <a:xfrm>
            <a:off x="546900" y="578840"/>
            <a:ext cx="10971183" cy="5771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nvSpPr>
        <p:spPr>
          <a:xfrm>
            <a:off x="360728" y="352338"/>
            <a:ext cx="1144258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4639A"/>
                </a:solidFill>
                <a:latin typeface="Montserrat"/>
                <a:ea typeface="Montserrat"/>
                <a:cs typeface="Montserrat"/>
                <a:sym typeface="Montserrat"/>
              </a:rPr>
              <a:t>What is Release Management?</a:t>
            </a:r>
            <a:endParaRPr/>
          </a:p>
          <a:p>
            <a:pPr indent="0" lvl="0" marL="0" marR="0" rtl="0" algn="l">
              <a:spcBef>
                <a:spcPts val="0"/>
              </a:spcBef>
              <a:spcAft>
                <a:spcPts val="0"/>
              </a:spcAft>
              <a:buNone/>
            </a:pPr>
            <a:r>
              <a:rPr b="0" i="0" lang="en-US" sz="1800" u="none" cap="none" strike="noStrike">
                <a:solidFill>
                  <a:schemeClr val="dk1"/>
                </a:solidFill>
                <a:latin typeface="Georgia"/>
                <a:ea typeface="Georgia"/>
                <a:cs typeface="Georgia"/>
                <a:sym typeface="Georgia"/>
              </a:rPr>
              <a:t>Release Management is the process that handles software deployments and change initiatives. Across an organization, it schedules the relevant tasks (internal and external), assigns the physical and human resources needed to carry them out, and oversees the execution. It starts with planning what will be contained within a release, managing the software build through different stages and environments, testing stability and finally, deployment.</a:t>
            </a:r>
            <a:endParaRPr/>
          </a:p>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p>
            <a:pPr indent="0" lvl="0" marL="0" marR="0" rtl="0" algn="l">
              <a:spcBef>
                <a:spcPts val="0"/>
              </a:spcBef>
              <a:spcAft>
                <a:spcPts val="0"/>
              </a:spcAft>
              <a:buNone/>
            </a:pPr>
            <a:r>
              <a:t/>
            </a:r>
            <a:endParaRPr b="0" sz="1800">
              <a:solidFill>
                <a:schemeClr val="dk1"/>
              </a:solidFill>
              <a:latin typeface="Georgia"/>
              <a:ea typeface="Georgia"/>
              <a:cs typeface="Georgia"/>
              <a:sym typeface="Georgia"/>
            </a:endParaRPr>
          </a:p>
          <a:p>
            <a:pPr indent="0" lvl="0" marL="0" marR="0" rtl="0" algn="l">
              <a:spcBef>
                <a:spcPts val="0"/>
              </a:spcBef>
              <a:spcAft>
                <a:spcPts val="0"/>
              </a:spcAft>
              <a:buNone/>
            </a:pPr>
            <a:r>
              <a:rPr b="1" lang="en-US" sz="1800">
                <a:solidFill>
                  <a:schemeClr val="dk1"/>
                </a:solidFill>
                <a:latin typeface="Georgia"/>
                <a:ea typeface="Georgia"/>
                <a:cs typeface="Georgia"/>
                <a:sym typeface="Georgia"/>
              </a:rPr>
              <a:t>It is a difficult balancing act between:</a:t>
            </a:r>
            <a:endParaRPr/>
          </a:p>
          <a:p>
            <a:pPr indent="0" lvl="0" marL="0" marR="0" rtl="0" algn="l">
              <a:spcBef>
                <a:spcPts val="0"/>
              </a:spcBef>
              <a:spcAft>
                <a:spcPts val="0"/>
              </a:spcAft>
              <a:buNone/>
            </a:pPr>
            <a:r>
              <a:t/>
            </a:r>
            <a:endParaRPr b="1" sz="1800">
              <a:solidFill>
                <a:schemeClr val="dk1"/>
              </a:solidFill>
              <a:latin typeface="Georgia"/>
              <a:ea typeface="Georgia"/>
              <a:cs typeface="Georgia"/>
              <a:sym typeface="Georgia"/>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Delivering value and novel features to customers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Prioritizing value streams according to business needs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Improving the speed and quality of release deployments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Not compromising product stability.</a:t>
            </a:r>
            <a:endParaRPr/>
          </a:p>
          <a:p>
            <a:pPr indent="0" lvl="0" marL="0" marR="0" rtl="0" algn="l">
              <a:spcBef>
                <a:spcPts val="0"/>
              </a:spcBef>
              <a:spcAft>
                <a:spcPts val="0"/>
              </a:spcAft>
              <a:buNone/>
            </a:pPr>
            <a:r>
              <a:rPr b="0" lang="en-US" sz="1800">
                <a:solidFill>
                  <a:schemeClr val="dk1"/>
                </a:solidFill>
                <a:latin typeface="Georgia"/>
                <a:ea typeface="Georgia"/>
                <a:cs typeface="Georgia"/>
                <a:sym typeface="Georgia"/>
              </a:rPr>
              <a:t>No matter the software development approach, the Release Manager has the skill set, initiative and determination to make this happen.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9"/>
          <p:cNvPicPr preferRelativeResize="0"/>
          <p:nvPr/>
        </p:nvPicPr>
        <p:blipFill rotWithShape="1">
          <a:blip r:embed="rId3">
            <a:alphaModFix/>
          </a:blip>
          <a:srcRect b="0" l="0" r="0" t="0"/>
          <a:stretch/>
        </p:blipFill>
        <p:spPr>
          <a:xfrm>
            <a:off x="530087" y="636104"/>
            <a:ext cx="11171583" cy="58442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0" y="0"/>
            <a:ext cx="11648661" cy="75208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a:solidFill>
                  <a:srgbClr val="14639A"/>
                </a:solidFill>
                <a:latin typeface="Montserrat"/>
                <a:ea typeface="Montserrat"/>
                <a:cs typeface="Montserrat"/>
                <a:sym typeface="Montserrat"/>
              </a:rPr>
              <a:t>Release Management Process Components</a:t>
            </a:r>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Value Stream:</a:t>
            </a:r>
            <a:r>
              <a:rPr b="0" i="0" lang="en-US" sz="1800">
                <a:solidFill>
                  <a:srgbClr val="FF0000"/>
                </a:solidFill>
                <a:latin typeface="Georgia"/>
                <a:ea typeface="Georgia"/>
                <a:cs typeface="Georgia"/>
                <a:sym typeface="Georgia"/>
              </a:rPr>
              <a:t> The release processes that add or create value across the release pipeline.</a:t>
            </a:r>
            <a:endParaRPr/>
          </a:p>
          <a:p>
            <a:pPr indent="-285750" lvl="0" marL="285750" marR="0" rtl="0" algn="l">
              <a:lnSpc>
                <a:spcPct val="150000"/>
              </a:lnSpc>
              <a:spcBef>
                <a:spcPts val="0"/>
              </a:spcBef>
              <a:spcAft>
                <a:spcPts val="0"/>
              </a:spcAft>
              <a:buClr>
                <a:srgbClr val="343F47"/>
              </a:buClr>
              <a:buSzPts val="1800"/>
              <a:buFont typeface="Noto Sans Symbols"/>
              <a:buChar char="⮚"/>
            </a:pPr>
            <a:r>
              <a:rPr b="0" i="0" lang="en-US" sz="1800">
                <a:solidFill>
                  <a:srgbClr val="343F47"/>
                </a:solidFill>
                <a:latin typeface="Georgia"/>
                <a:ea typeface="Georgia"/>
                <a:cs typeface="Georgia"/>
                <a:sym typeface="Georgia"/>
              </a:rPr>
              <a:t>To understand value stream mapping, we need to first understand what a “value stream” is. Simply put, </a:t>
            </a:r>
            <a:r>
              <a:rPr b="1" i="0" lang="en-US" sz="1800">
                <a:solidFill>
                  <a:srgbClr val="000000"/>
                </a:solidFill>
                <a:latin typeface="Georgia"/>
                <a:ea typeface="Georgia"/>
                <a:cs typeface="Georgia"/>
                <a:sym typeface="Georgia"/>
              </a:rPr>
              <a:t>a value stream is a series of steps that occur to provide the product or service that their customers want or need.</a:t>
            </a:r>
            <a:r>
              <a:rPr b="0" i="0" lang="en-US" sz="1800">
                <a:solidFill>
                  <a:srgbClr val="343F47"/>
                </a:solidFill>
                <a:latin typeface="Georgia"/>
                <a:ea typeface="Georgia"/>
                <a:cs typeface="Georgia"/>
                <a:sym typeface="Georgia"/>
              </a:rPr>
              <a:t> In order to provide the product or service that the customers desire, every company has a set of steps that are required.</a:t>
            </a:r>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343F47"/>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Pipeline</a:t>
            </a:r>
            <a:r>
              <a:rPr b="0" i="0" lang="en-US" sz="1800">
                <a:solidFill>
                  <a:srgbClr val="FF0000"/>
                </a:solidFill>
                <a:latin typeface="Georgia"/>
                <a:ea typeface="Georgia"/>
                <a:cs typeface="Georgia"/>
                <a:sym typeface="Georgia"/>
              </a:rPr>
              <a:t>: A specific release process from feature planning to delivery.</a:t>
            </a:r>
            <a:endParaRPr/>
          </a:p>
          <a:p>
            <a:pPr indent="-285750" lvl="0" marL="285750" marR="0" rtl="0" algn="l">
              <a:lnSpc>
                <a:spcPct val="150000"/>
              </a:lnSpc>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pipeline is </a:t>
            </a:r>
            <a:r>
              <a:rPr b="1" i="0" lang="en-US" sz="1800">
                <a:solidFill>
                  <a:srgbClr val="202124"/>
                </a:solidFill>
                <a:latin typeface="arial"/>
                <a:ea typeface="arial"/>
                <a:cs typeface="arial"/>
                <a:sym typeface="arial"/>
              </a:rPr>
              <a:t>a conceptual process by which we take committed code into production</a:t>
            </a:r>
            <a:r>
              <a:rPr b="0" i="0" lang="en-US" sz="1800">
                <a:solidFill>
                  <a:srgbClr val="202124"/>
                </a:solidFill>
                <a:latin typeface="arial"/>
                <a:ea typeface="arial"/>
                <a:cs typeface="arial"/>
                <a:sym typeface="arial"/>
              </a:rPr>
              <a:t>. As such, a release pipeline can be as ephemeral or as real as we want to make it. The fundamental release pipeline from code change to production software. A means of triggering the pipeline to run.</a:t>
            </a:r>
            <a:endParaRPr/>
          </a:p>
          <a:p>
            <a:pPr indent="0" lvl="0" marL="0" marR="0" rtl="0" algn="l">
              <a:lnSpc>
                <a:spcPct val="150000"/>
              </a:lnSpc>
              <a:spcBef>
                <a:spcPts val="0"/>
              </a:spcBef>
              <a:spcAft>
                <a:spcPts val="0"/>
              </a:spcAft>
              <a:buNone/>
            </a:pPr>
            <a:r>
              <a:t/>
            </a:r>
            <a:endParaRPr b="0" i="0" sz="1800">
              <a:solidFill>
                <a:srgbClr val="202124"/>
              </a:solidFill>
              <a:latin typeface="arial"/>
              <a:ea typeface="arial"/>
              <a:cs typeface="arial"/>
              <a:sym typeface="arial"/>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Policy</a:t>
            </a:r>
            <a:r>
              <a:rPr b="0" i="0" lang="en-US" sz="1800">
                <a:solidFill>
                  <a:srgbClr val="FF0000"/>
                </a:solidFill>
                <a:latin typeface="Georgia"/>
                <a:ea typeface="Georgia"/>
                <a:cs typeface="Georgia"/>
                <a:sym typeface="Georgia"/>
              </a:rPr>
              <a:t>: The definition of release types, standards, governance requirements(set of rule) for an organization.</a:t>
            </a:r>
            <a:endParaRPr/>
          </a:p>
          <a:p>
            <a:pPr indent="-285750" lvl="0" marL="285750" marR="0" rtl="0" algn="l">
              <a:lnSpc>
                <a:spcPct val="150000"/>
              </a:lnSpc>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The Release Policy represents </a:t>
            </a:r>
            <a:r>
              <a:rPr b="1" i="0" lang="en-US" sz="1800">
                <a:solidFill>
                  <a:srgbClr val="202124"/>
                </a:solidFill>
                <a:latin typeface="arial"/>
                <a:ea typeface="arial"/>
                <a:cs typeface="arial"/>
                <a:sym typeface="arial"/>
              </a:rPr>
              <a:t>a set of rules for deploying releases into the live operational environment</a:t>
            </a:r>
            <a:r>
              <a:rPr b="0" i="0" lang="en-US" sz="1800">
                <a:solidFill>
                  <a:srgbClr val="202124"/>
                </a:solidFill>
                <a:latin typeface="arial"/>
                <a:ea typeface="arial"/>
                <a:cs typeface="arial"/>
                <a:sym typeface="arial"/>
              </a:rPr>
              <a:t>, defining different approaches for releases depending on their urgency and impact.</a:t>
            </a:r>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000000"/>
              </a:solidFill>
              <a:latin typeface="Georgia"/>
              <a:ea typeface="Georgia"/>
              <a:cs typeface="Georgia"/>
              <a:sym typeface="Georgia"/>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000000"/>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nvSpPr>
        <p:spPr>
          <a:xfrm>
            <a:off x="2673459" y="2319084"/>
            <a:ext cx="377557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43F47"/>
              </a:solidFill>
              <a:latin typeface="Georgia"/>
              <a:ea typeface="Georgia"/>
              <a:cs typeface="Georgia"/>
              <a:sym typeface="Georgia"/>
            </a:endParaRPr>
          </a:p>
          <a:p>
            <a:pPr indent="0" lvl="0" marL="0" marR="0" rtl="0" algn="l">
              <a:spcBef>
                <a:spcPts val="0"/>
              </a:spcBef>
              <a:spcAft>
                <a:spcPts val="0"/>
              </a:spcAft>
              <a:buNone/>
            </a:pPr>
            <a:r>
              <a:t/>
            </a:r>
            <a:endParaRPr sz="1800">
              <a:solidFill>
                <a:srgbClr val="343F47"/>
              </a:solidFill>
              <a:latin typeface="Georgia"/>
              <a:ea typeface="Georgia"/>
              <a:cs typeface="Georgia"/>
              <a:sym typeface="Georgia"/>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1"/>
          <p:cNvSpPr txBox="1"/>
          <p:nvPr/>
        </p:nvSpPr>
        <p:spPr>
          <a:xfrm>
            <a:off x="176168" y="494950"/>
            <a:ext cx="11576807" cy="211936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Template</a:t>
            </a:r>
            <a:r>
              <a:rPr b="0" i="0" lang="en-US" sz="1800">
                <a:solidFill>
                  <a:srgbClr val="FF0000"/>
                </a:solidFill>
                <a:latin typeface="Georgia"/>
                <a:ea typeface="Georgia"/>
                <a:cs typeface="Georgia"/>
                <a:sym typeface="Georgia"/>
              </a:rPr>
              <a:t>: A single, repeatable workflow process for release pipeline that includes human and automated activities and follows an organization’s release policies</a:t>
            </a:r>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Plan: </a:t>
            </a:r>
            <a:r>
              <a:rPr b="0" i="0" lang="en-US" sz="1800">
                <a:solidFill>
                  <a:srgbClr val="FF0000"/>
                </a:solidFill>
                <a:latin typeface="Georgia"/>
                <a:ea typeface="Georgia"/>
                <a:cs typeface="Georgia"/>
                <a:sym typeface="Georgia"/>
              </a:rPr>
              <a:t>An instance of a release template developed for a specific release.</a:t>
            </a:r>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800"/>
              <a:buFont typeface="Arial"/>
              <a:buNone/>
            </a:pPr>
            <a:r>
              <a:t/>
            </a:r>
            <a:endParaRPr b="0" i="0" sz="1800">
              <a:solidFill>
                <a:srgbClr val="000000"/>
              </a:solidFill>
              <a:latin typeface="Georgia"/>
              <a:ea typeface="Georgia"/>
              <a:cs typeface="Georgia"/>
              <a:sym typeface="Georgia"/>
            </a:endParaRPr>
          </a:p>
        </p:txBody>
      </p:sp>
      <p:pic>
        <p:nvPicPr>
          <p:cNvPr descr="Release Plan Template | Editable Agile Slides | PowerSlides™" id="126" name="Google Shape;126;p21"/>
          <p:cNvPicPr preferRelativeResize="0"/>
          <p:nvPr/>
        </p:nvPicPr>
        <p:blipFill rotWithShape="1">
          <a:blip r:embed="rId3">
            <a:alphaModFix/>
          </a:blip>
          <a:srcRect b="0" l="0" r="0" t="0"/>
          <a:stretch/>
        </p:blipFill>
        <p:spPr>
          <a:xfrm>
            <a:off x="1750932" y="2067028"/>
            <a:ext cx="7748201" cy="43533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nvSpPr>
        <p:spPr>
          <a:xfrm>
            <a:off x="268448" y="243281"/>
            <a:ext cx="11467750" cy="457369"/>
          </a:xfrm>
          <a:prstGeom prst="rect">
            <a:avLst/>
          </a:prstGeom>
          <a:noFill/>
          <a:ln>
            <a:noFill/>
          </a:ln>
        </p:spPr>
        <p:txBody>
          <a:bodyPr anchorCtr="0" anchor="t" bIns="45700" lIns="91425" spcFirstLastPara="1" rIns="91425" wrap="square" tIns="45700">
            <a:spAutoFit/>
          </a:bodyPr>
          <a:lstStyle/>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Deployment Plan: </a:t>
            </a:r>
            <a:r>
              <a:rPr b="0" i="0" lang="en-US" sz="1800">
                <a:solidFill>
                  <a:srgbClr val="FF0000"/>
                </a:solidFill>
                <a:latin typeface="Georgia"/>
                <a:ea typeface="Georgia"/>
                <a:cs typeface="Georgia"/>
                <a:sym typeface="Georgia"/>
              </a:rPr>
              <a:t>Activities to deploy a release to the production environment.</a:t>
            </a:r>
            <a:endParaRPr/>
          </a:p>
        </p:txBody>
      </p:sp>
      <p:pic>
        <p:nvPicPr>
          <p:cNvPr descr="Deployment Plan Template | FREE Download" id="132" name="Google Shape;132;p22"/>
          <p:cNvPicPr preferRelativeResize="0"/>
          <p:nvPr/>
        </p:nvPicPr>
        <p:blipFill rotWithShape="1">
          <a:blip r:embed="rId3">
            <a:alphaModFix/>
          </a:blip>
          <a:srcRect b="0" l="0" r="0" t="0"/>
          <a:stretch/>
        </p:blipFill>
        <p:spPr>
          <a:xfrm>
            <a:off x="532441" y="1434517"/>
            <a:ext cx="10683640" cy="43790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nvSpPr>
        <p:spPr>
          <a:xfrm>
            <a:off x="176169" y="92279"/>
            <a:ext cx="11501306" cy="5027851"/>
          </a:xfrm>
          <a:prstGeom prst="rect">
            <a:avLst/>
          </a:prstGeom>
          <a:noFill/>
          <a:ln>
            <a:noFill/>
          </a:ln>
        </p:spPr>
        <p:txBody>
          <a:bodyPr anchorCtr="0" anchor="t" bIns="45700" lIns="91425" spcFirstLastPara="1" rIns="91425" wrap="square" tIns="45700">
            <a:spAutoFit/>
          </a:bodyPr>
          <a:lstStyle/>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   Release unit: </a:t>
            </a:r>
            <a:r>
              <a:rPr b="0" i="0" lang="en-US" sz="1800">
                <a:solidFill>
                  <a:srgbClr val="FF0000"/>
                </a:solidFill>
                <a:latin typeface="Georgia"/>
                <a:ea typeface="Georgia"/>
                <a:cs typeface="Georgia"/>
                <a:sym typeface="Georgia"/>
              </a:rPr>
              <a:t>The set of artifacts(product backlog, burndown charts) released together to implement a specific feature.</a:t>
            </a:r>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Unit is </a:t>
            </a:r>
            <a:r>
              <a:rPr b="1" i="0" lang="en-US" sz="1800">
                <a:solidFill>
                  <a:srgbClr val="202124"/>
                </a:solidFill>
                <a:latin typeface="arial"/>
                <a:ea typeface="arial"/>
                <a:cs typeface="arial"/>
                <a:sym typeface="arial"/>
              </a:rPr>
              <a:t>a set of new, changed and/or unchanged Configuration Items</a:t>
            </a:r>
            <a:r>
              <a:rPr b="0" i="0" lang="en-US" sz="1800">
                <a:solidFill>
                  <a:srgbClr val="202124"/>
                </a:solidFill>
                <a:latin typeface="arial"/>
                <a:ea typeface="arial"/>
                <a:cs typeface="arial"/>
                <a:sym typeface="arial"/>
              </a:rPr>
              <a:t>, which are tested and introduced into the live environment together to implement one or several approved Changes.</a:t>
            </a:r>
            <a:endParaRPr/>
          </a:p>
          <a:p>
            <a:pPr indent="0" lvl="0" marL="0" marR="0" rtl="0" algn="l">
              <a:spcBef>
                <a:spcPts val="0"/>
              </a:spcBef>
              <a:spcAft>
                <a:spcPts val="0"/>
              </a:spcAft>
              <a:buNone/>
            </a:pPr>
            <a:r>
              <a:t/>
            </a:r>
            <a:endParaRPr b="0" i="0" sz="1800">
              <a:solidFill>
                <a:srgbClr val="202124"/>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package:</a:t>
            </a:r>
            <a:r>
              <a:rPr b="0" i="0" lang="en-US" sz="1800">
                <a:solidFill>
                  <a:srgbClr val="FF0000"/>
                </a:solidFill>
                <a:latin typeface="Georgia"/>
                <a:ea typeface="Georgia"/>
                <a:cs typeface="Georgia"/>
                <a:sym typeface="Georgia"/>
              </a:rPr>
              <a:t> A combination of one or more release units deployed together as a single release due to interdependencies, scheduling, or business priorities.</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FF0000"/>
              </a:solidFill>
              <a:latin typeface="Georgia"/>
              <a:ea typeface="Georgia"/>
              <a:cs typeface="Georgia"/>
              <a:sym typeface="Georgia"/>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package contains </a:t>
            </a:r>
            <a:r>
              <a:rPr b="1" i="0" lang="en-US" sz="1800">
                <a:solidFill>
                  <a:srgbClr val="202124"/>
                </a:solidFill>
                <a:latin typeface="arial"/>
                <a:ea typeface="arial"/>
                <a:cs typeface="arial"/>
                <a:sym typeface="arial"/>
              </a:rPr>
              <a:t>information about all of the configuration items</a:t>
            </a:r>
            <a:r>
              <a:rPr b="0" i="0" lang="en-US" sz="1800">
                <a:solidFill>
                  <a:srgbClr val="202124"/>
                </a:solidFill>
                <a:latin typeface="arial"/>
                <a:ea typeface="arial"/>
                <a:cs typeface="arial"/>
                <a:sym typeface="arial"/>
              </a:rPr>
              <a:t> (for example, documentation, test plans, services, and so on) associated with a change and links to the release that is deploying the change. Typically, a Change Manager might have already linked to a release, or created a request for release.</a:t>
            </a:r>
            <a:endParaRPr b="0" i="0" sz="1800">
              <a:solidFill>
                <a:srgbClr val="FF0000"/>
              </a:solidFill>
              <a:latin typeface="Georgia"/>
              <a:ea typeface="Georgia"/>
              <a:cs typeface="Georgia"/>
              <a:sym typeface="Georgia"/>
            </a:endParaRPr>
          </a:p>
          <a:p>
            <a:pPr indent="-171450" lvl="0" marL="285750" marR="0" rtl="0" algn="l">
              <a:spcBef>
                <a:spcPts val="0"/>
              </a:spcBef>
              <a:spcAft>
                <a:spcPts val="0"/>
              </a:spcAft>
              <a:buClr>
                <a:schemeClr val="dk1"/>
              </a:buClr>
              <a:buSzPts val="1800"/>
              <a:buFont typeface="Noto Sans Symbols"/>
              <a:buNone/>
            </a:pPr>
            <a:r>
              <a:t/>
            </a:r>
            <a:endParaRPr b="0" i="0" sz="1800">
              <a:solidFill>
                <a:srgbClr val="FF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FF0000"/>
              </a:solidFill>
              <a:latin typeface="Georgia"/>
              <a:ea typeface="Georgia"/>
              <a:cs typeface="Georgia"/>
              <a:sym typeface="Georgia"/>
            </a:endParaRPr>
          </a:p>
          <a:p>
            <a:pPr indent="0" lvl="0" marL="0" marR="0" rtl="0" algn="l">
              <a:lnSpc>
                <a:spcPct val="150000"/>
              </a:lnSpc>
              <a:spcBef>
                <a:spcPts val="0"/>
              </a:spcBef>
              <a:spcAft>
                <a:spcPts val="0"/>
              </a:spcAft>
              <a:buNone/>
            </a:pPr>
            <a:r>
              <a:t/>
            </a:r>
            <a:endParaRPr b="0" i="0" sz="1800">
              <a:solidFill>
                <a:srgbClr val="FF0000"/>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nvSpPr>
        <p:spPr>
          <a:xfrm>
            <a:off x="486561" y="243282"/>
            <a:ext cx="10930856" cy="461805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b="0" i="0"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Major Releases</a:t>
            </a:r>
            <a:r>
              <a:rPr b="1" i="0" lang="en-US" sz="1800">
                <a:solidFill>
                  <a:srgbClr val="000000"/>
                </a:solidFill>
                <a:latin typeface="Georgia"/>
                <a:ea typeface="Georgia"/>
                <a:cs typeface="Georgia"/>
                <a:sym typeface="Georgia"/>
              </a:rPr>
              <a:t>:</a:t>
            </a:r>
            <a:r>
              <a:rPr b="0" i="0" lang="en-US" sz="1800">
                <a:solidFill>
                  <a:srgbClr val="000000"/>
                </a:solidFill>
                <a:latin typeface="Georgia"/>
                <a:ea typeface="Georgia"/>
                <a:cs typeface="Georgia"/>
                <a:sym typeface="Georgia"/>
              </a:rPr>
              <a:t> Infrequent release packages that include often include many release units that have a high or critical business impact.</a:t>
            </a:r>
            <a:endParaRPr/>
          </a:p>
          <a:p>
            <a:pPr indent="0" lvl="0" marL="0" marR="0" rtl="0" algn="l">
              <a:lnSpc>
                <a:spcPct val="150000"/>
              </a:lnSpc>
              <a:spcBef>
                <a:spcPts val="0"/>
              </a:spcBef>
              <a:spcAft>
                <a:spcPts val="0"/>
              </a:spcAft>
              <a:buNone/>
            </a:pPr>
            <a:r>
              <a:t/>
            </a:r>
            <a:endParaRPr b="0" i="0"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Minor Releases</a:t>
            </a:r>
            <a:r>
              <a:rPr b="1" i="0" lang="en-US" sz="1800">
                <a:solidFill>
                  <a:srgbClr val="000000"/>
                </a:solidFill>
                <a:latin typeface="Georgia"/>
                <a:ea typeface="Georgia"/>
                <a:cs typeface="Georgia"/>
                <a:sym typeface="Georgia"/>
              </a:rPr>
              <a:t>:</a:t>
            </a:r>
            <a:r>
              <a:rPr b="0" i="0" lang="en-US" sz="1800">
                <a:solidFill>
                  <a:srgbClr val="000000"/>
                </a:solidFill>
                <a:latin typeface="Georgia"/>
                <a:ea typeface="Georgia"/>
                <a:cs typeface="Georgia"/>
                <a:sym typeface="Georgia"/>
              </a:rPr>
              <a:t> More frequent release packages with fewer release units that do not include mission critical components.</a:t>
            </a:r>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202124"/>
              </a:buClr>
              <a:buSzPts val="1800"/>
              <a:buFont typeface="Arial"/>
              <a:buChar char="•"/>
            </a:pPr>
            <a:r>
              <a:rPr b="0" i="0" lang="en-US" sz="1800">
                <a:solidFill>
                  <a:srgbClr val="202124"/>
                </a:solidFill>
                <a:latin typeface="arial"/>
                <a:ea typeface="arial"/>
                <a:cs typeface="arial"/>
                <a:sym typeface="arial"/>
              </a:rPr>
              <a:t>A </a:t>
            </a:r>
            <a:r>
              <a:rPr b="1" i="0" lang="en-US" sz="1800">
                <a:solidFill>
                  <a:srgbClr val="202124"/>
                </a:solidFill>
                <a:latin typeface="arial"/>
                <a:ea typeface="arial"/>
                <a:cs typeface="arial"/>
                <a:sym typeface="arial"/>
              </a:rPr>
              <a:t>major release consists of major new features and/or large architectural changes</a:t>
            </a:r>
            <a:r>
              <a:rPr b="0" i="0" lang="en-US" sz="1800">
                <a:solidFill>
                  <a:srgbClr val="202124"/>
                </a:solidFill>
                <a:latin typeface="arial"/>
                <a:ea typeface="arial"/>
                <a:cs typeface="arial"/>
                <a:sym typeface="arial"/>
              </a:rPr>
              <a:t>. ... Some existing features may be deprecated. A minor release includes some new features and functions. The release may include limited architectural changes that enhance sustainability and performance.</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5"/>
          <p:cNvPicPr preferRelativeResize="0"/>
          <p:nvPr/>
        </p:nvPicPr>
        <p:blipFill rotWithShape="1">
          <a:blip r:embed="rId3">
            <a:alphaModFix/>
          </a:blip>
          <a:srcRect b="0" l="0" r="0" t="0"/>
          <a:stretch/>
        </p:blipFill>
        <p:spPr>
          <a:xfrm>
            <a:off x="501826" y="392854"/>
            <a:ext cx="11200815" cy="60722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6"/>
          <p:cNvPicPr preferRelativeResize="0"/>
          <p:nvPr/>
        </p:nvPicPr>
        <p:blipFill rotWithShape="1">
          <a:blip r:embed="rId3">
            <a:alphaModFix/>
          </a:blip>
          <a:srcRect b="0" l="0" r="0" t="0"/>
          <a:stretch/>
        </p:blipFill>
        <p:spPr>
          <a:xfrm>
            <a:off x="405196" y="404191"/>
            <a:ext cx="11786804" cy="60496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3">
            <a:alphaModFix/>
          </a:blip>
          <a:srcRect b="0" l="0" r="0" t="0"/>
          <a:stretch/>
        </p:blipFill>
        <p:spPr>
          <a:xfrm>
            <a:off x="675862" y="742123"/>
            <a:ext cx="11156259" cy="56719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8"/>
          <p:cNvPicPr preferRelativeResize="0"/>
          <p:nvPr/>
        </p:nvPicPr>
        <p:blipFill rotWithShape="1">
          <a:blip r:embed="rId3">
            <a:alphaModFix/>
          </a:blip>
          <a:srcRect b="0" l="0" r="0" t="0"/>
          <a:stretch/>
        </p:blipFill>
        <p:spPr>
          <a:xfrm>
            <a:off x="159026" y="0"/>
            <a:ext cx="12032973"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9"/>
          <p:cNvPicPr preferRelativeResize="0"/>
          <p:nvPr/>
        </p:nvPicPr>
        <p:blipFill rotWithShape="1">
          <a:blip r:embed="rId3">
            <a:alphaModFix/>
          </a:blip>
          <a:srcRect b="0" l="0" r="0" t="0"/>
          <a:stretch/>
        </p:blipFill>
        <p:spPr>
          <a:xfrm>
            <a:off x="463826" y="225287"/>
            <a:ext cx="11224591" cy="64670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0"/>
          <p:cNvPicPr preferRelativeResize="0"/>
          <p:nvPr/>
        </p:nvPicPr>
        <p:blipFill rotWithShape="1">
          <a:blip r:embed="rId3">
            <a:alphaModFix/>
          </a:blip>
          <a:srcRect b="0" l="0" r="0" t="0"/>
          <a:stretch/>
        </p:blipFill>
        <p:spPr>
          <a:xfrm>
            <a:off x="357809" y="132522"/>
            <a:ext cx="11211339" cy="64405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1"/>
          <p:cNvPicPr preferRelativeResize="0"/>
          <p:nvPr/>
        </p:nvPicPr>
        <p:blipFill rotWithShape="1">
          <a:blip r:embed="rId3">
            <a:alphaModFix/>
          </a:blip>
          <a:srcRect b="0" l="0" r="0" t="0"/>
          <a:stretch/>
        </p:blipFill>
        <p:spPr>
          <a:xfrm>
            <a:off x="278296" y="291548"/>
            <a:ext cx="11145078" cy="61755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nvSpPr>
        <p:spPr>
          <a:xfrm>
            <a:off x="1" y="92765"/>
            <a:ext cx="11979964" cy="64633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575757"/>
                </a:solidFill>
                <a:latin typeface="Helvetica Neue"/>
                <a:ea typeface="Helvetica Neue"/>
                <a:cs typeface="Helvetica Neue"/>
                <a:sym typeface="Helvetica Neue"/>
              </a:rPr>
              <a:t>There are four general </a:t>
            </a:r>
            <a:r>
              <a:rPr b="0" i="0" lang="en-US" sz="1800" u="sng" strike="noStrike">
                <a:solidFill>
                  <a:schemeClr val="hlink"/>
                </a:solidFill>
                <a:latin typeface="Helvetica Neue"/>
                <a:ea typeface="Helvetica Neue"/>
                <a:cs typeface="Helvetica Neue"/>
                <a:sym typeface="Helvetica Neue"/>
                <a:hlinkClick r:id="rId3"/>
              </a:rPr>
              <a:t>release scheduling</a:t>
            </a:r>
            <a:r>
              <a:rPr b="0" i="0" lang="en-US" sz="1800">
                <a:solidFill>
                  <a:srgbClr val="575757"/>
                </a:solidFill>
                <a:latin typeface="Helvetica Neue"/>
                <a:ea typeface="Helvetica Neue"/>
                <a:cs typeface="Helvetica Neue"/>
                <a:sym typeface="Helvetica Neue"/>
              </a:rPr>
              <a:t> strategies that potentially support DevOps. These strategies, from least effective to most effective, are:</a:t>
            </a:r>
            <a:endParaRPr/>
          </a:p>
          <a:p>
            <a:pPr indent="0" lvl="0" marL="0" marR="0" rtl="0" algn="l">
              <a:spcBef>
                <a:spcPts val="0"/>
              </a:spcBef>
              <a:spcAft>
                <a:spcPts val="0"/>
              </a:spcAft>
              <a:buNone/>
            </a:pPr>
            <a:r>
              <a:t/>
            </a:r>
            <a:endParaRPr sz="1800">
              <a:solidFill>
                <a:srgbClr val="575757"/>
              </a:solidFill>
              <a:latin typeface="Helvetica Neue"/>
              <a:ea typeface="Helvetica Neue"/>
              <a:cs typeface="Helvetica Neue"/>
              <a:sym typeface="Helvetica Neue"/>
            </a:endParaRPr>
          </a:p>
          <a:p>
            <a:pPr indent="0" lvl="0" marL="0" marR="0" rtl="0" algn="l">
              <a:spcBef>
                <a:spcPts val="0"/>
              </a:spcBef>
              <a:spcAft>
                <a:spcPts val="0"/>
              </a:spcAft>
              <a:buNone/>
            </a:pPr>
            <a:r>
              <a:t/>
            </a:r>
            <a:endParaRPr b="0" i="0" sz="1800">
              <a:solidFill>
                <a:srgbClr val="575757"/>
              </a:solidFill>
              <a:latin typeface="Helvetica Neue"/>
              <a:ea typeface="Helvetica Neue"/>
              <a:cs typeface="Helvetica Neue"/>
              <a:sym typeface="Helvetica Neue"/>
            </a:endParaRPr>
          </a:p>
          <a:p>
            <a:pPr indent="-114300" lvl="0" marL="0" marR="0" rtl="0" algn="l">
              <a:spcBef>
                <a:spcPts val="0"/>
              </a:spcBef>
              <a:spcAft>
                <a:spcPts val="0"/>
              </a:spcAft>
              <a:buClr>
                <a:srgbClr val="4F17A7"/>
              </a:buClr>
              <a:buSzPts val="1800"/>
              <a:buFont typeface="Calibri"/>
              <a:buAutoNum type="arabicPeriod"/>
            </a:pPr>
            <a:r>
              <a:rPr b="0" i="0" lang="en-US" sz="1800" u="none" strike="noStrike">
                <a:solidFill>
                  <a:srgbClr val="4F17A7"/>
                </a:solidFill>
                <a:latin typeface="Helvetica Neue"/>
                <a:ea typeface="Helvetica Neue"/>
                <a:cs typeface="Helvetica Neue"/>
                <a:sym typeface="Helvetica Neue"/>
              </a:rPr>
              <a:t>﻿</a:t>
            </a:r>
            <a:r>
              <a:rPr b="1" i="0" lang="en-US" sz="1800">
                <a:solidFill>
                  <a:srgbClr val="FF0000"/>
                </a:solidFill>
                <a:latin typeface="Helvetica Neue"/>
                <a:ea typeface="Helvetica Neue"/>
                <a:cs typeface="Helvetica Neue"/>
                <a:sym typeface="Helvetica Neue"/>
              </a:rPr>
              <a:t>Release windows (slow cadence</a:t>
            </a:r>
            <a:r>
              <a:rPr b="1" i="0" lang="en-US" sz="1800">
                <a:solidFill>
                  <a:srgbClr val="575757"/>
                </a:solidFill>
                <a:latin typeface="Helvetica Neue"/>
                <a:ea typeface="Helvetica Neue"/>
                <a:cs typeface="Helvetica Neue"/>
                <a:sym typeface="Helvetica Neue"/>
              </a:rPr>
              <a:t>)</a:t>
            </a:r>
            <a:r>
              <a:rPr b="0" i="0" lang="en-US" sz="1800">
                <a:solidFill>
                  <a:srgbClr val="575757"/>
                </a:solidFill>
                <a:latin typeface="Helvetica Neue"/>
                <a:ea typeface="Helvetica Neue"/>
                <a:cs typeface="Helvetica Neue"/>
                <a:sym typeface="Helvetica Neue"/>
              </a:rPr>
              <a:t>. </a:t>
            </a:r>
            <a:r>
              <a:rPr b="0" i="0" lang="en-US" sz="1800">
                <a:solidFill>
                  <a:srgbClr val="00B0F0"/>
                </a:solidFill>
                <a:latin typeface="Helvetica Neue"/>
                <a:ea typeface="Helvetica Neue"/>
                <a:cs typeface="Helvetica Neue"/>
                <a:sym typeface="Helvetica Neue"/>
              </a:rPr>
              <a:t>A release window is a period of time during which one or more teams may release into production. </a:t>
            </a:r>
            <a:endParaRPr/>
          </a:p>
          <a:p>
            <a:pPr indent="0" lvl="0" marL="0" marR="0" rtl="0" algn="l">
              <a:spcBef>
                <a:spcPts val="0"/>
              </a:spcBef>
              <a:spcAft>
                <a:spcPts val="0"/>
              </a:spcAft>
              <a:buClr>
                <a:schemeClr val="dk1"/>
              </a:buClr>
              <a:buSzPts val="1800"/>
              <a:buFont typeface="Calibri"/>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50"/>
              </a:buClr>
              <a:buSzPts val="1800"/>
              <a:buFont typeface="Noto Sans Symbols"/>
              <a:buChar char="✔"/>
            </a:pPr>
            <a:r>
              <a:rPr b="0" i="0" lang="en-US" sz="1800">
                <a:solidFill>
                  <a:srgbClr val="00B050"/>
                </a:solidFill>
                <a:latin typeface="Helvetica Neue"/>
                <a:ea typeface="Helvetica Neue"/>
                <a:cs typeface="Helvetica Neue"/>
                <a:sym typeface="Helvetica Neue"/>
              </a:rPr>
              <a:t>A release slot is subset within that release window (and may be the entire window) during which a team may deploy their solution into production. For example, your organization may have a policy that production releases occur between 1am and 5am on Saturday evenings (the release window) and that up to four releases may occur during that window (the release slots).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In lean terms, a release slot is effectively a Kanban card that allows a team to deploy. Release windows tend to align with periods where system usage is lower.</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With a slow cadence(tempo) approach to this strategy the release windows occur far apart, as seldom as once a week or even longer. The advantages of this approach are that it provides a consistent release cadence to business stakeholders and it provides consistent release date targets for delivery teams.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The primary disadvantage with slow cadence release windows is that they become bottlenecks for release management processes that need to support multiple teams. There are only so many release slots available during each window and this number can be easily exceeded, forcing teams to aim for a future release window. This problem becomes exacerbated when teams start to move to a continuous delivery strategy.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nvSpPr>
        <p:spPr>
          <a:xfrm>
            <a:off x="132522" y="1"/>
            <a:ext cx="11754678" cy="535531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FF0000"/>
              </a:buClr>
              <a:buSzPts val="1800"/>
              <a:buFont typeface="Noto Sans Symbols"/>
              <a:buChar char="✔"/>
            </a:pPr>
            <a:r>
              <a:rPr b="1" i="0" lang="en-US" sz="1800">
                <a:solidFill>
                  <a:srgbClr val="FF0000"/>
                </a:solidFill>
                <a:latin typeface="Helvetica Neue"/>
                <a:ea typeface="Helvetica Neue"/>
                <a:cs typeface="Helvetica Neue"/>
                <a:sym typeface="Helvetica Neue"/>
              </a:rPr>
              <a:t>Release train</a:t>
            </a:r>
            <a:r>
              <a:rPr b="0" i="0" lang="en-US" sz="1800">
                <a:solidFill>
                  <a:srgbClr val="575757"/>
                </a:solidFill>
                <a:latin typeface="Helvetica Neue"/>
                <a:ea typeface="Helvetica Neue"/>
                <a:cs typeface="Helvetica Neue"/>
                <a:sym typeface="Helvetica Neue"/>
              </a:rPr>
              <a:t>. The idea with a release train is that every team involved with that “train” has the same release cadence — </a:t>
            </a:r>
            <a:r>
              <a:rPr b="0" i="0" lang="en-US" sz="1800">
                <a:solidFill>
                  <a:srgbClr val="00B0F0"/>
                </a:solidFill>
                <a:latin typeface="Helvetica Neue"/>
                <a:ea typeface="Helvetica Neue"/>
                <a:cs typeface="Helvetica Neue"/>
                <a:sym typeface="Helvetica Neue"/>
              </a:rPr>
              <a:t>for example this train releases once a quarter, or once a month</a:t>
            </a:r>
            <a:r>
              <a:rPr b="0" i="0" lang="en-US" sz="1800">
                <a:solidFill>
                  <a:srgbClr val="575757"/>
                </a:solidFill>
                <a:latin typeface="Helvetica Neue"/>
                <a:ea typeface="Helvetica Neue"/>
                <a:cs typeface="Helvetica Neue"/>
                <a:sym typeface="Helvetica Neue"/>
              </a:rPr>
              <a:t>, or even once a week. This strategy is commonly used in large programs, or teams of teams, where the individual teams are each working on part of a larger whole.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Having the common drumbeat of a release train provides a consistent release schedule for stakeholders and serves as a rallying point for development teams. The train metaphor works quite well in practice.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F0"/>
              </a:buClr>
              <a:buSzPts val="1800"/>
              <a:buFont typeface="Noto Sans Symbols"/>
              <a:buChar char="✔"/>
            </a:pPr>
            <a:r>
              <a:rPr b="0" i="0" lang="en-US" sz="1800">
                <a:solidFill>
                  <a:srgbClr val="00B0F0"/>
                </a:solidFill>
                <a:latin typeface="Helvetica Neue"/>
                <a:ea typeface="Helvetica Neue"/>
                <a:cs typeface="Helvetica Neue"/>
                <a:sym typeface="Helvetica Neue"/>
              </a:rPr>
              <a:t>If your team misses the release date, if you miss the train, then the train goes on without you and you need to wait for space on the next on.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00B0F0"/>
              </a:solidFill>
              <a:latin typeface="Helvetica Neue"/>
              <a:ea typeface="Helvetica Neue"/>
              <a:cs typeface="Helvetica Neue"/>
              <a:sym typeface="Helvetica Neue"/>
            </a:endParaRPr>
          </a:p>
          <a:p>
            <a:pPr indent="-285750" lvl="0" marL="285750" marR="0" rtl="0" algn="l">
              <a:spcBef>
                <a:spcPts val="0"/>
              </a:spcBef>
              <a:spcAft>
                <a:spcPts val="0"/>
              </a:spcAft>
              <a:buClr>
                <a:srgbClr val="00B050"/>
              </a:buClr>
              <a:buSzPts val="1800"/>
              <a:buFont typeface="Noto Sans Symbols"/>
              <a:buChar char="✔"/>
            </a:pPr>
            <a:r>
              <a:rPr b="0" i="0" lang="en-US" sz="1800">
                <a:solidFill>
                  <a:srgbClr val="00B050"/>
                </a:solidFill>
                <a:latin typeface="Helvetica Neue"/>
                <a:ea typeface="Helvetica Neue"/>
                <a:cs typeface="Helvetica Neue"/>
                <a:sym typeface="Helvetica Neue"/>
              </a:rPr>
              <a:t>Dependencies are also respected. For example, if several components need to ship together they must all go on the same train (similar to a family taking a trip together).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F0"/>
              </a:buClr>
              <a:buSzPts val="1800"/>
              <a:buFont typeface="Noto Sans Symbols"/>
              <a:buChar char="✔"/>
            </a:pPr>
            <a:r>
              <a:rPr b="0" i="0" lang="en-US" sz="1800">
                <a:solidFill>
                  <a:srgbClr val="00B0F0"/>
                </a:solidFill>
                <a:latin typeface="Helvetica Neue"/>
                <a:ea typeface="Helvetica Neue"/>
                <a:cs typeface="Helvetica Neue"/>
                <a:sym typeface="Helvetica Neue"/>
              </a:rPr>
              <a:t>The primary disadvantage is that development teams are constrained to a common release schedule, making it difficult to support lean or continuous delivery strategies.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A potential disadvantage is that release trains may also suffer from the bottleneck problems of slow cadence release windows.</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4"/>
          <p:cNvPicPr preferRelativeResize="0"/>
          <p:nvPr/>
        </p:nvPicPr>
        <p:blipFill rotWithShape="1">
          <a:blip r:embed="rId3">
            <a:alphaModFix/>
          </a:blip>
          <a:srcRect b="0" l="0" r="0" t="0"/>
          <a:stretch/>
        </p:blipFill>
        <p:spPr>
          <a:xfrm>
            <a:off x="0" y="258417"/>
            <a:ext cx="11502887" cy="63411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nvSpPr>
        <p:spPr>
          <a:xfrm>
            <a:off x="-1" y="172278"/>
            <a:ext cx="12085983"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0000"/>
                </a:solidFill>
                <a:latin typeface="Helvetica Neue"/>
                <a:ea typeface="Helvetica Neue"/>
                <a:cs typeface="Helvetica Neue"/>
                <a:sym typeface="Helvetica Neue"/>
              </a:rPr>
              <a:t>Release windows (quick cadence)</a:t>
            </a:r>
            <a:r>
              <a:rPr b="0" i="0" lang="en-US" sz="1800">
                <a:solidFill>
                  <a:srgbClr val="FF0000"/>
                </a:solidFill>
                <a:latin typeface="Helvetica Neue"/>
                <a:ea typeface="Helvetica Neue"/>
                <a:cs typeface="Helvetica Neue"/>
                <a:sym typeface="Helvetica Neue"/>
              </a:rPr>
              <a:t>. </a:t>
            </a:r>
            <a:r>
              <a:rPr b="0" i="0" lang="en-US" sz="1800">
                <a:solidFill>
                  <a:srgbClr val="575757"/>
                </a:solidFill>
                <a:latin typeface="Helvetica Neue"/>
                <a:ea typeface="Helvetica Neue"/>
                <a:cs typeface="Helvetica Neue"/>
                <a:sym typeface="Helvetica Neue"/>
              </a:rPr>
              <a:t>To support continuous deployment, particularly across many delivery teams, you will need a large number of release slots. The implication is that you will also likely need more release windows more often. </a:t>
            </a:r>
            <a:r>
              <a:rPr b="0" i="0" lang="en-US" sz="1800">
                <a:solidFill>
                  <a:srgbClr val="00B0F0"/>
                </a:solidFill>
                <a:latin typeface="Helvetica Neue"/>
                <a:ea typeface="Helvetica Neue"/>
                <a:cs typeface="Helvetica Neue"/>
                <a:sym typeface="Helvetica Neue"/>
              </a:rPr>
              <a:t>The advantage of quick cadence release windows is that they are less likely to suffer from the bottleneck challenges associated with slow cadence release windows and release trains.</a:t>
            </a:r>
            <a:endParaRPr/>
          </a:p>
          <a:p>
            <a:pPr indent="0" lvl="0" marL="0" marR="0" rtl="0" algn="l">
              <a:spcBef>
                <a:spcPts val="0"/>
              </a:spcBef>
              <a:spcAft>
                <a:spcPts val="0"/>
              </a:spcAft>
              <a:buNone/>
            </a:pPr>
            <a:r>
              <a:t/>
            </a:r>
            <a:endParaRPr sz="1800">
              <a:solidFill>
                <a:srgbClr val="00B0F0"/>
              </a:solidFill>
              <a:latin typeface="Helvetica Neue"/>
              <a:ea typeface="Helvetica Neue"/>
              <a:cs typeface="Helvetica Neue"/>
              <a:sym typeface="Helvetica Neue"/>
            </a:endParaRPr>
          </a:p>
          <a:p>
            <a:pPr indent="0" lvl="0" marL="0" marR="0" rtl="0" algn="l">
              <a:spcBef>
                <a:spcPts val="0"/>
              </a:spcBef>
              <a:spcAft>
                <a:spcPts val="0"/>
              </a:spcAft>
              <a:buNone/>
            </a:pPr>
            <a:r>
              <a:t/>
            </a:r>
            <a:endParaRPr sz="1800">
              <a:solidFill>
                <a:srgbClr val="575757"/>
              </a:solidFill>
              <a:latin typeface="Helvetica Neue"/>
              <a:ea typeface="Helvetica Neue"/>
              <a:cs typeface="Helvetica Neue"/>
              <a:sym typeface="Helvetica Neue"/>
            </a:endParaRPr>
          </a:p>
          <a:p>
            <a:pPr indent="0" lvl="0" marL="0" marR="0" rtl="0" algn="l">
              <a:spcBef>
                <a:spcPts val="0"/>
              </a:spcBef>
              <a:spcAft>
                <a:spcPts val="0"/>
              </a:spcAft>
              <a:buNone/>
            </a:pPr>
            <a:r>
              <a:rPr b="1" i="0" lang="en-US" sz="1800">
                <a:solidFill>
                  <a:srgbClr val="FF0000"/>
                </a:solidFill>
                <a:latin typeface="Helvetica Neue"/>
                <a:ea typeface="Helvetica Neue"/>
                <a:cs typeface="Helvetica Neue"/>
                <a:sym typeface="Helvetica Neue"/>
              </a:rPr>
              <a:t>Continuous release availability</a:t>
            </a:r>
            <a:r>
              <a:rPr b="0" i="0" lang="en-US" sz="1800">
                <a:solidFill>
                  <a:srgbClr val="575757"/>
                </a:solidFill>
                <a:latin typeface="Helvetica Neue"/>
                <a:ea typeface="Helvetica Neue"/>
                <a:cs typeface="Helvetica Neue"/>
                <a:sym typeface="Helvetica Neue"/>
              </a:rPr>
              <a:t>. With this approach delivery teams are allowed to release their solutions into production whenever they need to. In many ways this is simply an extension of the release window strategy to be 24/7. </a:t>
            </a:r>
            <a:endParaRPr/>
          </a:p>
          <a:p>
            <a:pPr indent="0" lvl="0" marL="0" marR="0" rtl="0" algn="l">
              <a:spcBef>
                <a:spcPts val="0"/>
              </a:spcBef>
              <a:spcAft>
                <a:spcPts val="0"/>
              </a:spcAft>
              <a:buNone/>
            </a:pPr>
            <a:r>
              <a:t/>
            </a:r>
            <a:endParaRPr sz="1800">
              <a:solidFill>
                <a:srgbClr val="00B0F0"/>
              </a:solidFill>
              <a:latin typeface="Helvetica Neue"/>
              <a:ea typeface="Helvetica Neue"/>
              <a:cs typeface="Helvetica Neue"/>
              <a:sym typeface="Helvetica Neue"/>
            </a:endParaRPr>
          </a:p>
          <a:p>
            <a:pPr indent="0" lvl="0" marL="0" marR="0" rtl="0" algn="l">
              <a:spcBef>
                <a:spcPts val="0"/>
              </a:spcBef>
              <a:spcAft>
                <a:spcPts val="0"/>
              </a:spcAft>
              <a:buNone/>
            </a:pPr>
            <a:r>
              <a:rPr b="0" i="0" lang="en-US" sz="1800">
                <a:solidFill>
                  <a:srgbClr val="00B0F0"/>
                </a:solidFill>
                <a:latin typeface="Helvetica Neue"/>
                <a:ea typeface="Helvetica Neue"/>
                <a:cs typeface="Helvetica Neue"/>
                <a:sym typeface="Helvetica Neue"/>
              </a:rPr>
              <a:t>This is the only strategy that truly supports continuous delivery. To make it work a host of DevOps practices are required, such as fully automated deployment, fully automated regression testing, feature toggles, self-recovering components, and many others are required.</a:t>
            </a:r>
            <a:endParaRPr sz="1800">
              <a:solidFill>
                <a:srgbClr val="00B0F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6"/>
          <p:cNvPicPr preferRelativeResize="0"/>
          <p:nvPr/>
        </p:nvPicPr>
        <p:blipFill rotWithShape="1">
          <a:blip r:embed="rId3">
            <a:alphaModFix/>
          </a:blip>
          <a:srcRect b="0" l="0" r="0" t="0"/>
          <a:stretch/>
        </p:blipFill>
        <p:spPr>
          <a:xfrm>
            <a:off x="5973436" y="210393"/>
            <a:ext cx="5855041" cy="5829680"/>
          </a:xfrm>
          <a:prstGeom prst="rect">
            <a:avLst/>
          </a:prstGeom>
          <a:noFill/>
          <a:ln>
            <a:noFill/>
          </a:ln>
        </p:spPr>
      </p:pic>
      <p:sp>
        <p:nvSpPr>
          <p:cNvPr id="203" name="Google Shape;203;p36"/>
          <p:cNvSpPr txBox="1"/>
          <p:nvPr/>
        </p:nvSpPr>
        <p:spPr>
          <a:xfrm>
            <a:off x="226504" y="327171"/>
            <a:ext cx="5218426" cy="646330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Shortening your time to value means your customers get a return on the time, money, or effort that they </a:t>
            </a:r>
            <a:r>
              <a:rPr b="1" i="0" lang="en-US" sz="1800">
                <a:solidFill>
                  <a:srgbClr val="202124"/>
                </a:solidFill>
                <a:latin typeface="arial"/>
                <a:ea typeface="arial"/>
                <a:cs typeface="arial"/>
                <a:sym typeface="arial"/>
              </a:rPr>
              <a:t>invested much more quickly</a:t>
            </a:r>
            <a:r>
              <a:rPr b="0" i="0" lang="en-US" sz="1800">
                <a:solidFill>
                  <a:srgbClr val="202124"/>
                </a:solidFill>
                <a:latin typeface="arial"/>
                <a:ea typeface="arial"/>
                <a:cs typeface="arial"/>
                <a:sym typeface="arial"/>
              </a:rPr>
              <a:t> so they will more likely stick with you than move elsewhere.</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Throughput is the </a:t>
            </a:r>
            <a:r>
              <a:rPr b="1" i="0" lang="en-US" sz="1800">
                <a:solidFill>
                  <a:srgbClr val="202124"/>
                </a:solidFill>
                <a:latin typeface="arial"/>
                <a:ea typeface="arial"/>
                <a:cs typeface="arial"/>
                <a:sym typeface="arial"/>
              </a:rPr>
              <a:t>amount of a product or service that a company can produce and deliver to a client within a specified period of</a:t>
            </a:r>
            <a:r>
              <a:rPr b="0" i="0" lang="en-US" sz="1800">
                <a:solidFill>
                  <a:srgbClr val="202124"/>
                </a:solidFill>
                <a:latin typeface="arial"/>
                <a:ea typeface="arial"/>
                <a:cs typeface="arial"/>
                <a:sym typeface="arial"/>
              </a:rPr>
              <a:t> time. The term is often used in the context of a company's rate of production or the speed at which something is processed.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Agility means </a:t>
            </a:r>
            <a:r>
              <a:rPr b="1" i="0" lang="en-US" sz="1800">
                <a:solidFill>
                  <a:srgbClr val="202124"/>
                </a:solidFill>
                <a:latin typeface="arial"/>
                <a:ea typeface="arial"/>
                <a:cs typeface="arial"/>
                <a:sym typeface="arial"/>
              </a:rPr>
              <a:t>effective (rapid and adaptive) response to change, effective communication among all stockholder</a:t>
            </a:r>
            <a:r>
              <a:rPr b="0" i="0" lang="en-US" sz="1800">
                <a:solidFill>
                  <a:srgbClr val="202124"/>
                </a:solidFill>
                <a:latin typeface="arial"/>
                <a:ea typeface="arial"/>
                <a:cs typeface="arial"/>
                <a:sym typeface="arial"/>
              </a:rPr>
              <a:t>.</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is </a:t>
            </a:r>
            <a:r>
              <a:rPr b="1" i="0" lang="en-US" sz="1800">
                <a:solidFill>
                  <a:srgbClr val="202124"/>
                </a:solidFill>
                <a:latin typeface="arial"/>
                <a:ea typeface="arial"/>
                <a:cs typeface="arial"/>
                <a:sym typeface="arial"/>
              </a:rPr>
              <a:t>taking steps to reduce the risk (the severity of the impact and/or probability of the occurrence)</a:t>
            </a:r>
            <a:r>
              <a:rPr b="0" i="0" lang="en-US" sz="1800">
                <a:solidFill>
                  <a:srgbClr val="202124"/>
                </a:solidFill>
                <a:latin typeface="arial"/>
                <a:ea typeface="arial"/>
                <a:cs typeface="arial"/>
                <a:sym typeface="arial"/>
              </a:rPr>
              <a:t>.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7"/>
          <p:cNvPicPr preferRelativeResize="0"/>
          <p:nvPr/>
        </p:nvPicPr>
        <p:blipFill rotWithShape="1">
          <a:blip r:embed="rId3">
            <a:alphaModFix/>
          </a:blip>
          <a:srcRect b="0" l="0" r="0" t="0"/>
          <a:stretch/>
        </p:blipFill>
        <p:spPr>
          <a:xfrm>
            <a:off x="0" y="0"/>
            <a:ext cx="1170167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