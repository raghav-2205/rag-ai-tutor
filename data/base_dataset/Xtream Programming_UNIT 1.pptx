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75" r:id="rId6"/>
    <p:sldId id="260" r:id="rId7"/>
    <p:sldId id="276" r:id="rId8"/>
    <p:sldId id="277" r:id="rId9"/>
    <p:sldId id="279" r:id="rId10"/>
    <p:sldId id="280" r:id="rId11"/>
    <p:sldId id="282" r:id="rId12"/>
    <p:sldId id="283" r:id="rId13"/>
    <p:sldId id="289" r:id="rId14"/>
    <p:sldId id="284" r:id="rId15"/>
    <p:sldId id="285" r:id="rId16"/>
    <p:sldId id="286" r:id="rId17"/>
    <p:sldId id="287" r:id="rId18"/>
    <p:sldId id="29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0" d="100"/>
          <a:sy n="70" d="100"/>
        </p:scale>
        <p:origin x="70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B22FA-C22E-41A5-BA1D-97D9F44E71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E11C7160-E320-4401-B812-0FC1AAEC88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51925FDC-E17D-4ED7-8433-4FFB7B4430F9}"/>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5" name="Footer Placeholder 4">
            <a:extLst>
              <a:ext uri="{FF2B5EF4-FFF2-40B4-BE49-F238E27FC236}">
                <a16:creationId xmlns:a16="http://schemas.microsoft.com/office/drawing/2014/main" id="{36FE8A2D-EA3F-4D48-A659-1E53BB4DB4F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52EDF57-3F06-4F62-A0CD-84FFF606369B}"/>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1056429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BCE5-D0A1-4FA5-8375-04C82129335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FF7F1058-71F0-4933-9984-D55E6883F5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0212ADD-174F-45EA-AA10-534A5012625E}"/>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5" name="Footer Placeholder 4">
            <a:extLst>
              <a:ext uri="{FF2B5EF4-FFF2-40B4-BE49-F238E27FC236}">
                <a16:creationId xmlns:a16="http://schemas.microsoft.com/office/drawing/2014/main" id="{456A8F5B-8C43-4B00-96A8-21F22456E9E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322FD76B-16C2-402D-B8A4-84DBAD2E7C9E}"/>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1240882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A3F4A-DF42-40BD-83CD-EB81821B92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87198AC6-5225-4F90-A471-C5914D0270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BCA023-BFA9-4406-8C53-D053DFC74494}"/>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5" name="Footer Placeholder 4">
            <a:extLst>
              <a:ext uri="{FF2B5EF4-FFF2-40B4-BE49-F238E27FC236}">
                <a16:creationId xmlns:a16="http://schemas.microsoft.com/office/drawing/2014/main" id="{964A0C6C-FC69-4120-91E7-5921E12C8BC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31831AB0-AF7C-4531-AFDA-95D6917C80A3}"/>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491631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782D1-0859-48CB-A33B-45AD72DEDF6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FEB590BD-D459-419F-86E6-F0E011BB5F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6F78B3CB-A5FD-480E-8835-9D98222946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E81D5B0B-E23F-4055-8B1B-53C9F932EE85}"/>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6" name="Footer Placeholder 5">
            <a:extLst>
              <a:ext uri="{FF2B5EF4-FFF2-40B4-BE49-F238E27FC236}">
                <a16:creationId xmlns:a16="http://schemas.microsoft.com/office/drawing/2014/main" id="{569CF474-AFC9-4679-88FD-D1B3E2CE299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50B60AFB-D9C0-413D-9431-E2F8289AEDEA}"/>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4280505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68329-1926-4C30-8538-8ADCF7E8B4DD}"/>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0DB2C5C-A4E4-410E-B8A1-CC23445632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BD8349-4B11-4938-9E05-2D14C22B3D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BC929D38-2A41-460B-881F-AB79A618B6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9579F5-9208-4008-B327-7D206ECCE8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E8D3ED40-7B49-47AF-8E1A-9F70C6E30196}"/>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8" name="Footer Placeholder 7">
            <a:extLst>
              <a:ext uri="{FF2B5EF4-FFF2-40B4-BE49-F238E27FC236}">
                <a16:creationId xmlns:a16="http://schemas.microsoft.com/office/drawing/2014/main" id="{4F5CE70B-8B27-4B1A-A42B-03B74F870339}"/>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3ED7880-C002-485F-BC79-DEC09483D7FA}"/>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2694867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2B63F-E716-4DC7-9FD7-DA28EB774A4E}"/>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805C9A1A-5532-4B3A-BFB6-ACD2FD38F7C7}"/>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4" name="Footer Placeholder 3">
            <a:extLst>
              <a:ext uri="{FF2B5EF4-FFF2-40B4-BE49-F238E27FC236}">
                <a16:creationId xmlns:a16="http://schemas.microsoft.com/office/drawing/2014/main" id="{CBA2046B-BB1D-49C5-B988-337D189F0876}"/>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8F43786-8FBD-438C-BE91-FBC0F9A8E35D}"/>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3036202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1A2CEF-2A6C-4355-BB1B-3D45FF959DEF}"/>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3" name="Footer Placeholder 2">
            <a:extLst>
              <a:ext uri="{FF2B5EF4-FFF2-40B4-BE49-F238E27FC236}">
                <a16:creationId xmlns:a16="http://schemas.microsoft.com/office/drawing/2014/main" id="{5F37FE90-DA8D-42E2-9D68-5C14D3CAF2D6}"/>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EEE75547-6C9D-4390-8DD9-C3EBAFD70665}"/>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4110984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A0C9A-C49D-4CFB-A57B-520C18A62D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9289DCD3-59E5-4151-86A9-7968DAB9C8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D7938054-8B49-4929-A1B0-D2CEA4AA76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C60822-F3EE-43EF-829D-55D8C78E5BC5}"/>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6" name="Footer Placeholder 5">
            <a:extLst>
              <a:ext uri="{FF2B5EF4-FFF2-40B4-BE49-F238E27FC236}">
                <a16:creationId xmlns:a16="http://schemas.microsoft.com/office/drawing/2014/main" id="{DC31597F-86C9-4E12-A30A-CA6842B1965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65F7A33-0D3F-43E5-834E-5D0F29944033}"/>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1240534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BF77A-683C-472C-9019-B0C0E88312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B2A3474B-2D44-49C3-8B7D-BB756B98BD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F419D46F-1D70-4191-8997-E76DBB5784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BC28A4-9B7A-49F0-B7A3-91A48E9B42C4}"/>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6" name="Footer Placeholder 5">
            <a:extLst>
              <a:ext uri="{FF2B5EF4-FFF2-40B4-BE49-F238E27FC236}">
                <a16:creationId xmlns:a16="http://schemas.microsoft.com/office/drawing/2014/main" id="{C2448D68-62BE-4C3B-9032-EA6445D739CD}"/>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567BDC5-152A-419B-9F41-AD50E1329FB1}"/>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3454836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CD7AE-BF52-4932-ADAD-BA248942160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040F417-4502-42B7-9185-0FE2649DD3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AD1BD8F-EDB9-4222-BC9C-DD34DE77B742}"/>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5" name="Footer Placeholder 4">
            <a:extLst>
              <a:ext uri="{FF2B5EF4-FFF2-40B4-BE49-F238E27FC236}">
                <a16:creationId xmlns:a16="http://schemas.microsoft.com/office/drawing/2014/main" id="{C5361223-6236-448C-9163-5E01AB94BC0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AFC7B40-50D4-4BB3-A54E-BD0486E836F9}"/>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3445611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4C0B7A-80DB-4842-990F-E7841203CB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0C83091-3DE0-4D4D-A036-55F1A450A3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192A80D-003A-4F69-9FE9-3509D4E67F6B}"/>
              </a:ext>
            </a:extLst>
          </p:cNvPr>
          <p:cNvSpPr>
            <a:spLocks noGrp="1"/>
          </p:cNvSpPr>
          <p:nvPr>
            <p:ph type="dt" sz="half" idx="10"/>
          </p:nvPr>
        </p:nvSpPr>
        <p:spPr/>
        <p:txBody>
          <a:bodyPr/>
          <a:lstStyle/>
          <a:p>
            <a:fld id="{2253C586-639B-4BAD-92E2-87A38C5C7B4F}" type="datetimeFigureOut">
              <a:rPr lang="en-SG" smtClean="0"/>
              <a:t>25/8/2021</a:t>
            </a:fld>
            <a:endParaRPr lang="en-SG"/>
          </a:p>
        </p:txBody>
      </p:sp>
      <p:sp>
        <p:nvSpPr>
          <p:cNvPr id="5" name="Footer Placeholder 4">
            <a:extLst>
              <a:ext uri="{FF2B5EF4-FFF2-40B4-BE49-F238E27FC236}">
                <a16:creationId xmlns:a16="http://schemas.microsoft.com/office/drawing/2014/main" id="{C8EF77E3-910D-4CE8-8D2C-685D22F8ADE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71665C0-FB16-46D2-AD82-7C7DD4611338}"/>
              </a:ext>
            </a:extLst>
          </p:cNvPr>
          <p:cNvSpPr>
            <a:spLocks noGrp="1"/>
          </p:cNvSpPr>
          <p:nvPr>
            <p:ph type="sldNum" sz="quarter" idx="12"/>
          </p:nvPr>
        </p:nvSpPr>
        <p:spPr/>
        <p:txBody>
          <a:bodyPr/>
          <a:lstStyle/>
          <a:p>
            <a:fld id="{4B96F6C6-D7D1-4CDE-B44C-6622602A3918}" type="slidenum">
              <a:rPr lang="en-SG" smtClean="0"/>
              <a:t>‹#›</a:t>
            </a:fld>
            <a:endParaRPr lang="en-SG"/>
          </a:p>
        </p:txBody>
      </p:sp>
    </p:spTree>
    <p:extLst>
      <p:ext uri="{BB962C8B-B14F-4D97-AF65-F5344CB8AC3E}">
        <p14:creationId xmlns:p14="http://schemas.microsoft.com/office/powerpoint/2010/main" val="2549629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7B28AC-4E66-441E-A46F-67C7E872BB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4564E1D7-CC5D-4DF1-A634-95953D45D1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CFB8F60-B62B-460D-BB3B-AA54501423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53C586-639B-4BAD-92E2-87A38C5C7B4F}" type="datetimeFigureOut">
              <a:rPr lang="en-SG" smtClean="0"/>
              <a:t>25/8/2021</a:t>
            </a:fld>
            <a:endParaRPr lang="en-SG"/>
          </a:p>
        </p:txBody>
      </p:sp>
      <p:sp>
        <p:nvSpPr>
          <p:cNvPr id="5" name="Footer Placeholder 4">
            <a:extLst>
              <a:ext uri="{FF2B5EF4-FFF2-40B4-BE49-F238E27FC236}">
                <a16:creationId xmlns:a16="http://schemas.microsoft.com/office/drawing/2014/main" id="{DE65F563-4C06-445E-926B-3ADFF5E410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ABDC6833-AD3C-48A0-B664-1EE6327617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96F6C6-D7D1-4CDE-B44C-6622602A3918}" type="slidenum">
              <a:rPr lang="en-SG" smtClean="0"/>
              <a:t>‹#›</a:t>
            </a:fld>
            <a:endParaRPr lang="en-SG"/>
          </a:p>
        </p:txBody>
      </p:sp>
    </p:spTree>
    <p:extLst>
      <p:ext uri="{BB962C8B-B14F-4D97-AF65-F5344CB8AC3E}">
        <p14:creationId xmlns:p14="http://schemas.microsoft.com/office/powerpoint/2010/main" val="2222334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altexsoft.com/blog/business/functional-and-non-functional-requirements-specification-and-types/" TargetMode="External"/><Relationship Id="rId2" Type="http://schemas.openxmlformats.org/officeDocument/2006/relationships/hyperlink" Target="https://en.wikipedia.org/wiki/Kent_Beck"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www.altexsoft.com/whitepapers/quality-assurance-quality-control-and-testing-the-basics-of-software-quality-management/"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collaboration.csc.ncsu.edu/laurie/Papers/dissertation.pdf"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www.altexsoft.com/blog/business/continuous-delivery-and-integration-rapid-updates-by-automating-quality-assurance/"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www.altexsoft.com/blog/business/25-scrum-process-best-practices-that-set-your-agile-workflow-for-efficiency/"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CF73-0E3B-4C78-ACE5-D82F9E37AC1F}"/>
              </a:ext>
            </a:extLst>
          </p:cNvPr>
          <p:cNvSpPr>
            <a:spLocks noGrp="1"/>
          </p:cNvSpPr>
          <p:nvPr>
            <p:ph type="ctrTitle"/>
          </p:nvPr>
        </p:nvSpPr>
        <p:spPr/>
        <p:txBody>
          <a:bodyPr/>
          <a:lstStyle/>
          <a:p>
            <a:r>
              <a:rPr lang="en-SG" dirty="0">
                <a:solidFill>
                  <a:srgbClr val="FF0000"/>
                </a:solidFill>
              </a:rPr>
              <a:t>Extreme programming (XP)</a:t>
            </a:r>
          </a:p>
        </p:txBody>
      </p:sp>
    </p:spTree>
    <p:extLst>
      <p:ext uri="{BB962C8B-B14F-4D97-AF65-F5344CB8AC3E}">
        <p14:creationId xmlns:p14="http://schemas.microsoft.com/office/powerpoint/2010/main" val="3709189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3857AE-153E-4C21-94BB-EBD66A1272C0}"/>
              </a:ext>
            </a:extLst>
          </p:cNvPr>
          <p:cNvSpPr txBox="1"/>
          <p:nvPr/>
        </p:nvSpPr>
        <p:spPr>
          <a:xfrm>
            <a:off x="115329" y="123568"/>
            <a:ext cx="11821298" cy="369332"/>
          </a:xfrm>
          <a:prstGeom prst="rect">
            <a:avLst/>
          </a:prstGeom>
          <a:noFill/>
        </p:spPr>
        <p:txBody>
          <a:bodyPr wrap="square">
            <a:spAutoFit/>
          </a:bodyPr>
          <a:lstStyle/>
          <a:p>
            <a:r>
              <a:rPr lang="en-US" b="1" i="0" dirty="0">
                <a:solidFill>
                  <a:srgbClr val="000000"/>
                </a:solidFill>
                <a:effectLst/>
                <a:latin typeface="Open Sans" panose="020B0606030504020204" pitchFamily="34" charset="0"/>
              </a:rPr>
              <a:t>Extreme Programming (XP)</a:t>
            </a:r>
            <a:r>
              <a:rPr lang="en-US" b="0" i="0" dirty="0">
                <a:solidFill>
                  <a:srgbClr val="000000"/>
                </a:solidFill>
                <a:effectLst/>
                <a:latin typeface="Open Sans" panose="020B0606030504020204" pitchFamily="34" charset="0"/>
              </a:rPr>
              <a:t> is one of the numerous Agile frameworks applied by IT companies.</a:t>
            </a:r>
            <a:endParaRPr lang="en-SG" dirty="0"/>
          </a:p>
        </p:txBody>
      </p:sp>
      <p:sp>
        <p:nvSpPr>
          <p:cNvPr id="5" name="TextBox 4">
            <a:extLst>
              <a:ext uri="{FF2B5EF4-FFF2-40B4-BE49-F238E27FC236}">
                <a16:creationId xmlns:a16="http://schemas.microsoft.com/office/drawing/2014/main" id="{CC29DF61-0216-47E3-9BE6-B3DC02F3027A}"/>
              </a:ext>
            </a:extLst>
          </p:cNvPr>
          <p:cNvSpPr txBox="1"/>
          <p:nvPr/>
        </p:nvSpPr>
        <p:spPr>
          <a:xfrm>
            <a:off x="115330" y="952501"/>
            <a:ext cx="11990946" cy="5909310"/>
          </a:xfrm>
          <a:prstGeom prst="rect">
            <a:avLst/>
          </a:prstGeom>
          <a:noFill/>
        </p:spPr>
        <p:txBody>
          <a:bodyPr wrap="square">
            <a:spAutoFit/>
          </a:bodyPr>
          <a:lstStyle/>
          <a:p>
            <a:r>
              <a:rPr lang="en-US" b="0" i="0" dirty="0">
                <a:solidFill>
                  <a:srgbClr val="000000"/>
                </a:solidFill>
                <a:effectLst/>
                <a:latin typeface="Open Sans" panose="020B0606030504020204" pitchFamily="34" charset="0"/>
              </a:rPr>
              <a:t>Software engineer </a:t>
            </a:r>
            <a:r>
              <a:rPr lang="en-US" b="0" i="0" u="none" strike="noStrike" dirty="0">
                <a:solidFill>
                  <a:srgbClr val="00C0EB"/>
                </a:solidFill>
                <a:effectLst/>
                <a:latin typeface="Open Sans" panose="020B0606030504020204" pitchFamily="34" charset="0"/>
                <a:hlinkClick r:id="rId2"/>
              </a:rPr>
              <a:t>Ken Beck</a:t>
            </a:r>
            <a:r>
              <a:rPr lang="en-US" b="0" i="0" dirty="0">
                <a:solidFill>
                  <a:srgbClr val="000000"/>
                </a:solidFill>
                <a:effectLst/>
                <a:latin typeface="Open Sans" panose="020B0606030504020204" pitchFamily="34" charset="0"/>
              </a:rPr>
              <a:t> introduced XP in the 90s with the goal of finding ways to write high-qualitative software quickly and being able to adapt to customers’ changing requirements. </a:t>
            </a:r>
          </a:p>
          <a:p>
            <a:endParaRPr lang="en-US" dirty="0">
              <a:solidFill>
                <a:srgbClr val="000000"/>
              </a:solidFill>
              <a:latin typeface="Open Sans" panose="020B0606030504020204" pitchFamily="34" charset="0"/>
            </a:endParaRPr>
          </a:p>
          <a:p>
            <a:r>
              <a:rPr lang="en-US" b="0" i="0" dirty="0">
                <a:solidFill>
                  <a:srgbClr val="000000"/>
                </a:solidFill>
                <a:effectLst/>
                <a:latin typeface="Open Sans" panose="020B0606030504020204" pitchFamily="34" charset="0"/>
              </a:rPr>
              <a:t>XP is a set of engineering practices. Developers have to go beyond their capabilities while performing these practices. That’s where the “extreme” in the framework’s title comes from.</a:t>
            </a:r>
          </a:p>
          <a:p>
            <a:endParaRPr lang="en-US" dirty="0">
              <a:solidFill>
                <a:srgbClr val="000000"/>
              </a:solidFill>
              <a:latin typeface="Open Sans" panose="020B0606030504020204" pitchFamily="34" charset="0"/>
            </a:endParaRPr>
          </a:p>
          <a:p>
            <a:pPr algn="l"/>
            <a:r>
              <a:rPr lang="en-US" b="1" i="0" dirty="0">
                <a:solidFill>
                  <a:srgbClr val="000000"/>
                </a:solidFill>
                <a:effectLst/>
                <a:latin typeface="Open Sans" panose="020B0606030504020204" pitchFamily="34" charset="0"/>
              </a:rPr>
              <a:t>The XP framework</a:t>
            </a:r>
            <a:r>
              <a:rPr lang="en-US" b="0" i="0" dirty="0">
                <a:solidFill>
                  <a:srgbClr val="000000"/>
                </a:solidFill>
                <a:effectLst/>
                <a:latin typeface="Open Sans" panose="020B0606030504020204" pitchFamily="34" charset="0"/>
              </a:rPr>
              <a:t> normally involves 5 phases or stages of the development process that iterate continuously:</a:t>
            </a:r>
          </a:p>
          <a:p>
            <a:pPr algn="l"/>
            <a:endParaRPr lang="en-US" b="0" i="0" dirty="0">
              <a:solidFill>
                <a:srgbClr val="000000"/>
              </a:solidFill>
              <a:effectLst/>
              <a:latin typeface="Open Sans" panose="020B0606030504020204" pitchFamily="34" charset="0"/>
            </a:endParaRPr>
          </a:p>
          <a:p>
            <a:pPr algn="l">
              <a:buFont typeface="+mj-lt"/>
              <a:buAutoNum type="arabicPeriod"/>
            </a:pPr>
            <a:r>
              <a:rPr lang="en-US" b="1" i="0" dirty="0">
                <a:solidFill>
                  <a:srgbClr val="000000"/>
                </a:solidFill>
                <a:effectLst/>
                <a:latin typeface="Open Sans" panose="020B0606030504020204" pitchFamily="34" charset="0"/>
              </a:rPr>
              <a:t>Planning, </a:t>
            </a:r>
            <a:r>
              <a:rPr lang="en-US" b="0" i="0" dirty="0">
                <a:solidFill>
                  <a:srgbClr val="000000"/>
                </a:solidFill>
                <a:effectLst/>
                <a:latin typeface="Open Sans" panose="020B0606030504020204" pitchFamily="34" charset="0"/>
              </a:rPr>
              <a:t>the first stage, is when the customer meets the development team and presents the </a:t>
            </a:r>
            <a:r>
              <a:rPr lang="en-US" b="0" i="0" u="none" strike="noStrike" dirty="0">
                <a:solidFill>
                  <a:srgbClr val="00C0EB"/>
                </a:solidFill>
                <a:effectLst/>
                <a:latin typeface="Open Sans" panose="020B0606030504020204" pitchFamily="34" charset="0"/>
                <a:hlinkClick r:id="rId3"/>
              </a:rPr>
              <a:t>requirements</a:t>
            </a:r>
            <a:r>
              <a:rPr lang="en-US" b="0" i="0" dirty="0">
                <a:solidFill>
                  <a:srgbClr val="000000"/>
                </a:solidFill>
                <a:effectLst/>
                <a:latin typeface="Open Sans" panose="020B0606030504020204" pitchFamily="34" charset="0"/>
              </a:rPr>
              <a:t> in the form of user stories to describe the desired result. The team then estimates the stories and creates a release plan broken down into iterations needed to cover the required functionality part after part. If one or more of the stories can’t be estimated, so-called </a:t>
            </a:r>
            <a:r>
              <a:rPr lang="en-US" b="1" i="1" dirty="0">
                <a:solidFill>
                  <a:schemeClr val="accent2"/>
                </a:solidFill>
                <a:effectLst/>
                <a:latin typeface="Open Sans" panose="020B0606030504020204" pitchFamily="34" charset="0"/>
              </a:rPr>
              <a:t>spikes</a:t>
            </a:r>
            <a:r>
              <a:rPr lang="en-US" b="0" i="1" dirty="0">
                <a:solidFill>
                  <a:srgbClr val="000000"/>
                </a:solidFill>
                <a:effectLst/>
                <a:latin typeface="Open Sans" panose="020B0606030504020204" pitchFamily="34" charset="0"/>
              </a:rPr>
              <a:t> </a:t>
            </a:r>
            <a:r>
              <a:rPr lang="en-US" b="0" i="0" dirty="0">
                <a:solidFill>
                  <a:srgbClr val="000000"/>
                </a:solidFill>
                <a:effectLst/>
                <a:latin typeface="Open Sans" panose="020B0606030504020204" pitchFamily="34" charset="0"/>
              </a:rPr>
              <a:t>can be introduced which means that further research is needed.</a:t>
            </a:r>
          </a:p>
          <a:p>
            <a:pPr algn="l"/>
            <a:endParaRPr lang="en-US" b="0" i="0" dirty="0">
              <a:solidFill>
                <a:srgbClr val="000000"/>
              </a:solidFill>
              <a:effectLst/>
              <a:latin typeface="Open Sans" panose="020B0606030504020204" pitchFamily="34" charset="0"/>
            </a:endParaRPr>
          </a:p>
          <a:p>
            <a:pPr algn="l"/>
            <a:r>
              <a:rPr lang="en-US" dirty="0">
                <a:solidFill>
                  <a:srgbClr val="000000"/>
                </a:solidFill>
                <a:latin typeface="Open Sans" panose="020B0606030504020204" pitchFamily="34" charset="0"/>
              </a:rPr>
              <a:t>2.</a:t>
            </a:r>
            <a:r>
              <a:rPr lang="en-US" b="1" i="0" dirty="0">
                <a:solidFill>
                  <a:srgbClr val="000000"/>
                </a:solidFill>
                <a:effectLst/>
                <a:latin typeface="Open Sans" panose="020B0606030504020204" pitchFamily="34" charset="0"/>
              </a:rPr>
              <a:t>Designing </a:t>
            </a:r>
            <a:r>
              <a:rPr lang="en-US" b="0" i="0" dirty="0">
                <a:solidFill>
                  <a:srgbClr val="000000"/>
                </a:solidFill>
                <a:effectLst/>
                <a:latin typeface="Open Sans" panose="020B0606030504020204" pitchFamily="34" charset="0"/>
              </a:rPr>
              <a:t>is actually a part of the planning process, but can be set apart to emphasize its importance. It’s related to one of the main XP values that we’ll discuss below — simplicity. A good design brings logic and structure to the system and allows to avoid unnecessary complexities and redundancies.</a:t>
            </a:r>
          </a:p>
          <a:p>
            <a:endParaRPr lang="en-SG" dirty="0"/>
          </a:p>
          <a:p>
            <a:endParaRPr lang="en-SG" dirty="0"/>
          </a:p>
          <a:p>
            <a:endParaRPr lang="en-SG" dirty="0"/>
          </a:p>
        </p:txBody>
      </p:sp>
    </p:spTree>
    <p:extLst>
      <p:ext uri="{BB962C8B-B14F-4D97-AF65-F5344CB8AC3E}">
        <p14:creationId xmlns:p14="http://schemas.microsoft.com/office/powerpoint/2010/main" val="215123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DD16D2-346B-408E-93AA-98AF1AF8E307}"/>
              </a:ext>
            </a:extLst>
          </p:cNvPr>
          <p:cNvSpPr txBox="1"/>
          <p:nvPr/>
        </p:nvSpPr>
        <p:spPr>
          <a:xfrm>
            <a:off x="74140" y="98854"/>
            <a:ext cx="12041659" cy="2585323"/>
          </a:xfrm>
          <a:prstGeom prst="rect">
            <a:avLst/>
          </a:prstGeom>
          <a:noFill/>
        </p:spPr>
        <p:txBody>
          <a:bodyPr wrap="square">
            <a:spAutoFit/>
          </a:bodyPr>
          <a:lstStyle/>
          <a:p>
            <a:pPr algn="l"/>
            <a:r>
              <a:rPr lang="en-US" b="1" i="0" dirty="0">
                <a:solidFill>
                  <a:srgbClr val="000000"/>
                </a:solidFill>
                <a:effectLst/>
                <a:latin typeface="Open Sans" panose="020B0606030504020204" pitchFamily="34" charset="0"/>
              </a:rPr>
              <a:t>3.Coding </a:t>
            </a:r>
            <a:r>
              <a:rPr lang="en-US" b="0" i="0" dirty="0">
                <a:solidFill>
                  <a:srgbClr val="000000"/>
                </a:solidFill>
                <a:effectLst/>
                <a:latin typeface="Open Sans" panose="020B0606030504020204" pitchFamily="34" charset="0"/>
              </a:rPr>
              <a:t>is the phase during which the actual code is created by implementing specific XP practices such as coding standards, pair programming, continuous integration, and collective code ownership</a:t>
            </a:r>
          </a:p>
          <a:p>
            <a:pPr algn="l"/>
            <a:endParaRPr lang="en-US" b="0" i="0" dirty="0">
              <a:solidFill>
                <a:srgbClr val="000000"/>
              </a:solidFill>
              <a:effectLst/>
              <a:latin typeface="Open Sans" panose="020B0606030504020204" pitchFamily="34" charset="0"/>
            </a:endParaRPr>
          </a:p>
          <a:p>
            <a:pPr algn="l"/>
            <a:r>
              <a:rPr lang="en-US" b="1" i="0" dirty="0">
                <a:solidFill>
                  <a:srgbClr val="000000"/>
                </a:solidFill>
                <a:effectLst/>
                <a:latin typeface="Open Sans" panose="020B0606030504020204" pitchFamily="34" charset="0"/>
              </a:rPr>
              <a:t>4.Testing </a:t>
            </a:r>
            <a:r>
              <a:rPr lang="en-US" b="0" i="0" dirty="0">
                <a:solidFill>
                  <a:srgbClr val="000000"/>
                </a:solidFill>
                <a:effectLst/>
                <a:latin typeface="Open Sans" panose="020B0606030504020204" pitchFamily="34" charset="0"/>
              </a:rPr>
              <a:t>is the core of extreme programming. It is the regular activity that involves both unit tests (</a:t>
            </a:r>
            <a:r>
              <a:rPr lang="en-US" b="0" i="0" u="none" strike="noStrike" dirty="0">
                <a:solidFill>
                  <a:srgbClr val="00C0EB"/>
                </a:solidFill>
                <a:effectLst/>
                <a:latin typeface="Open Sans" panose="020B0606030504020204" pitchFamily="34" charset="0"/>
                <a:hlinkClick r:id="rId2"/>
              </a:rPr>
              <a:t>automated testing</a:t>
            </a:r>
            <a:r>
              <a:rPr lang="en-US" b="0" i="0" dirty="0">
                <a:solidFill>
                  <a:srgbClr val="000000"/>
                </a:solidFill>
                <a:effectLst/>
                <a:latin typeface="Open Sans" panose="020B0606030504020204" pitchFamily="34" charset="0"/>
              </a:rPr>
              <a:t> to determine if the developed feature works properly) and acceptance tests (customer testing to verify that the overall system is created according to the initial requirements).</a:t>
            </a:r>
          </a:p>
          <a:p>
            <a:pPr algn="l"/>
            <a:endParaRPr lang="en-US" b="0" i="0" dirty="0">
              <a:solidFill>
                <a:srgbClr val="000000"/>
              </a:solidFill>
              <a:effectLst/>
              <a:latin typeface="Open Sans" panose="020B0606030504020204" pitchFamily="34" charset="0"/>
            </a:endParaRPr>
          </a:p>
          <a:p>
            <a:pPr algn="l"/>
            <a:r>
              <a:rPr lang="en-US" b="1" i="0" dirty="0">
                <a:solidFill>
                  <a:srgbClr val="000000"/>
                </a:solidFill>
                <a:effectLst/>
                <a:latin typeface="Open Sans" panose="020B0606030504020204" pitchFamily="34" charset="0"/>
              </a:rPr>
              <a:t>5.Listening </a:t>
            </a:r>
            <a:r>
              <a:rPr lang="en-US" b="0" i="0" dirty="0">
                <a:solidFill>
                  <a:srgbClr val="000000"/>
                </a:solidFill>
                <a:effectLst/>
                <a:latin typeface="Open Sans" panose="020B0606030504020204" pitchFamily="34" charset="0"/>
              </a:rPr>
              <a:t>is all about constant communication and feedback. The customers and project managers are involved to describe the business logic and value that is expected.</a:t>
            </a:r>
          </a:p>
        </p:txBody>
      </p:sp>
    </p:spTree>
    <p:extLst>
      <p:ext uri="{BB962C8B-B14F-4D97-AF65-F5344CB8AC3E}">
        <p14:creationId xmlns:p14="http://schemas.microsoft.com/office/powerpoint/2010/main" val="1946652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XP lifecycle">
            <a:extLst>
              <a:ext uri="{FF2B5EF4-FFF2-40B4-BE49-F238E27FC236}">
                <a16:creationId xmlns:a16="http://schemas.microsoft.com/office/drawing/2014/main" id="{5CF084C2-4214-4DF9-9FA9-55977148EB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3683" y="123825"/>
            <a:ext cx="8404633" cy="6462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07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XP-values-and-principles">
            <a:extLst>
              <a:ext uri="{FF2B5EF4-FFF2-40B4-BE49-F238E27FC236}">
                <a16:creationId xmlns:a16="http://schemas.microsoft.com/office/drawing/2014/main" id="{57D8AD0D-2E70-4D6D-A4EA-D41A2823EB4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XP-values-and-principles">
            <a:extLst>
              <a:ext uri="{FF2B5EF4-FFF2-40B4-BE49-F238E27FC236}">
                <a16:creationId xmlns:a16="http://schemas.microsoft.com/office/drawing/2014/main" id="{E6196C5E-4E74-4D5A-8E10-5976F189606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6" descr="XP-values-and-principles">
            <a:extLst>
              <a:ext uri="{FF2B5EF4-FFF2-40B4-BE49-F238E27FC236}">
                <a16:creationId xmlns:a16="http://schemas.microsoft.com/office/drawing/2014/main" id="{4D5922BF-502B-4521-8BBD-90AC7A63B4AE}"/>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10">
            <a:extLst>
              <a:ext uri="{FF2B5EF4-FFF2-40B4-BE49-F238E27FC236}">
                <a16:creationId xmlns:a16="http://schemas.microsoft.com/office/drawing/2014/main" id="{22AB3CB6-FE89-44BB-A79E-117D435BA7B9}"/>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12">
            <a:extLst>
              <a:ext uri="{FF2B5EF4-FFF2-40B4-BE49-F238E27FC236}">
                <a16:creationId xmlns:a16="http://schemas.microsoft.com/office/drawing/2014/main" id="{44CBBDFA-666B-43C8-935D-87E7E55F495B}"/>
              </a:ext>
            </a:extLst>
          </p:cNvPr>
          <p:cNvSpPr>
            <a:spLocks noChangeAspect="1" noChangeArrowheads="1"/>
          </p:cNvSpPr>
          <p:nvPr/>
        </p:nvSpPr>
        <p:spPr bwMode="auto">
          <a:xfrm>
            <a:off x="6553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EE908AB7-36BA-410F-9194-607469D24C2B}"/>
              </a:ext>
            </a:extLst>
          </p:cNvPr>
          <p:cNvPicPr>
            <a:picLocks noChangeAspect="1"/>
          </p:cNvPicPr>
          <p:nvPr/>
        </p:nvPicPr>
        <p:blipFill>
          <a:blip r:embed="rId2"/>
          <a:stretch>
            <a:fillRect/>
          </a:stretch>
        </p:blipFill>
        <p:spPr>
          <a:xfrm>
            <a:off x="867098" y="423944"/>
            <a:ext cx="10153003" cy="6010111"/>
          </a:xfrm>
          <a:prstGeom prst="rect">
            <a:avLst/>
          </a:prstGeom>
        </p:spPr>
      </p:pic>
    </p:spTree>
    <p:extLst>
      <p:ext uri="{BB962C8B-B14F-4D97-AF65-F5344CB8AC3E}">
        <p14:creationId xmlns:p14="http://schemas.microsoft.com/office/powerpoint/2010/main" val="1843019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6082BC-153D-4F40-B68D-52C4AA6ADF65}"/>
              </a:ext>
            </a:extLst>
          </p:cNvPr>
          <p:cNvSpPr txBox="1"/>
          <p:nvPr/>
        </p:nvSpPr>
        <p:spPr>
          <a:xfrm>
            <a:off x="361950" y="342900"/>
            <a:ext cx="11830050" cy="3788153"/>
          </a:xfrm>
          <a:prstGeom prst="rect">
            <a:avLst/>
          </a:prstGeom>
          <a:noFill/>
        </p:spPr>
        <p:txBody>
          <a:bodyPr wrap="square">
            <a:spAutoFit/>
          </a:bodyPr>
          <a:lstStyle/>
          <a:p>
            <a:pPr algn="l"/>
            <a:r>
              <a:rPr lang="en-US" dirty="0">
                <a:solidFill>
                  <a:srgbClr val="000000"/>
                </a:solidFill>
                <a:latin typeface="Roboto" panose="02000000000000000000" pitchFamily="2" charset="0"/>
              </a:rPr>
              <a:t>Ex</a:t>
            </a:r>
            <a:r>
              <a:rPr lang="en-US" b="0" i="0" dirty="0">
                <a:solidFill>
                  <a:srgbClr val="000000"/>
                </a:solidFill>
                <a:effectLst/>
                <a:latin typeface="Roboto" panose="02000000000000000000" pitchFamily="2" charset="0"/>
              </a:rPr>
              <a:t>treme programming or XP suggests values , rules and practices. By adopting these practices projects will become flexible with respect to changes. </a:t>
            </a:r>
          </a:p>
          <a:p>
            <a:pPr algn="just"/>
            <a:endParaRPr lang="en-US" b="0" i="0" dirty="0">
              <a:solidFill>
                <a:srgbClr val="000000"/>
              </a:solidFill>
              <a:effectLst/>
              <a:latin typeface="Roboto" panose="02000000000000000000" pitchFamily="2" charset="0"/>
            </a:endParaRPr>
          </a:p>
          <a:p>
            <a:pPr algn="l">
              <a:lnSpc>
                <a:spcPct val="150000"/>
              </a:lnSpc>
            </a:pPr>
            <a:r>
              <a:rPr lang="en-US" b="1" i="0" dirty="0">
                <a:solidFill>
                  <a:srgbClr val="7030A0"/>
                </a:solidFill>
                <a:effectLst/>
                <a:latin typeface="Roboto" panose="02000000000000000000" pitchFamily="2" charset="0"/>
              </a:rPr>
              <a:t>XP values </a:t>
            </a:r>
          </a:p>
          <a:p>
            <a:pPr algn="just">
              <a:lnSpc>
                <a:spcPct val="150000"/>
              </a:lnSpc>
            </a:pPr>
            <a:r>
              <a:rPr lang="en-US" b="0" i="0" dirty="0">
                <a:solidFill>
                  <a:srgbClr val="7030A0"/>
                </a:solidFill>
                <a:effectLst/>
                <a:latin typeface="Roboto" panose="02000000000000000000" pitchFamily="2" charset="0"/>
              </a:rPr>
              <a:t>Extreme Programming has 5 values .They are:</a:t>
            </a:r>
          </a:p>
          <a:p>
            <a:pPr algn="just">
              <a:lnSpc>
                <a:spcPct val="150000"/>
              </a:lnSpc>
              <a:buFont typeface="Arial" panose="020B0604020202020204" pitchFamily="34" charset="0"/>
              <a:buChar char="•"/>
            </a:pPr>
            <a:r>
              <a:rPr lang="en-US" b="1" i="0" dirty="0">
                <a:solidFill>
                  <a:srgbClr val="7030A0"/>
                </a:solidFill>
                <a:effectLst/>
                <a:latin typeface="Roboto" panose="02000000000000000000" pitchFamily="2" charset="0"/>
              </a:rPr>
              <a:t>Communication </a:t>
            </a:r>
            <a:r>
              <a:rPr lang="en-US" b="0" i="0" dirty="0">
                <a:solidFill>
                  <a:srgbClr val="7030A0"/>
                </a:solidFill>
                <a:effectLst/>
                <a:latin typeface="Roboto" panose="02000000000000000000" pitchFamily="2" charset="0"/>
              </a:rPr>
              <a:t>: Everyone is part of the team . Do face to face communication with the team</a:t>
            </a:r>
          </a:p>
          <a:p>
            <a:pPr algn="just">
              <a:lnSpc>
                <a:spcPct val="150000"/>
              </a:lnSpc>
              <a:buFont typeface="Arial" panose="020B0604020202020204" pitchFamily="34" charset="0"/>
              <a:buChar char="•"/>
            </a:pPr>
            <a:r>
              <a:rPr lang="en-US" b="1" i="0" dirty="0">
                <a:solidFill>
                  <a:srgbClr val="7030A0"/>
                </a:solidFill>
                <a:effectLst/>
                <a:latin typeface="Roboto" panose="02000000000000000000" pitchFamily="2" charset="0"/>
              </a:rPr>
              <a:t>Simplicity </a:t>
            </a:r>
            <a:r>
              <a:rPr lang="en-US" b="0" i="0" dirty="0">
                <a:solidFill>
                  <a:srgbClr val="7030A0"/>
                </a:solidFill>
                <a:effectLst/>
                <a:latin typeface="Roboto" panose="02000000000000000000" pitchFamily="2" charset="0"/>
              </a:rPr>
              <a:t>: Do what is needed</a:t>
            </a:r>
          </a:p>
          <a:p>
            <a:pPr algn="just">
              <a:lnSpc>
                <a:spcPct val="150000"/>
              </a:lnSpc>
              <a:buFont typeface="Arial" panose="020B0604020202020204" pitchFamily="34" charset="0"/>
              <a:buChar char="•"/>
            </a:pPr>
            <a:r>
              <a:rPr lang="en-US" b="1" i="0" dirty="0">
                <a:solidFill>
                  <a:srgbClr val="7030A0"/>
                </a:solidFill>
                <a:effectLst/>
                <a:latin typeface="Roboto" panose="02000000000000000000" pitchFamily="2" charset="0"/>
              </a:rPr>
              <a:t>Feedback </a:t>
            </a:r>
            <a:r>
              <a:rPr lang="en-US" b="0" i="0" dirty="0">
                <a:solidFill>
                  <a:srgbClr val="7030A0"/>
                </a:solidFill>
                <a:effectLst/>
                <a:latin typeface="Roboto" panose="02000000000000000000" pitchFamily="2" charset="0"/>
              </a:rPr>
              <a:t>: Demonstrate working software early and adapt to feedback</a:t>
            </a:r>
          </a:p>
          <a:p>
            <a:pPr algn="just">
              <a:lnSpc>
                <a:spcPct val="150000"/>
              </a:lnSpc>
              <a:buFont typeface="Arial" panose="020B0604020202020204" pitchFamily="34" charset="0"/>
              <a:buChar char="•"/>
            </a:pPr>
            <a:r>
              <a:rPr lang="en-US" b="1" i="0" dirty="0">
                <a:solidFill>
                  <a:srgbClr val="7030A0"/>
                </a:solidFill>
                <a:effectLst/>
                <a:latin typeface="Roboto" panose="02000000000000000000" pitchFamily="2" charset="0"/>
              </a:rPr>
              <a:t>Courage</a:t>
            </a:r>
            <a:r>
              <a:rPr lang="en-US" b="0" i="0" dirty="0">
                <a:solidFill>
                  <a:srgbClr val="7030A0"/>
                </a:solidFill>
                <a:effectLst/>
                <a:latin typeface="Roboto" panose="02000000000000000000" pitchFamily="2" charset="0"/>
              </a:rPr>
              <a:t> : Tell the truth about progress and estimates</a:t>
            </a:r>
          </a:p>
          <a:p>
            <a:pPr algn="just">
              <a:lnSpc>
                <a:spcPct val="150000"/>
              </a:lnSpc>
              <a:buFont typeface="Arial" panose="020B0604020202020204" pitchFamily="34" charset="0"/>
              <a:buChar char="•"/>
            </a:pPr>
            <a:r>
              <a:rPr lang="en-US" b="1" i="0" dirty="0">
                <a:solidFill>
                  <a:srgbClr val="7030A0"/>
                </a:solidFill>
                <a:effectLst/>
                <a:latin typeface="Roboto" panose="02000000000000000000" pitchFamily="2" charset="0"/>
              </a:rPr>
              <a:t>Respect </a:t>
            </a:r>
            <a:r>
              <a:rPr lang="en-US" b="0" i="0" dirty="0">
                <a:solidFill>
                  <a:srgbClr val="7030A0"/>
                </a:solidFill>
                <a:effectLst/>
                <a:latin typeface="Roboto" panose="02000000000000000000" pitchFamily="2" charset="0"/>
              </a:rPr>
              <a:t>: Everyone is a </a:t>
            </a:r>
            <a:r>
              <a:rPr lang="en-US" b="0" i="0" dirty="0" err="1">
                <a:solidFill>
                  <a:srgbClr val="7030A0"/>
                </a:solidFill>
                <a:effectLst/>
                <a:latin typeface="Roboto" panose="02000000000000000000" pitchFamily="2" charset="0"/>
              </a:rPr>
              <a:t>a</a:t>
            </a:r>
            <a:r>
              <a:rPr lang="en-US" b="0" i="0" dirty="0">
                <a:solidFill>
                  <a:srgbClr val="7030A0"/>
                </a:solidFill>
                <a:effectLst/>
                <a:latin typeface="Roboto" panose="02000000000000000000" pitchFamily="2" charset="0"/>
              </a:rPr>
              <a:t> valued team member and contributes value which includes the customer</a:t>
            </a:r>
            <a:endParaRPr lang="en-SG" dirty="0">
              <a:solidFill>
                <a:srgbClr val="7030A0"/>
              </a:solidFill>
            </a:endParaRPr>
          </a:p>
        </p:txBody>
      </p:sp>
    </p:spTree>
    <p:extLst>
      <p:ext uri="{BB962C8B-B14F-4D97-AF65-F5344CB8AC3E}">
        <p14:creationId xmlns:p14="http://schemas.microsoft.com/office/powerpoint/2010/main" val="4162740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D96867-143C-43A6-B075-38D25B970091}"/>
              </a:ext>
            </a:extLst>
          </p:cNvPr>
          <p:cNvSpPr txBox="1"/>
          <p:nvPr/>
        </p:nvSpPr>
        <p:spPr>
          <a:xfrm>
            <a:off x="161924" y="285750"/>
            <a:ext cx="11820525" cy="4618572"/>
          </a:xfrm>
          <a:prstGeom prst="rect">
            <a:avLst/>
          </a:prstGeom>
          <a:noFill/>
        </p:spPr>
        <p:txBody>
          <a:bodyPr wrap="square">
            <a:spAutoFit/>
          </a:bodyPr>
          <a:lstStyle/>
          <a:p>
            <a:pPr algn="l">
              <a:lnSpc>
                <a:spcPct val="150000"/>
              </a:lnSpc>
            </a:pPr>
            <a:r>
              <a:rPr lang="en-US" b="0" dirty="0">
                <a:solidFill>
                  <a:srgbClr val="000000"/>
                </a:solidFill>
                <a:effectLst/>
                <a:latin typeface="Proxima Nova"/>
              </a:rPr>
              <a:t>Principles of extreme programming</a:t>
            </a:r>
          </a:p>
          <a:p>
            <a:pPr algn="l">
              <a:lnSpc>
                <a:spcPct val="150000"/>
              </a:lnSpc>
            </a:pPr>
            <a:r>
              <a:rPr lang="en-US" b="0" i="0" dirty="0">
                <a:solidFill>
                  <a:srgbClr val="000000"/>
                </a:solidFill>
                <a:effectLst/>
                <a:latin typeface="Open Sans" panose="020B0606030504020204" pitchFamily="34" charset="0"/>
              </a:rPr>
              <a:t>Most researchers denote 5 XP principles as:</a:t>
            </a:r>
            <a:endParaRPr lang="en-US" b="0" i="0" dirty="0">
              <a:solidFill>
                <a:srgbClr val="7030A0"/>
              </a:solidFill>
              <a:effectLst/>
              <a:latin typeface="Open Sans" panose="020B0606030504020204" pitchFamily="34" charset="0"/>
            </a:endParaRPr>
          </a:p>
          <a:p>
            <a:pPr algn="l">
              <a:lnSpc>
                <a:spcPct val="150000"/>
              </a:lnSpc>
              <a:buFont typeface="+mj-lt"/>
              <a:buAutoNum type="arabicPeriod"/>
            </a:pPr>
            <a:r>
              <a:rPr lang="en-US" b="1" i="0" dirty="0">
                <a:solidFill>
                  <a:srgbClr val="7030A0"/>
                </a:solidFill>
                <a:effectLst/>
                <a:latin typeface="Open Sans" panose="020B0606030504020204" pitchFamily="34" charset="0"/>
              </a:rPr>
              <a:t>Rapid feedback.</a:t>
            </a:r>
            <a:r>
              <a:rPr lang="en-US" b="0" i="0" dirty="0">
                <a:solidFill>
                  <a:srgbClr val="7030A0"/>
                </a:solidFill>
                <a:effectLst/>
                <a:latin typeface="Open Sans" panose="020B0606030504020204" pitchFamily="34" charset="0"/>
              </a:rPr>
              <a:t> Team members understand the given feedback and react to it right away.</a:t>
            </a:r>
          </a:p>
          <a:p>
            <a:pPr algn="l">
              <a:lnSpc>
                <a:spcPct val="150000"/>
              </a:lnSpc>
              <a:buFont typeface="+mj-lt"/>
              <a:buAutoNum type="arabicPeriod"/>
            </a:pPr>
            <a:r>
              <a:rPr lang="en-US" b="1" i="0" dirty="0">
                <a:solidFill>
                  <a:srgbClr val="7030A0"/>
                </a:solidFill>
                <a:effectLst/>
                <a:latin typeface="Open Sans" panose="020B0606030504020204" pitchFamily="34" charset="0"/>
              </a:rPr>
              <a:t>Assumed simplicity.</a:t>
            </a:r>
            <a:r>
              <a:rPr lang="en-US" b="0" i="0" dirty="0">
                <a:solidFill>
                  <a:srgbClr val="7030A0"/>
                </a:solidFill>
                <a:effectLst/>
                <a:latin typeface="Open Sans" panose="020B0606030504020204" pitchFamily="34" charset="0"/>
              </a:rPr>
              <a:t> Developers need to focus on the job</a:t>
            </a:r>
          </a:p>
          <a:p>
            <a:pPr algn="l">
              <a:lnSpc>
                <a:spcPct val="150000"/>
              </a:lnSpc>
              <a:buFont typeface="+mj-lt"/>
              <a:buAutoNum type="arabicPeriod"/>
            </a:pPr>
            <a:r>
              <a:rPr lang="en-US" b="1" i="0" dirty="0">
                <a:solidFill>
                  <a:srgbClr val="7030A0"/>
                </a:solidFill>
                <a:effectLst/>
                <a:latin typeface="Open Sans" panose="020B0606030504020204" pitchFamily="34" charset="0"/>
              </a:rPr>
              <a:t>Incremental changes.</a:t>
            </a:r>
            <a:r>
              <a:rPr lang="en-US" b="0" i="0" dirty="0">
                <a:solidFill>
                  <a:srgbClr val="7030A0"/>
                </a:solidFill>
                <a:effectLst/>
                <a:latin typeface="Open Sans" panose="020B0606030504020204" pitchFamily="34" charset="0"/>
              </a:rPr>
              <a:t> Small changes made to a product step by step work better than big ones made at once.</a:t>
            </a:r>
          </a:p>
          <a:p>
            <a:pPr algn="l">
              <a:lnSpc>
                <a:spcPct val="150000"/>
              </a:lnSpc>
              <a:buFont typeface="+mj-lt"/>
              <a:buAutoNum type="arabicPeriod"/>
            </a:pPr>
            <a:r>
              <a:rPr lang="en-US" b="1" i="0" dirty="0">
                <a:solidFill>
                  <a:srgbClr val="7030A0"/>
                </a:solidFill>
                <a:effectLst/>
                <a:latin typeface="Open Sans" panose="020B0606030504020204" pitchFamily="34" charset="0"/>
              </a:rPr>
              <a:t>Embracing change.</a:t>
            </a:r>
            <a:r>
              <a:rPr lang="en-US" b="0" i="0" dirty="0">
                <a:solidFill>
                  <a:srgbClr val="7030A0"/>
                </a:solidFill>
                <a:effectLst/>
                <a:latin typeface="Open Sans" panose="020B0606030504020204" pitchFamily="34" charset="0"/>
              </a:rPr>
              <a:t> If a client thinks a product needs to be changed, programmers should support this decision and plan how to implement new requirements.</a:t>
            </a:r>
          </a:p>
          <a:p>
            <a:pPr algn="l">
              <a:lnSpc>
                <a:spcPct val="150000"/>
              </a:lnSpc>
              <a:buFont typeface="+mj-lt"/>
              <a:buAutoNum type="arabicPeriod"/>
            </a:pPr>
            <a:r>
              <a:rPr lang="en-US" b="1" i="0" dirty="0">
                <a:solidFill>
                  <a:srgbClr val="7030A0"/>
                </a:solidFill>
                <a:effectLst/>
                <a:latin typeface="Open Sans" panose="020B0606030504020204" pitchFamily="34" charset="0"/>
              </a:rPr>
              <a:t>Quality work.</a:t>
            </a:r>
            <a:r>
              <a:rPr lang="en-US" b="0" i="0" dirty="0">
                <a:solidFill>
                  <a:srgbClr val="7030A0"/>
                </a:solidFill>
                <a:effectLst/>
                <a:latin typeface="Open Sans" panose="020B0606030504020204" pitchFamily="34" charset="0"/>
              </a:rPr>
              <a:t> A team that works well, makes a valuable product and feels proud of it.</a:t>
            </a:r>
          </a:p>
          <a:p>
            <a:pPr algn="l">
              <a:lnSpc>
                <a:spcPct val="150000"/>
              </a:lnSpc>
            </a:pPr>
            <a:r>
              <a:rPr lang="en-US" b="0" i="0" dirty="0">
                <a:solidFill>
                  <a:srgbClr val="7030A0"/>
                </a:solidFill>
                <a:effectLst/>
                <a:latin typeface="Open Sans" panose="020B0606030504020204" pitchFamily="34" charset="0"/>
              </a:rPr>
              <a:t>Having discussed the main values and principles of XP, let’s take a closer look at the practices inherent in this framework.</a:t>
            </a:r>
          </a:p>
        </p:txBody>
      </p:sp>
    </p:spTree>
    <p:extLst>
      <p:ext uri="{BB962C8B-B14F-4D97-AF65-F5344CB8AC3E}">
        <p14:creationId xmlns:p14="http://schemas.microsoft.com/office/powerpoint/2010/main" val="2238586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9FC9C3-ECC2-488E-B2ED-DA30F7C2F1ED}"/>
              </a:ext>
            </a:extLst>
          </p:cNvPr>
          <p:cNvSpPr txBox="1"/>
          <p:nvPr/>
        </p:nvSpPr>
        <p:spPr>
          <a:xfrm>
            <a:off x="76199" y="180975"/>
            <a:ext cx="11934825" cy="2723823"/>
          </a:xfrm>
          <a:prstGeom prst="rect">
            <a:avLst/>
          </a:prstGeom>
          <a:noFill/>
        </p:spPr>
        <p:txBody>
          <a:bodyPr wrap="square">
            <a:spAutoFit/>
          </a:bodyPr>
          <a:lstStyle/>
          <a:p>
            <a:pPr algn="l">
              <a:lnSpc>
                <a:spcPct val="150000"/>
              </a:lnSpc>
            </a:pPr>
            <a:r>
              <a:rPr lang="en-US" b="1" dirty="0">
                <a:solidFill>
                  <a:srgbClr val="000000"/>
                </a:solidFill>
                <a:effectLst/>
                <a:latin typeface="Proxima Nova"/>
              </a:rPr>
              <a:t>Extreme programming practices</a:t>
            </a:r>
          </a:p>
          <a:p>
            <a:pPr algn="l">
              <a:lnSpc>
                <a:spcPct val="150000"/>
              </a:lnSpc>
            </a:pPr>
            <a:r>
              <a:rPr lang="en-US" b="0" i="0" dirty="0">
                <a:solidFill>
                  <a:srgbClr val="000000"/>
                </a:solidFill>
                <a:effectLst/>
                <a:latin typeface="Open Sans" panose="020B0606030504020204" pitchFamily="34" charset="0"/>
              </a:rPr>
              <a:t>The practices of XP are a set of specific rules and methods that distinguishes it from other methodologies. When used in conjunction(combo), they reinforce(support) each other, help mitigate(reduce) the risks of the development process, and lead to the expected high-quality result. XP suggests using 12 practices while developing software which can be clustered into four groups.</a:t>
            </a:r>
          </a:p>
          <a:p>
            <a:br>
              <a:rPr lang="en-US" dirty="0"/>
            </a:br>
            <a:endParaRPr lang="en-SG" dirty="0"/>
          </a:p>
        </p:txBody>
      </p:sp>
      <p:pic>
        <p:nvPicPr>
          <p:cNvPr id="4" name="Picture 2" descr="Extreme Programming Practices">
            <a:extLst>
              <a:ext uri="{FF2B5EF4-FFF2-40B4-BE49-F238E27FC236}">
                <a16:creationId xmlns:a16="http://schemas.microsoft.com/office/drawing/2014/main" id="{46C1748D-281D-4B2B-B08E-5E31A8FD6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2297" y="2611074"/>
            <a:ext cx="5406377" cy="3366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0387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134BF6-FBB5-4D44-80FE-9FD09CCDD933}"/>
              </a:ext>
            </a:extLst>
          </p:cNvPr>
          <p:cNvSpPr txBox="1"/>
          <p:nvPr/>
        </p:nvSpPr>
        <p:spPr>
          <a:xfrm>
            <a:off x="148281" y="74141"/>
            <a:ext cx="12043719" cy="4801314"/>
          </a:xfrm>
          <a:prstGeom prst="rect">
            <a:avLst/>
          </a:prstGeom>
          <a:noFill/>
        </p:spPr>
        <p:txBody>
          <a:bodyPr wrap="square">
            <a:spAutoFit/>
          </a:bodyPr>
          <a:lstStyle/>
          <a:p>
            <a:pPr algn="l"/>
            <a:r>
              <a:rPr lang="en-US" b="1" dirty="0">
                <a:solidFill>
                  <a:srgbClr val="7030A0"/>
                </a:solidFill>
                <a:effectLst/>
                <a:latin typeface="Proxima Nova"/>
              </a:rPr>
              <a:t>Test-Driven Development</a:t>
            </a:r>
          </a:p>
          <a:p>
            <a:pPr algn="l"/>
            <a:br>
              <a:rPr lang="en-US" b="1" i="0" dirty="0">
                <a:solidFill>
                  <a:srgbClr val="7030A0"/>
                </a:solidFill>
                <a:effectLst/>
                <a:latin typeface="arial" panose="020B0604020202020204" pitchFamily="34" charset="0"/>
              </a:rPr>
            </a:br>
            <a:r>
              <a:rPr lang="en-US" b="1" i="0" dirty="0">
                <a:solidFill>
                  <a:srgbClr val="7030A0"/>
                </a:solidFill>
                <a:effectLst/>
                <a:latin typeface="arial" panose="020B0604020202020204" pitchFamily="34" charset="0"/>
              </a:rPr>
              <a:t>Test</a:t>
            </a:r>
            <a:r>
              <a:rPr lang="en-US" b="0" i="0" dirty="0">
                <a:solidFill>
                  <a:srgbClr val="7030A0"/>
                </a:solidFill>
                <a:effectLst/>
                <a:latin typeface="arial" panose="020B0604020202020204" pitchFamily="34" charset="0"/>
              </a:rPr>
              <a:t>-</a:t>
            </a:r>
            <a:r>
              <a:rPr lang="en-US" b="1" i="0" dirty="0">
                <a:solidFill>
                  <a:srgbClr val="7030A0"/>
                </a:solidFill>
                <a:effectLst/>
                <a:latin typeface="arial" panose="020B0604020202020204" pitchFamily="34" charset="0"/>
              </a:rPr>
              <a:t>driven development</a:t>
            </a:r>
            <a:r>
              <a:rPr lang="en-US" b="0" i="0" dirty="0">
                <a:solidFill>
                  <a:srgbClr val="7030A0"/>
                </a:solidFill>
                <a:effectLst/>
                <a:latin typeface="arial" panose="020B0604020202020204" pitchFamily="34" charset="0"/>
              </a:rPr>
              <a:t> (</a:t>
            </a:r>
            <a:r>
              <a:rPr lang="en-US" b="1" i="0" dirty="0">
                <a:solidFill>
                  <a:srgbClr val="7030A0"/>
                </a:solidFill>
                <a:effectLst/>
                <a:latin typeface="arial" panose="020B0604020202020204" pitchFamily="34" charset="0"/>
              </a:rPr>
              <a:t>TDD</a:t>
            </a:r>
            <a:r>
              <a:rPr lang="en-US" b="0" i="0" dirty="0">
                <a:solidFill>
                  <a:srgbClr val="7030A0"/>
                </a:solidFill>
                <a:effectLst/>
                <a:latin typeface="arial" panose="020B0604020202020204" pitchFamily="34" charset="0"/>
              </a:rPr>
              <a:t>) is a software </a:t>
            </a:r>
            <a:r>
              <a:rPr lang="en-US" b="1" i="0" dirty="0">
                <a:solidFill>
                  <a:srgbClr val="7030A0"/>
                </a:solidFill>
                <a:effectLst/>
                <a:latin typeface="arial" panose="020B0604020202020204" pitchFamily="34" charset="0"/>
              </a:rPr>
              <a:t>development</a:t>
            </a:r>
            <a:r>
              <a:rPr lang="en-US" b="0" i="0" dirty="0">
                <a:solidFill>
                  <a:srgbClr val="7030A0"/>
                </a:solidFill>
                <a:effectLst/>
                <a:latin typeface="arial" panose="020B0604020202020204" pitchFamily="34" charset="0"/>
              </a:rPr>
              <a:t> process relying on software requirements being converted to </a:t>
            </a:r>
            <a:r>
              <a:rPr lang="en-US" b="1" i="0" dirty="0">
                <a:solidFill>
                  <a:srgbClr val="7030A0"/>
                </a:solidFill>
                <a:effectLst/>
                <a:latin typeface="arial" panose="020B0604020202020204" pitchFamily="34" charset="0"/>
              </a:rPr>
              <a:t>test</a:t>
            </a:r>
            <a:r>
              <a:rPr lang="en-US" b="0" i="0" dirty="0">
                <a:solidFill>
                  <a:srgbClr val="7030A0"/>
                </a:solidFill>
                <a:effectLst/>
                <a:latin typeface="arial" panose="020B0604020202020204" pitchFamily="34" charset="0"/>
              </a:rPr>
              <a:t> cases before software is fully </a:t>
            </a:r>
            <a:r>
              <a:rPr lang="en-US" b="1" i="0" dirty="0">
                <a:solidFill>
                  <a:srgbClr val="7030A0"/>
                </a:solidFill>
                <a:effectLst/>
                <a:latin typeface="arial" panose="020B0604020202020204" pitchFamily="34" charset="0"/>
              </a:rPr>
              <a:t>developed</a:t>
            </a:r>
            <a:r>
              <a:rPr lang="en-US" b="0" i="0" dirty="0">
                <a:solidFill>
                  <a:srgbClr val="7030A0"/>
                </a:solidFill>
                <a:effectLst/>
                <a:latin typeface="arial" panose="020B0604020202020204" pitchFamily="34" charset="0"/>
              </a:rPr>
              <a:t>, and tracking all software </a:t>
            </a:r>
            <a:r>
              <a:rPr lang="en-US" b="1" i="0" dirty="0">
                <a:solidFill>
                  <a:srgbClr val="7030A0"/>
                </a:solidFill>
                <a:effectLst/>
                <a:latin typeface="arial" panose="020B0604020202020204" pitchFamily="34" charset="0"/>
              </a:rPr>
              <a:t>development</a:t>
            </a:r>
            <a:r>
              <a:rPr lang="en-US" b="0" i="0" dirty="0">
                <a:solidFill>
                  <a:srgbClr val="7030A0"/>
                </a:solidFill>
                <a:effectLst/>
                <a:latin typeface="arial" panose="020B0604020202020204" pitchFamily="34" charset="0"/>
              </a:rPr>
              <a:t> by repeatedly </a:t>
            </a:r>
            <a:r>
              <a:rPr lang="en-US" b="1" i="0" dirty="0">
                <a:solidFill>
                  <a:srgbClr val="7030A0"/>
                </a:solidFill>
                <a:effectLst/>
                <a:latin typeface="arial" panose="020B0604020202020204" pitchFamily="34" charset="0"/>
              </a:rPr>
              <a:t>testing</a:t>
            </a:r>
            <a:r>
              <a:rPr lang="en-US" b="0" i="0" dirty="0">
                <a:solidFill>
                  <a:srgbClr val="7030A0"/>
                </a:solidFill>
                <a:effectLst/>
                <a:latin typeface="arial" panose="020B0604020202020204" pitchFamily="34" charset="0"/>
              </a:rPr>
              <a:t> the software against all </a:t>
            </a:r>
            <a:r>
              <a:rPr lang="en-US" b="1" i="0" dirty="0">
                <a:solidFill>
                  <a:srgbClr val="7030A0"/>
                </a:solidFill>
                <a:effectLst/>
                <a:latin typeface="arial" panose="020B0604020202020204" pitchFamily="34" charset="0"/>
              </a:rPr>
              <a:t>test</a:t>
            </a:r>
            <a:r>
              <a:rPr lang="en-US" b="0" i="0" dirty="0">
                <a:solidFill>
                  <a:srgbClr val="7030A0"/>
                </a:solidFill>
                <a:effectLst/>
                <a:latin typeface="arial" panose="020B0604020202020204" pitchFamily="34" charset="0"/>
              </a:rPr>
              <a:t> cases.</a:t>
            </a:r>
          </a:p>
          <a:p>
            <a:pPr algn="l"/>
            <a:endParaRPr lang="en-US" dirty="0">
              <a:solidFill>
                <a:srgbClr val="7030A0"/>
              </a:solidFill>
              <a:latin typeface="arial" panose="020B0604020202020204" pitchFamily="34" charset="0"/>
            </a:endParaRPr>
          </a:p>
          <a:p>
            <a:pPr algn="l"/>
            <a:endParaRPr lang="en-US" b="0" i="0" dirty="0">
              <a:solidFill>
                <a:srgbClr val="7030A0"/>
              </a:solidFill>
              <a:effectLst/>
              <a:latin typeface="Open Sans" panose="020B0606030504020204" pitchFamily="34" charset="0"/>
            </a:endParaRPr>
          </a:p>
          <a:p>
            <a:pPr algn="l"/>
            <a:r>
              <a:rPr lang="en-US" b="1" dirty="0">
                <a:solidFill>
                  <a:srgbClr val="7030A0"/>
                </a:solidFill>
                <a:effectLst/>
                <a:latin typeface="Proxima Nova"/>
              </a:rPr>
              <a:t>The Planning Game</a:t>
            </a:r>
          </a:p>
          <a:p>
            <a:pPr algn="l"/>
            <a:r>
              <a:rPr lang="en-US" b="0" i="0" dirty="0">
                <a:solidFill>
                  <a:srgbClr val="7030A0"/>
                </a:solidFill>
                <a:effectLst/>
                <a:latin typeface="Open Sans" panose="020B0606030504020204" pitchFamily="34" charset="0"/>
              </a:rPr>
              <a:t>This is a meeting that occurs at the beginning of an iteration cycle. The development team and the customer get together to discuss and approve a product’s features. At the end of the planning game, developers plan for the upcoming iteration and release, assigning tasks for each of them.</a:t>
            </a:r>
          </a:p>
          <a:p>
            <a:pPr algn="l"/>
            <a:endParaRPr lang="en-US" b="0" i="0" dirty="0">
              <a:solidFill>
                <a:srgbClr val="7030A0"/>
              </a:solidFill>
              <a:effectLst/>
              <a:latin typeface="Open Sans" panose="020B0606030504020204" pitchFamily="34" charset="0"/>
            </a:endParaRPr>
          </a:p>
          <a:p>
            <a:pPr algn="l"/>
            <a:r>
              <a:rPr lang="en-US" b="1" dirty="0">
                <a:solidFill>
                  <a:srgbClr val="7030A0"/>
                </a:solidFill>
                <a:effectLst/>
                <a:latin typeface="Proxima Nova"/>
              </a:rPr>
              <a:t>On-site Customer</a:t>
            </a:r>
          </a:p>
          <a:p>
            <a:pPr algn="l"/>
            <a:endParaRPr lang="en-US" b="0" dirty="0">
              <a:solidFill>
                <a:srgbClr val="7030A0"/>
              </a:solidFill>
              <a:effectLst/>
              <a:latin typeface="Proxima Nova"/>
            </a:endParaRPr>
          </a:p>
          <a:p>
            <a:pPr algn="l"/>
            <a:r>
              <a:rPr lang="en-US" b="0" i="0" dirty="0">
                <a:solidFill>
                  <a:srgbClr val="7030A0"/>
                </a:solidFill>
                <a:effectLst/>
                <a:latin typeface="Open Sans" panose="020B0606030504020204" pitchFamily="34" charset="0"/>
              </a:rPr>
              <a:t>As we already mentioned, according to XP, the end customer should fully participate in development. The customer should be present all the time to answer team questions, set priorities, and resolve disputes if necessary.</a:t>
            </a:r>
          </a:p>
        </p:txBody>
      </p:sp>
    </p:spTree>
    <p:extLst>
      <p:ext uri="{BB962C8B-B14F-4D97-AF65-F5344CB8AC3E}">
        <p14:creationId xmlns:p14="http://schemas.microsoft.com/office/powerpoint/2010/main" val="646425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D04C18-375E-4B14-9E4D-38927A8C26CD}"/>
              </a:ext>
            </a:extLst>
          </p:cNvPr>
          <p:cNvSpPr txBox="1"/>
          <p:nvPr/>
        </p:nvSpPr>
        <p:spPr>
          <a:xfrm>
            <a:off x="300788" y="421104"/>
            <a:ext cx="11624511" cy="5172570"/>
          </a:xfrm>
          <a:prstGeom prst="rect">
            <a:avLst/>
          </a:prstGeom>
          <a:noFill/>
        </p:spPr>
        <p:txBody>
          <a:bodyPr wrap="square">
            <a:spAutoFit/>
          </a:bodyPr>
          <a:lstStyle/>
          <a:p>
            <a:pPr algn="l"/>
            <a:r>
              <a:rPr lang="en-US" b="1" dirty="0">
                <a:solidFill>
                  <a:srgbClr val="7030A0"/>
                </a:solidFill>
                <a:effectLst/>
                <a:latin typeface="Proxima Nova"/>
              </a:rPr>
              <a:t>Pair Programming</a:t>
            </a:r>
          </a:p>
          <a:p>
            <a:pPr algn="l">
              <a:lnSpc>
                <a:spcPct val="150000"/>
              </a:lnSpc>
            </a:pPr>
            <a:r>
              <a:rPr lang="en-US" b="0" i="0" dirty="0">
                <a:solidFill>
                  <a:srgbClr val="7030A0"/>
                </a:solidFill>
                <a:effectLst/>
                <a:latin typeface="Open Sans" panose="020B0606030504020204" pitchFamily="34" charset="0"/>
              </a:rPr>
              <a:t>This practice requires two programmers to work jointly on the same code. While the first developer focuses on writing, the other one reviews code, suggests improvements, and fixes mistakes along the way. Such teamwork results in high-quality software and faster knowledge sharing but takes about </a:t>
            </a:r>
            <a:r>
              <a:rPr lang="en-US" b="0" i="0" u="none" strike="noStrike" dirty="0">
                <a:solidFill>
                  <a:srgbClr val="7030A0"/>
                </a:solidFill>
                <a:effectLst/>
                <a:latin typeface="Open Sans" panose="020B0606030504020204" pitchFamily="34" charset="0"/>
                <a:hlinkClick r:id="rId2">
                  <a:extLst>
                    <a:ext uri="{A12FA001-AC4F-418D-AE19-62706E023703}">
                      <ahyp:hlinkClr xmlns:ahyp="http://schemas.microsoft.com/office/drawing/2018/hyperlinkcolor" val="tx"/>
                    </a:ext>
                  </a:extLst>
                </a:hlinkClick>
              </a:rPr>
              <a:t>15 percent more time</a:t>
            </a:r>
            <a:r>
              <a:rPr lang="en-US" b="0" i="0" dirty="0">
                <a:solidFill>
                  <a:srgbClr val="7030A0"/>
                </a:solidFill>
                <a:effectLst/>
                <a:latin typeface="Open Sans" panose="020B0606030504020204" pitchFamily="34" charset="0"/>
              </a:rPr>
              <a:t>. In this regard, it’s more reasonable trying pair programming for long-term projects.</a:t>
            </a:r>
          </a:p>
          <a:p>
            <a:pPr algn="l"/>
            <a:endParaRPr lang="en-US" dirty="0">
              <a:solidFill>
                <a:srgbClr val="000000"/>
              </a:solidFill>
              <a:latin typeface="Open Sans" panose="020B0606030504020204" pitchFamily="34" charset="0"/>
            </a:endParaRPr>
          </a:p>
          <a:p>
            <a:pPr algn="l"/>
            <a:endParaRPr lang="en-US" b="0" i="0" dirty="0">
              <a:solidFill>
                <a:srgbClr val="000000"/>
              </a:solidFill>
              <a:effectLst/>
              <a:latin typeface="Open Sans" panose="020B0606030504020204" pitchFamily="34" charset="0"/>
            </a:endParaRPr>
          </a:p>
          <a:p>
            <a:pPr algn="l"/>
            <a:endParaRPr lang="en-US" b="0" i="0" dirty="0">
              <a:solidFill>
                <a:srgbClr val="000000"/>
              </a:solidFill>
              <a:effectLst/>
              <a:latin typeface="Open Sans" panose="020B0606030504020204" pitchFamily="34" charset="0"/>
            </a:endParaRPr>
          </a:p>
          <a:p>
            <a:pPr algn="l"/>
            <a:r>
              <a:rPr lang="en-US" b="1" dirty="0">
                <a:solidFill>
                  <a:schemeClr val="accent2"/>
                </a:solidFill>
                <a:effectLst/>
                <a:latin typeface="Proxima Nova"/>
              </a:rPr>
              <a:t>Code Refactoring</a:t>
            </a:r>
          </a:p>
          <a:p>
            <a:pPr algn="l">
              <a:lnSpc>
                <a:spcPct val="150000"/>
              </a:lnSpc>
            </a:pPr>
            <a:r>
              <a:rPr lang="en-US" b="0" i="0" dirty="0">
                <a:solidFill>
                  <a:schemeClr val="accent2"/>
                </a:solidFill>
                <a:effectLst/>
                <a:latin typeface="Open Sans" panose="020B0606030504020204" pitchFamily="34" charset="0"/>
              </a:rPr>
              <a:t>To deliver business value with well-designed software in every short iteration, XP teams also use refactoring. The goal of this technique is to continuously improve code. </a:t>
            </a:r>
            <a:r>
              <a:rPr lang="en-US" b="1" i="0" dirty="0">
                <a:solidFill>
                  <a:schemeClr val="accent2"/>
                </a:solidFill>
                <a:effectLst/>
                <a:latin typeface="Open Sans" panose="020B0606030504020204" pitchFamily="34" charset="0"/>
              </a:rPr>
              <a:t>Refactoring is about removing redundancy, eliminating unnecessary functions, increasing code coherency(t</a:t>
            </a:r>
            <a:r>
              <a:rPr lang="en-US" b="0" i="0" dirty="0">
                <a:solidFill>
                  <a:schemeClr val="accent2"/>
                </a:solidFill>
                <a:effectLst/>
                <a:latin typeface="arial" panose="020B0604020202020204" pitchFamily="34" charset="0"/>
              </a:rPr>
              <a:t>he quality of being logical and consistent.</a:t>
            </a:r>
            <a:r>
              <a:rPr lang="en-US" b="1" i="0" dirty="0">
                <a:solidFill>
                  <a:schemeClr val="accent2"/>
                </a:solidFill>
                <a:effectLst/>
                <a:latin typeface="Open Sans" panose="020B0606030504020204" pitchFamily="34" charset="0"/>
              </a:rPr>
              <a:t>), and at the same time decoupling elements</a:t>
            </a:r>
            <a:r>
              <a:rPr lang="en-US" b="0" i="0" dirty="0">
                <a:solidFill>
                  <a:schemeClr val="accent2"/>
                </a:solidFill>
                <a:effectLst/>
                <a:latin typeface="Open Sans" panose="020B0606030504020204" pitchFamily="34" charset="0"/>
              </a:rPr>
              <a:t>. </a:t>
            </a:r>
            <a:r>
              <a:rPr lang="en-US" b="0" i="1" dirty="0">
                <a:solidFill>
                  <a:schemeClr val="accent2"/>
                </a:solidFill>
                <a:effectLst/>
                <a:latin typeface="Open Sans" panose="020B0606030504020204" pitchFamily="34" charset="0"/>
              </a:rPr>
              <a:t>Keep your code clean and simple, so you can easily understand and modify it when required</a:t>
            </a:r>
            <a:r>
              <a:rPr lang="en-US" b="0" i="0" dirty="0">
                <a:solidFill>
                  <a:schemeClr val="accent2"/>
                </a:solidFill>
                <a:effectLst/>
                <a:latin typeface="Open Sans" panose="020B0606030504020204" pitchFamily="34" charset="0"/>
              </a:rPr>
              <a:t> would be the advice of any XP team member.</a:t>
            </a:r>
          </a:p>
        </p:txBody>
      </p:sp>
    </p:spTree>
    <p:extLst>
      <p:ext uri="{BB962C8B-B14F-4D97-AF65-F5344CB8AC3E}">
        <p14:creationId xmlns:p14="http://schemas.microsoft.com/office/powerpoint/2010/main" val="471233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BCFA72-4F92-49EB-B417-A500E67DA589}"/>
              </a:ext>
            </a:extLst>
          </p:cNvPr>
          <p:cNvSpPr txBox="1"/>
          <p:nvPr/>
        </p:nvSpPr>
        <p:spPr>
          <a:xfrm>
            <a:off x="238897" y="222422"/>
            <a:ext cx="11582400" cy="5078313"/>
          </a:xfrm>
          <a:prstGeom prst="rect">
            <a:avLst/>
          </a:prstGeom>
          <a:noFill/>
        </p:spPr>
        <p:txBody>
          <a:bodyPr wrap="square">
            <a:spAutoFit/>
          </a:bodyPr>
          <a:lstStyle/>
          <a:p>
            <a:pPr algn="l"/>
            <a:r>
              <a:rPr lang="en-US" b="1" dirty="0">
                <a:solidFill>
                  <a:schemeClr val="accent2"/>
                </a:solidFill>
                <a:effectLst/>
                <a:latin typeface="Proxima Nova"/>
              </a:rPr>
              <a:t>Continuous Integration</a:t>
            </a:r>
          </a:p>
          <a:p>
            <a:pPr algn="l"/>
            <a:r>
              <a:rPr lang="en-US" b="0" i="0" dirty="0">
                <a:solidFill>
                  <a:schemeClr val="accent2"/>
                </a:solidFill>
                <a:effectLst/>
                <a:latin typeface="Open Sans" panose="020B0606030504020204" pitchFamily="34" charset="0"/>
              </a:rPr>
              <a:t>Developers always keep the system fully integrated. XP teams take iterative development to another level because they commit code multiple times a day, which is also called </a:t>
            </a:r>
            <a:r>
              <a:rPr lang="en-US" b="0" i="0" u="none" strike="noStrike" dirty="0">
                <a:solidFill>
                  <a:schemeClr val="accent2"/>
                </a:solidFill>
                <a:effectLst/>
                <a:latin typeface="Open Sans" panose="020B0606030504020204" pitchFamily="34" charset="0"/>
                <a:hlinkClick r:id="rId2">
                  <a:extLst>
                    <a:ext uri="{A12FA001-AC4F-418D-AE19-62706E023703}">
                      <ahyp:hlinkClr xmlns:ahyp="http://schemas.microsoft.com/office/drawing/2018/hyperlinkcolor" val="tx"/>
                    </a:ext>
                  </a:extLst>
                </a:hlinkClick>
              </a:rPr>
              <a:t>continuous delivery</a:t>
            </a:r>
            <a:r>
              <a:rPr lang="en-US" b="0" i="0" dirty="0">
                <a:solidFill>
                  <a:schemeClr val="accent2"/>
                </a:solidFill>
                <a:effectLst/>
                <a:latin typeface="Open Sans" panose="020B0606030504020204" pitchFamily="34" charset="0"/>
              </a:rPr>
              <a:t>. XP practitioners understand the importance of communication. Programmers discuss which parts of the code can be re-used or shared. This way, they know exactly what functionality they need to develop. The policy of shared code helps eliminate integration problems. In addition, automated testing allows developers to detect and fix errors before deployment.</a:t>
            </a:r>
          </a:p>
          <a:p>
            <a:pPr algn="l"/>
            <a:endParaRPr lang="en-US" b="0" i="0" dirty="0">
              <a:solidFill>
                <a:srgbClr val="000000"/>
              </a:solidFill>
              <a:effectLst/>
              <a:latin typeface="Open Sans" panose="020B0606030504020204" pitchFamily="34" charset="0"/>
            </a:endParaRPr>
          </a:p>
          <a:p>
            <a:pPr algn="l"/>
            <a:r>
              <a:rPr lang="en-US" b="1" dirty="0">
                <a:solidFill>
                  <a:schemeClr val="accent2"/>
                </a:solidFill>
                <a:effectLst/>
                <a:latin typeface="Proxima Nova"/>
              </a:rPr>
              <a:t>Small Releases</a:t>
            </a:r>
          </a:p>
          <a:p>
            <a:pPr algn="l"/>
            <a:r>
              <a:rPr lang="en-US" b="0" i="0" dirty="0">
                <a:solidFill>
                  <a:schemeClr val="accent2"/>
                </a:solidFill>
                <a:effectLst/>
                <a:latin typeface="Open Sans" panose="020B0606030504020204" pitchFamily="34" charset="0"/>
              </a:rPr>
              <a:t>This practice suggests releasing the </a:t>
            </a:r>
            <a:r>
              <a:rPr lang="en-US" b="0" i="0" u="none" strike="noStrike" dirty="0">
                <a:solidFill>
                  <a:schemeClr val="accent2"/>
                </a:solidFill>
                <a:effectLst/>
                <a:latin typeface="Open Sans" panose="020B0606030504020204" pitchFamily="34" charset="0"/>
              </a:rPr>
              <a:t>Minimum Viable Product</a:t>
            </a:r>
            <a:r>
              <a:rPr lang="en-US" b="0" i="0" dirty="0">
                <a:solidFill>
                  <a:schemeClr val="accent2"/>
                </a:solidFill>
                <a:effectLst/>
                <a:latin typeface="Open Sans" panose="020B0606030504020204" pitchFamily="34" charset="0"/>
              </a:rPr>
              <a:t> quickly and further developing the product by making small and incremental updates. Small releases allow developers to frequently receive feedback, detect bugs early, and monitor how the product works in production. One of the methods of doing so is the </a:t>
            </a:r>
            <a:r>
              <a:rPr lang="en-US" b="1" i="0" dirty="0">
                <a:solidFill>
                  <a:schemeClr val="accent2"/>
                </a:solidFill>
                <a:effectLst/>
                <a:latin typeface="Open Sans" panose="020B0606030504020204" pitchFamily="34" charset="0"/>
              </a:rPr>
              <a:t>continuous integration practice (CI) </a:t>
            </a:r>
            <a:r>
              <a:rPr lang="en-US" b="0" i="0" dirty="0">
                <a:solidFill>
                  <a:schemeClr val="accent2"/>
                </a:solidFill>
                <a:effectLst/>
                <a:latin typeface="Open Sans" panose="020B0606030504020204" pitchFamily="34" charset="0"/>
              </a:rPr>
              <a:t>we mentioned before.</a:t>
            </a:r>
          </a:p>
          <a:p>
            <a:pPr algn="l"/>
            <a:endParaRPr lang="en-US" b="0" i="0" dirty="0">
              <a:solidFill>
                <a:srgbClr val="000000"/>
              </a:solidFill>
              <a:effectLst/>
              <a:latin typeface="Open Sans" panose="020B0606030504020204" pitchFamily="34" charset="0"/>
            </a:endParaRPr>
          </a:p>
          <a:p>
            <a:pPr algn="l"/>
            <a:r>
              <a:rPr lang="en-US" b="1" dirty="0">
                <a:solidFill>
                  <a:schemeClr val="accent1">
                    <a:lumMod val="50000"/>
                  </a:schemeClr>
                </a:solidFill>
                <a:effectLst/>
                <a:latin typeface="Proxima Nova"/>
              </a:rPr>
              <a:t>Simple Design</a:t>
            </a:r>
          </a:p>
          <a:p>
            <a:pPr algn="l"/>
            <a:r>
              <a:rPr lang="en-US" b="0" i="0" dirty="0">
                <a:solidFill>
                  <a:schemeClr val="accent1">
                    <a:lumMod val="50000"/>
                  </a:schemeClr>
                </a:solidFill>
                <a:effectLst/>
                <a:latin typeface="Open Sans" panose="020B0606030504020204" pitchFamily="34" charset="0"/>
              </a:rPr>
              <a:t>The best design for software is the simplest one that works. If any complexity is found, it should be removed. The right design should pass all tests, have no duplicate code, and contain the fewest possible methods and classes. It should also clearly reflect the programmer’s intent.</a:t>
            </a:r>
          </a:p>
        </p:txBody>
      </p:sp>
    </p:spTree>
    <p:extLst>
      <p:ext uri="{BB962C8B-B14F-4D97-AF65-F5344CB8AC3E}">
        <p14:creationId xmlns:p14="http://schemas.microsoft.com/office/powerpoint/2010/main" val="3324576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8B5EEC-58F6-4816-BF5B-FC71EAC39656}"/>
              </a:ext>
            </a:extLst>
          </p:cNvPr>
          <p:cNvSpPr txBox="1"/>
          <p:nvPr/>
        </p:nvSpPr>
        <p:spPr>
          <a:xfrm>
            <a:off x="214184" y="82378"/>
            <a:ext cx="11977816" cy="6740307"/>
          </a:xfrm>
          <a:prstGeom prst="rect">
            <a:avLst/>
          </a:prstGeom>
          <a:noFill/>
        </p:spPr>
        <p:txBody>
          <a:bodyPr wrap="square">
            <a:spAutoFit/>
          </a:bodyPr>
          <a:lstStyle/>
          <a:p>
            <a:pPr algn="l"/>
            <a:r>
              <a:rPr lang="en-US" b="1" dirty="0">
                <a:solidFill>
                  <a:schemeClr val="accent1">
                    <a:lumMod val="50000"/>
                  </a:schemeClr>
                </a:solidFill>
                <a:effectLst/>
                <a:latin typeface="Proxima Nova"/>
              </a:rPr>
              <a:t>Coding Standards</a:t>
            </a:r>
          </a:p>
          <a:p>
            <a:pPr algn="l"/>
            <a:r>
              <a:rPr lang="en-US" b="0" i="0" dirty="0">
                <a:solidFill>
                  <a:schemeClr val="accent1">
                    <a:lumMod val="50000"/>
                  </a:schemeClr>
                </a:solidFill>
                <a:effectLst/>
                <a:latin typeface="Open Sans" panose="020B0606030504020204" pitchFamily="34" charset="0"/>
              </a:rPr>
              <a:t>A team must have common sets of coding practices, using the </a:t>
            </a:r>
            <a:r>
              <a:rPr lang="en-US" b="1" i="0" dirty="0">
                <a:solidFill>
                  <a:schemeClr val="accent1">
                    <a:lumMod val="50000"/>
                  </a:schemeClr>
                </a:solidFill>
                <a:effectLst/>
                <a:latin typeface="Open Sans" panose="020B0606030504020204" pitchFamily="34" charset="0"/>
              </a:rPr>
              <a:t>same formats and styles for code writing</a:t>
            </a:r>
            <a:r>
              <a:rPr lang="en-US" b="0" i="0" dirty="0">
                <a:solidFill>
                  <a:schemeClr val="accent1">
                    <a:lumMod val="50000"/>
                  </a:schemeClr>
                </a:solidFill>
                <a:effectLst/>
                <a:latin typeface="Open Sans" panose="020B0606030504020204" pitchFamily="34" charset="0"/>
              </a:rPr>
              <a:t>. Application of standards allows all team members to </a:t>
            </a:r>
            <a:r>
              <a:rPr lang="en-US" b="1" i="0" dirty="0">
                <a:solidFill>
                  <a:schemeClr val="accent1">
                    <a:lumMod val="50000"/>
                  </a:schemeClr>
                </a:solidFill>
                <a:effectLst/>
                <a:latin typeface="Open Sans" panose="020B0606030504020204" pitchFamily="34" charset="0"/>
              </a:rPr>
              <a:t>read, share, and refactor code with ease</a:t>
            </a:r>
            <a:r>
              <a:rPr lang="en-US" b="0" i="0" dirty="0">
                <a:solidFill>
                  <a:schemeClr val="accent1">
                    <a:lumMod val="50000"/>
                  </a:schemeClr>
                </a:solidFill>
                <a:effectLst/>
                <a:latin typeface="Open Sans" panose="020B0606030504020204" pitchFamily="34" charset="0"/>
              </a:rPr>
              <a:t>, track who worked on certain pieces of code, as well as make the learning faster for other programmers. Code written according to the same rules encourages collective ownership.</a:t>
            </a:r>
          </a:p>
          <a:p>
            <a:pPr algn="l"/>
            <a:endParaRPr lang="en-US" b="0" i="0" dirty="0">
              <a:solidFill>
                <a:schemeClr val="accent1">
                  <a:lumMod val="50000"/>
                </a:schemeClr>
              </a:solidFill>
              <a:effectLst/>
              <a:latin typeface="Open Sans" panose="020B0606030504020204" pitchFamily="34" charset="0"/>
            </a:endParaRPr>
          </a:p>
          <a:p>
            <a:pPr algn="l"/>
            <a:r>
              <a:rPr lang="en-US" b="1" dirty="0">
                <a:solidFill>
                  <a:schemeClr val="accent1">
                    <a:lumMod val="50000"/>
                  </a:schemeClr>
                </a:solidFill>
                <a:effectLst/>
                <a:latin typeface="Proxima Nova"/>
              </a:rPr>
              <a:t>Collective Code Ownership</a:t>
            </a:r>
          </a:p>
          <a:p>
            <a:pPr algn="l"/>
            <a:r>
              <a:rPr lang="en-US" b="0" i="0" dirty="0">
                <a:solidFill>
                  <a:schemeClr val="accent1">
                    <a:lumMod val="50000"/>
                  </a:schemeClr>
                </a:solidFill>
                <a:effectLst/>
                <a:latin typeface="Open Sans" panose="020B0606030504020204" pitchFamily="34" charset="0"/>
              </a:rPr>
              <a:t>This practice declares a whole team’s responsibility for the design of a system. </a:t>
            </a:r>
            <a:r>
              <a:rPr lang="en-US" b="1" i="0" dirty="0">
                <a:solidFill>
                  <a:schemeClr val="accent1">
                    <a:lumMod val="50000"/>
                  </a:schemeClr>
                </a:solidFill>
                <a:effectLst/>
                <a:latin typeface="Open Sans" panose="020B0606030504020204" pitchFamily="34" charset="0"/>
              </a:rPr>
              <a:t>Each team member can review and update code. Developers that have access to code won’t get into a situation in which they don’t know the right place to add a new feature</a:t>
            </a:r>
            <a:r>
              <a:rPr lang="en-US" b="0" i="0" dirty="0">
                <a:solidFill>
                  <a:schemeClr val="accent1">
                    <a:lumMod val="50000"/>
                  </a:schemeClr>
                </a:solidFill>
                <a:effectLst/>
                <a:latin typeface="Open Sans" panose="020B0606030504020204" pitchFamily="34" charset="0"/>
              </a:rPr>
              <a:t>. The practice helps avoid code duplication. The implementation of collective code ownership encourages the team to cooperate more and feel free to bring new ideas.</a:t>
            </a:r>
          </a:p>
          <a:p>
            <a:pPr algn="l"/>
            <a:endParaRPr lang="en-US" b="0" i="0" dirty="0">
              <a:solidFill>
                <a:schemeClr val="accent1">
                  <a:lumMod val="50000"/>
                </a:schemeClr>
              </a:solidFill>
              <a:effectLst/>
              <a:latin typeface="Open Sans" panose="020B0606030504020204" pitchFamily="34" charset="0"/>
            </a:endParaRPr>
          </a:p>
          <a:p>
            <a:pPr algn="l"/>
            <a:r>
              <a:rPr lang="en-US" b="1" dirty="0">
                <a:solidFill>
                  <a:schemeClr val="accent1">
                    <a:lumMod val="50000"/>
                  </a:schemeClr>
                </a:solidFill>
                <a:effectLst/>
                <a:latin typeface="Proxima Nova"/>
              </a:rPr>
              <a:t>System Metaphor</a:t>
            </a:r>
          </a:p>
          <a:p>
            <a:pPr algn="l"/>
            <a:r>
              <a:rPr lang="en-US" b="0" i="0" dirty="0">
                <a:solidFill>
                  <a:schemeClr val="accent1">
                    <a:lumMod val="50000"/>
                  </a:schemeClr>
                </a:solidFill>
                <a:effectLst/>
                <a:latin typeface="Open Sans" panose="020B0606030504020204" pitchFamily="34" charset="0"/>
              </a:rPr>
              <a:t>System metaphor(</a:t>
            </a:r>
            <a:r>
              <a:rPr lang="en-US" b="1" i="0" dirty="0">
                <a:solidFill>
                  <a:schemeClr val="accent1">
                    <a:lumMod val="50000"/>
                  </a:schemeClr>
                </a:solidFill>
                <a:effectLst/>
                <a:latin typeface="Open Sans" panose="020B0606030504020204" pitchFamily="34" charset="0"/>
              </a:rPr>
              <a:t>Representation</a:t>
            </a:r>
            <a:r>
              <a:rPr lang="en-US" b="0" i="0" dirty="0">
                <a:solidFill>
                  <a:schemeClr val="accent1">
                    <a:lumMod val="50000"/>
                  </a:schemeClr>
                </a:solidFill>
                <a:effectLst/>
                <a:latin typeface="Open Sans" panose="020B0606030504020204" pitchFamily="34" charset="0"/>
              </a:rPr>
              <a:t>) stands for a simple design that has a set of certain qualities. First, a design and its structure must be understandable to new people. </a:t>
            </a:r>
            <a:r>
              <a:rPr lang="en-US" b="1" i="0" dirty="0">
                <a:solidFill>
                  <a:schemeClr val="accent1">
                    <a:lumMod val="50000"/>
                  </a:schemeClr>
                </a:solidFill>
                <a:effectLst/>
                <a:latin typeface="Open Sans" panose="020B0606030504020204" pitchFamily="34" charset="0"/>
              </a:rPr>
              <a:t>They should be able to start working on it without spending too much time examining specifications</a:t>
            </a:r>
            <a:r>
              <a:rPr lang="en-US" b="0" i="0" dirty="0">
                <a:solidFill>
                  <a:schemeClr val="accent1">
                    <a:lumMod val="50000"/>
                  </a:schemeClr>
                </a:solidFill>
                <a:effectLst/>
                <a:latin typeface="Open Sans" panose="020B0606030504020204" pitchFamily="34" charset="0"/>
              </a:rPr>
              <a:t>. Second, the </a:t>
            </a:r>
            <a:r>
              <a:rPr lang="en-US" b="1" i="0" dirty="0">
                <a:solidFill>
                  <a:schemeClr val="accent1">
                    <a:lumMod val="50000"/>
                  </a:schemeClr>
                </a:solidFill>
                <a:effectLst/>
                <a:latin typeface="Open Sans" panose="020B0606030504020204" pitchFamily="34" charset="0"/>
              </a:rPr>
              <a:t>naming of classes and methods should be coherent. </a:t>
            </a:r>
            <a:r>
              <a:rPr lang="en-US" b="0" i="0" dirty="0">
                <a:solidFill>
                  <a:schemeClr val="accent1">
                    <a:lumMod val="50000"/>
                  </a:schemeClr>
                </a:solidFill>
                <a:effectLst/>
                <a:latin typeface="Open Sans" panose="020B0606030504020204" pitchFamily="34" charset="0"/>
              </a:rPr>
              <a:t>Developers should aim at naming an object as if it already existed, which makes the overall system design understandable.</a:t>
            </a:r>
          </a:p>
          <a:p>
            <a:pPr algn="l"/>
            <a:endParaRPr lang="en-US" b="0" i="0" dirty="0">
              <a:solidFill>
                <a:schemeClr val="accent1">
                  <a:lumMod val="50000"/>
                </a:schemeClr>
              </a:solidFill>
              <a:effectLst/>
              <a:latin typeface="Open Sans" panose="020B0606030504020204" pitchFamily="34" charset="0"/>
            </a:endParaRPr>
          </a:p>
          <a:p>
            <a:pPr algn="l"/>
            <a:r>
              <a:rPr lang="en-US" b="1" dirty="0">
                <a:solidFill>
                  <a:schemeClr val="accent1">
                    <a:lumMod val="50000"/>
                  </a:schemeClr>
                </a:solidFill>
                <a:effectLst/>
                <a:latin typeface="Proxima Nova"/>
              </a:rPr>
              <a:t>40-Hour Week</a:t>
            </a:r>
          </a:p>
          <a:p>
            <a:pPr algn="l"/>
            <a:r>
              <a:rPr lang="en-US" b="0" i="0" dirty="0">
                <a:solidFill>
                  <a:schemeClr val="accent1">
                    <a:lumMod val="50000"/>
                  </a:schemeClr>
                </a:solidFill>
                <a:effectLst/>
                <a:latin typeface="Open Sans" panose="020B0606030504020204" pitchFamily="34" charset="0"/>
              </a:rPr>
              <a:t>XP projects require developers to </a:t>
            </a:r>
            <a:r>
              <a:rPr lang="en-US" b="1" i="0" dirty="0">
                <a:solidFill>
                  <a:schemeClr val="accent1">
                    <a:lumMod val="50000"/>
                  </a:schemeClr>
                </a:solidFill>
                <a:effectLst/>
                <a:latin typeface="Open Sans" panose="020B0606030504020204" pitchFamily="34" charset="0"/>
              </a:rPr>
              <a:t>work fast, be efficient</a:t>
            </a:r>
            <a:r>
              <a:rPr lang="en-US" b="0" i="0" dirty="0">
                <a:solidFill>
                  <a:schemeClr val="accent1">
                    <a:lumMod val="50000"/>
                  </a:schemeClr>
                </a:solidFill>
                <a:effectLst/>
                <a:latin typeface="Open Sans" panose="020B0606030504020204" pitchFamily="34" charset="0"/>
              </a:rPr>
              <a:t>, and sustain the product’s quality. To adhere to these requirements, they should feel well and rested. Keeping the work-life balance prevents professionals from burnout. In XP, </a:t>
            </a:r>
            <a:r>
              <a:rPr lang="en-US" b="1" i="0" dirty="0">
                <a:solidFill>
                  <a:schemeClr val="accent1">
                    <a:lumMod val="50000"/>
                  </a:schemeClr>
                </a:solidFill>
                <a:effectLst/>
                <a:latin typeface="Open Sans" panose="020B0606030504020204" pitchFamily="34" charset="0"/>
              </a:rPr>
              <a:t>the optimal number of work hours must not exceed 45 hours a week</a:t>
            </a:r>
            <a:r>
              <a:rPr lang="en-US" b="0" i="0" dirty="0">
                <a:solidFill>
                  <a:schemeClr val="accent1">
                    <a:lumMod val="50000"/>
                  </a:schemeClr>
                </a:solidFill>
                <a:effectLst/>
                <a:latin typeface="Open Sans" panose="020B0606030504020204" pitchFamily="34" charset="0"/>
              </a:rPr>
              <a:t>. </a:t>
            </a:r>
          </a:p>
        </p:txBody>
      </p:sp>
    </p:spTree>
    <p:extLst>
      <p:ext uri="{BB962C8B-B14F-4D97-AF65-F5344CB8AC3E}">
        <p14:creationId xmlns:p14="http://schemas.microsoft.com/office/powerpoint/2010/main" val="258950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extreme programming practices">
            <a:extLst>
              <a:ext uri="{FF2B5EF4-FFF2-40B4-BE49-F238E27FC236}">
                <a16:creationId xmlns:a16="http://schemas.microsoft.com/office/drawing/2014/main" id="{20A1D7EF-42E8-4C1C-85C1-C27539B031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8302" y="1116418"/>
            <a:ext cx="8875396" cy="4897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7315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D41907-8104-4FDB-9606-49C9136A9095}"/>
              </a:ext>
            </a:extLst>
          </p:cNvPr>
          <p:cNvSpPr txBox="1"/>
          <p:nvPr/>
        </p:nvSpPr>
        <p:spPr>
          <a:xfrm>
            <a:off x="57665" y="0"/>
            <a:ext cx="11953360" cy="369332"/>
          </a:xfrm>
          <a:prstGeom prst="rect">
            <a:avLst/>
          </a:prstGeom>
          <a:noFill/>
        </p:spPr>
        <p:txBody>
          <a:bodyPr wrap="square">
            <a:spAutoFit/>
          </a:bodyPr>
          <a:lstStyle/>
          <a:p>
            <a:pPr algn="l"/>
            <a:r>
              <a:rPr lang="en-US" b="1" dirty="0">
                <a:solidFill>
                  <a:srgbClr val="000000"/>
                </a:solidFill>
                <a:effectLst/>
                <a:latin typeface="Proxima Nova"/>
              </a:rPr>
              <a:t>Advantages and disadvantages of XP</a:t>
            </a:r>
          </a:p>
        </p:txBody>
      </p:sp>
      <p:pic>
        <p:nvPicPr>
          <p:cNvPr id="4100" name="Picture 4" descr="XP advantages and disadvantages">
            <a:extLst>
              <a:ext uri="{FF2B5EF4-FFF2-40B4-BE49-F238E27FC236}">
                <a16:creationId xmlns:a16="http://schemas.microsoft.com/office/drawing/2014/main" id="{46846D42-C6E7-4588-85C5-1A188519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9705" y="1478658"/>
            <a:ext cx="8286750" cy="485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7766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4039F7-BBFA-4491-BE82-5C59FEB44650}"/>
              </a:ext>
            </a:extLst>
          </p:cNvPr>
          <p:cNvPicPr>
            <a:picLocks noChangeAspect="1"/>
          </p:cNvPicPr>
          <p:nvPr/>
        </p:nvPicPr>
        <p:blipFill>
          <a:blip r:embed="rId2"/>
          <a:stretch>
            <a:fillRect/>
          </a:stretch>
        </p:blipFill>
        <p:spPr>
          <a:xfrm>
            <a:off x="1781175" y="1238250"/>
            <a:ext cx="8248650" cy="4000500"/>
          </a:xfrm>
          <a:prstGeom prst="rect">
            <a:avLst/>
          </a:prstGeom>
        </p:spPr>
      </p:pic>
      <p:pic>
        <p:nvPicPr>
          <p:cNvPr id="7" name="Picture 6">
            <a:extLst>
              <a:ext uri="{FF2B5EF4-FFF2-40B4-BE49-F238E27FC236}">
                <a16:creationId xmlns:a16="http://schemas.microsoft.com/office/drawing/2014/main" id="{9CB98C11-361D-45D0-830D-9BB40152967D}"/>
              </a:ext>
            </a:extLst>
          </p:cNvPr>
          <p:cNvPicPr>
            <a:picLocks noChangeAspect="1"/>
          </p:cNvPicPr>
          <p:nvPr/>
        </p:nvPicPr>
        <p:blipFill>
          <a:blip r:embed="rId3"/>
          <a:stretch>
            <a:fillRect/>
          </a:stretch>
        </p:blipFill>
        <p:spPr>
          <a:xfrm>
            <a:off x="0" y="-7391"/>
            <a:ext cx="12192000" cy="6984965"/>
          </a:xfrm>
          <a:prstGeom prst="rect">
            <a:avLst/>
          </a:prstGeom>
        </p:spPr>
      </p:pic>
    </p:spTree>
    <p:extLst>
      <p:ext uri="{BB962C8B-B14F-4D97-AF65-F5344CB8AC3E}">
        <p14:creationId xmlns:p14="http://schemas.microsoft.com/office/powerpoint/2010/main" val="3887654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C919C2-0810-452D-B1C3-40F631562425}"/>
              </a:ext>
            </a:extLst>
          </p:cNvPr>
          <p:cNvSpPr txBox="1"/>
          <p:nvPr/>
        </p:nvSpPr>
        <p:spPr>
          <a:xfrm>
            <a:off x="190500" y="219074"/>
            <a:ext cx="11830050" cy="4247317"/>
          </a:xfrm>
          <a:prstGeom prst="rect">
            <a:avLst/>
          </a:prstGeom>
          <a:noFill/>
        </p:spPr>
        <p:txBody>
          <a:bodyPr wrap="square">
            <a:spAutoFit/>
          </a:bodyPr>
          <a:lstStyle/>
          <a:p>
            <a:pPr algn="l"/>
            <a:r>
              <a:rPr lang="en-US" b="1" dirty="0">
                <a:solidFill>
                  <a:srgbClr val="000000"/>
                </a:solidFill>
                <a:effectLst/>
                <a:latin typeface="Proxima Nova"/>
              </a:rPr>
              <a:t>Extreme programming vs Scrum</a:t>
            </a:r>
          </a:p>
          <a:p>
            <a:pPr algn="l"/>
            <a:endParaRPr lang="en-US" b="1" dirty="0">
              <a:solidFill>
                <a:srgbClr val="000000"/>
              </a:solidFill>
              <a:latin typeface="Proxima Nova"/>
            </a:endParaRPr>
          </a:p>
          <a:p>
            <a:pPr algn="l"/>
            <a:endParaRPr lang="en-US" b="1" dirty="0">
              <a:solidFill>
                <a:srgbClr val="000000"/>
              </a:solidFill>
              <a:effectLst/>
              <a:latin typeface="Proxima Nova"/>
            </a:endParaRPr>
          </a:p>
          <a:p>
            <a:pPr algn="l"/>
            <a:r>
              <a:rPr lang="en-US" b="0" i="0" u="none" strike="noStrike" dirty="0">
                <a:solidFill>
                  <a:srgbClr val="00C0EB"/>
                </a:solidFill>
                <a:effectLst/>
                <a:latin typeface="Open Sans" panose="020B0606030504020204" pitchFamily="34" charset="0"/>
                <a:hlinkClick r:id="rId2"/>
              </a:rPr>
              <a:t>Scrum</a:t>
            </a:r>
            <a:r>
              <a:rPr lang="en-US" b="0" i="0" dirty="0">
                <a:solidFill>
                  <a:srgbClr val="000000"/>
                </a:solidFill>
                <a:effectLst/>
                <a:latin typeface="Open Sans" panose="020B0606030504020204" pitchFamily="34" charset="0"/>
              </a:rPr>
              <a:t> is commonly associated with self-organizing teams. It also usually has sprints that are 2 to 4 weeks long, while XP iterations are shorter, taking 1 to 2 weeks. </a:t>
            </a:r>
          </a:p>
          <a:p>
            <a:pPr algn="l"/>
            <a:endParaRPr lang="en-US" dirty="0">
              <a:solidFill>
                <a:srgbClr val="000000"/>
              </a:solidFill>
              <a:latin typeface="Open Sans" panose="020B0606030504020204" pitchFamily="34" charset="0"/>
            </a:endParaRPr>
          </a:p>
          <a:p>
            <a:pPr algn="l"/>
            <a:r>
              <a:rPr lang="en-US" b="0" i="0" dirty="0">
                <a:solidFill>
                  <a:srgbClr val="FF0000"/>
                </a:solidFill>
                <a:effectLst/>
                <a:latin typeface="Open Sans" panose="020B0606030504020204" pitchFamily="34" charset="0"/>
              </a:rPr>
              <a:t>Besides, XP is much more flexible with possible changes within iterations, while Scrum doesn’t allow any modifications after the sprint backlog is set. </a:t>
            </a:r>
          </a:p>
          <a:p>
            <a:pPr algn="l"/>
            <a:endParaRPr lang="en-US" dirty="0">
              <a:solidFill>
                <a:srgbClr val="000000"/>
              </a:solidFill>
              <a:latin typeface="Open Sans" panose="020B0606030504020204" pitchFamily="34" charset="0"/>
            </a:endParaRPr>
          </a:p>
          <a:p>
            <a:pPr algn="l"/>
            <a:r>
              <a:rPr lang="en-US" b="0" i="0" dirty="0">
                <a:solidFill>
                  <a:srgbClr val="00B050"/>
                </a:solidFill>
                <a:effectLst/>
                <a:latin typeface="Open Sans" panose="020B0606030504020204" pitchFamily="34" charset="0"/>
              </a:rPr>
              <a:t>Another difference is that in XP the customer prioritizes features and decides on the order of their development, but in Scrum the team itself determines what to work on first.</a:t>
            </a:r>
          </a:p>
          <a:p>
            <a:pPr algn="l"/>
            <a:endParaRPr lang="en-US" b="0" i="0" dirty="0">
              <a:solidFill>
                <a:srgbClr val="000000"/>
              </a:solidFill>
              <a:effectLst/>
              <a:latin typeface="Open Sans" panose="020B0606030504020204" pitchFamily="34" charset="0"/>
            </a:endParaRPr>
          </a:p>
          <a:p>
            <a:pPr algn="l"/>
            <a:r>
              <a:rPr lang="en-US" b="0" i="0" dirty="0">
                <a:solidFill>
                  <a:srgbClr val="7030A0"/>
                </a:solidFill>
                <a:effectLst/>
                <a:latin typeface="Open Sans" panose="020B0606030504020204" pitchFamily="34" charset="0"/>
              </a:rPr>
              <a:t>Scrum’s main roles are Product Owner, Scrum Master, and Scrum Team, which are different from those in XP.</a:t>
            </a:r>
          </a:p>
          <a:p>
            <a:pPr algn="l"/>
            <a:endParaRPr lang="en-US" b="0" i="0" dirty="0">
              <a:solidFill>
                <a:srgbClr val="000000"/>
              </a:solidFill>
              <a:effectLst/>
              <a:latin typeface="Open Sans" panose="020B0606030504020204" pitchFamily="34" charset="0"/>
            </a:endParaRPr>
          </a:p>
          <a:p>
            <a:pPr algn="l"/>
            <a:endParaRPr lang="en-US" dirty="0">
              <a:solidFill>
                <a:srgbClr val="000000"/>
              </a:solidFill>
              <a:latin typeface="Open Sans" panose="020B0606030504020204" pitchFamily="34" charset="0"/>
            </a:endParaRPr>
          </a:p>
        </p:txBody>
      </p:sp>
    </p:spTree>
    <p:extLst>
      <p:ext uri="{BB962C8B-B14F-4D97-AF65-F5344CB8AC3E}">
        <p14:creationId xmlns:p14="http://schemas.microsoft.com/office/powerpoint/2010/main" val="582045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9926BD-8BAC-45FA-8F0D-78C584AF04EC}"/>
              </a:ext>
            </a:extLst>
          </p:cNvPr>
          <p:cNvSpPr txBox="1"/>
          <p:nvPr/>
        </p:nvSpPr>
        <p:spPr>
          <a:xfrm>
            <a:off x="349923" y="362518"/>
            <a:ext cx="11646459" cy="5909310"/>
          </a:xfrm>
          <a:prstGeom prst="rect">
            <a:avLst/>
          </a:prstGeom>
          <a:noFill/>
        </p:spPr>
        <p:txBody>
          <a:bodyPr wrap="square">
            <a:spAutoFit/>
          </a:bodyPr>
          <a:lstStyle/>
          <a:p>
            <a:pPr algn="l"/>
            <a:r>
              <a:rPr lang="en-US" b="1" dirty="0">
                <a:solidFill>
                  <a:srgbClr val="000000"/>
                </a:solidFill>
                <a:effectLst/>
                <a:latin typeface="Proxima Nova"/>
              </a:rPr>
              <a:t>When to use XP</a:t>
            </a:r>
          </a:p>
          <a:p>
            <a:pPr algn="l"/>
            <a:endParaRPr lang="en-US" b="0" dirty="0">
              <a:solidFill>
                <a:srgbClr val="000000"/>
              </a:solidFill>
              <a:effectLst/>
              <a:latin typeface="Proxima Nova"/>
            </a:endParaRPr>
          </a:p>
          <a:p>
            <a:pPr algn="l"/>
            <a:r>
              <a:rPr lang="en-US" b="0" i="0" dirty="0">
                <a:solidFill>
                  <a:srgbClr val="000000"/>
                </a:solidFill>
                <a:effectLst/>
                <a:latin typeface="Open Sans" panose="020B0606030504020204" pitchFamily="34" charset="0"/>
              </a:rPr>
              <a:t>Now that we discussed the XP methodology pros and cons and identified its place among other agile frameworks, we can talk about the cases when it’s applicable. It’s important to make sure a company’s size, structure, and expertise, as well as the staff’s knowledge base allow for applying XP practices. These are the factors to consider.</a:t>
            </a:r>
          </a:p>
          <a:p>
            <a:pPr algn="l"/>
            <a:endParaRPr lang="en-US" b="0" i="0" dirty="0">
              <a:solidFill>
                <a:srgbClr val="000000"/>
              </a:solidFill>
              <a:effectLst/>
              <a:latin typeface="Open Sans" panose="020B0606030504020204" pitchFamily="34" charset="0"/>
            </a:endParaRPr>
          </a:p>
          <a:p>
            <a:pPr algn="l"/>
            <a:r>
              <a:rPr lang="en-US" b="1" i="0" dirty="0">
                <a:solidFill>
                  <a:srgbClr val="000000"/>
                </a:solidFill>
                <a:effectLst/>
                <a:latin typeface="Open Sans" panose="020B0606030504020204" pitchFamily="34" charset="0"/>
              </a:rPr>
              <a:t>Highly-adaptive development.</a:t>
            </a:r>
            <a:r>
              <a:rPr lang="en-US" b="0" i="0" dirty="0">
                <a:solidFill>
                  <a:srgbClr val="000000"/>
                </a:solidFill>
                <a:effectLst/>
                <a:latin typeface="Open Sans" panose="020B0606030504020204" pitchFamily="34" charset="0"/>
              </a:rPr>
              <a:t> </a:t>
            </a:r>
            <a:r>
              <a:rPr lang="en-US" b="0" i="0" dirty="0">
                <a:solidFill>
                  <a:srgbClr val="FF0000"/>
                </a:solidFill>
                <a:effectLst/>
                <a:latin typeface="Open Sans" panose="020B0606030504020204" pitchFamily="34" charset="0"/>
              </a:rPr>
              <a:t>Some systems don’t have constant functionality features and implies frequent changes</a:t>
            </a:r>
            <a:r>
              <a:rPr lang="en-US" b="0" i="0" dirty="0">
                <a:solidFill>
                  <a:srgbClr val="000000"/>
                </a:solidFill>
                <a:effectLst/>
                <a:latin typeface="Open Sans" panose="020B0606030504020204" pitchFamily="34" charset="0"/>
              </a:rPr>
              <a:t>. XP was designed to help development teams adapt to fast-changing requirements.</a:t>
            </a:r>
          </a:p>
          <a:p>
            <a:pPr algn="l"/>
            <a:endParaRPr lang="en-US" b="0" i="0" dirty="0">
              <a:solidFill>
                <a:srgbClr val="000000"/>
              </a:solidFill>
              <a:effectLst/>
              <a:latin typeface="Open Sans" panose="020B0606030504020204" pitchFamily="34" charset="0"/>
            </a:endParaRPr>
          </a:p>
          <a:p>
            <a:pPr algn="l"/>
            <a:r>
              <a:rPr lang="en-US" b="1" i="0" dirty="0">
                <a:solidFill>
                  <a:srgbClr val="000000"/>
                </a:solidFill>
                <a:effectLst/>
                <a:latin typeface="Open Sans" panose="020B0606030504020204" pitchFamily="34" charset="0"/>
              </a:rPr>
              <a:t>Risky projects.</a:t>
            </a:r>
            <a:r>
              <a:rPr lang="en-US" b="0" i="0" dirty="0">
                <a:solidFill>
                  <a:srgbClr val="000000"/>
                </a:solidFill>
                <a:effectLst/>
                <a:latin typeface="Open Sans" panose="020B0606030504020204" pitchFamily="34" charset="0"/>
              </a:rPr>
              <a:t> Teams applying </a:t>
            </a:r>
            <a:r>
              <a:rPr lang="en-US" b="0" i="0" dirty="0">
                <a:solidFill>
                  <a:srgbClr val="FF0000"/>
                </a:solidFill>
                <a:effectLst/>
                <a:latin typeface="Open Sans" panose="020B0606030504020204" pitchFamily="34" charset="0"/>
              </a:rPr>
              <a:t>XP practices are more likely to avoid problems connected with working on a new system, especially when a customer sets strict deadlines for a project</a:t>
            </a:r>
            <a:r>
              <a:rPr lang="en-US" b="0" i="0" dirty="0">
                <a:solidFill>
                  <a:srgbClr val="000000"/>
                </a:solidFill>
                <a:effectLst/>
                <a:latin typeface="Open Sans" panose="020B0606030504020204" pitchFamily="34" charset="0"/>
              </a:rPr>
              <a:t>. Additionally, a high level of customer engagement reduces the risk of their not accepting the end product.</a:t>
            </a:r>
          </a:p>
          <a:p>
            <a:pPr algn="l"/>
            <a:endParaRPr lang="en-US" b="0" i="0" dirty="0">
              <a:solidFill>
                <a:srgbClr val="000000"/>
              </a:solidFill>
              <a:effectLst/>
              <a:latin typeface="Open Sans" panose="020B0606030504020204" pitchFamily="34" charset="0"/>
            </a:endParaRPr>
          </a:p>
          <a:p>
            <a:pPr algn="l"/>
            <a:r>
              <a:rPr lang="en-US" b="1" i="0" dirty="0">
                <a:solidFill>
                  <a:srgbClr val="000000"/>
                </a:solidFill>
                <a:effectLst/>
                <a:latin typeface="Open Sans" panose="020B0606030504020204" pitchFamily="34" charset="0"/>
              </a:rPr>
              <a:t>Small teams.</a:t>
            </a:r>
            <a:r>
              <a:rPr lang="en-US" b="0" i="0" dirty="0">
                <a:solidFill>
                  <a:srgbClr val="000000"/>
                </a:solidFill>
                <a:effectLst/>
                <a:latin typeface="Open Sans" panose="020B0606030504020204" pitchFamily="34" charset="0"/>
              </a:rPr>
              <a:t> XP practices are efficient for teams that don’t exceed </a:t>
            </a:r>
            <a:r>
              <a:rPr lang="en-US" b="0" i="0" dirty="0">
                <a:solidFill>
                  <a:srgbClr val="FF0000"/>
                </a:solidFill>
                <a:effectLst/>
                <a:latin typeface="Open Sans" panose="020B0606030504020204" pitchFamily="34" charset="0"/>
              </a:rPr>
              <a:t>12 people</a:t>
            </a:r>
            <a:r>
              <a:rPr lang="en-US" b="0" i="0" dirty="0">
                <a:solidFill>
                  <a:srgbClr val="000000"/>
                </a:solidFill>
                <a:effectLst/>
                <a:latin typeface="Open Sans" panose="020B0606030504020204" pitchFamily="34" charset="0"/>
              </a:rPr>
              <a:t>. Managing such groups is usually easier, communication is more efficient, and it takes less time to conduct meetings and brainstorming sessions.</a:t>
            </a:r>
          </a:p>
          <a:p>
            <a:pPr algn="l"/>
            <a:endParaRPr lang="en-US" dirty="0">
              <a:solidFill>
                <a:srgbClr val="000000"/>
              </a:solidFill>
              <a:latin typeface="Open Sans" panose="020B0606030504020204" pitchFamily="34" charset="0"/>
            </a:endParaRPr>
          </a:p>
          <a:p>
            <a:pPr algn="l"/>
            <a:endParaRPr lang="en-US" b="0" i="0" dirty="0">
              <a:solidFill>
                <a:srgbClr val="000000"/>
              </a:solidFill>
              <a:effectLst/>
              <a:latin typeface="Open Sans" panose="020B0606030504020204" pitchFamily="34" charset="0"/>
            </a:endParaRPr>
          </a:p>
          <a:p>
            <a:pPr algn="l"/>
            <a:r>
              <a:rPr lang="en-US" b="1" i="0" dirty="0">
                <a:solidFill>
                  <a:srgbClr val="000000"/>
                </a:solidFill>
                <a:effectLst/>
                <a:latin typeface="Open Sans" panose="020B0606030504020204" pitchFamily="34" charset="0"/>
              </a:rPr>
              <a:t>Automated testing.</a:t>
            </a:r>
            <a:r>
              <a:rPr lang="en-US" b="0" i="0" dirty="0">
                <a:solidFill>
                  <a:srgbClr val="000000"/>
                </a:solidFill>
                <a:effectLst/>
                <a:latin typeface="Open Sans" panose="020B0606030504020204" pitchFamily="34" charset="0"/>
              </a:rPr>
              <a:t> Another factor that can influence the choice of XP is the developers’ ability to create and run unit tests, as well as availability of the necessary testing tools.</a:t>
            </a:r>
          </a:p>
        </p:txBody>
      </p:sp>
    </p:spTree>
    <p:extLst>
      <p:ext uri="{BB962C8B-B14F-4D97-AF65-F5344CB8AC3E}">
        <p14:creationId xmlns:p14="http://schemas.microsoft.com/office/powerpoint/2010/main" val="2783595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17B4B4-3571-474C-BE1C-45CF68E8B8FA}"/>
              </a:ext>
            </a:extLst>
          </p:cNvPr>
          <p:cNvSpPr txBox="1"/>
          <p:nvPr/>
        </p:nvSpPr>
        <p:spPr>
          <a:xfrm>
            <a:off x="272955" y="354842"/>
            <a:ext cx="11818961" cy="6093976"/>
          </a:xfrm>
          <a:prstGeom prst="rect">
            <a:avLst/>
          </a:prstGeom>
          <a:noFill/>
        </p:spPr>
        <p:txBody>
          <a:bodyPr wrap="square">
            <a:spAutoFit/>
          </a:bodyPr>
          <a:lstStyle/>
          <a:p>
            <a:pPr algn="l"/>
            <a:r>
              <a:rPr lang="en-US" sz="2000" b="1" i="0" u="none" strike="noStrike" dirty="0">
                <a:effectLst/>
                <a:latin typeface="Times New Roman" panose="02020603050405020304" pitchFamily="18" charset="0"/>
                <a:cs typeface="Times New Roman" panose="02020603050405020304" pitchFamily="18" charset="0"/>
              </a:rPr>
              <a:t>When to use extreme programming</a:t>
            </a:r>
          </a:p>
          <a:p>
            <a:pPr algn="l"/>
            <a:r>
              <a:rPr lang="en-US" sz="2000" b="0" i="0" u="none" strike="noStrike" dirty="0">
                <a:solidFill>
                  <a:srgbClr val="212121"/>
                </a:solidFill>
                <a:effectLst/>
                <a:latin typeface="Times New Roman" panose="02020603050405020304" pitchFamily="18" charset="0"/>
                <a:cs typeface="Times New Roman" panose="02020603050405020304" pitchFamily="18" charset="0"/>
              </a:rPr>
              <a:t>Extreme programming is the most suitable in the following scenarios:</a:t>
            </a:r>
          </a:p>
          <a:p>
            <a:pPr algn="l"/>
            <a:endParaRPr lang="en-US" sz="2000" b="0" i="0" u="none" strike="noStrike" dirty="0">
              <a:solidFill>
                <a:srgbClr val="21212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000" b="0" i="0" u="none" strike="noStrike" dirty="0">
                <a:solidFill>
                  <a:srgbClr val="212121"/>
                </a:solidFill>
                <a:effectLst/>
                <a:latin typeface="Times New Roman" panose="02020603050405020304" pitchFamily="18" charset="0"/>
                <a:cs typeface="Times New Roman" panose="02020603050405020304" pitchFamily="18" charset="0"/>
              </a:rPr>
              <a:t>If the software requirements change frequently</a:t>
            </a:r>
          </a:p>
          <a:p>
            <a:pPr marL="342900" indent="-342900" algn="l">
              <a:buFont typeface="Wingdings" panose="05000000000000000000" pitchFamily="2" charset="2"/>
              <a:buChar char="Ø"/>
            </a:pPr>
            <a:r>
              <a:rPr lang="en-US" sz="2000" b="0" i="0" u="none" strike="noStrike" dirty="0">
                <a:solidFill>
                  <a:srgbClr val="212121"/>
                </a:solidFill>
                <a:effectLst/>
                <a:latin typeface="Times New Roman" panose="02020603050405020304" pitchFamily="18" charset="0"/>
                <a:cs typeface="Times New Roman" panose="02020603050405020304" pitchFamily="18" charset="0"/>
              </a:rPr>
              <a:t>When the system functionality changes within a few months</a:t>
            </a:r>
          </a:p>
          <a:p>
            <a:pPr algn="l"/>
            <a:endParaRPr lang="en-US" sz="2000" dirty="0">
              <a:solidFill>
                <a:srgbClr val="212121"/>
              </a:solidFill>
              <a:latin typeface="Times New Roman" panose="02020603050405020304" pitchFamily="18" charset="0"/>
              <a:cs typeface="Times New Roman" panose="02020603050405020304" pitchFamily="18" charset="0"/>
            </a:endParaRPr>
          </a:p>
          <a:p>
            <a:pPr algn="l"/>
            <a:r>
              <a:rPr lang="en-US" sz="2000" b="0" i="0" u="none" strike="noStrike" dirty="0">
                <a:solidFill>
                  <a:srgbClr val="212121"/>
                </a:solidFill>
                <a:effectLst/>
                <a:latin typeface="Times New Roman" panose="02020603050405020304" pitchFamily="18" charset="0"/>
                <a:cs typeface="Times New Roman" panose="02020603050405020304" pitchFamily="18" charset="0"/>
              </a:rPr>
              <a:t>If the customer requirement is not clear</a:t>
            </a:r>
          </a:p>
          <a:p>
            <a:pPr algn="l"/>
            <a:endParaRPr lang="en-US" sz="2000" b="0" i="0" u="none" strike="noStrike" dirty="0">
              <a:solidFill>
                <a:srgbClr val="212121"/>
              </a:solidFill>
              <a:effectLst/>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Ø"/>
            </a:pPr>
            <a:r>
              <a:rPr lang="en-US" sz="2000" b="0" i="0" u="none" strike="noStrike" dirty="0">
                <a:solidFill>
                  <a:srgbClr val="212121"/>
                </a:solidFill>
                <a:effectLst/>
                <a:latin typeface="Times New Roman" panose="02020603050405020304" pitchFamily="18" charset="0"/>
                <a:cs typeface="Times New Roman" panose="02020603050405020304" pitchFamily="18" charset="0"/>
              </a:rPr>
              <a:t> When mitigating project risk is urgent especially in case of tight deadlines</a:t>
            </a:r>
          </a:p>
          <a:p>
            <a:pPr marL="342900" indent="-342900" algn="l">
              <a:lnSpc>
                <a:spcPct val="150000"/>
              </a:lnSpc>
              <a:buFont typeface="Wingdings" panose="05000000000000000000" pitchFamily="2" charset="2"/>
              <a:buChar char="Ø"/>
            </a:pPr>
            <a:r>
              <a:rPr lang="en-US" sz="2000" b="0" i="0" u="none" strike="noStrike" dirty="0">
                <a:solidFill>
                  <a:srgbClr val="212121"/>
                </a:solidFill>
                <a:effectLst/>
                <a:latin typeface="Times New Roman" panose="02020603050405020304" pitchFamily="18" charset="0"/>
                <a:cs typeface="Times New Roman" panose="02020603050405020304" pitchFamily="18" charset="0"/>
              </a:rPr>
              <a:t> When the number of programmers is limited</a:t>
            </a:r>
          </a:p>
          <a:p>
            <a:pPr marL="342900" indent="-342900" algn="l">
              <a:lnSpc>
                <a:spcPct val="150000"/>
              </a:lnSpc>
              <a:buFont typeface="Wingdings" panose="05000000000000000000" pitchFamily="2" charset="2"/>
              <a:buChar char="Ø"/>
            </a:pPr>
            <a:r>
              <a:rPr lang="en-US" sz="2000" b="0" i="0" u="none" strike="noStrike" dirty="0">
                <a:solidFill>
                  <a:srgbClr val="212121"/>
                </a:solidFill>
                <a:effectLst/>
                <a:latin typeface="Times New Roman" panose="02020603050405020304" pitchFamily="18" charset="0"/>
                <a:cs typeface="Times New Roman" panose="02020603050405020304" pitchFamily="18" charset="0"/>
              </a:rPr>
              <a:t> When automated unit and functional test cases can be created</a:t>
            </a:r>
          </a:p>
          <a:p>
            <a:pPr marL="342900" indent="-342900" algn="l">
              <a:lnSpc>
                <a:spcPct val="150000"/>
              </a:lnSpc>
              <a:buFont typeface="Wingdings" panose="05000000000000000000" pitchFamily="2" charset="2"/>
              <a:buChar char="Ø"/>
            </a:pPr>
            <a:r>
              <a:rPr lang="en-US" sz="2000" b="0" i="0" u="none" strike="noStrike" dirty="0">
                <a:solidFill>
                  <a:srgbClr val="212121"/>
                </a:solidFill>
                <a:effectLst/>
                <a:latin typeface="Times New Roman" panose="02020603050405020304" pitchFamily="18" charset="0"/>
                <a:cs typeface="Times New Roman" panose="02020603050405020304" pitchFamily="18" charset="0"/>
              </a:rPr>
              <a:t> Fixed time project with new technology</a:t>
            </a:r>
          </a:p>
          <a:p>
            <a:pPr marL="342900" indent="-342900" algn="l">
              <a:lnSpc>
                <a:spcPct val="150000"/>
              </a:lnSpc>
              <a:buFont typeface="Wingdings" panose="05000000000000000000" pitchFamily="2" charset="2"/>
              <a:buChar char="Ø"/>
            </a:pPr>
            <a:r>
              <a:rPr lang="en-US" sz="2000" b="0" i="0" u="none" strike="noStrike" dirty="0">
                <a:solidFill>
                  <a:srgbClr val="212121"/>
                </a:solidFill>
                <a:effectLst/>
                <a:latin typeface="Times New Roman" panose="02020603050405020304" pitchFamily="18" charset="0"/>
                <a:cs typeface="Times New Roman" panose="02020603050405020304" pitchFamily="18" charset="0"/>
              </a:rPr>
              <a:t> If continuous development and collaboration are priorities for the team</a:t>
            </a:r>
          </a:p>
          <a:p>
            <a:pPr algn="l"/>
            <a:endParaRPr lang="en-US" sz="2000" b="0" i="0" u="none" strike="noStrike" dirty="0">
              <a:solidFill>
                <a:srgbClr val="212121"/>
              </a:solidFill>
              <a:effectLst/>
              <a:latin typeface="Times New Roman" panose="02020603050405020304" pitchFamily="18" charset="0"/>
              <a:cs typeface="Times New Roman" panose="02020603050405020304" pitchFamily="18" charset="0"/>
            </a:endParaRPr>
          </a:p>
          <a:p>
            <a:pPr algn="l"/>
            <a:r>
              <a:rPr lang="en-US" sz="2000" b="0" i="0" u="none" strike="noStrike" dirty="0">
                <a:solidFill>
                  <a:srgbClr val="212121"/>
                </a:solidFill>
                <a:effectLst/>
                <a:latin typeface="Times New Roman" panose="02020603050405020304" pitchFamily="18" charset="0"/>
                <a:cs typeface="Times New Roman" panose="02020603050405020304" pitchFamily="18" charset="0"/>
              </a:rPr>
              <a:t>How does XP help in the above scenarios? – Since XP is a highly adaptable model, this encourages ongoing feedback from customers, enables developers to work together, and at the same time anticipates the errors along the way. As a result, XP produces better product releases with improved productivity.</a:t>
            </a:r>
          </a:p>
        </p:txBody>
      </p:sp>
    </p:spTree>
    <p:extLst>
      <p:ext uri="{BB962C8B-B14F-4D97-AF65-F5344CB8AC3E}">
        <p14:creationId xmlns:p14="http://schemas.microsoft.com/office/powerpoint/2010/main" val="2958927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1937</Words>
  <Application>Microsoft Office PowerPoint</Application>
  <PresentationFormat>Widescreen</PresentationFormat>
  <Paragraphs>111</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Arial</vt:lpstr>
      <vt:lpstr>Calibri</vt:lpstr>
      <vt:lpstr>Calibri Light</vt:lpstr>
      <vt:lpstr>Open Sans</vt:lpstr>
      <vt:lpstr>Proxima Nova</vt:lpstr>
      <vt:lpstr>Roboto</vt:lpstr>
      <vt:lpstr>Times New Roman</vt:lpstr>
      <vt:lpstr>Wingdings</vt:lpstr>
      <vt:lpstr>Office Theme</vt:lpstr>
      <vt:lpstr>Extreme programming (XP)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SPThota</dc:creator>
  <cp:lastModifiedBy>SAI CHARAN THOTA</cp:lastModifiedBy>
  <cp:revision>11</cp:revision>
  <dcterms:created xsi:type="dcterms:W3CDTF">2021-08-24T15:32:00Z</dcterms:created>
  <dcterms:modified xsi:type="dcterms:W3CDTF">2021-08-25T04:29:55Z</dcterms:modified>
</cp:coreProperties>
</file>