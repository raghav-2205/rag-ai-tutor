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40" r:id="rId2"/>
    <p:sldId id="268" r:id="rId3"/>
    <p:sldId id="339" r:id="rId4"/>
    <p:sldId id="335" r:id="rId5"/>
    <p:sldId id="363" r:id="rId6"/>
    <p:sldId id="295" r:id="rId7"/>
    <p:sldId id="320" r:id="rId8"/>
    <p:sldId id="322" r:id="rId9"/>
    <p:sldId id="323" r:id="rId10"/>
    <p:sldId id="324" r:id="rId11"/>
    <p:sldId id="313" r:id="rId12"/>
    <p:sldId id="296" r:id="rId13"/>
    <p:sldId id="325" r:id="rId14"/>
    <p:sldId id="326" r:id="rId15"/>
    <p:sldId id="341" r:id="rId16"/>
    <p:sldId id="327" r:id="rId17"/>
    <p:sldId id="355" r:id="rId18"/>
    <p:sldId id="277" r:id="rId19"/>
    <p:sldId id="359" r:id="rId20"/>
    <p:sldId id="280" r:id="rId21"/>
    <p:sldId id="278" r:id="rId22"/>
    <p:sldId id="279" r:id="rId23"/>
    <p:sldId id="281" r:id="rId24"/>
    <p:sldId id="328" r:id="rId25"/>
    <p:sldId id="329" r:id="rId26"/>
    <p:sldId id="283" r:id="rId27"/>
    <p:sldId id="330" r:id="rId28"/>
    <p:sldId id="331" r:id="rId29"/>
    <p:sldId id="332" r:id="rId30"/>
    <p:sldId id="317" r:id="rId31"/>
    <p:sldId id="356" r:id="rId32"/>
    <p:sldId id="260" r:id="rId33"/>
    <p:sldId id="358" r:id="rId34"/>
    <p:sldId id="269" r:id="rId35"/>
    <p:sldId id="271" r:id="rId36"/>
    <p:sldId id="272" r:id="rId37"/>
    <p:sldId id="350" r:id="rId38"/>
    <p:sldId id="351" r:id="rId39"/>
    <p:sldId id="352" r:id="rId40"/>
    <p:sldId id="353" r:id="rId41"/>
    <p:sldId id="354" r:id="rId42"/>
    <p:sldId id="344" r:id="rId43"/>
    <p:sldId id="345" r:id="rId44"/>
    <p:sldId id="346" r:id="rId45"/>
    <p:sldId id="347" r:id="rId46"/>
    <p:sldId id="361" r:id="rId47"/>
    <p:sldId id="349" r:id="rId48"/>
    <p:sldId id="360" r:id="rId49"/>
    <p:sldId id="298" r:id="rId50"/>
    <p:sldId id="299" r:id="rId51"/>
    <p:sldId id="316" r:id="rId52"/>
    <p:sldId id="300" r:id="rId53"/>
    <p:sldId id="301" r:id="rId54"/>
    <p:sldId id="262" r:id="rId55"/>
    <p:sldId id="302" r:id="rId56"/>
    <p:sldId id="303" r:id="rId57"/>
    <p:sldId id="304" r:id="rId58"/>
    <p:sldId id="314" r:id="rId59"/>
    <p:sldId id="305" r:id="rId60"/>
    <p:sldId id="263" r:id="rId61"/>
    <p:sldId id="264" r:id="rId62"/>
    <p:sldId id="265" r:id="rId63"/>
    <p:sldId id="336"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4" d="100"/>
          <a:sy n="114" d="100"/>
        </p:scale>
        <p:origin x="47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73EE8-F24E-4BD2-B96D-51376E07FC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0F9F73B-AF08-49AB-927B-9C7DA7EBCD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3044B99-828A-43FA-9205-9B1EB4908236}"/>
              </a:ext>
            </a:extLst>
          </p:cNvPr>
          <p:cNvSpPr>
            <a:spLocks noGrp="1"/>
          </p:cNvSpPr>
          <p:nvPr>
            <p:ph type="dt" sz="half" idx="10"/>
          </p:nvPr>
        </p:nvSpPr>
        <p:spPr/>
        <p:txBody>
          <a:bodyPr/>
          <a:lstStyle/>
          <a:p>
            <a:fld id="{74AABA81-B323-4DF9-B0C5-B7D8A4E5294B}" type="datetimeFigureOut">
              <a:rPr lang="en-IN" smtClean="0"/>
              <a:t>20-08-2021</a:t>
            </a:fld>
            <a:endParaRPr lang="en-IN"/>
          </a:p>
        </p:txBody>
      </p:sp>
      <p:sp>
        <p:nvSpPr>
          <p:cNvPr id="5" name="Footer Placeholder 4">
            <a:extLst>
              <a:ext uri="{FF2B5EF4-FFF2-40B4-BE49-F238E27FC236}">
                <a16:creationId xmlns:a16="http://schemas.microsoft.com/office/drawing/2014/main" id="{BE1979DC-2491-43DA-A72E-E8D1FCD341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4EEBE6-0D34-4415-AA84-C2080C7A2C5B}"/>
              </a:ext>
            </a:extLst>
          </p:cNvPr>
          <p:cNvSpPr>
            <a:spLocks noGrp="1"/>
          </p:cNvSpPr>
          <p:nvPr>
            <p:ph type="sldNum" sz="quarter" idx="12"/>
          </p:nvPr>
        </p:nvSpPr>
        <p:spPr/>
        <p:txBody>
          <a:bodyPr/>
          <a:lstStyle/>
          <a:p>
            <a:fld id="{FE616A95-57EF-4836-8428-5485ABCD6A92}" type="slidenum">
              <a:rPr lang="en-IN" smtClean="0"/>
              <a:t>‹#›</a:t>
            </a:fld>
            <a:endParaRPr lang="en-IN"/>
          </a:p>
        </p:txBody>
      </p:sp>
    </p:spTree>
    <p:extLst>
      <p:ext uri="{BB962C8B-B14F-4D97-AF65-F5344CB8AC3E}">
        <p14:creationId xmlns:p14="http://schemas.microsoft.com/office/powerpoint/2010/main" val="2523135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F6D16-8D27-40A3-AC16-96814863BC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C4EAB03-1E3A-46AC-A2E9-9BD0818A6C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D06408-36AE-4B41-BC1E-381F37170D99}"/>
              </a:ext>
            </a:extLst>
          </p:cNvPr>
          <p:cNvSpPr>
            <a:spLocks noGrp="1"/>
          </p:cNvSpPr>
          <p:nvPr>
            <p:ph type="dt" sz="half" idx="10"/>
          </p:nvPr>
        </p:nvSpPr>
        <p:spPr/>
        <p:txBody>
          <a:bodyPr/>
          <a:lstStyle/>
          <a:p>
            <a:fld id="{74AABA81-B323-4DF9-B0C5-B7D8A4E5294B}" type="datetimeFigureOut">
              <a:rPr lang="en-IN" smtClean="0"/>
              <a:t>20-08-2021</a:t>
            </a:fld>
            <a:endParaRPr lang="en-IN"/>
          </a:p>
        </p:txBody>
      </p:sp>
      <p:sp>
        <p:nvSpPr>
          <p:cNvPr id="5" name="Footer Placeholder 4">
            <a:extLst>
              <a:ext uri="{FF2B5EF4-FFF2-40B4-BE49-F238E27FC236}">
                <a16:creationId xmlns:a16="http://schemas.microsoft.com/office/drawing/2014/main" id="{C991A2C1-E6D0-45FD-9AA9-E402B9084F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7C2AAA-CC46-4413-9FED-237F4F7E45B4}"/>
              </a:ext>
            </a:extLst>
          </p:cNvPr>
          <p:cNvSpPr>
            <a:spLocks noGrp="1"/>
          </p:cNvSpPr>
          <p:nvPr>
            <p:ph type="sldNum" sz="quarter" idx="12"/>
          </p:nvPr>
        </p:nvSpPr>
        <p:spPr/>
        <p:txBody>
          <a:bodyPr/>
          <a:lstStyle/>
          <a:p>
            <a:fld id="{FE616A95-57EF-4836-8428-5485ABCD6A92}" type="slidenum">
              <a:rPr lang="en-IN" smtClean="0"/>
              <a:t>‹#›</a:t>
            </a:fld>
            <a:endParaRPr lang="en-IN"/>
          </a:p>
        </p:txBody>
      </p:sp>
    </p:spTree>
    <p:extLst>
      <p:ext uri="{BB962C8B-B14F-4D97-AF65-F5344CB8AC3E}">
        <p14:creationId xmlns:p14="http://schemas.microsoft.com/office/powerpoint/2010/main" val="1627713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81CA7-0394-43EA-BBBD-34FFB454D2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7D41DF9-8C7F-48ED-B0AB-78846510CC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B87090-A3F0-4BA4-B341-BB1CDAF72D34}"/>
              </a:ext>
            </a:extLst>
          </p:cNvPr>
          <p:cNvSpPr>
            <a:spLocks noGrp="1"/>
          </p:cNvSpPr>
          <p:nvPr>
            <p:ph type="dt" sz="half" idx="10"/>
          </p:nvPr>
        </p:nvSpPr>
        <p:spPr/>
        <p:txBody>
          <a:bodyPr/>
          <a:lstStyle/>
          <a:p>
            <a:fld id="{74AABA81-B323-4DF9-B0C5-B7D8A4E5294B}" type="datetimeFigureOut">
              <a:rPr lang="en-IN" smtClean="0"/>
              <a:t>20-08-2021</a:t>
            </a:fld>
            <a:endParaRPr lang="en-IN"/>
          </a:p>
        </p:txBody>
      </p:sp>
      <p:sp>
        <p:nvSpPr>
          <p:cNvPr id="5" name="Footer Placeholder 4">
            <a:extLst>
              <a:ext uri="{FF2B5EF4-FFF2-40B4-BE49-F238E27FC236}">
                <a16:creationId xmlns:a16="http://schemas.microsoft.com/office/drawing/2014/main" id="{4E98AB9C-1199-40F9-AADD-4FA633BBD3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A2822C-6E30-4FE8-B717-02532EE49C30}"/>
              </a:ext>
            </a:extLst>
          </p:cNvPr>
          <p:cNvSpPr>
            <a:spLocks noGrp="1"/>
          </p:cNvSpPr>
          <p:nvPr>
            <p:ph type="sldNum" sz="quarter" idx="12"/>
          </p:nvPr>
        </p:nvSpPr>
        <p:spPr/>
        <p:txBody>
          <a:bodyPr/>
          <a:lstStyle/>
          <a:p>
            <a:fld id="{FE616A95-57EF-4836-8428-5485ABCD6A92}" type="slidenum">
              <a:rPr lang="en-IN" smtClean="0"/>
              <a:t>‹#›</a:t>
            </a:fld>
            <a:endParaRPr lang="en-IN"/>
          </a:p>
        </p:txBody>
      </p:sp>
    </p:spTree>
    <p:extLst>
      <p:ext uri="{BB962C8B-B14F-4D97-AF65-F5344CB8AC3E}">
        <p14:creationId xmlns:p14="http://schemas.microsoft.com/office/powerpoint/2010/main" val="3612455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0DC4C-84E4-40D9-8228-647CD6E9310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3096FE9-FB85-4820-B3D5-F21B6B11F9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882E5AA-0520-450C-8C2D-8539EAA8FF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1BE06D1-BB51-47DA-8185-1E56B590C3AD}"/>
              </a:ext>
            </a:extLst>
          </p:cNvPr>
          <p:cNvSpPr>
            <a:spLocks noGrp="1"/>
          </p:cNvSpPr>
          <p:nvPr>
            <p:ph type="dt" sz="half" idx="10"/>
          </p:nvPr>
        </p:nvSpPr>
        <p:spPr/>
        <p:txBody>
          <a:bodyPr/>
          <a:lstStyle/>
          <a:p>
            <a:fld id="{74AABA81-B323-4DF9-B0C5-B7D8A4E5294B}" type="datetimeFigureOut">
              <a:rPr lang="en-IN" smtClean="0"/>
              <a:t>20-08-2021</a:t>
            </a:fld>
            <a:endParaRPr lang="en-IN"/>
          </a:p>
        </p:txBody>
      </p:sp>
      <p:sp>
        <p:nvSpPr>
          <p:cNvPr id="6" name="Footer Placeholder 5">
            <a:extLst>
              <a:ext uri="{FF2B5EF4-FFF2-40B4-BE49-F238E27FC236}">
                <a16:creationId xmlns:a16="http://schemas.microsoft.com/office/drawing/2014/main" id="{C07B5B24-1E28-410C-8703-751710204E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7239A9-8D96-441C-91EC-88BE98E7B57C}"/>
              </a:ext>
            </a:extLst>
          </p:cNvPr>
          <p:cNvSpPr>
            <a:spLocks noGrp="1"/>
          </p:cNvSpPr>
          <p:nvPr>
            <p:ph type="sldNum" sz="quarter" idx="12"/>
          </p:nvPr>
        </p:nvSpPr>
        <p:spPr/>
        <p:txBody>
          <a:bodyPr/>
          <a:lstStyle/>
          <a:p>
            <a:fld id="{FE616A95-57EF-4836-8428-5485ABCD6A92}" type="slidenum">
              <a:rPr lang="en-IN" smtClean="0"/>
              <a:t>‹#›</a:t>
            </a:fld>
            <a:endParaRPr lang="en-IN"/>
          </a:p>
        </p:txBody>
      </p:sp>
    </p:spTree>
    <p:extLst>
      <p:ext uri="{BB962C8B-B14F-4D97-AF65-F5344CB8AC3E}">
        <p14:creationId xmlns:p14="http://schemas.microsoft.com/office/powerpoint/2010/main" val="2087690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DDA18-3BC9-4BC6-AA69-993E49F3A48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AB2CAA9-8441-4459-BD24-74D18D855A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77E4D-429E-4692-BA63-03B475B1F7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37C1CF1-3557-4678-809B-8880E1CE7F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59785D-4C17-4F4D-AD3F-5215C38516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65FB851-B758-43A7-BEEB-6108333209AA}"/>
              </a:ext>
            </a:extLst>
          </p:cNvPr>
          <p:cNvSpPr>
            <a:spLocks noGrp="1"/>
          </p:cNvSpPr>
          <p:nvPr>
            <p:ph type="dt" sz="half" idx="10"/>
          </p:nvPr>
        </p:nvSpPr>
        <p:spPr/>
        <p:txBody>
          <a:bodyPr/>
          <a:lstStyle/>
          <a:p>
            <a:fld id="{74AABA81-B323-4DF9-B0C5-B7D8A4E5294B}" type="datetimeFigureOut">
              <a:rPr lang="en-IN" smtClean="0"/>
              <a:t>20-08-2021</a:t>
            </a:fld>
            <a:endParaRPr lang="en-IN"/>
          </a:p>
        </p:txBody>
      </p:sp>
      <p:sp>
        <p:nvSpPr>
          <p:cNvPr id="8" name="Footer Placeholder 7">
            <a:extLst>
              <a:ext uri="{FF2B5EF4-FFF2-40B4-BE49-F238E27FC236}">
                <a16:creationId xmlns:a16="http://schemas.microsoft.com/office/drawing/2014/main" id="{09FE9C4F-1BFC-44BD-A0F6-62EE7EAD809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0330F80-6538-4486-B827-6F5855C82774}"/>
              </a:ext>
            </a:extLst>
          </p:cNvPr>
          <p:cNvSpPr>
            <a:spLocks noGrp="1"/>
          </p:cNvSpPr>
          <p:nvPr>
            <p:ph type="sldNum" sz="quarter" idx="12"/>
          </p:nvPr>
        </p:nvSpPr>
        <p:spPr/>
        <p:txBody>
          <a:bodyPr/>
          <a:lstStyle/>
          <a:p>
            <a:fld id="{FE616A95-57EF-4836-8428-5485ABCD6A92}" type="slidenum">
              <a:rPr lang="en-IN" smtClean="0"/>
              <a:t>‹#›</a:t>
            </a:fld>
            <a:endParaRPr lang="en-IN"/>
          </a:p>
        </p:txBody>
      </p:sp>
    </p:spTree>
    <p:extLst>
      <p:ext uri="{BB962C8B-B14F-4D97-AF65-F5344CB8AC3E}">
        <p14:creationId xmlns:p14="http://schemas.microsoft.com/office/powerpoint/2010/main" val="1574399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6C13B-049C-4495-A05E-A579222F740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72894EB-283C-42EF-A046-8AAB110546DD}"/>
              </a:ext>
            </a:extLst>
          </p:cNvPr>
          <p:cNvSpPr>
            <a:spLocks noGrp="1"/>
          </p:cNvSpPr>
          <p:nvPr>
            <p:ph type="dt" sz="half" idx="10"/>
          </p:nvPr>
        </p:nvSpPr>
        <p:spPr/>
        <p:txBody>
          <a:bodyPr/>
          <a:lstStyle/>
          <a:p>
            <a:fld id="{74AABA81-B323-4DF9-B0C5-B7D8A4E5294B}" type="datetimeFigureOut">
              <a:rPr lang="en-IN" smtClean="0"/>
              <a:t>20-08-2021</a:t>
            </a:fld>
            <a:endParaRPr lang="en-IN"/>
          </a:p>
        </p:txBody>
      </p:sp>
      <p:sp>
        <p:nvSpPr>
          <p:cNvPr id="4" name="Footer Placeholder 3">
            <a:extLst>
              <a:ext uri="{FF2B5EF4-FFF2-40B4-BE49-F238E27FC236}">
                <a16:creationId xmlns:a16="http://schemas.microsoft.com/office/drawing/2014/main" id="{224630BD-859E-4B0E-BEEA-513448F1AA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5FBF81D-989F-4777-83D3-7A2C02422AD7}"/>
              </a:ext>
            </a:extLst>
          </p:cNvPr>
          <p:cNvSpPr>
            <a:spLocks noGrp="1"/>
          </p:cNvSpPr>
          <p:nvPr>
            <p:ph type="sldNum" sz="quarter" idx="12"/>
          </p:nvPr>
        </p:nvSpPr>
        <p:spPr/>
        <p:txBody>
          <a:bodyPr/>
          <a:lstStyle/>
          <a:p>
            <a:fld id="{FE616A95-57EF-4836-8428-5485ABCD6A92}" type="slidenum">
              <a:rPr lang="en-IN" smtClean="0"/>
              <a:t>‹#›</a:t>
            </a:fld>
            <a:endParaRPr lang="en-IN"/>
          </a:p>
        </p:txBody>
      </p:sp>
    </p:spTree>
    <p:extLst>
      <p:ext uri="{BB962C8B-B14F-4D97-AF65-F5344CB8AC3E}">
        <p14:creationId xmlns:p14="http://schemas.microsoft.com/office/powerpoint/2010/main" val="3198347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DACC8E-D1CA-45BF-A5DD-F80CF726151D}"/>
              </a:ext>
            </a:extLst>
          </p:cNvPr>
          <p:cNvSpPr>
            <a:spLocks noGrp="1"/>
          </p:cNvSpPr>
          <p:nvPr>
            <p:ph type="dt" sz="half" idx="10"/>
          </p:nvPr>
        </p:nvSpPr>
        <p:spPr/>
        <p:txBody>
          <a:bodyPr/>
          <a:lstStyle/>
          <a:p>
            <a:fld id="{74AABA81-B323-4DF9-B0C5-B7D8A4E5294B}" type="datetimeFigureOut">
              <a:rPr lang="en-IN" smtClean="0"/>
              <a:t>20-08-2021</a:t>
            </a:fld>
            <a:endParaRPr lang="en-IN"/>
          </a:p>
        </p:txBody>
      </p:sp>
      <p:sp>
        <p:nvSpPr>
          <p:cNvPr id="3" name="Footer Placeholder 2">
            <a:extLst>
              <a:ext uri="{FF2B5EF4-FFF2-40B4-BE49-F238E27FC236}">
                <a16:creationId xmlns:a16="http://schemas.microsoft.com/office/drawing/2014/main" id="{E0FFF054-2304-4334-BCFE-00443761B78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CB4CFC4-5867-4091-A44C-6208F09E56BF}"/>
              </a:ext>
            </a:extLst>
          </p:cNvPr>
          <p:cNvSpPr>
            <a:spLocks noGrp="1"/>
          </p:cNvSpPr>
          <p:nvPr>
            <p:ph type="sldNum" sz="quarter" idx="12"/>
          </p:nvPr>
        </p:nvSpPr>
        <p:spPr/>
        <p:txBody>
          <a:bodyPr/>
          <a:lstStyle/>
          <a:p>
            <a:fld id="{FE616A95-57EF-4836-8428-5485ABCD6A92}" type="slidenum">
              <a:rPr lang="en-IN" smtClean="0"/>
              <a:t>‹#›</a:t>
            </a:fld>
            <a:endParaRPr lang="en-IN"/>
          </a:p>
        </p:txBody>
      </p:sp>
    </p:spTree>
    <p:extLst>
      <p:ext uri="{BB962C8B-B14F-4D97-AF65-F5344CB8AC3E}">
        <p14:creationId xmlns:p14="http://schemas.microsoft.com/office/powerpoint/2010/main" val="3049540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D65F4-D094-4774-BDB1-51A4465118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058A476-10B7-4C14-9601-03E13A4CA2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AB43E8E-C665-420A-B211-0A4886549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DFD546-0D75-4006-A78A-BB7BA6705B83}"/>
              </a:ext>
            </a:extLst>
          </p:cNvPr>
          <p:cNvSpPr>
            <a:spLocks noGrp="1"/>
          </p:cNvSpPr>
          <p:nvPr>
            <p:ph type="dt" sz="half" idx="10"/>
          </p:nvPr>
        </p:nvSpPr>
        <p:spPr/>
        <p:txBody>
          <a:bodyPr/>
          <a:lstStyle/>
          <a:p>
            <a:fld id="{74AABA81-B323-4DF9-B0C5-B7D8A4E5294B}" type="datetimeFigureOut">
              <a:rPr lang="en-IN" smtClean="0"/>
              <a:t>20-08-2021</a:t>
            </a:fld>
            <a:endParaRPr lang="en-IN"/>
          </a:p>
        </p:txBody>
      </p:sp>
      <p:sp>
        <p:nvSpPr>
          <p:cNvPr id="6" name="Footer Placeholder 5">
            <a:extLst>
              <a:ext uri="{FF2B5EF4-FFF2-40B4-BE49-F238E27FC236}">
                <a16:creationId xmlns:a16="http://schemas.microsoft.com/office/drawing/2014/main" id="{9589D135-52B9-4C6A-A228-2DC9E95BE6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BE6466-EF23-4DD2-917B-6F1424965E0A}"/>
              </a:ext>
            </a:extLst>
          </p:cNvPr>
          <p:cNvSpPr>
            <a:spLocks noGrp="1"/>
          </p:cNvSpPr>
          <p:nvPr>
            <p:ph type="sldNum" sz="quarter" idx="12"/>
          </p:nvPr>
        </p:nvSpPr>
        <p:spPr/>
        <p:txBody>
          <a:bodyPr/>
          <a:lstStyle/>
          <a:p>
            <a:fld id="{FE616A95-57EF-4836-8428-5485ABCD6A92}" type="slidenum">
              <a:rPr lang="en-IN" smtClean="0"/>
              <a:t>‹#›</a:t>
            </a:fld>
            <a:endParaRPr lang="en-IN"/>
          </a:p>
        </p:txBody>
      </p:sp>
    </p:spTree>
    <p:extLst>
      <p:ext uri="{BB962C8B-B14F-4D97-AF65-F5344CB8AC3E}">
        <p14:creationId xmlns:p14="http://schemas.microsoft.com/office/powerpoint/2010/main" val="1775988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C9F78-05F9-46E3-BE6F-105315921C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601760E-1327-4FBE-8D5C-0A5A8E80F1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D83B2F1-9410-413C-8823-75DE7E6FAB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6FAC91-8202-4A6B-BD74-AD009612E244}"/>
              </a:ext>
            </a:extLst>
          </p:cNvPr>
          <p:cNvSpPr>
            <a:spLocks noGrp="1"/>
          </p:cNvSpPr>
          <p:nvPr>
            <p:ph type="dt" sz="half" idx="10"/>
          </p:nvPr>
        </p:nvSpPr>
        <p:spPr/>
        <p:txBody>
          <a:bodyPr/>
          <a:lstStyle/>
          <a:p>
            <a:fld id="{74AABA81-B323-4DF9-B0C5-B7D8A4E5294B}" type="datetimeFigureOut">
              <a:rPr lang="en-IN" smtClean="0"/>
              <a:t>20-08-2021</a:t>
            </a:fld>
            <a:endParaRPr lang="en-IN"/>
          </a:p>
        </p:txBody>
      </p:sp>
      <p:sp>
        <p:nvSpPr>
          <p:cNvPr id="6" name="Footer Placeholder 5">
            <a:extLst>
              <a:ext uri="{FF2B5EF4-FFF2-40B4-BE49-F238E27FC236}">
                <a16:creationId xmlns:a16="http://schemas.microsoft.com/office/drawing/2014/main" id="{4083730F-EFD7-43AE-B8D1-4B91696FAF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188C4B-2F9C-4C99-A0C2-CABD2FF5560C}"/>
              </a:ext>
            </a:extLst>
          </p:cNvPr>
          <p:cNvSpPr>
            <a:spLocks noGrp="1"/>
          </p:cNvSpPr>
          <p:nvPr>
            <p:ph type="sldNum" sz="quarter" idx="12"/>
          </p:nvPr>
        </p:nvSpPr>
        <p:spPr/>
        <p:txBody>
          <a:bodyPr/>
          <a:lstStyle/>
          <a:p>
            <a:fld id="{FE616A95-57EF-4836-8428-5485ABCD6A92}" type="slidenum">
              <a:rPr lang="en-IN" smtClean="0"/>
              <a:t>‹#›</a:t>
            </a:fld>
            <a:endParaRPr lang="en-IN"/>
          </a:p>
        </p:txBody>
      </p:sp>
    </p:spTree>
    <p:extLst>
      <p:ext uri="{BB962C8B-B14F-4D97-AF65-F5344CB8AC3E}">
        <p14:creationId xmlns:p14="http://schemas.microsoft.com/office/powerpoint/2010/main" val="1384429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E764C-24BF-44D4-B03B-311129F602A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981F78-C4B0-4410-AD5C-6D87386F1B1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82D85D-9A6C-49F8-A2A5-89F2CC62290C}"/>
              </a:ext>
            </a:extLst>
          </p:cNvPr>
          <p:cNvSpPr>
            <a:spLocks noGrp="1"/>
          </p:cNvSpPr>
          <p:nvPr>
            <p:ph type="dt" sz="half" idx="10"/>
          </p:nvPr>
        </p:nvSpPr>
        <p:spPr/>
        <p:txBody>
          <a:bodyPr/>
          <a:lstStyle/>
          <a:p>
            <a:fld id="{74AABA81-B323-4DF9-B0C5-B7D8A4E5294B}" type="datetimeFigureOut">
              <a:rPr lang="en-IN" smtClean="0"/>
              <a:t>20-08-2021</a:t>
            </a:fld>
            <a:endParaRPr lang="en-IN"/>
          </a:p>
        </p:txBody>
      </p:sp>
      <p:sp>
        <p:nvSpPr>
          <p:cNvPr id="5" name="Footer Placeholder 4">
            <a:extLst>
              <a:ext uri="{FF2B5EF4-FFF2-40B4-BE49-F238E27FC236}">
                <a16:creationId xmlns:a16="http://schemas.microsoft.com/office/drawing/2014/main" id="{0D0C4891-6B86-4781-9B96-85334ED942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3300D8-60F0-465A-ADE6-33D928AA5752}"/>
              </a:ext>
            </a:extLst>
          </p:cNvPr>
          <p:cNvSpPr>
            <a:spLocks noGrp="1"/>
          </p:cNvSpPr>
          <p:nvPr>
            <p:ph type="sldNum" sz="quarter" idx="12"/>
          </p:nvPr>
        </p:nvSpPr>
        <p:spPr/>
        <p:txBody>
          <a:bodyPr/>
          <a:lstStyle/>
          <a:p>
            <a:fld id="{FE616A95-57EF-4836-8428-5485ABCD6A92}" type="slidenum">
              <a:rPr lang="en-IN" smtClean="0"/>
              <a:t>‹#›</a:t>
            </a:fld>
            <a:endParaRPr lang="en-IN"/>
          </a:p>
        </p:txBody>
      </p:sp>
    </p:spTree>
    <p:extLst>
      <p:ext uri="{BB962C8B-B14F-4D97-AF65-F5344CB8AC3E}">
        <p14:creationId xmlns:p14="http://schemas.microsoft.com/office/powerpoint/2010/main" val="650658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BAF351-69A2-4FC7-BDE0-5D914F8EEC8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32DCD8-ECA9-47F1-9C68-6667819F74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76FBCF-57FD-4A79-AF44-FB59DCC3CEC2}"/>
              </a:ext>
            </a:extLst>
          </p:cNvPr>
          <p:cNvSpPr>
            <a:spLocks noGrp="1"/>
          </p:cNvSpPr>
          <p:nvPr>
            <p:ph type="dt" sz="half" idx="10"/>
          </p:nvPr>
        </p:nvSpPr>
        <p:spPr/>
        <p:txBody>
          <a:bodyPr/>
          <a:lstStyle/>
          <a:p>
            <a:fld id="{74AABA81-B323-4DF9-B0C5-B7D8A4E5294B}" type="datetimeFigureOut">
              <a:rPr lang="en-IN" smtClean="0"/>
              <a:t>20-08-2021</a:t>
            </a:fld>
            <a:endParaRPr lang="en-IN"/>
          </a:p>
        </p:txBody>
      </p:sp>
      <p:sp>
        <p:nvSpPr>
          <p:cNvPr id="5" name="Footer Placeholder 4">
            <a:extLst>
              <a:ext uri="{FF2B5EF4-FFF2-40B4-BE49-F238E27FC236}">
                <a16:creationId xmlns:a16="http://schemas.microsoft.com/office/drawing/2014/main" id="{559E2CE6-1430-413D-853D-6F5D04F711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06B945-1AB7-46BB-B138-D24BCB691A03}"/>
              </a:ext>
            </a:extLst>
          </p:cNvPr>
          <p:cNvSpPr>
            <a:spLocks noGrp="1"/>
          </p:cNvSpPr>
          <p:nvPr>
            <p:ph type="sldNum" sz="quarter" idx="12"/>
          </p:nvPr>
        </p:nvSpPr>
        <p:spPr/>
        <p:txBody>
          <a:bodyPr/>
          <a:lstStyle/>
          <a:p>
            <a:fld id="{FE616A95-57EF-4836-8428-5485ABCD6A92}" type="slidenum">
              <a:rPr lang="en-IN" smtClean="0"/>
              <a:t>‹#›</a:t>
            </a:fld>
            <a:endParaRPr lang="en-IN"/>
          </a:p>
        </p:txBody>
      </p:sp>
    </p:spTree>
    <p:extLst>
      <p:ext uri="{BB962C8B-B14F-4D97-AF65-F5344CB8AC3E}">
        <p14:creationId xmlns:p14="http://schemas.microsoft.com/office/powerpoint/2010/main" val="2040750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89E9A8-1321-46BB-92CF-74A58386FB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EDB580-3EA2-413E-B016-4056B040E7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D2E992-8CD5-4F33-921C-1A27CC0D1B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AABA81-B323-4DF9-B0C5-B7D8A4E5294B}" type="datetimeFigureOut">
              <a:rPr lang="en-IN" smtClean="0"/>
              <a:t>20-08-2021</a:t>
            </a:fld>
            <a:endParaRPr lang="en-IN"/>
          </a:p>
        </p:txBody>
      </p:sp>
      <p:sp>
        <p:nvSpPr>
          <p:cNvPr id="5" name="Footer Placeholder 4">
            <a:extLst>
              <a:ext uri="{FF2B5EF4-FFF2-40B4-BE49-F238E27FC236}">
                <a16:creationId xmlns:a16="http://schemas.microsoft.com/office/drawing/2014/main" id="{6A3F0F89-53C8-4C78-AC4A-7E0A1A2980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77FD67F-7DFC-4BD6-B04E-0D9EC5C666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616A95-57EF-4836-8428-5485ABCD6A92}" type="slidenum">
              <a:rPr lang="en-IN" smtClean="0"/>
              <a:t>‹#›</a:t>
            </a:fld>
            <a:endParaRPr lang="en-IN"/>
          </a:p>
        </p:txBody>
      </p:sp>
    </p:spTree>
    <p:extLst>
      <p:ext uri="{BB962C8B-B14F-4D97-AF65-F5344CB8AC3E}">
        <p14:creationId xmlns:p14="http://schemas.microsoft.com/office/powerpoint/2010/main" val="4591831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www.visual-paradigm.com/scrum/scrum-in-3-minutes/" TargetMode="External"/><Relationship Id="rId2" Type="http://schemas.openxmlformats.org/officeDocument/2006/relationships/hyperlink" Target="https://www.visual-paradigm.com/scrum/what-is-agile-software-development/" TargetMode="Externa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hyperlink" Target="https://nira.com/daily-scrum/" TargetMode="Externa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hyperlink" Target="https://nira.com/retrospective-agile/" TargetMode="Externa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hyperlink" Target="https://letsscrumit.com/scrum-artifacts-2-sprint-backlog/" TargetMode="External"/><Relationship Id="rId2" Type="http://schemas.openxmlformats.org/officeDocument/2006/relationships/hyperlink" Target="https://letsscrumit.com/scrum-roles-1-development-team/" TargetMode="External"/><Relationship Id="rId1" Type="http://schemas.openxmlformats.org/officeDocument/2006/relationships/slideLayout" Target="../slideLayouts/slideLayout7.xml"/><Relationship Id="rId4" Type="http://schemas.openxmlformats.org/officeDocument/2006/relationships/hyperlink" Target="https://letsscrumit.com/scrum-events-2-sprint-planning/"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letsscrumit.com/scrum-roles-2-product-owner/" TargetMode="External"/><Relationship Id="rId2" Type="http://schemas.openxmlformats.org/officeDocument/2006/relationships/hyperlink" Target="https://letsscrumit.com/scrum-events-1-the-sprint/" TargetMode="Externa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4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o Uses A Scrum Approach and Why Should You? - number8">
            <a:extLst>
              <a:ext uri="{FF2B5EF4-FFF2-40B4-BE49-F238E27FC236}">
                <a16:creationId xmlns:a16="http://schemas.microsoft.com/office/drawing/2014/main" id="{3ACC7F0C-A0F5-40D0-BC81-30A7587879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351" y="535459"/>
            <a:ext cx="10354963" cy="60548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47747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A56FBF-AE79-4BF0-B5EF-BE26E4AF98B2}"/>
              </a:ext>
            </a:extLst>
          </p:cNvPr>
          <p:cNvPicPr>
            <a:picLocks noChangeAspect="1"/>
          </p:cNvPicPr>
          <p:nvPr/>
        </p:nvPicPr>
        <p:blipFill>
          <a:blip r:embed="rId2"/>
          <a:stretch>
            <a:fillRect/>
          </a:stretch>
        </p:blipFill>
        <p:spPr>
          <a:xfrm>
            <a:off x="351238" y="225287"/>
            <a:ext cx="11562465" cy="6268278"/>
          </a:xfrm>
          <a:prstGeom prst="rect">
            <a:avLst/>
          </a:prstGeom>
        </p:spPr>
      </p:pic>
    </p:spTree>
    <p:extLst>
      <p:ext uri="{BB962C8B-B14F-4D97-AF65-F5344CB8AC3E}">
        <p14:creationId xmlns:p14="http://schemas.microsoft.com/office/powerpoint/2010/main" val="2773287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XP, FDD, DSDM, and Crystal Methods of Agile Development">
            <a:extLst>
              <a:ext uri="{FF2B5EF4-FFF2-40B4-BE49-F238E27FC236}">
                <a16:creationId xmlns:a16="http://schemas.microsoft.com/office/drawing/2014/main" id="{B667E42B-183C-422B-929B-B19E99A768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7166" y="503583"/>
            <a:ext cx="9992138" cy="6056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3354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0D5CD1-D345-4F48-A037-5226DED694F3}"/>
              </a:ext>
            </a:extLst>
          </p:cNvPr>
          <p:cNvSpPr txBox="1"/>
          <p:nvPr/>
        </p:nvSpPr>
        <p:spPr>
          <a:xfrm>
            <a:off x="136477" y="1"/>
            <a:ext cx="11627893" cy="7478970"/>
          </a:xfrm>
          <a:prstGeom prst="rect">
            <a:avLst/>
          </a:prstGeom>
          <a:noFill/>
        </p:spPr>
        <p:txBody>
          <a:bodyPr wrap="square">
            <a:spAutoFit/>
          </a:bodyPr>
          <a:lstStyle/>
          <a:p>
            <a:pPr algn="l"/>
            <a:r>
              <a:rPr lang="en-US" sz="2400" b="0" i="0" dirty="0">
                <a:effectLst/>
                <a:latin typeface="Times New Roman" panose="02020603050405020304" pitchFamily="18" charset="0"/>
                <a:cs typeface="Times New Roman" panose="02020603050405020304" pitchFamily="18" charset="0"/>
              </a:rPr>
              <a:t>There is a common misconception that Agile is Scrum. While Scrum is indeed agile, it is not the sole method of implementing agile principles. </a:t>
            </a:r>
            <a:r>
              <a:rPr lang="en-US" sz="2400" b="1" i="0" dirty="0">
                <a:effectLst/>
                <a:latin typeface="Times New Roman" panose="02020603050405020304" pitchFamily="18" charset="0"/>
                <a:cs typeface="Times New Roman" panose="02020603050405020304" pitchFamily="18" charset="0"/>
              </a:rPr>
              <a:t>Scrum is simply one of many agile approaches to product development. </a:t>
            </a:r>
          </a:p>
          <a:p>
            <a:pPr algn="l"/>
            <a:endParaRPr lang="en-US" sz="2400" b="1" dirty="0">
              <a:latin typeface="Times New Roman" panose="02020603050405020304" pitchFamily="18" charset="0"/>
              <a:cs typeface="Times New Roman" panose="02020603050405020304" pitchFamily="18" charset="0"/>
            </a:endParaRPr>
          </a:p>
          <a:p>
            <a:pPr algn="l"/>
            <a:r>
              <a:rPr lang="en-US" sz="2400" b="0" i="0" dirty="0">
                <a:solidFill>
                  <a:schemeClr val="bg2">
                    <a:lumMod val="10000"/>
                  </a:schemeClr>
                </a:solidFill>
                <a:effectLst/>
                <a:latin typeface="Times New Roman" panose="02020603050405020304" pitchFamily="18" charset="0"/>
                <a:cs typeface="Times New Roman" panose="02020603050405020304" pitchFamily="18" charset="0"/>
              </a:rPr>
              <a:t>A helpful metaphor(example) would be to think of Agile as being </a:t>
            </a:r>
            <a:r>
              <a:rPr lang="en-US" sz="2400" b="1" i="0" dirty="0">
                <a:solidFill>
                  <a:schemeClr val="bg2">
                    <a:lumMod val="10000"/>
                  </a:schemeClr>
                </a:solidFill>
                <a:effectLst/>
                <a:latin typeface="Times New Roman" panose="02020603050405020304" pitchFamily="18" charset="0"/>
                <a:cs typeface="Times New Roman" panose="02020603050405020304" pitchFamily="18" charset="0"/>
              </a:rPr>
              <a:t>ice cream, while Scrum, XP, Crystal, etc., are all simply different flavors</a:t>
            </a:r>
            <a:r>
              <a:rPr lang="en-US" sz="2400" b="0" i="0" dirty="0">
                <a:solidFill>
                  <a:schemeClr val="bg2">
                    <a:lumMod val="10000"/>
                  </a:schemeClr>
                </a:solidFill>
                <a:effectLst/>
                <a:latin typeface="Times New Roman" panose="02020603050405020304" pitchFamily="18" charset="0"/>
                <a:cs typeface="Times New Roman" panose="02020603050405020304" pitchFamily="18" charset="0"/>
              </a:rPr>
              <a:t>, like chocolate, strawberry, vanilla. They are all agile, they are all good, and many can be used in combination.</a:t>
            </a:r>
          </a:p>
          <a:p>
            <a:pPr algn="l"/>
            <a:endParaRPr lang="en-US" sz="2400" b="0" i="0" dirty="0">
              <a:solidFill>
                <a:schemeClr val="bg2">
                  <a:lumMod val="10000"/>
                </a:schemeClr>
              </a:solidFill>
              <a:effectLst/>
              <a:latin typeface="Times New Roman" panose="02020603050405020304" pitchFamily="18" charset="0"/>
              <a:cs typeface="Times New Roman" panose="02020603050405020304" pitchFamily="18" charset="0"/>
            </a:endParaRPr>
          </a:p>
          <a:p>
            <a:pPr algn="l"/>
            <a:r>
              <a:rPr lang="en-US" sz="2400" b="0" i="0" dirty="0">
                <a:solidFill>
                  <a:schemeClr val="bg2">
                    <a:lumMod val="10000"/>
                  </a:schemeClr>
                </a:solidFill>
                <a:effectLst/>
                <a:latin typeface="Times New Roman" panose="02020603050405020304" pitchFamily="18" charset="0"/>
                <a:cs typeface="Times New Roman" panose="02020603050405020304" pitchFamily="18" charset="0"/>
              </a:rPr>
              <a:t>Simply put, Scrum is an </a:t>
            </a:r>
            <a:r>
              <a:rPr lang="en-US" sz="2400" b="1" i="0" dirty="0">
                <a:solidFill>
                  <a:schemeClr val="bg2">
                    <a:lumMod val="10000"/>
                  </a:schemeClr>
                </a:solidFill>
                <a:effectLst/>
                <a:latin typeface="Times New Roman" panose="02020603050405020304" pitchFamily="18" charset="0"/>
                <a:cs typeface="Times New Roman" panose="02020603050405020304" pitchFamily="18" charset="0"/>
              </a:rPr>
              <a:t>agile method of iterative and incremental product delivery</a:t>
            </a:r>
            <a:r>
              <a:rPr lang="en-US" sz="2400" b="0" i="0" dirty="0">
                <a:solidFill>
                  <a:schemeClr val="bg2">
                    <a:lumMod val="10000"/>
                  </a:schemeClr>
                </a:solidFill>
                <a:effectLst/>
                <a:latin typeface="Times New Roman" panose="02020603050405020304" pitchFamily="18" charset="0"/>
                <a:cs typeface="Times New Roman" panose="02020603050405020304" pitchFamily="18" charset="0"/>
              </a:rPr>
              <a:t> that uses frequent feedback and collaborative decision making.</a:t>
            </a:r>
          </a:p>
          <a:p>
            <a:pPr algn="l"/>
            <a:endParaRPr lang="en-US" sz="2400" b="1" i="0" dirty="0">
              <a:effectLst/>
              <a:latin typeface="Times New Roman" panose="02020603050405020304" pitchFamily="18" charset="0"/>
              <a:cs typeface="Times New Roman" panose="02020603050405020304" pitchFamily="18" charset="0"/>
            </a:endParaRPr>
          </a:p>
          <a:p>
            <a:pPr algn="l"/>
            <a:endParaRPr lang="en-US" sz="2400" dirty="0">
              <a:latin typeface="Times New Roman" panose="02020603050405020304" pitchFamily="18" charset="0"/>
              <a:cs typeface="Times New Roman" panose="02020603050405020304" pitchFamily="18" charset="0"/>
            </a:endParaRPr>
          </a:p>
          <a:p>
            <a:pPr algn="l"/>
            <a:r>
              <a:rPr lang="en-IN" sz="2400" b="0" i="0" dirty="0">
                <a:effectLst/>
                <a:latin typeface="Times New Roman" panose="02020603050405020304" pitchFamily="18" charset="0"/>
                <a:cs typeface="Times New Roman" panose="02020603050405020304" pitchFamily="18" charset="0"/>
              </a:rPr>
              <a:t>1) </a:t>
            </a:r>
            <a:r>
              <a:rPr lang="en-IN" sz="2400" b="0" i="0" dirty="0">
                <a:solidFill>
                  <a:srgbClr val="7030A0"/>
                </a:solidFill>
                <a:effectLst/>
                <a:latin typeface="Times New Roman" panose="02020603050405020304" pitchFamily="18" charset="0"/>
                <a:cs typeface="Times New Roman" panose="02020603050405020304" pitchFamily="18" charset="0"/>
              </a:rPr>
              <a:t>Scrum</a:t>
            </a:r>
          </a:p>
          <a:p>
            <a:pPr algn="l"/>
            <a:r>
              <a:rPr lang="en-IN" sz="2400" b="0" i="0" dirty="0">
                <a:effectLst/>
                <a:latin typeface="Times New Roman" panose="02020603050405020304" pitchFamily="18" charset="0"/>
                <a:cs typeface="Times New Roman" panose="02020603050405020304" pitchFamily="18" charset="0"/>
              </a:rPr>
              <a:t>2)</a:t>
            </a:r>
            <a:r>
              <a:rPr lang="en-IN" sz="2400" b="0" i="0" dirty="0">
                <a:solidFill>
                  <a:srgbClr val="7030A0"/>
                </a:solidFill>
                <a:effectLst/>
                <a:latin typeface="Times New Roman" panose="02020603050405020304" pitchFamily="18" charset="0"/>
                <a:cs typeface="Times New Roman" panose="02020603050405020304" pitchFamily="18" charset="0"/>
              </a:rPr>
              <a:t>Kanban</a:t>
            </a:r>
          </a:p>
          <a:p>
            <a:pPr algn="l"/>
            <a:r>
              <a:rPr lang="en-IN" sz="2400" b="0" i="0" dirty="0">
                <a:effectLst/>
                <a:latin typeface="Times New Roman" panose="02020603050405020304" pitchFamily="18" charset="0"/>
                <a:cs typeface="Times New Roman" panose="02020603050405020304" pitchFamily="18" charset="0"/>
              </a:rPr>
              <a:t>3) Extreme Programming (XP)</a:t>
            </a:r>
          </a:p>
          <a:p>
            <a:pPr algn="l"/>
            <a:r>
              <a:rPr lang="en-IN" sz="2400" b="0" i="0" dirty="0">
                <a:effectLst/>
                <a:latin typeface="Times New Roman" panose="02020603050405020304" pitchFamily="18" charset="0"/>
                <a:cs typeface="Times New Roman" panose="02020603050405020304" pitchFamily="18" charset="0"/>
              </a:rPr>
              <a:t>4) Crystal</a:t>
            </a:r>
          </a:p>
          <a:p>
            <a:pPr algn="l"/>
            <a:r>
              <a:rPr lang="en-IN" sz="2400" b="0" i="0" dirty="0">
                <a:effectLst/>
                <a:latin typeface="Times New Roman" panose="02020603050405020304" pitchFamily="18" charset="0"/>
                <a:cs typeface="Times New Roman" panose="02020603050405020304" pitchFamily="18" charset="0"/>
              </a:rPr>
              <a:t>5) Dynamic Systems Development Method (DSDM)</a:t>
            </a:r>
          </a:p>
          <a:p>
            <a:pPr algn="l"/>
            <a:endParaRPr lang="en-US" sz="2400" b="0" i="0" dirty="0">
              <a:effectLst/>
              <a:latin typeface="Times New Roman" panose="02020603050405020304" pitchFamily="18" charset="0"/>
              <a:cs typeface="Times New Roman" panose="02020603050405020304" pitchFamily="18" charset="0"/>
            </a:endParaRPr>
          </a:p>
          <a:p>
            <a:pPr algn="l"/>
            <a:endParaRPr lang="en-US" sz="2400" dirty="0">
              <a:latin typeface="Times New Roman" panose="02020603050405020304" pitchFamily="18" charset="0"/>
              <a:cs typeface="Times New Roman" panose="02020603050405020304" pitchFamily="18" charset="0"/>
            </a:endParaRPr>
          </a:p>
          <a:p>
            <a:pPr algn="l"/>
            <a:r>
              <a:rPr lang="en-US" sz="2400" b="0" i="0" dirty="0">
                <a:effectLst/>
                <a:latin typeface="Times New Roman" panose="02020603050405020304" pitchFamily="18" charset="0"/>
                <a:cs typeface="Times New Roman" panose="02020603050405020304" pitchFamily="18" charset="0"/>
              </a:rPr>
              <a:t>All of these methods adhere to the </a:t>
            </a:r>
            <a:r>
              <a:rPr lang="en-US" sz="2400" b="1" i="0" dirty="0">
                <a:effectLst/>
                <a:latin typeface="Times New Roman" panose="02020603050405020304" pitchFamily="18" charset="0"/>
                <a:cs typeface="Times New Roman" panose="02020603050405020304" pitchFamily="18" charset="0"/>
              </a:rPr>
              <a:t>Agile Manifesto and its associated principles. </a:t>
            </a:r>
          </a:p>
        </p:txBody>
      </p:sp>
    </p:spTree>
    <p:extLst>
      <p:ext uri="{BB962C8B-B14F-4D97-AF65-F5344CB8AC3E}">
        <p14:creationId xmlns:p14="http://schemas.microsoft.com/office/powerpoint/2010/main" val="1315321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37D5AE9-7681-4BBF-ACEE-6A32890206A8}"/>
              </a:ext>
            </a:extLst>
          </p:cNvPr>
          <p:cNvPicPr>
            <a:picLocks noChangeAspect="1"/>
          </p:cNvPicPr>
          <p:nvPr/>
        </p:nvPicPr>
        <p:blipFill>
          <a:blip r:embed="rId2"/>
          <a:stretch>
            <a:fillRect/>
          </a:stretch>
        </p:blipFill>
        <p:spPr>
          <a:xfrm>
            <a:off x="1040236" y="320879"/>
            <a:ext cx="9320168" cy="6216242"/>
          </a:xfrm>
          <a:prstGeom prst="rect">
            <a:avLst/>
          </a:prstGeom>
        </p:spPr>
      </p:pic>
    </p:spTree>
    <p:extLst>
      <p:ext uri="{BB962C8B-B14F-4D97-AF65-F5344CB8AC3E}">
        <p14:creationId xmlns:p14="http://schemas.microsoft.com/office/powerpoint/2010/main" val="1596240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BB91A9-B787-4EAA-BC48-AA1CF1515E4C}"/>
              </a:ext>
            </a:extLst>
          </p:cNvPr>
          <p:cNvSpPr txBox="1"/>
          <p:nvPr/>
        </p:nvSpPr>
        <p:spPr>
          <a:xfrm>
            <a:off x="145774" y="278295"/>
            <a:ext cx="12046226" cy="6370975"/>
          </a:xfrm>
          <a:prstGeom prst="rect">
            <a:avLst/>
          </a:prstGeom>
          <a:noFill/>
        </p:spPr>
        <p:txBody>
          <a:bodyPr wrap="square">
            <a:spAutoFit/>
          </a:bodyPr>
          <a:lstStyle/>
          <a:p>
            <a:r>
              <a:rPr lang="en-US" sz="2400" b="0" i="0" dirty="0">
                <a:effectLst/>
                <a:latin typeface="Times New Roman" panose="02020603050405020304" pitchFamily="18" charset="0"/>
                <a:cs typeface="Times New Roman" panose="02020603050405020304" pitchFamily="18" charset="0"/>
              </a:rPr>
              <a:t>Scrum is one of the leading Agile software development processes. Scrum has been recognized as one of the </a:t>
            </a:r>
            <a:r>
              <a:rPr lang="en-US" sz="2400" b="1" i="0" dirty="0">
                <a:effectLst/>
                <a:latin typeface="Times New Roman" panose="02020603050405020304" pitchFamily="18" charset="0"/>
                <a:cs typeface="Times New Roman" panose="02020603050405020304" pitchFamily="18" charset="0"/>
              </a:rPr>
              <a:t>best project management frameworks for handling rapidly changing or evolving projects</a:t>
            </a:r>
            <a:r>
              <a:rPr lang="en-US" sz="2400" b="0" i="0" dirty="0">
                <a:effectLst/>
                <a:latin typeface="Times New Roman" panose="02020603050405020304" pitchFamily="18" charset="0"/>
                <a:cs typeface="Times New Roman" panose="02020603050405020304" pitchFamily="18" charset="0"/>
              </a:rPr>
              <a:t>, especially those with technology or requirements uncertainty.</a:t>
            </a:r>
          </a:p>
          <a:p>
            <a:endParaRPr lang="en-US" sz="2400" dirty="0">
              <a:latin typeface="Times New Roman" panose="02020603050405020304" pitchFamily="18" charset="0"/>
              <a:cs typeface="Times New Roman" panose="02020603050405020304" pitchFamily="18" charset="0"/>
            </a:endParaRPr>
          </a:p>
          <a:p>
            <a:pPr algn="just"/>
            <a:r>
              <a:rPr lang="en-US" sz="2400" b="1" i="0" dirty="0">
                <a:effectLst/>
                <a:latin typeface="Times New Roman" panose="02020603050405020304" pitchFamily="18" charset="0"/>
                <a:cs typeface="Times New Roman" panose="02020603050405020304" pitchFamily="18" charset="0"/>
              </a:rPr>
              <a:t>What is Scrum?</a:t>
            </a:r>
          </a:p>
          <a:p>
            <a:pPr algn="just"/>
            <a:r>
              <a:rPr lang="en-US" sz="2400" b="1" i="0" dirty="0">
                <a:effectLst/>
                <a:latin typeface="Times New Roman" panose="02020603050405020304" pitchFamily="18" charset="0"/>
                <a:cs typeface="Times New Roman" panose="02020603050405020304" pitchFamily="18" charset="0"/>
              </a:rPr>
              <a:t>Scrum is a framework</a:t>
            </a:r>
            <a:r>
              <a:rPr lang="en-US" sz="2400" b="0" i="0" dirty="0">
                <a:effectLst/>
                <a:latin typeface="Times New Roman" panose="02020603050405020304" pitchFamily="18" charset="0"/>
                <a:cs typeface="Times New Roman" panose="02020603050405020304" pitchFamily="18" charset="0"/>
              </a:rPr>
              <a:t> that helps agile teams to work together. Using it, the team members can deliver and sustain the complex product. It encourages the team to learn through practice, self-organize while working on the problem. Scum is a work done through the framework and continuously shipping values to customers.</a:t>
            </a:r>
          </a:p>
          <a:p>
            <a:pPr marL="0" indent="0" algn="just">
              <a:buNone/>
            </a:pPr>
            <a:endParaRPr lang="en-US" sz="2400" b="0" i="0" dirty="0">
              <a:effectLst/>
              <a:latin typeface="Times New Roman" panose="02020603050405020304" pitchFamily="18" charset="0"/>
              <a:cs typeface="Times New Roman" panose="02020603050405020304" pitchFamily="18" charset="0"/>
            </a:endParaRPr>
          </a:p>
          <a:p>
            <a:pPr algn="just"/>
            <a:r>
              <a:rPr lang="en-US" sz="2400" b="0" i="0" dirty="0">
                <a:effectLst/>
                <a:latin typeface="Times New Roman" panose="02020603050405020304" pitchFamily="18" charset="0"/>
                <a:cs typeface="Times New Roman" panose="02020603050405020304" pitchFamily="18" charset="0"/>
              </a:rPr>
              <a:t>It is the most frequent software that is used by the development team. Its principle and lessons can be applied to all kinds of teamwork. Its policy and experiences is a reason of popularity of Scrum framework. </a:t>
            </a:r>
            <a:r>
              <a:rPr lang="en-US" sz="2400" b="1" i="0" dirty="0">
                <a:effectLst/>
                <a:latin typeface="Times New Roman" panose="02020603050405020304" pitchFamily="18" charset="0"/>
                <a:cs typeface="Times New Roman" panose="02020603050405020304" pitchFamily="18" charset="0"/>
              </a:rPr>
              <a:t>The Scrum describes a set of tools, meetings, and roles that help the teams structure. It also manages the work done by the team</a:t>
            </a:r>
          </a:p>
          <a:p>
            <a:endParaRPr lang="en-US" sz="2400" b="0" i="0" dirty="0">
              <a:effectLst/>
              <a:latin typeface="Times New Roman" panose="02020603050405020304" pitchFamily="18" charset="0"/>
              <a:cs typeface="Times New Roman" panose="02020603050405020304" pitchFamily="18" charset="0"/>
            </a:endParaRPr>
          </a:p>
          <a:p>
            <a:pPr algn="l"/>
            <a:endParaRPr lang="en-US" sz="2400" b="0" i="0" dirty="0">
              <a:effectLst/>
              <a:latin typeface="Times New Roman" panose="02020603050405020304" pitchFamily="18" charset="0"/>
              <a:cs typeface="Times New Roman" panose="02020603050405020304" pitchFamily="18" charset="0"/>
            </a:endParaRPr>
          </a:p>
          <a:p>
            <a:pPr algn="l"/>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9175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7A7DC3-1EEA-4E7C-B3FA-79E11A5EA2F0}"/>
              </a:ext>
            </a:extLst>
          </p:cNvPr>
          <p:cNvSpPr txBox="1"/>
          <p:nvPr/>
        </p:nvSpPr>
        <p:spPr>
          <a:xfrm>
            <a:off x="74141" y="1"/>
            <a:ext cx="12005564" cy="6489277"/>
          </a:xfrm>
          <a:prstGeom prst="rect">
            <a:avLst/>
          </a:prstGeom>
          <a:noFill/>
        </p:spPr>
        <p:txBody>
          <a:bodyPr wrap="square">
            <a:spAutoFit/>
          </a:bodyPr>
          <a:lstStyle/>
          <a:p>
            <a:r>
              <a:rPr lang="en-IN" sz="2400" b="1" i="0" dirty="0">
                <a:effectLst/>
                <a:latin typeface="Open Sans" panose="020B0606030504020204" pitchFamily="34" charset="0"/>
              </a:rPr>
              <a:t>Scrum commonly used terms:</a:t>
            </a:r>
          </a:p>
          <a:p>
            <a:pPr algn="l">
              <a:lnSpc>
                <a:spcPct val="150000"/>
              </a:lnSpc>
              <a:buFont typeface="+mj-lt"/>
              <a:buAutoNum type="arabicPeriod"/>
            </a:pPr>
            <a:r>
              <a:rPr lang="en-IN" sz="2400" b="0" i="0" dirty="0">
                <a:effectLst/>
                <a:latin typeface="Times New Roman" panose="02020603050405020304" pitchFamily="18" charset="0"/>
                <a:cs typeface="Times New Roman" panose="02020603050405020304" pitchFamily="18" charset="0"/>
              </a:rPr>
              <a:t>Product Owner</a:t>
            </a:r>
          </a:p>
          <a:p>
            <a:pPr algn="l">
              <a:lnSpc>
                <a:spcPct val="150000"/>
              </a:lnSpc>
              <a:buFont typeface="+mj-lt"/>
              <a:buAutoNum type="arabicPeriod"/>
            </a:pPr>
            <a:r>
              <a:rPr lang="en-IN" sz="2400" b="0" i="0" dirty="0">
                <a:effectLst/>
                <a:latin typeface="Times New Roman" panose="02020603050405020304" pitchFamily="18" charset="0"/>
                <a:cs typeface="Times New Roman" panose="02020603050405020304" pitchFamily="18" charset="0"/>
              </a:rPr>
              <a:t>Scrum Master</a:t>
            </a:r>
          </a:p>
          <a:p>
            <a:pPr algn="l">
              <a:lnSpc>
                <a:spcPct val="150000"/>
              </a:lnSpc>
              <a:buFont typeface="+mj-lt"/>
              <a:buAutoNum type="arabicPeriod"/>
            </a:pPr>
            <a:r>
              <a:rPr lang="en-IN" sz="2400" b="0" i="0" dirty="0">
                <a:effectLst/>
                <a:latin typeface="Times New Roman" panose="02020603050405020304" pitchFamily="18" charset="0"/>
                <a:cs typeface="Times New Roman" panose="02020603050405020304" pitchFamily="18" charset="0"/>
              </a:rPr>
              <a:t>Scrum Team</a:t>
            </a:r>
          </a:p>
          <a:p>
            <a:pPr algn="l">
              <a:lnSpc>
                <a:spcPct val="150000"/>
              </a:lnSpc>
              <a:buFont typeface="+mj-lt"/>
              <a:buAutoNum type="arabicPeriod"/>
            </a:pPr>
            <a:r>
              <a:rPr lang="en-IN" sz="2400" b="0" i="0" dirty="0">
                <a:effectLst/>
                <a:latin typeface="Times New Roman" panose="02020603050405020304" pitchFamily="18" charset="0"/>
                <a:cs typeface="Times New Roman" panose="02020603050405020304" pitchFamily="18" charset="0"/>
              </a:rPr>
              <a:t>User Story</a:t>
            </a:r>
          </a:p>
          <a:p>
            <a:pPr algn="l">
              <a:lnSpc>
                <a:spcPct val="150000"/>
              </a:lnSpc>
              <a:buFont typeface="+mj-lt"/>
              <a:buAutoNum type="arabicPeriod"/>
            </a:pPr>
            <a:r>
              <a:rPr lang="en-IN" sz="2400" b="0" i="0" dirty="0">
                <a:effectLst/>
                <a:latin typeface="Times New Roman" panose="02020603050405020304" pitchFamily="18" charset="0"/>
                <a:cs typeface="Times New Roman" panose="02020603050405020304" pitchFamily="18" charset="0"/>
              </a:rPr>
              <a:t>Product Backlog</a:t>
            </a:r>
          </a:p>
          <a:p>
            <a:pPr algn="l">
              <a:lnSpc>
                <a:spcPct val="150000"/>
              </a:lnSpc>
              <a:buFont typeface="+mj-lt"/>
              <a:buAutoNum type="arabicPeriod"/>
            </a:pPr>
            <a:r>
              <a:rPr lang="en-IN" sz="2400" b="0" i="0" dirty="0">
                <a:effectLst/>
                <a:latin typeface="Times New Roman" panose="02020603050405020304" pitchFamily="18" charset="0"/>
                <a:cs typeface="Times New Roman" panose="02020603050405020304" pitchFamily="18" charset="0"/>
              </a:rPr>
              <a:t>Sprint</a:t>
            </a:r>
          </a:p>
          <a:p>
            <a:pPr algn="l">
              <a:lnSpc>
                <a:spcPct val="150000"/>
              </a:lnSpc>
              <a:buFont typeface="+mj-lt"/>
              <a:buAutoNum type="arabicPeriod"/>
            </a:pPr>
            <a:r>
              <a:rPr lang="en-IN" sz="2400" b="0" i="0" dirty="0">
                <a:effectLst/>
                <a:latin typeface="Times New Roman" panose="02020603050405020304" pitchFamily="18" charset="0"/>
                <a:cs typeface="Times New Roman" panose="02020603050405020304" pitchFamily="18" charset="0"/>
              </a:rPr>
              <a:t>Sprint Backlog</a:t>
            </a:r>
          </a:p>
          <a:p>
            <a:pPr algn="l">
              <a:lnSpc>
                <a:spcPct val="150000"/>
              </a:lnSpc>
              <a:buFont typeface="+mj-lt"/>
              <a:buAutoNum type="arabicPeriod"/>
            </a:pPr>
            <a:r>
              <a:rPr lang="en-IN" sz="2400" b="0" i="0" dirty="0">
                <a:effectLst/>
                <a:latin typeface="Times New Roman" panose="02020603050405020304" pitchFamily="18" charset="0"/>
                <a:cs typeface="Times New Roman" panose="02020603050405020304" pitchFamily="18" charset="0"/>
              </a:rPr>
              <a:t>Sprint Planning Meeting</a:t>
            </a:r>
          </a:p>
          <a:p>
            <a:pPr algn="l">
              <a:lnSpc>
                <a:spcPct val="150000"/>
              </a:lnSpc>
              <a:buFont typeface="+mj-lt"/>
              <a:buAutoNum type="arabicPeriod"/>
            </a:pPr>
            <a:r>
              <a:rPr lang="en-IN" sz="2400" b="0" i="0" dirty="0">
                <a:effectLst/>
                <a:latin typeface="Times New Roman" panose="02020603050405020304" pitchFamily="18" charset="0"/>
                <a:cs typeface="Times New Roman" panose="02020603050405020304" pitchFamily="18" charset="0"/>
              </a:rPr>
              <a:t>Daily Stand-up, Sprint Review &amp; Team Retrospective Meetings</a:t>
            </a:r>
          </a:p>
          <a:p>
            <a:pPr algn="l">
              <a:lnSpc>
                <a:spcPct val="150000"/>
              </a:lnSpc>
              <a:buFont typeface="+mj-lt"/>
              <a:buAutoNum type="arabicPeriod"/>
            </a:pPr>
            <a:r>
              <a:rPr lang="en-IN" sz="2400" b="0" i="0" dirty="0">
                <a:effectLst/>
                <a:latin typeface="Times New Roman" panose="02020603050405020304" pitchFamily="18" charset="0"/>
                <a:cs typeface="Times New Roman" panose="02020603050405020304" pitchFamily="18" charset="0"/>
              </a:rPr>
              <a:t>Burndown Charts</a:t>
            </a:r>
          </a:p>
          <a:p>
            <a:pPr algn="l">
              <a:lnSpc>
                <a:spcPct val="150000"/>
              </a:lnSpc>
              <a:buFont typeface="+mj-lt"/>
              <a:buAutoNum type="arabicPeriod"/>
            </a:pPr>
            <a:r>
              <a:rPr lang="en-IN" sz="2400" b="0" i="0" dirty="0">
                <a:effectLst/>
                <a:latin typeface="Times New Roman" panose="02020603050405020304" pitchFamily="18" charset="0"/>
                <a:cs typeface="Times New Roman" panose="02020603050405020304" pitchFamily="18" charset="0"/>
              </a:rPr>
              <a:t>Impediments</a:t>
            </a:r>
          </a:p>
        </p:txBody>
      </p:sp>
    </p:spTree>
    <p:extLst>
      <p:ext uri="{BB962C8B-B14F-4D97-AF65-F5344CB8AC3E}">
        <p14:creationId xmlns:p14="http://schemas.microsoft.com/office/powerpoint/2010/main" val="2846556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6CEFDA-0D06-4BA2-89F8-690EEB28E3F8}"/>
              </a:ext>
            </a:extLst>
          </p:cNvPr>
          <p:cNvSpPr txBox="1"/>
          <p:nvPr/>
        </p:nvSpPr>
        <p:spPr>
          <a:xfrm>
            <a:off x="0" y="0"/>
            <a:ext cx="12117859" cy="2123658"/>
          </a:xfrm>
          <a:prstGeom prst="rect">
            <a:avLst/>
          </a:prstGeom>
          <a:noFill/>
        </p:spPr>
        <p:txBody>
          <a:bodyPr wrap="square">
            <a:spAutoFit/>
          </a:bodyPr>
          <a:lstStyle/>
          <a:p>
            <a:pPr algn="l"/>
            <a:r>
              <a:rPr lang="en-US" sz="2400" b="1" dirty="0">
                <a:effectLst/>
                <a:latin typeface="Times New Roman" panose="02020603050405020304" pitchFamily="18" charset="0"/>
                <a:cs typeface="Times New Roman" panose="02020603050405020304" pitchFamily="18" charset="0"/>
              </a:rPr>
              <a:t>Product Owner</a:t>
            </a:r>
          </a:p>
          <a:p>
            <a:pPr algn="l"/>
            <a:r>
              <a:rPr lang="en-US" sz="2400" b="0" i="0" dirty="0">
                <a:effectLst/>
                <a:latin typeface="Times New Roman" panose="02020603050405020304" pitchFamily="18" charset="0"/>
                <a:cs typeface="Times New Roman" panose="02020603050405020304" pitchFamily="18" charset="0"/>
              </a:rPr>
              <a:t>The Scrum product owner is typically a project’s key </a:t>
            </a:r>
            <a:r>
              <a:rPr lang="en-US" sz="2400" b="1" i="0" dirty="0">
                <a:effectLst/>
                <a:latin typeface="Times New Roman" panose="02020603050405020304" pitchFamily="18" charset="0"/>
                <a:cs typeface="Times New Roman" panose="02020603050405020304" pitchFamily="18" charset="0"/>
              </a:rPr>
              <a:t>stakeholder(Participant)</a:t>
            </a:r>
            <a:r>
              <a:rPr lang="en-US" sz="2400" b="0" i="0" dirty="0">
                <a:effectLst/>
                <a:latin typeface="Times New Roman" panose="02020603050405020304" pitchFamily="18" charset="0"/>
                <a:cs typeface="Times New Roman" panose="02020603050405020304" pitchFamily="18" charset="0"/>
              </a:rPr>
              <a:t>. Part of the product owner responsibilities is to have a vision of what he or she wishes to build, and convey that vision to the scrum team.</a:t>
            </a:r>
          </a:p>
          <a:p>
            <a:pPr algn="l"/>
            <a:endParaRPr lang="en-US" dirty="0">
              <a:solidFill>
                <a:srgbClr val="8F9194"/>
              </a:solidFill>
              <a:latin typeface="Open Sans" panose="020B0606030504020204" pitchFamily="34" charset="0"/>
            </a:endParaRPr>
          </a:p>
          <a:p>
            <a:pPr algn="l"/>
            <a:endParaRPr lang="en-US" b="0" i="0" dirty="0">
              <a:solidFill>
                <a:srgbClr val="8F9194"/>
              </a:solidFill>
              <a:effectLst/>
              <a:latin typeface="Open Sans" panose="020B0606030504020204" pitchFamily="34" charset="0"/>
            </a:endParaRPr>
          </a:p>
        </p:txBody>
      </p:sp>
      <p:pic>
        <p:nvPicPr>
          <p:cNvPr id="2050" name="Picture 2" descr="Scrum-Product-Owner">
            <a:extLst>
              <a:ext uri="{FF2B5EF4-FFF2-40B4-BE49-F238E27FC236}">
                <a16:creationId xmlns:a16="http://schemas.microsoft.com/office/drawing/2014/main" id="{A25CFDD0-E3C0-4BAE-992C-0FCB0CFA6D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2547" y="1814973"/>
            <a:ext cx="8758990" cy="4368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8058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7359A1-1480-445B-BD5A-59B2910963BF}"/>
              </a:ext>
            </a:extLst>
          </p:cNvPr>
          <p:cNvSpPr txBox="1"/>
          <p:nvPr/>
        </p:nvSpPr>
        <p:spPr>
          <a:xfrm>
            <a:off x="84221" y="0"/>
            <a:ext cx="11887200" cy="923330"/>
          </a:xfrm>
          <a:prstGeom prst="rect">
            <a:avLst/>
          </a:prstGeom>
          <a:noFill/>
        </p:spPr>
        <p:txBody>
          <a:bodyPr wrap="square">
            <a:spAutoFit/>
          </a:bodyPr>
          <a:lstStyle/>
          <a:p>
            <a:pPr algn="l"/>
            <a:r>
              <a:rPr lang="en-US" b="1" dirty="0">
                <a:solidFill>
                  <a:schemeClr val="tx1">
                    <a:lumMod val="95000"/>
                    <a:lumOff val="5000"/>
                  </a:schemeClr>
                </a:solidFill>
                <a:effectLst/>
                <a:latin typeface="Open Sans" panose="020B0606030504020204" pitchFamily="34" charset="0"/>
              </a:rPr>
              <a:t>Scrum Master</a:t>
            </a:r>
          </a:p>
          <a:p>
            <a:pPr algn="l"/>
            <a:r>
              <a:rPr lang="en-US" b="0" i="0" dirty="0">
                <a:solidFill>
                  <a:schemeClr val="tx1">
                    <a:lumMod val="95000"/>
                    <a:lumOff val="5000"/>
                  </a:schemeClr>
                </a:solidFill>
                <a:effectLst/>
                <a:latin typeface="Open Sans" panose="020B0606030504020204" pitchFamily="34" charset="0"/>
              </a:rPr>
              <a:t>A scrum master is the facilitator for a product development team that uses scrum. The scrum master manages the process for how information is exchanged.</a:t>
            </a:r>
          </a:p>
        </p:txBody>
      </p:sp>
      <p:pic>
        <p:nvPicPr>
          <p:cNvPr id="3074" name="Picture 2" descr="Scrum-Master">
            <a:extLst>
              <a:ext uri="{FF2B5EF4-FFF2-40B4-BE49-F238E27FC236}">
                <a16:creationId xmlns:a16="http://schemas.microsoft.com/office/drawing/2014/main" id="{4641E11F-EB42-4BE8-BA49-D940A4659D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8483" y="1120943"/>
            <a:ext cx="8085221" cy="495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3712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FFEE9A-2AE7-4ABE-B102-2090E23F1D79}"/>
              </a:ext>
            </a:extLst>
          </p:cNvPr>
          <p:cNvSpPr txBox="1"/>
          <p:nvPr/>
        </p:nvSpPr>
        <p:spPr>
          <a:xfrm>
            <a:off x="216568" y="0"/>
            <a:ext cx="11778916" cy="1569660"/>
          </a:xfrm>
          <a:prstGeom prst="rect">
            <a:avLst/>
          </a:prstGeom>
          <a:noFill/>
        </p:spPr>
        <p:txBody>
          <a:bodyPr wrap="square">
            <a:spAutoFit/>
          </a:bodyPr>
          <a:lstStyle/>
          <a:p>
            <a:pPr algn="l"/>
            <a:r>
              <a:rPr lang="en-US" sz="2000" b="1" dirty="0">
                <a:solidFill>
                  <a:schemeClr val="tx1">
                    <a:lumMod val="95000"/>
                    <a:lumOff val="5000"/>
                  </a:schemeClr>
                </a:solidFill>
                <a:effectLst/>
                <a:latin typeface="Times New Roman" panose="02020603050405020304" pitchFamily="18" charset="0"/>
                <a:cs typeface="Times New Roman" panose="02020603050405020304" pitchFamily="18" charset="0"/>
              </a:rPr>
              <a:t>Scrum Team</a:t>
            </a:r>
          </a:p>
          <a:p>
            <a:pPr algn="l"/>
            <a:r>
              <a:rPr lang="en-US"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A Scrum Team is a collection of individuals working together to deliver the requested and committed product increments.</a:t>
            </a:r>
          </a:p>
          <a:p>
            <a:pPr algn="l"/>
            <a:endParaRPr lang="en-US" dirty="0">
              <a:solidFill>
                <a:srgbClr val="8F9194"/>
              </a:solidFill>
              <a:latin typeface="Open Sans" panose="020B0606030504020204" pitchFamily="34" charset="0"/>
            </a:endParaRPr>
          </a:p>
          <a:p>
            <a:pPr algn="l"/>
            <a:endParaRPr lang="en-US" b="0" i="0" dirty="0">
              <a:solidFill>
                <a:srgbClr val="8F9194"/>
              </a:solidFill>
              <a:effectLst/>
              <a:latin typeface="Open Sans" panose="020B0606030504020204" pitchFamily="34" charset="0"/>
            </a:endParaRPr>
          </a:p>
        </p:txBody>
      </p:sp>
      <p:pic>
        <p:nvPicPr>
          <p:cNvPr id="4098" name="Picture 2" descr="Scrum-Team">
            <a:extLst>
              <a:ext uri="{FF2B5EF4-FFF2-40B4-BE49-F238E27FC236}">
                <a16:creationId xmlns:a16="http://schemas.microsoft.com/office/drawing/2014/main" id="{292DF7B5-8697-40D8-A51F-F5B2485F4B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4895" y="1477328"/>
            <a:ext cx="8349915" cy="4357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2032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C5D566-9C67-43DE-B989-AF4B927DBA33}"/>
              </a:ext>
            </a:extLst>
          </p:cNvPr>
          <p:cNvSpPr txBox="1"/>
          <p:nvPr/>
        </p:nvSpPr>
        <p:spPr>
          <a:xfrm>
            <a:off x="-1" y="0"/>
            <a:ext cx="12099236" cy="4524315"/>
          </a:xfrm>
          <a:prstGeom prst="rect">
            <a:avLst/>
          </a:prstGeom>
          <a:noFill/>
        </p:spPr>
        <p:txBody>
          <a:bodyPr wrap="square">
            <a:spAutoFit/>
          </a:bodyPr>
          <a:lstStyle/>
          <a:p>
            <a:pPr algn="l"/>
            <a:endParaRPr lang="en-US" sz="2400" b="0" i="0" dirty="0">
              <a:solidFill>
                <a:srgbClr val="212121"/>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The project manager often becomes the ScrumMaster. This is not always the case and there are many different transformation permutations. </a:t>
            </a:r>
          </a:p>
          <a:p>
            <a:pPr marL="342900" indent="-342900" algn="l">
              <a:buFont typeface="Wingdings" panose="05000000000000000000" pitchFamily="2" charset="2"/>
              <a:buChar char="Ø"/>
            </a:pPr>
            <a:endParaRPr lang="en-US" sz="24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For example, a project manager who has been serving as a domain or subject matter expert might be better positioned as the Product Owner. Or a project manager heading up a team of 50+ people may remain in that role and focus on overall project tasks such as procurement(tracing) and contract negotiation, while the Scrum teams on the project (remember, a Scrum team is 7 +/- 2 people, so a 50-person project will be made up of 6-10 Scrum teams) each have their own ScrumMaster. </a:t>
            </a:r>
          </a:p>
          <a:p>
            <a:pPr algn="l"/>
            <a:endParaRPr lang="en-US" sz="2400" dirty="0">
              <a:solidFill>
                <a:srgbClr val="575757"/>
              </a:solidFill>
              <a:latin typeface="Times New Roman" panose="02020603050405020304" pitchFamily="18" charset="0"/>
              <a:cs typeface="Times New Roman" panose="02020603050405020304" pitchFamily="18" charset="0"/>
            </a:endParaRPr>
          </a:p>
          <a:p>
            <a:pPr algn="l"/>
            <a:endParaRPr lang="en-US" sz="2400" b="0" i="0" dirty="0">
              <a:solidFill>
                <a:srgbClr val="575757"/>
              </a:solidFill>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44399FC-0C3A-40CA-9579-C18668069AEC}"/>
              </a:ext>
            </a:extLst>
          </p:cNvPr>
          <p:cNvPicPr>
            <a:picLocks noChangeAspect="1"/>
          </p:cNvPicPr>
          <p:nvPr/>
        </p:nvPicPr>
        <p:blipFill>
          <a:blip r:embed="rId2"/>
          <a:stretch>
            <a:fillRect/>
          </a:stretch>
        </p:blipFill>
        <p:spPr>
          <a:xfrm>
            <a:off x="4044778" y="3873201"/>
            <a:ext cx="3072713" cy="2805842"/>
          </a:xfrm>
          <a:prstGeom prst="rect">
            <a:avLst/>
          </a:prstGeom>
        </p:spPr>
      </p:pic>
    </p:spTree>
    <p:extLst>
      <p:ext uri="{BB962C8B-B14F-4D97-AF65-F5344CB8AC3E}">
        <p14:creationId xmlns:p14="http://schemas.microsoft.com/office/powerpoint/2010/main" val="184990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F404B7-946B-4634-A471-A3B07FED016F}"/>
              </a:ext>
            </a:extLst>
          </p:cNvPr>
          <p:cNvSpPr txBox="1"/>
          <p:nvPr/>
        </p:nvSpPr>
        <p:spPr>
          <a:xfrm>
            <a:off x="185530" y="62159"/>
            <a:ext cx="12006470" cy="6001643"/>
          </a:xfrm>
          <a:prstGeom prst="rect">
            <a:avLst/>
          </a:prstGeom>
          <a:noFill/>
        </p:spPr>
        <p:txBody>
          <a:bodyPr wrap="square">
            <a:spAutoFit/>
          </a:bodyPr>
          <a:lstStyle/>
          <a:p>
            <a:pPr algn="l"/>
            <a:r>
              <a:rPr lang="en-US" sz="2400" b="1" i="0" dirty="0">
                <a:solidFill>
                  <a:srgbClr val="212121"/>
                </a:solidFill>
                <a:effectLst/>
                <a:latin typeface="Times New Roman" panose="02020603050405020304" pitchFamily="18" charset="0"/>
                <a:cs typeface="Times New Roman" panose="02020603050405020304" pitchFamily="18" charset="0"/>
              </a:rPr>
              <a:t>Roles and Responsibilities</a:t>
            </a:r>
          </a:p>
          <a:p>
            <a:pPr algn="l"/>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There are only three roles in Scrum: the ScrumMaster, the Product Owner, and the Team.</a:t>
            </a:r>
          </a:p>
          <a:p>
            <a:pPr algn="l"/>
            <a:endPar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algn="l"/>
            <a:r>
              <a:rPr lang="en-US" sz="2400" b="1" i="0" dirty="0">
                <a:solidFill>
                  <a:schemeClr val="tx1">
                    <a:lumMod val="95000"/>
                    <a:lumOff val="5000"/>
                  </a:schemeClr>
                </a:solidFill>
                <a:effectLst/>
                <a:latin typeface="Times New Roman" panose="02020603050405020304" pitchFamily="18" charset="0"/>
                <a:cs typeface="Times New Roman" panose="02020603050405020304" pitchFamily="18" charset="0"/>
              </a:rPr>
              <a:t>The ScrumMaster </a:t>
            </a:r>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is the keeper of the process, the advocate for the team, and the protector of the team. They remove obstacles, facilitate team communication, mediate discussions within the team and negotiate with those external to the team. Above all, they exist in service to the team.</a:t>
            </a:r>
          </a:p>
          <a:p>
            <a:pPr algn="l"/>
            <a:endPar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algn="l"/>
            <a:r>
              <a:rPr lang="en-US" sz="2400" b="1" i="0" dirty="0">
                <a:solidFill>
                  <a:schemeClr val="tx1">
                    <a:lumMod val="95000"/>
                    <a:lumOff val="5000"/>
                  </a:schemeClr>
                </a:solidFill>
                <a:effectLst/>
                <a:latin typeface="Times New Roman" panose="02020603050405020304" pitchFamily="18" charset="0"/>
                <a:cs typeface="Times New Roman" panose="02020603050405020304" pitchFamily="18" charset="0"/>
              </a:rPr>
              <a:t>The Product Owner </a:t>
            </a:r>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represents the voice of the customer and has the authority to make decisions about the product. This person owns the product backlog and is responsible for communicating the vision to the team, and defining and prioritizing backlog items. The Product Owner works with the team on a daily basis to answer questions and provide product guidance.</a:t>
            </a:r>
          </a:p>
          <a:p>
            <a:pPr algn="l"/>
            <a:endPar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algn="l"/>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The Team consists of seven plus or minus two people who are jointly responsible for the delivery of the product. They own the estimates, make task commitments, and report daily status to each other in the daily scrum. They are self-organizing, meaning that structure appears without explicit intervention from the outside. </a:t>
            </a:r>
          </a:p>
        </p:txBody>
      </p:sp>
    </p:spTree>
    <p:extLst>
      <p:ext uri="{BB962C8B-B14F-4D97-AF65-F5344CB8AC3E}">
        <p14:creationId xmlns:p14="http://schemas.microsoft.com/office/powerpoint/2010/main" val="1811280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7045C0-B2AB-4E25-8D49-9897574E6B76}"/>
              </a:ext>
            </a:extLst>
          </p:cNvPr>
          <p:cNvSpPr txBox="1"/>
          <p:nvPr/>
        </p:nvSpPr>
        <p:spPr>
          <a:xfrm>
            <a:off x="0" y="1"/>
            <a:ext cx="12192000" cy="2800767"/>
          </a:xfrm>
          <a:prstGeom prst="rect">
            <a:avLst/>
          </a:prstGeom>
          <a:noFill/>
        </p:spPr>
        <p:txBody>
          <a:bodyPr wrap="square">
            <a:spAutoFit/>
          </a:bodyPr>
          <a:lstStyle/>
          <a:p>
            <a:pPr algn="l"/>
            <a:r>
              <a:rPr lang="en-US" sz="2400" b="1" dirty="0">
                <a:effectLst/>
                <a:latin typeface="Times New Roman" panose="02020603050405020304" pitchFamily="18" charset="0"/>
                <a:cs typeface="Times New Roman" panose="02020603050405020304" pitchFamily="18" charset="0"/>
              </a:rPr>
              <a:t>User Story</a:t>
            </a:r>
          </a:p>
          <a:p>
            <a:pPr algn="l"/>
            <a:r>
              <a:rPr lang="en-US" sz="2400" b="0" i="0" dirty="0">
                <a:effectLst/>
                <a:latin typeface="Times New Roman" panose="02020603050405020304" pitchFamily="18" charset="0"/>
                <a:cs typeface="Times New Roman" panose="02020603050405020304" pitchFamily="18" charset="0"/>
              </a:rPr>
              <a:t>A user story is a way used in Scrum to capture a description of a software feature from an end-user perspective. The User story describes the type of user, what they want and why. A user story helps to create a simplified description of a requirement.</a:t>
            </a:r>
          </a:p>
          <a:p>
            <a:pPr algn="l"/>
            <a:endParaRPr lang="en-US" sz="2000" dirty="0">
              <a:solidFill>
                <a:srgbClr val="8F9194"/>
              </a:solidFill>
              <a:latin typeface="Times New Roman" panose="02020603050405020304" pitchFamily="18" charset="0"/>
              <a:cs typeface="Times New Roman" panose="02020603050405020304" pitchFamily="18" charset="0"/>
            </a:endParaRPr>
          </a:p>
          <a:p>
            <a:pPr algn="l"/>
            <a:endParaRPr lang="en-US" sz="2000" b="0" i="0" dirty="0">
              <a:solidFill>
                <a:srgbClr val="8F9194"/>
              </a:solidFill>
              <a:effectLst/>
              <a:latin typeface="Times New Roman" panose="02020603050405020304" pitchFamily="18" charset="0"/>
              <a:cs typeface="Times New Roman" panose="02020603050405020304" pitchFamily="18" charset="0"/>
            </a:endParaRPr>
          </a:p>
          <a:p>
            <a:pPr algn="l"/>
            <a:endParaRPr lang="en-US" sz="2000" dirty="0">
              <a:solidFill>
                <a:srgbClr val="8F9194"/>
              </a:solidFill>
              <a:latin typeface="Times New Roman" panose="02020603050405020304" pitchFamily="18" charset="0"/>
              <a:cs typeface="Times New Roman" panose="02020603050405020304" pitchFamily="18" charset="0"/>
            </a:endParaRPr>
          </a:p>
          <a:p>
            <a:pPr algn="l"/>
            <a:endParaRPr lang="en-US" sz="2000" b="0" i="0" dirty="0">
              <a:solidFill>
                <a:srgbClr val="8F9194"/>
              </a:solidFill>
              <a:effectLst/>
              <a:latin typeface="Times New Roman" panose="02020603050405020304" pitchFamily="18" charset="0"/>
              <a:cs typeface="Times New Roman" panose="02020603050405020304" pitchFamily="18" charset="0"/>
            </a:endParaRPr>
          </a:p>
        </p:txBody>
      </p:sp>
      <p:pic>
        <p:nvPicPr>
          <p:cNvPr id="5124" name="Picture 4" descr="Scrum-User-Story">
            <a:extLst>
              <a:ext uri="{FF2B5EF4-FFF2-40B4-BE49-F238E27FC236}">
                <a16:creationId xmlns:a16="http://schemas.microsoft.com/office/drawing/2014/main" id="{A5AA543D-9CAA-4A54-9342-D9A2D53A80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9768" y="1983452"/>
            <a:ext cx="6015790" cy="42248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4421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59A21C-FE99-40FF-860E-BB464138384F}"/>
              </a:ext>
            </a:extLst>
          </p:cNvPr>
          <p:cNvSpPr txBox="1"/>
          <p:nvPr/>
        </p:nvSpPr>
        <p:spPr>
          <a:xfrm>
            <a:off x="120317" y="0"/>
            <a:ext cx="9301412" cy="369332"/>
          </a:xfrm>
          <a:prstGeom prst="rect">
            <a:avLst/>
          </a:prstGeom>
          <a:noFill/>
        </p:spPr>
        <p:txBody>
          <a:bodyPr wrap="square">
            <a:spAutoFit/>
          </a:bodyPr>
          <a:lstStyle/>
          <a:p>
            <a:pPr algn="l"/>
            <a:r>
              <a:rPr lang="en-IN" b="1" dirty="0">
                <a:solidFill>
                  <a:schemeClr val="tx1">
                    <a:lumMod val="95000"/>
                    <a:lumOff val="5000"/>
                  </a:schemeClr>
                </a:solidFill>
                <a:effectLst/>
                <a:latin typeface="Open Sans" panose="020B0606030504020204" pitchFamily="34" charset="0"/>
              </a:rPr>
              <a:t>Product Backlog</a:t>
            </a:r>
          </a:p>
        </p:txBody>
      </p:sp>
      <p:sp>
        <p:nvSpPr>
          <p:cNvPr id="5" name="TextBox 4">
            <a:extLst>
              <a:ext uri="{FF2B5EF4-FFF2-40B4-BE49-F238E27FC236}">
                <a16:creationId xmlns:a16="http://schemas.microsoft.com/office/drawing/2014/main" id="{EC6713D7-707A-4982-AD17-B9337DFAF533}"/>
              </a:ext>
            </a:extLst>
          </p:cNvPr>
          <p:cNvSpPr txBox="1"/>
          <p:nvPr/>
        </p:nvSpPr>
        <p:spPr>
          <a:xfrm>
            <a:off x="120316" y="369332"/>
            <a:ext cx="11790947" cy="3046988"/>
          </a:xfrm>
          <a:prstGeom prst="rect">
            <a:avLst/>
          </a:prstGeom>
          <a:noFill/>
        </p:spPr>
        <p:txBody>
          <a:bodyPr wrap="square">
            <a:spAutoFit/>
          </a:bodyPr>
          <a:lstStyle/>
          <a:p>
            <a:pPr algn="l"/>
            <a:r>
              <a:rPr lang="en-US" sz="2400" b="0" i="0" dirty="0">
                <a:effectLst/>
                <a:latin typeface="Times New Roman" panose="02020603050405020304" pitchFamily="18" charset="0"/>
                <a:cs typeface="Times New Roman" panose="02020603050405020304" pitchFamily="18" charset="0"/>
              </a:rPr>
              <a:t>Product Backlog is simply a list of all things that needs to be done within the project. </a:t>
            </a:r>
            <a:endParaRPr lang="en-US" sz="2400" b="0" i="0" dirty="0">
              <a:solidFill>
                <a:srgbClr val="282929"/>
              </a:solidFill>
              <a:effectLst/>
              <a:latin typeface="var(--med-font)"/>
            </a:endParaRPr>
          </a:p>
          <a:p>
            <a:pPr algn="l"/>
            <a:endParaRPr lang="en-US" sz="2400" b="0" i="0" dirty="0">
              <a:effectLst/>
              <a:latin typeface="Times New Roman" panose="02020603050405020304" pitchFamily="18" charset="0"/>
              <a:cs typeface="Times New Roman" panose="02020603050405020304" pitchFamily="18" charset="0"/>
            </a:endParaRPr>
          </a:p>
          <a:p>
            <a:pPr algn="l"/>
            <a:r>
              <a:rPr lang="en-US" sz="2400" b="1" i="0" dirty="0">
                <a:solidFill>
                  <a:schemeClr val="tx1">
                    <a:lumMod val="95000"/>
                    <a:lumOff val="5000"/>
                  </a:schemeClr>
                </a:solidFill>
                <a:effectLst/>
                <a:latin typeface="Open Sans" panose="020B0606030504020204" pitchFamily="34" charset="0"/>
              </a:rPr>
              <a:t>Product Backlog Items</a:t>
            </a:r>
            <a:r>
              <a:rPr lang="en-US" sz="2400" b="0" i="0" dirty="0">
                <a:solidFill>
                  <a:schemeClr val="tx1">
                    <a:lumMod val="95000"/>
                    <a:lumOff val="5000"/>
                  </a:schemeClr>
                </a:solidFill>
                <a:effectLst/>
                <a:latin typeface="Open Sans" panose="020B0606030504020204" pitchFamily="34" charset="0"/>
              </a:rPr>
              <a:t> (PBIs) are usually sorted by value, risk, priority, and necessity. It is a sequence of highest to lowest priority, with each entry having a unique order. Product to-do list entries at the top need to be developed immediately. The higher the ranking, the more urgent the product to-do list entry is, the more you need to think carefully and the more consistent your opinion on the value.</a:t>
            </a:r>
            <a:endPar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p:txBody>
      </p:sp>
      <p:pic>
        <p:nvPicPr>
          <p:cNvPr id="6146" name="Picture 2" descr="Scrum-Product-Backlog">
            <a:extLst>
              <a:ext uri="{FF2B5EF4-FFF2-40B4-BE49-F238E27FC236}">
                <a16:creationId xmlns:a16="http://schemas.microsoft.com/office/drawing/2014/main" id="{BC63311B-686C-48C3-BF98-B9B5290F17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3946" y="3429000"/>
            <a:ext cx="5321643" cy="26141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8520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crum Product Backlog">
            <a:extLst>
              <a:ext uri="{FF2B5EF4-FFF2-40B4-BE49-F238E27FC236}">
                <a16:creationId xmlns:a16="http://schemas.microsoft.com/office/drawing/2014/main" id="{36CEF6BD-44D7-4EC7-A503-5891435249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0459" y="434546"/>
            <a:ext cx="4461561" cy="5988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0965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A0241E-A8F0-479D-9B3B-5EC2F9EFD7C3}"/>
              </a:ext>
            </a:extLst>
          </p:cNvPr>
          <p:cNvSpPr txBox="1"/>
          <p:nvPr/>
        </p:nvSpPr>
        <p:spPr>
          <a:xfrm>
            <a:off x="180473" y="0"/>
            <a:ext cx="11905509" cy="2400657"/>
          </a:xfrm>
          <a:prstGeom prst="rect">
            <a:avLst/>
          </a:prstGeom>
          <a:noFill/>
        </p:spPr>
        <p:txBody>
          <a:bodyPr wrap="square">
            <a:spAutoFit/>
          </a:bodyPr>
          <a:lstStyle/>
          <a:p>
            <a:pPr algn="l"/>
            <a:r>
              <a:rPr lang="en-US" b="1" dirty="0">
                <a:solidFill>
                  <a:schemeClr val="bg2">
                    <a:lumMod val="10000"/>
                  </a:schemeClr>
                </a:solidFill>
                <a:effectLst/>
                <a:latin typeface="Open Sans" panose="020B0606030504020204" pitchFamily="34" charset="0"/>
              </a:rPr>
              <a:t>Sprint</a:t>
            </a:r>
          </a:p>
          <a:p>
            <a:pPr algn="l"/>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In the Scrum method of Agile software development, work is confined to a regular, repeatable work cycle, known as a sprint or iteration.</a:t>
            </a:r>
            <a:b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br>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Scrum sprints used to be 30 days long, but today many teams prefer shorter sprints, such as one-week or two-week sprints.</a:t>
            </a:r>
          </a:p>
          <a:p>
            <a:br>
              <a:rPr lang="en-US" dirty="0"/>
            </a:br>
            <a:endParaRPr lang="en-IN" dirty="0"/>
          </a:p>
        </p:txBody>
      </p:sp>
      <p:pic>
        <p:nvPicPr>
          <p:cNvPr id="7170" name="Picture 2" descr="Scrum-Sprint">
            <a:extLst>
              <a:ext uri="{FF2B5EF4-FFF2-40B4-BE49-F238E27FC236}">
                <a16:creationId xmlns:a16="http://schemas.microsoft.com/office/drawing/2014/main" id="{5CBB3981-300C-4B1B-BEEA-260893747C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75" y="2238375"/>
            <a:ext cx="619125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0956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is Sprint 0? – DSRUPTR">
            <a:extLst>
              <a:ext uri="{FF2B5EF4-FFF2-40B4-BE49-F238E27FC236}">
                <a16:creationId xmlns:a16="http://schemas.microsoft.com/office/drawing/2014/main" id="{798667AE-DCF9-4855-A89E-33B4B98161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6070" y="1476462"/>
            <a:ext cx="10318457" cy="3909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189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3A3F9D-6359-493A-A12C-CB8A352A3A82}"/>
              </a:ext>
            </a:extLst>
          </p:cNvPr>
          <p:cNvSpPr>
            <a:spLocks noGrp="1"/>
          </p:cNvSpPr>
          <p:nvPr>
            <p:ph idx="1"/>
          </p:nvPr>
        </p:nvSpPr>
        <p:spPr>
          <a:xfrm>
            <a:off x="238539" y="304800"/>
            <a:ext cx="11542643" cy="6334539"/>
          </a:xfrm>
        </p:spPr>
        <p:txBody>
          <a:bodyPr/>
          <a:lstStyle/>
          <a:p>
            <a:pPr algn="just"/>
            <a:r>
              <a:rPr lang="en-US" b="0" i="0" dirty="0">
                <a:solidFill>
                  <a:srgbClr val="610B38"/>
                </a:solidFill>
                <a:effectLst/>
                <a:latin typeface="erdana"/>
              </a:rPr>
              <a:t>What are sprints?</a:t>
            </a:r>
          </a:p>
          <a:p>
            <a:pPr algn="just"/>
            <a:r>
              <a:rPr lang="en-US" b="0" i="0" dirty="0">
                <a:solidFill>
                  <a:srgbClr val="333333"/>
                </a:solidFill>
                <a:effectLst/>
                <a:latin typeface="inter-regular"/>
              </a:rPr>
              <a:t>With scrum, a product is built in a series of repetition called </a:t>
            </a:r>
            <a:r>
              <a:rPr lang="en-US" b="1" i="0" dirty="0">
                <a:solidFill>
                  <a:srgbClr val="333333"/>
                </a:solidFill>
                <a:effectLst/>
                <a:latin typeface="inter-bold"/>
              </a:rPr>
              <a:t>sprints</a:t>
            </a:r>
            <a:r>
              <a:rPr lang="en-US" b="0" i="0" dirty="0">
                <a:solidFill>
                  <a:srgbClr val="333333"/>
                </a:solidFill>
                <a:effectLst/>
                <a:latin typeface="inter-regular"/>
              </a:rPr>
              <a:t>. It breaks down big complex projects into bite-size pieces. It makes projects more manageable, allows teams to ship high quality, work faster, and more frequently. The sprints give them more flexibility to adapt to the changes.</a:t>
            </a:r>
          </a:p>
          <a:p>
            <a:r>
              <a:rPr lang="en-US" b="0" i="0" dirty="0">
                <a:solidFill>
                  <a:srgbClr val="333333"/>
                </a:solidFill>
                <a:effectLst/>
                <a:latin typeface="inter-regular"/>
              </a:rPr>
              <a:t>Sprints are a short, time-boxed period for Scrum team that works to complete a set amount of work. Sprints are the core component of Scrum and agile methodology. The right sprints will help our agile team to ship better software.</a:t>
            </a:r>
            <a:endParaRPr lang="en-IN" dirty="0"/>
          </a:p>
        </p:txBody>
      </p:sp>
    </p:spTree>
    <p:extLst>
      <p:ext uri="{BB962C8B-B14F-4D97-AF65-F5344CB8AC3E}">
        <p14:creationId xmlns:p14="http://schemas.microsoft.com/office/powerpoint/2010/main" val="2683883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What Are Sprints? - Hygger.io Guides">
            <a:extLst>
              <a:ext uri="{FF2B5EF4-FFF2-40B4-BE49-F238E27FC236}">
                <a16:creationId xmlns:a16="http://schemas.microsoft.com/office/drawing/2014/main" id="{39AB628C-12FB-41B1-9BCA-6D7673A2A9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0"/>
            <a:ext cx="11430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439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6029CF-76E3-448F-A323-EE857819C07C}"/>
              </a:ext>
            </a:extLst>
          </p:cNvPr>
          <p:cNvSpPr>
            <a:spLocks noGrp="1"/>
          </p:cNvSpPr>
          <p:nvPr>
            <p:ph idx="1"/>
          </p:nvPr>
        </p:nvSpPr>
        <p:spPr>
          <a:xfrm>
            <a:off x="212035" y="172278"/>
            <a:ext cx="11794435" cy="6586331"/>
          </a:xfrm>
        </p:spPr>
        <p:txBody>
          <a:bodyPr/>
          <a:lstStyle/>
          <a:p>
            <a:pPr algn="just"/>
            <a:r>
              <a:rPr lang="en-US" b="0" i="0" dirty="0">
                <a:solidFill>
                  <a:srgbClr val="610B38"/>
                </a:solidFill>
                <a:effectLst/>
                <a:latin typeface="erdana"/>
              </a:rPr>
              <a:t>What is sprint plan?</a:t>
            </a:r>
          </a:p>
          <a:p>
            <a:pPr algn="just"/>
            <a:r>
              <a:rPr lang="en-US" b="0" i="0" dirty="0">
                <a:solidFill>
                  <a:srgbClr val="333333"/>
                </a:solidFill>
                <a:effectLst/>
                <a:latin typeface="inter-regular"/>
              </a:rPr>
              <a:t>Sprint plan is an action in Scrum that kicks off the sprint. The primary purpose of sprint plan is to define what can deliver in the sprint. It also focuses on how the work will be achieved. It is done in combination with the whole Scrum team members.</a:t>
            </a:r>
          </a:p>
          <a:p>
            <a:pPr algn="just"/>
            <a:r>
              <a:rPr lang="en-US" b="0" i="0" dirty="0">
                <a:solidFill>
                  <a:srgbClr val="333333"/>
                </a:solidFill>
                <a:effectLst/>
                <a:latin typeface="inter-regular"/>
              </a:rPr>
              <a:t>The sprint is a set of the period where all the work to be done. Before we start the development, we have to set up the sprint. We need to describe how long time is required to achieve the sprint goal and where we are going to start.</a:t>
            </a:r>
          </a:p>
          <a:p>
            <a:endParaRPr lang="en-IN" dirty="0"/>
          </a:p>
        </p:txBody>
      </p:sp>
    </p:spTree>
    <p:extLst>
      <p:ext uri="{BB962C8B-B14F-4D97-AF65-F5344CB8AC3E}">
        <p14:creationId xmlns:p14="http://schemas.microsoft.com/office/powerpoint/2010/main" val="1261703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gile Scrum">
            <a:extLst>
              <a:ext uri="{FF2B5EF4-FFF2-40B4-BE49-F238E27FC236}">
                <a16:creationId xmlns:a16="http://schemas.microsoft.com/office/drawing/2014/main" id="{F7AD96F3-E709-47BC-8548-B5E136F8482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0817" y="225708"/>
            <a:ext cx="11277599" cy="66322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979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B96EAA-71C9-48C1-A417-A537493FBCC1}"/>
              </a:ext>
            </a:extLst>
          </p:cNvPr>
          <p:cNvSpPr>
            <a:spLocks noGrp="1"/>
          </p:cNvSpPr>
          <p:nvPr>
            <p:ph idx="1"/>
          </p:nvPr>
        </p:nvSpPr>
        <p:spPr>
          <a:xfrm>
            <a:off x="119270" y="159026"/>
            <a:ext cx="11900451" cy="6440557"/>
          </a:xfrm>
        </p:spPr>
        <p:txBody>
          <a:bodyPr>
            <a:normAutofit/>
          </a:bodyPr>
          <a:lstStyle/>
          <a:p>
            <a:pPr algn="just"/>
            <a:r>
              <a:rPr lang="en-US" b="0" i="0" dirty="0">
                <a:solidFill>
                  <a:srgbClr val="610B38"/>
                </a:solidFill>
                <a:effectLst/>
                <a:latin typeface="erdana"/>
              </a:rPr>
              <a:t>Factors affecting Sprint planning</a:t>
            </a:r>
          </a:p>
          <a:p>
            <a:pPr algn="just">
              <a:buFont typeface="Arial" panose="020B0604020202020204" pitchFamily="34" charset="0"/>
              <a:buChar char="•"/>
            </a:pPr>
            <a:r>
              <a:rPr lang="en-US" b="1" i="0" dirty="0">
                <a:solidFill>
                  <a:srgbClr val="000000"/>
                </a:solidFill>
                <a:effectLst/>
                <a:latin typeface="inter-bold"/>
              </a:rPr>
              <a:t>The What:</a:t>
            </a:r>
            <a:r>
              <a:rPr lang="en-US" b="0" i="0" dirty="0">
                <a:solidFill>
                  <a:srgbClr val="000000"/>
                </a:solidFill>
                <a:effectLst/>
                <a:latin typeface="inter-regular"/>
              </a:rPr>
              <a:t> The product owner describes the goal of the sprint and the backlog items which contribute to achieve that goal.</a:t>
            </a:r>
          </a:p>
          <a:p>
            <a:pPr algn="just">
              <a:buFont typeface="Arial" panose="020B0604020202020204" pitchFamily="34" charset="0"/>
              <a:buChar char="•"/>
            </a:pPr>
            <a:r>
              <a:rPr lang="en-US" b="1" i="0" dirty="0">
                <a:solidFill>
                  <a:srgbClr val="000000"/>
                </a:solidFill>
                <a:effectLst/>
                <a:latin typeface="inter-bold"/>
              </a:rPr>
              <a:t>The How:</a:t>
            </a:r>
            <a:r>
              <a:rPr lang="en-US" b="0" i="0" dirty="0">
                <a:solidFill>
                  <a:srgbClr val="000000"/>
                </a:solidFill>
                <a:effectLst/>
                <a:latin typeface="inter-regular"/>
              </a:rPr>
              <a:t> Agile development team plans its necessary work on how to achieve and deliver the sprint goal.</a:t>
            </a:r>
          </a:p>
          <a:p>
            <a:pPr algn="just">
              <a:buFont typeface="Arial" panose="020B0604020202020204" pitchFamily="34" charset="0"/>
              <a:buChar char="•"/>
            </a:pPr>
            <a:r>
              <a:rPr lang="en-US" b="1" i="0" dirty="0">
                <a:solidFill>
                  <a:srgbClr val="000000"/>
                </a:solidFill>
                <a:effectLst/>
                <a:latin typeface="inter-bold"/>
              </a:rPr>
              <a:t>The Who:</a:t>
            </a:r>
            <a:r>
              <a:rPr lang="en-US" b="0" i="0" dirty="0">
                <a:solidFill>
                  <a:srgbClr val="000000"/>
                </a:solidFill>
                <a:effectLst/>
                <a:latin typeface="inter-regular"/>
              </a:rPr>
              <a:t> The product owner defines the goal based on the value that the customers seek. And the developer needs to understand how they can or cannot deliver that goal.</a:t>
            </a:r>
          </a:p>
          <a:p>
            <a:pPr algn="just">
              <a:buFont typeface="Arial" panose="020B0604020202020204" pitchFamily="34" charset="0"/>
              <a:buChar char="•"/>
            </a:pPr>
            <a:r>
              <a:rPr lang="en-US" b="1" i="0" dirty="0">
                <a:solidFill>
                  <a:srgbClr val="000000"/>
                </a:solidFill>
                <a:effectLst/>
                <a:latin typeface="inter-bold"/>
              </a:rPr>
              <a:t>The Inputs:</a:t>
            </a:r>
            <a:r>
              <a:rPr lang="en-US" b="0" i="0" dirty="0">
                <a:solidFill>
                  <a:srgbClr val="000000"/>
                </a:solidFill>
                <a:effectLst/>
                <a:latin typeface="inter-regular"/>
              </a:rPr>
              <a:t> The product backlog provides the list of input stuff that could potentially be part of the current sprint. The team looks over the existing work done in incremental ways.</a:t>
            </a:r>
          </a:p>
          <a:p>
            <a:pPr algn="just">
              <a:buFont typeface="Arial" panose="020B0604020202020204" pitchFamily="34" charset="0"/>
              <a:buChar char="•"/>
            </a:pPr>
            <a:r>
              <a:rPr lang="en-US" b="1" i="0" dirty="0">
                <a:solidFill>
                  <a:srgbClr val="000000"/>
                </a:solidFill>
                <a:effectLst/>
                <a:latin typeface="inter-bold"/>
              </a:rPr>
              <a:t>The Outputs:</a:t>
            </a:r>
            <a:r>
              <a:rPr lang="en-US" b="0" i="0" dirty="0">
                <a:solidFill>
                  <a:srgbClr val="000000"/>
                </a:solidFill>
                <a:effectLst/>
                <a:latin typeface="inter-regular"/>
              </a:rPr>
              <a:t> The critical outcome of sprint planning is to meet described team goal. The product set the goal of sprint and how they will start working towards the goal.</a:t>
            </a:r>
          </a:p>
          <a:p>
            <a:endParaRPr lang="en-IN" dirty="0"/>
          </a:p>
        </p:txBody>
      </p:sp>
    </p:spTree>
    <p:extLst>
      <p:ext uri="{BB962C8B-B14F-4D97-AF65-F5344CB8AC3E}">
        <p14:creationId xmlns:p14="http://schemas.microsoft.com/office/powerpoint/2010/main" val="2214538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gile Scrum">
            <a:extLst>
              <a:ext uri="{FF2B5EF4-FFF2-40B4-BE49-F238E27FC236}">
                <a16:creationId xmlns:a16="http://schemas.microsoft.com/office/drawing/2014/main" id="{E02BDADF-90F0-4BC3-86D8-BEE64601F13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85461" y="343450"/>
            <a:ext cx="10204173" cy="617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23959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C1F09C-4138-43A5-8922-20849EB6084C}"/>
              </a:ext>
            </a:extLst>
          </p:cNvPr>
          <p:cNvSpPr txBox="1"/>
          <p:nvPr/>
        </p:nvSpPr>
        <p:spPr>
          <a:xfrm>
            <a:off x="0" y="1"/>
            <a:ext cx="11923295" cy="1754326"/>
          </a:xfrm>
          <a:prstGeom prst="rect">
            <a:avLst/>
          </a:prstGeom>
          <a:noFill/>
        </p:spPr>
        <p:txBody>
          <a:bodyPr wrap="square">
            <a:spAutoFit/>
          </a:bodyPr>
          <a:lstStyle/>
          <a:p>
            <a:pPr algn="l"/>
            <a:r>
              <a:rPr lang="en-US" b="1" dirty="0">
                <a:solidFill>
                  <a:schemeClr val="tx1">
                    <a:lumMod val="95000"/>
                    <a:lumOff val="5000"/>
                  </a:schemeClr>
                </a:solidFill>
                <a:effectLst/>
                <a:latin typeface="Open Sans" panose="020B0606030504020204" pitchFamily="34" charset="0"/>
              </a:rPr>
              <a:t>Sprint Backlog</a:t>
            </a:r>
          </a:p>
          <a:p>
            <a:pPr algn="l"/>
            <a:r>
              <a:rPr lang="en-US" b="0" i="0" dirty="0">
                <a:solidFill>
                  <a:schemeClr val="tx1">
                    <a:lumMod val="95000"/>
                    <a:lumOff val="5000"/>
                  </a:schemeClr>
                </a:solidFill>
                <a:effectLst/>
                <a:latin typeface="Open Sans" panose="020B0606030504020204" pitchFamily="34" charset="0"/>
              </a:rPr>
              <a:t>The sprint backlog is a list of tasks identified by the Scrum team to be completed during the Scrum sprint.</a:t>
            </a:r>
          </a:p>
          <a:p>
            <a:pPr algn="l"/>
            <a:r>
              <a:rPr lang="en-US" b="0" i="0" dirty="0">
                <a:solidFill>
                  <a:schemeClr val="tx1">
                    <a:lumMod val="95000"/>
                    <a:lumOff val="5000"/>
                  </a:schemeClr>
                </a:solidFill>
                <a:effectLst/>
                <a:latin typeface="Open Sans" panose="020B0606030504020204" pitchFamily="34" charset="0"/>
              </a:rPr>
              <a:t>During the sprint planning meeting, the team selects some number of product backlog items, usually in the form of user stories, and identifies the tasks necessary to complete each user story.</a:t>
            </a:r>
          </a:p>
          <a:p>
            <a:br>
              <a:rPr lang="en-US" dirty="0"/>
            </a:br>
            <a:endParaRPr lang="en-IN" dirty="0"/>
          </a:p>
        </p:txBody>
      </p:sp>
      <p:pic>
        <p:nvPicPr>
          <p:cNvPr id="14" name="Picture 13">
            <a:extLst>
              <a:ext uri="{FF2B5EF4-FFF2-40B4-BE49-F238E27FC236}">
                <a16:creationId xmlns:a16="http://schemas.microsoft.com/office/drawing/2014/main" id="{2404A111-52BC-4573-99B1-D1AEDE864B74}"/>
              </a:ext>
            </a:extLst>
          </p:cNvPr>
          <p:cNvPicPr>
            <a:picLocks noChangeAspect="1"/>
          </p:cNvPicPr>
          <p:nvPr/>
        </p:nvPicPr>
        <p:blipFill>
          <a:blip r:embed="rId2"/>
          <a:stretch>
            <a:fillRect/>
          </a:stretch>
        </p:blipFill>
        <p:spPr>
          <a:xfrm>
            <a:off x="2480259" y="1503696"/>
            <a:ext cx="6962775" cy="4524375"/>
          </a:xfrm>
          <a:prstGeom prst="rect">
            <a:avLst/>
          </a:prstGeom>
        </p:spPr>
      </p:pic>
    </p:spTree>
    <p:extLst>
      <p:ext uri="{BB962C8B-B14F-4D97-AF65-F5344CB8AC3E}">
        <p14:creationId xmlns:p14="http://schemas.microsoft.com/office/powerpoint/2010/main" val="42507985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Scrum-Sprint-Planning-Meeting">
            <a:extLst>
              <a:ext uri="{FF2B5EF4-FFF2-40B4-BE49-F238E27FC236}">
                <a16:creationId xmlns:a16="http://schemas.microsoft.com/office/drawing/2014/main" id="{875B856C-6F88-4982-9688-B880DC6AF5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75" y="2338388"/>
            <a:ext cx="6191250" cy="21812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8B743B5-0BEE-49C4-8E75-92BC99821686}"/>
              </a:ext>
            </a:extLst>
          </p:cNvPr>
          <p:cNvSpPr txBox="1"/>
          <p:nvPr/>
        </p:nvSpPr>
        <p:spPr>
          <a:xfrm>
            <a:off x="156411" y="156412"/>
            <a:ext cx="11598442" cy="2031325"/>
          </a:xfrm>
          <a:prstGeom prst="rect">
            <a:avLst/>
          </a:prstGeom>
          <a:noFill/>
        </p:spPr>
        <p:txBody>
          <a:bodyPr wrap="square">
            <a:spAutoFit/>
          </a:bodyPr>
          <a:lstStyle/>
          <a:p>
            <a:pPr algn="l"/>
            <a:r>
              <a:rPr lang="en-US" b="1" dirty="0">
                <a:solidFill>
                  <a:srgbClr val="45474B"/>
                </a:solidFill>
                <a:effectLst/>
                <a:latin typeface="Open Sans" panose="020B0606030504020204" pitchFamily="34" charset="0"/>
              </a:rPr>
              <a:t>Sprint Planning Meeting</a:t>
            </a:r>
          </a:p>
          <a:p>
            <a:pPr algn="l"/>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The Sprint Planning Meeting is the first meeting to kick off the sprint. It is attended by the ScrumMaster, Development Team and the Product Owner, along with interested and invited stakeholders.</a:t>
            </a:r>
          </a:p>
          <a:p>
            <a:br>
              <a:rPr lang="en-US" dirty="0"/>
            </a:br>
            <a:endParaRPr lang="en-IN" dirty="0"/>
          </a:p>
        </p:txBody>
      </p:sp>
    </p:spTree>
    <p:extLst>
      <p:ext uri="{BB962C8B-B14F-4D97-AF65-F5344CB8AC3E}">
        <p14:creationId xmlns:p14="http://schemas.microsoft.com/office/powerpoint/2010/main" val="39281200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B48177-99CD-4B15-BC4D-002D3A21B963}"/>
              </a:ext>
            </a:extLst>
          </p:cNvPr>
          <p:cNvSpPr>
            <a:spLocks noGrp="1"/>
          </p:cNvSpPr>
          <p:nvPr>
            <p:ph idx="1"/>
          </p:nvPr>
        </p:nvSpPr>
        <p:spPr>
          <a:xfrm>
            <a:off x="384313" y="238539"/>
            <a:ext cx="10969487" cy="5938424"/>
          </a:xfrm>
        </p:spPr>
        <p:txBody>
          <a:bodyPr/>
          <a:lstStyle/>
          <a:p>
            <a:pPr algn="just"/>
            <a:r>
              <a:rPr lang="en-US" b="0" i="0" dirty="0">
                <a:solidFill>
                  <a:srgbClr val="610B38"/>
                </a:solidFill>
                <a:effectLst/>
                <a:latin typeface="erdana"/>
              </a:rPr>
              <a:t>Backlog starts with the two "R"s</a:t>
            </a:r>
          </a:p>
          <a:p>
            <a:pPr algn="just"/>
            <a:r>
              <a:rPr lang="en-US" b="0" i="0" dirty="0">
                <a:solidFill>
                  <a:srgbClr val="333333"/>
                </a:solidFill>
                <a:effectLst/>
                <a:latin typeface="inter-regular"/>
              </a:rPr>
              <a:t>The fundamental product backlog is provided by a team's </a:t>
            </a:r>
            <a:r>
              <a:rPr lang="en-US" b="1" i="0" dirty="0">
                <a:solidFill>
                  <a:srgbClr val="333333"/>
                </a:solidFill>
                <a:effectLst/>
                <a:latin typeface="inter-bold"/>
              </a:rPr>
              <a:t>roadmap</a:t>
            </a:r>
            <a:r>
              <a:rPr lang="en-US" b="0" i="0" dirty="0">
                <a:solidFill>
                  <a:srgbClr val="333333"/>
                </a:solidFill>
                <a:effectLst/>
                <a:latin typeface="inter-regular"/>
              </a:rPr>
              <a:t> and </a:t>
            </a:r>
            <a:r>
              <a:rPr lang="en-US" b="1" i="0" dirty="0">
                <a:solidFill>
                  <a:srgbClr val="333333"/>
                </a:solidFill>
                <a:effectLst/>
                <a:latin typeface="inter-bold"/>
              </a:rPr>
              <a:t>requirements</a:t>
            </a:r>
            <a:r>
              <a:rPr lang="en-US" b="0" i="0" dirty="0">
                <a:solidFill>
                  <a:srgbClr val="333333"/>
                </a:solidFill>
                <a:effectLst/>
                <a:latin typeface="inter-regular"/>
              </a:rPr>
              <a:t>. Roadmap repetition breaks down into several epics, and each epic will have several requirements and user stories.</a:t>
            </a:r>
          </a:p>
          <a:p>
            <a:pPr algn="just"/>
            <a:r>
              <a:rPr lang="en-US" b="0" i="0" dirty="0">
                <a:solidFill>
                  <a:srgbClr val="333333"/>
                </a:solidFill>
                <a:effectLst/>
                <a:latin typeface="inter-regular"/>
              </a:rPr>
              <a:t>The product owner organizes each of the customer stories into a single list. This story is organized for the development team. The product owner chooses to deliver first complete epic.</a:t>
            </a:r>
          </a:p>
          <a:p>
            <a:endParaRPr lang="en-IN" dirty="0"/>
          </a:p>
        </p:txBody>
      </p:sp>
    </p:spTree>
    <p:extLst>
      <p:ext uri="{BB962C8B-B14F-4D97-AF65-F5344CB8AC3E}">
        <p14:creationId xmlns:p14="http://schemas.microsoft.com/office/powerpoint/2010/main" val="2769150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Scrum-Meetings">
            <a:extLst>
              <a:ext uri="{FF2B5EF4-FFF2-40B4-BE49-F238E27FC236}">
                <a16:creationId xmlns:a16="http://schemas.microsoft.com/office/drawing/2014/main" id="{75ABE59E-4909-46CA-9418-71E7E653F0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2905" y="3046988"/>
            <a:ext cx="6191250" cy="37814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496F3C1-85DB-4948-A727-9D7D630BA68D}"/>
              </a:ext>
            </a:extLst>
          </p:cNvPr>
          <p:cNvSpPr txBox="1"/>
          <p:nvPr/>
        </p:nvSpPr>
        <p:spPr>
          <a:xfrm>
            <a:off x="98854" y="0"/>
            <a:ext cx="11944865" cy="3046988"/>
          </a:xfrm>
          <a:prstGeom prst="rect">
            <a:avLst/>
          </a:prstGeom>
          <a:noFill/>
        </p:spPr>
        <p:txBody>
          <a:bodyPr wrap="square">
            <a:spAutoFit/>
          </a:bodyPr>
          <a:lstStyle/>
          <a:p>
            <a:pPr algn="l"/>
            <a:r>
              <a:rPr lang="en-US" sz="2400" b="1" dirty="0">
                <a:solidFill>
                  <a:schemeClr val="tx1">
                    <a:lumMod val="95000"/>
                    <a:lumOff val="5000"/>
                  </a:schemeClr>
                </a:solidFill>
                <a:effectLst/>
                <a:latin typeface="Times New Roman" panose="02020603050405020304" pitchFamily="18" charset="0"/>
                <a:cs typeface="Times New Roman" panose="02020603050405020304" pitchFamily="18" charset="0"/>
              </a:rPr>
              <a:t>Daily Standup, Sprint Review &amp; Team Retrospective Meetings</a:t>
            </a:r>
          </a:p>
          <a:p>
            <a:pPr algn="l"/>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The daily Scrum meeting is a short everyday meeting, ideally during start of the working day. Each team member who works towards the completion of a given sprint needs to participate. During this meeting, each team member should briefly provide the answers of the following three questions:</a:t>
            </a:r>
          </a:p>
          <a:p>
            <a:pPr algn="l"/>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 What has he/she accomplished since the last daily Scrum meeting?</a:t>
            </a:r>
            <a:b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br>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 What is he/she is going to accomplish until the next Scrum meeting?</a:t>
            </a:r>
            <a:b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br>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 What are the impediments(obstacles) that prevent he/she from accomplishing his/her tasks?</a:t>
            </a:r>
          </a:p>
        </p:txBody>
      </p:sp>
    </p:spTree>
    <p:extLst>
      <p:ext uri="{BB962C8B-B14F-4D97-AF65-F5344CB8AC3E}">
        <p14:creationId xmlns:p14="http://schemas.microsoft.com/office/powerpoint/2010/main" val="26333944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40A0B3-8CD2-45E7-85BE-063E41F8BFED}"/>
              </a:ext>
            </a:extLst>
          </p:cNvPr>
          <p:cNvSpPr txBox="1"/>
          <p:nvPr/>
        </p:nvSpPr>
        <p:spPr>
          <a:xfrm>
            <a:off x="182479" y="107180"/>
            <a:ext cx="11827042" cy="1754326"/>
          </a:xfrm>
          <a:prstGeom prst="rect">
            <a:avLst/>
          </a:prstGeom>
          <a:noFill/>
        </p:spPr>
        <p:txBody>
          <a:bodyPr wrap="square">
            <a:spAutoFit/>
          </a:bodyPr>
          <a:lstStyle/>
          <a:p>
            <a:pPr algn="l"/>
            <a:r>
              <a:rPr lang="en-US" b="1" dirty="0">
                <a:solidFill>
                  <a:schemeClr val="tx1">
                    <a:lumMod val="95000"/>
                    <a:lumOff val="5000"/>
                  </a:schemeClr>
                </a:solidFill>
                <a:effectLst/>
                <a:latin typeface="Times New Roman" panose="02020603050405020304" pitchFamily="18" charset="0"/>
                <a:cs typeface="Times New Roman" panose="02020603050405020304" pitchFamily="18" charset="0"/>
              </a:rPr>
              <a:t>Burndown Charts</a:t>
            </a:r>
          </a:p>
          <a:p>
            <a:r>
              <a:rPr lang="en-US" b="0" i="0" dirty="0">
                <a:solidFill>
                  <a:srgbClr val="333333"/>
                </a:solidFill>
                <a:effectLst/>
                <a:latin typeface="Open Sans" panose="020B0606030504020204" pitchFamily="34" charset="0"/>
              </a:rPr>
              <a:t>What is Burndown Chart in Scrum?</a:t>
            </a:r>
          </a:p>
          <a:p>
            <a:pPr algn="l"/>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a:p>
            <a:pPr algn="l"/>
            <a:r>
              <a:rPr lang="en-US" b="0" i="0" dirty="0">
                <a:solidFill>
                  <a:srgbClr val="737C85"/>
                </a:solidFill>
                <a:effectLst/>
                <a:latin typeface="Open Sans" panose="020B0606030504020204" pitchFamily="34" charset="0"/>
              </a:rPr>
              <a:t>A burn down chart is a graphical representation of work left to do versus time. It is often used in agile</a:t>
            </a:r>
            <a:r>
              <a:rPr lang="en-US" b="1" i="0" u="none" strike="noStrike" dirty="0">
                <a:solidFill>
                  <a:srgbClr val="45AAF2"/>
                </a:solidFill>
                <a:effectLst/>
                <a:latin typeface="Open Sans" panose="020B0606030504020204" pitchFamily="34" charset="0"/>
                <a:hlinkClick r:id="rId2"/>
              </a:rPr>
              <a:t> software development</a:t>
            </a:r>
            <a:r>
              <a:rPr lang="en-US" b="0" i="0" dirty="0">
                <a:solidFill>
                  <a:srgbClr val="737C85"/>
                </a:solidFill>
                <a:effectLst/>
                <a:latin typeface="Open Sans" panose="020B0606030504020204" pitchFamily="34" charset="0"/>
              </a:rPr>
              <a:t> methodologies such as </a:t>
            </a:r>
            <a:r>
              <a:rPr lang="en-US" b="1" i="0" u="none" strike="noStrike" dirty="0">
                <a:solidFill>
                  <a:srgbClr val="45AAF2"/>
                </a:solidFill>
                <a:effectLst/>
                <a:latin typeface="Open Sans" panose="020B0606030504020204" pitchFamily="34" charset="0"/>
                <a:hlinkClick r:id="rId3"/>
              </a:rPr>
              <a:t>Scrum</a:t>
            </a:r>
            <a:r>
              <a:rPr lang="en-US" b="0" i="0" dirty="0">
                <a:solidFill>
                  <a:srgbClr val="737C85"/>
                </a:solidFill>
                <a:effectLst/>
                <a:latin typeface="Open Sans" panose="020B0606030504020204" pitchFamily="34" charset="0"/>
              </a:rPr>
              <a:t>. However, burn down charts can be applied to any project containing measurable progress over time.</a:t>
            </a:r>
            <a:endParaRPr lang="en-US" b="1" dirty="0">
              <a:solidFill>
                <a:schemeClr val="tx1">
                  <a:lumMod val="95000"/>
                  <a:lumOff val="5000"/>
                </a:schemeClr>
              </a:solidFill>
              <a:effectLst/>
              <a:latin typeface="Times New Roman" panose="02020603050405020304" pitchFamily="18" charset="0"/>
              <a:cs typeface="Times New Roman" panose="02020603050405020304" pitchFamily="18" charset="0"/>
            </a:endParaRPr>
          </a:p>
        </p:txBody>
      </p:sp>
      <p:pic>
        <p:nvPicPr>
          <p:cNvPr id="5122" name="Picture 2" descr="Burndown chart and emotion">
            <a:extLst>
              <a:ext uri="{FF2B5EF4-FFF2-40B4-BE49-F238E27FC236}">
                <a16:creationId xmlns:a16="http://schemas.microsoft.com/office/drawing/2014/main" id="{0B4E34AE-00AB-4436-9095-F92033FCA6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2473" y="2335214"/>
            <a:ext cx="6686506" cy="4254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24129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33D80A-1F2B-4D52-B965-03048062503A}"/>
              </a:ext>
            </a:extLst>
          </p:cNvPr>
          <p:cNvSpPr txBox="1"/>
          <p:nvPr/>
        </p:nvSpPr>
        <p:spPr>
          <a:xfrm>
            <a:off x="180474" y="120316"/>
            <a:ext cx="11789104" cy="3600986"/>
          </a:xfrm>
          <a:prstGeom prst="rect">
            <a:avLst/>
          </a:prstGeom>
          <a:noFill/>
        </p:spPr>
        <p:txBody>
          <a:bodyPr wrap="square">
            <a:spAutoFit/>
          </a:bodyPr>
          <a:lstStyle/>
          <a:p>
            <a:pPr algn="l"/>
            <a:r>
              <a:rPr lang="en-US" sz="2400" b="0" dirty="0">
                <a:solidFill>
                  <a:schemeClr val="tx1">
                    <a:lumMod val="95000"/>
                    <a:lumOff val="5000"/>
                  </a:schemeClr>
                </a:solidFill>
                <a:effectLst/>
                <a:latin typeface="Times New Roman" panose="02020603050405020304" pitchFamily="18" charset="0"/>
                <a:cs typeface="Times New Roman" panose="02020603050405020304" pitchFamily="18" charset="0"/>
              </a:rPr>
              <a:t>Impediments</a:t>
            </a:r>
          </a:p>
          <a:p>
            <a:pPr algn="l"/>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An Impediment is anything that keeps the Team from getting work Done. Impediments come in many forms:</a:t>
            </a:r>
          </a:p>
          <a:p>
            <a:pPr algn="l"/>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 A sick team member</a:t>
            </a:r>
            <a:b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br>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 A missing resource</a:t>
            </a:r>
            <a:b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br>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 Lack of management support</a:t>
            </a:r>
            <a:b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br>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 Even a cold team room or Slow connection</a:t>
            </a:r>
          </a:p>
          <a:p>
            <a:pPr algn="l"/>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If it’s blocking the team from doing its work, it’s an Impediment.</a:t>
            </a:r>
          </a:p>
          <a:p>
            <a:br>
              <a:rPr lang="en-US" dirty="0"/>
            </a:br>
            <a:endParaRPr lang="en-IN" dirty="0"/>
          </a:p>
        </p:txBody>
      </p:sp>
      <p:pic>
        <p:nvPicPr>
          <p:cNvPr id="11266" name="Picture 2" descr="Scrum-Impediments">
            <a:extLst>
              <a:ext uri="{FF2B5EF4-FFF2-40B4-BE49-F238E27FC236}">
                <a16:creationId xmlns:a16="http://schemas.microsoft.com/office/drawing/2014/main" id="{0890F164-1CF4-4CE0-BB64-ACCD38C28B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985" y="3543503"/>
            <a:ext cx="7321053" cy="3009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64726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is Scrum? - Definition &amp;amp; Terminology | Study.com">
            <a:extLst>
              <a:ext uri="{FF2B5EF4-FFF2-40B4-BE49-F238E27FC236}">
                <a16:creationId xmlns:a16="http://schemas.microsoft.com/office/drawing/2014/main" id="{44BB90EF-BEC4-4321-A5E6-ED18947566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7758" y="1350564"/>
            <a:ext cx="3656747" cy="447272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660C5A04-6C2E-4E64-AA69-06D813B45307}"/>
              </a:ext>
            </a:extLst>
          </p:cNvPr>
          <p:cNvSpPr/>
          <p:nvPr/>
        </p:nvSpPr>
        <p:spPr>
          <a:xfrm>
            <a:off x="3097427" y="329514"/>
            <a:ext cx="5527589" cy="56841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SCRUM FLOW</a:t>
            </a:r>
            <a:endParaRPr lang="en-SG" dirty="0"/>
          </a:p>
        </p:txBody>
      </p:sp>
    </p:spTree>
    <p:extLst>
      <p:ext uri="{BB962C8B-B14F-4D97-AF65-F5344CB8AC3E}">
        <p14:creationId xmlns:p14="http://schemas.microsoft.com/office/powerpoint/2010/main" val="34582541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Understanding Agile Scrum in 10 minutes • Tuleap">
            <a:extLst>
              <a:ext uri="{FF2B5EF4-FFF2-40B4-BE49-F238E27FC236}">
                <a16:creationId xmlns:a16="http://schemas.microsoft.com/office/drawing/2014/main" id="{0AB65D73-7946-43B0-BF47-27178381B2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2025" y="1098673"/>
            <a:ext cx="10248003" cy="5050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71323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9CC897-7E9C-40CD-A8AF-C0FD1E9790D3}"/>
              </a:ext>
            </a:extLst>
          </p:cNvPr>
          <p:cNvPicPr>
            <a:picLocks noChangeAspect="1"/>
          </p:cNvPicPr>
          <p:nvPr/>
        </p:nvPicPr>
        <p:blipFill>
          <a:blip r:embed="rId2"/>
          <a:stretch>
            <a:fillRect/>
          </a:stretch>
        </p:blipFill>
        <p:spPr>
          <a:xfrm>
            <a:off x="478172" y="676218"/>
            <a:ext cx="11491405" cy="5936617"/>
          </a:xfrm>
          <a:prstGeom prst="rect">
            <a:avLst/>
          </a:prstGeom>
        </p:spPr>
      </p:pic>
      <p:sp>
        <p:nvSpPr>
          <p:cNvPr id="2" name="Rectangle 1">
            <a:extLst>
              <a:ext uri="{FF2B5EF4-FFF2-40B4-BE49-F238E27FC236}">
                <a16:creationId xmlns:a16="http://schemas.microsoft.com/office/drawing/2014/main" id="{02A6FCFE-0378-4637-B11C-C4E0976031E8}"/>
              </a:ext>
            </a:extLst>
          </p:cNvPr>
          <p:cNvSpPr/>
          <p:nvPr/>
        </p:nvSpPr>
        <p:spPr>
          <a:xfrm>
            <a:off x="10618572" y="617838"/>
            <a:ext cx="1351005" cy="6260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SCRUM</a:t>
            </a:r>
            <a:endParaRPr lang="en-SG" dirty="0"/>
          </a:p>
        </p:txBody>
      </p:sp>
      <p:sp>
        <p:nvSpPr>
          <p:cNvPr id="5" name="TextBox 4">
            <a:extLst>
              <a:ext uri="{FF2B5EF4-FFF2-40B4-BE49-F238E27FC236}">
                <a16:creationId xmlns:a16="http://schemas.microsoft.com/office/drawing/2014/main" id="{06B44F43-F938-4BAD-8D03-5D1DD188B80A}"/>
              </a:ext>
            </a:extLst>
          </p:cNvPr>
          <p:cNvSpPr txBox="1"/>
          <p:nvPr/>
        </p:nvSpPr>
        <p:spPr>
          <a:xfrm>
            <a:off x="205947" y="65903"/>
            <a:ext cx="8938053" cy="369332"/>
          </a:xfrm>
          <a:prstGeom prst="rect">
            <a:avLst/>
          </a:prstGeom>
          <a:noFill/>
        </p:spPr>
        <p:txBody>
          <a:bodyPr wrap="square">
            <a:spAutoFit/>
          </a:bodyPr>
          <a:lstStyle/>
          <a:p>
            <a:pPr algn="l"/>
            <a:r>
              <a:rPr lang="en-US" sz="1800" b="1" i="0" dirty="0">
                <a:solidFill>
                  <a:srgbClr val="212121"/>
                </a:solidFill>
                <a:effectLst/>
                <a:latin typeface="Times New Roman" panose="02020603050405020304" pitchFamily="18" charset="0"/>
                <a:cs typeface="Times New Roman" panose="02020603050405020304" pitchFamily="18" charset="0"/>
              </a:rPr>
              <a:t>The Scrum Framework</a:t>
            </a:r>
          </a:p>
        </p:txBody>
      </p:sp>
    </p:spTree>
    <p:extLst>
      <p:ext uri="{BB962C8B-B14F-4D97-AF65-F5344CB8AC3E}">
        <p14:creationId xmlns:p14="http://schemas.microsoft.com/office/powerpoint/2010/main" val="15520995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A4F58-95AF-4635-9E62-DC0C9C83F5D9}"/>
              </a:ext>
            </a:extLst>
          </p:cNvPr>
          <p:cNvSpPr>
            <a:spLocks noGrp="1"/>
          </p:cNvSpPr>
          <p:nvPr>
            <p:ph type="title"/>
          </p:nvPr>
        </p:nvSpPr>
        <p:spPr/>
        <p:txBody>
          <a:bodyPr/>
          <a:lstStyle/>
          <a:p>
            <a:endParaRPr lang="en-SG"/>
          </a:p>
        </p:txBody>
      </p:sp>
      <p:pic>
        <p:nvPicPr>
          <p:cNvPr id="3074" name="Picture 2" descr="How we work">
            <a:extLst>
              <a:ext uri="{FF2B5EF4-FFF2-40B4-BE49-F238E27FC236}">
                <a16:creationId xmlns:a16="http://schemas.microsoft.com/office/drawing/2014/main" id="{27BC2F46-87E0-4E5B-882F-520124D81D8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6837" y="264457"/>
            <a:ext cx="11449763" cy="6127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98087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EBA827-40A6-409C-A580-8F331D010E28}"/>
              </a:ext>
            </a:extLst>
          </p:cNvPr>
          <p:cNvPicPr>
            <a:picLocks noChangeAspect="1"/>
          </p:cNvPicPr>
          <p:nvPr/>
        </p:nvPicPr>
        <p:blipFill>
          <a:blip r:embed="rId2"/>
          <a:stretch>
            <a:fillRect/>
          </a:stretch>
        </p:blipFill>
        <p:spPr>
          <a:xfrm>
            <a:off x="278296" y="304800"/>
            <a:ext cx="11794434" cy="6334539"/>
          </a:xfrm>
          <a:prstGeom prst="rect">
            <a:avLst/>
          </a:prstGeom>
        </p:spPr>
      </p:pic>
    </p:spTree>
    <p:extLst>
      <p:ext uri="{BB962C8B-B14F-4D97-AF65-F5344CB8AC3E}">
        <p14:creationId xmlns:p14="http://schemas.microsoft.com/office/powerpoint/2010/main" val="31742405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7887BB-D014-42B6-84B3-2F277A0E3764}"/>
              </a:ext>
            </a:extLst>
          </p:cNvPr>
          <p:cNvPicPr>
            <a:picLocks noChangeAspect="1"/>
          </p:cNvPicPr>
          <p:nvPr/>
        </p:nvPicPr>
        <p:blipFill>
          <a:blip r:embed="rId2"/>
          <a:stretch>
            <a:fillRect/>
          </a:stretch>
        </p:blipFill>
        <p:spPr>
          <a:xfrm>
            <a:off x="185530" y="145774"/>
            <a:ext cx="11754679" cy="6612835"/>
          </a:xfrm>
          <a:prstGeom prst="rect">
            <a:avLst/>
          </a:prstGeom>
        </p:spPr>
      </p:pic>
    </p:spTree>
    <p:extLst>
      <p:ext uri="{BB962C8B-B14F-4D97-AF65-F5344CB8AC3E}">
        <p14:creationId xmlns:p14="http://schemas.microsoft.com/office/powerpoint/2010/main" val="42420798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651442-C497-4BFD-85EB-8D3AA28A0490}"/>
              </a:ext>
            </a:extLst>
          </p:cNvPr>
          <p:cNvPicPr>
            <a:picLocks noChangeAspect="1"/>
          </p:cNvPicPr>
          <p:nvPr/>
        </p:nvPicPr>
        <p:blipFill>
          <a:blip r:embed="rId2"/>
          <a:stretch>
            <a:fillRect/>
          </a:stretch>
        </p:blipFill>
        <p:spPr>
          <a:xfrm>
            <a:off x="371062" y="463827"/>
            <a:ext cx="11635408" cy="6281530"/>
          </a:xfrm>
          <a:prstGeom prst="rect">
            <a:avLst/>
          </a:prstGeom>
        </p:spPr>
      </p:pic>
    </p:spTree>
    <p:extLst>
      <p:ext uri="{BB962C8B-B14F-4D97-AF65-F5344CB8AC3E}">
        <p14:creationId xmlns:p14="http://schemas.microsoft.com/office/powerpoint/2010/main" val="8953906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diagram of the scrum framework">
            <a:extLst>
              <a:ext uri="{FF2B5EF4-FFF2-40B4-BE49-F238E27FC236}">
                <a16:creationId xmlns:a16="http://schemas.microsoft.com/office/drawing/2014/main" id="{D7DFA209-9CA3-4255-A7D7-D0553653D8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0919" y="115330"/>
            <a:ext cx="9370026"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68195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B0EE6D-A548-4DAE-8BD2-D15DADB8BE07}"/>
              </a:ext>
            </a:extLst>
          </p:cNvPr>
          <p:cNvSpPr txBox="1"/>
          <p:nvPr/>
        </p:nvSpPr>
        <p:spPr>
          <a:xfrm>
            <a:off x="0" y="0"/>
            <a:ext cx="10560909" cy="369332"/>
          </a:xfrm>
          <a:prstGeom prst="rect">
            <a:avLst/>
          </a:prstGeom>
          <a:noFill/>
        </p:spPr>
        <p:txBody>
          <a:bodyPr wrap="square">
            <a:spAutoFit/>
          </a:bodyPr>
          <a:lstStyle/>
          <a:p>
            <a:pPr algn="l"/>
            <a:r>
              <a:rPr lang="en-SG" b="1" i="0" dirty="0">
                <a:solidFill>
                  <a:srgbClr val="FF0000"/>
                </a:solidFill>
                <a:effectLst/>
                <a:latin typeface="Inter"/>
              </a:rPr>
              <a:t>The 4 Scrum ceremonies</a:t>
            </a:r>
          </a:p>
        </p:txBody>
      </p:sp>
      <p:pic>
        <p:nvPicPr>
          <p:cNvPr id="9" name="Picture 8">
            <a:extLst>
              <a:ext uri="{FF2B5EF4-FFF2-40B4-BE49-F238E27FC236}">
                <a16:creationId xmlns:a16="http://schemas.microsoft.com/office/drawing/2014/main" id="{28D4601E-F41D-4AD1-99B4-263EA866F834}"/>
              </a:ext>
            </a:extLst>
          </p:cNvPr>
          <p:cNvPicPr>
            <a:picLocks noChangeAspect="1"/>
          </p:cNvPicPr>
          <p:nvPr/>
        </p:nvPicPr>
        <p:blipFill>
          <a:blip r:embed="rId2"/>
          <a:stretch>
            <a:fillRect/>
          </a:stretch>
        </p:blipFill>
        <p:spPr>
          <a:xfrm>
            <a:off x="4094205" y="369332"/>
            <a:ext cx="2812579" cy="2645059"/>
          </a:xfrm>
          <a:prstGeom prst="rect">
            <a:avLst/>
          </a:prstGeom>
        </p:spPr>
      </p:pic>
      <p:sp>
        <p:nvSpPr>
          <p:cNvPr id="10" name="TextBox 9">
            <a:extLst>
              <a:ext uri="{FF2B5EF4-FFF2-40B4-BE49-F238E27FC236}">
                <a16:creationId xmlns:a16="http://schemas.microsoft.com/office/drawing/2014/main" id="{0EC70DDD-1377-4DF4-B21D-50675136D4B4}"/>
              </a:ext>
            </a:extLst>
          </p:cNvPr>
          <p:cNvSpPr txBox="1"/>
          <p:nvPr/>
        </p:nvSpPr>
        <p:spPr>
          <a:xfrm>
            <a:off x="82379" y="3336324"/>
            <a:ext cx="12031324" cy="2585323"/>
          </a:xfrm>
          <a:prstGeom prst="rect">
            <a:avLst/>
          </a:prstGeom>
          <a:noFill/>
        </p:spPr>
        <p:txBody>
          <a:bodyPr wrap="square">
            <a:spAutoFit/>
          </a:bodyPr>
          <a:lstStyle/>
          <a:p>
            <a:pPr algn="l"/>
            <a:r>
              <a:rPr lang="en-US" b="1" i="0" dirty="0">
                <a:effectLst/>
                <a:latin typeface="Inter"/>
              </a:rPr>
              <a:t>1. Sprint planning</a:t>
            </a:r>
          </a:p>
          <a:p>
            <a:pPr algn="l"/>
            <a:r>
              <a:rPr lang="en-US" b="0" i="0" dirty="0">
                <a:solidFill>
                  <a:srgbClr val="4D4D4D"/>
                </a:solidFill>
                <a:effectLst/>
                <a:latin typeface="Inter"/>
              </a:rPr>
              <a:t>The first Scrum ceremony is sprint planning. It marks the beginning of the sprint and is timeboxed according to the number of weeks in the sprint. Typically, </a:t>
            </a:r>
            <a:r>
              <a:rPr lang="en-US" b="1" i="0" dirty="0">
                <a:solidFill>
                  <a:srgbClr val="4D4D4D"/>
                </a:solidFill>
                <a:effectLst/>
                <a:latin typeface="Inter"/>
              </a:rPr>
              <a:t>this is two hours per week of sprint duration. A team with a two-week sprint cadence, for example, would dedicate four hours to sprint planning.</a:t>
            </a:r>
          </a:p>
          <a:p>
            <a:pPr algn="l"/>
            <a:endParaRPr lang="en-US" b="1" i="0" dirty="0">
              <a:solidFill>
                <a:srgbClr val="4D4D4D"/>
              </a:solidFill>
              <a:effectLst/>
              <a:latin typeface="Inter"/>
            </a:endParaRPr>
          </a:p>
          <a:p>
            <a:pPr algn="l"/>
            <a:r>
              <a:rPr lang="en-US" b="0" i="0" dirty="0">
                <a:solidFill>
                  <a:srgbClr val="4D4D4D"/>
                </a:solidFill>
                <a:effectLst/>
                <a:latin typeface="Inter"/>
              </a:rPr>
              <a:t>At this ceremony, there are two main objectives:</a:t>
            </a:r>
          </a:p>
          <a:p>
            <a:pPr algn="l"/>
            <a:endParaRPr lang="en-US" b="0" i="0" dirty="0">
              <a:solidFill>
                <a:srgbClr val="4D4D4D"/>
              </a:solidFill>
              <a:effectLst/>
              <a:latin typeface="Inter"/>
            </a:endParaRPr>
          </a:p>
          <a:p>
            <a:pPr algn="l">
              <a:buFont typeface="+mj-lt"/>
              <a:buAutoNum type="arabicPeriod"/>
            </a:pPr>
            <a:r>
              <a:rPr lang="en-US" b="0" i="0" dirty="0">
                <a:solidFill>
                  <a:srgbClr val="4D4D4D"/>
                </a:solidFill>
                <a:effectLst/>
                <a:latin typeface="Inter"/>
              </a:rPr>
              <a:t>The Scrum team decides what items from the </a:t>
            </a:r>
            <a:r>
              <a:rPr lang="en-US" b="1" i="0" dirty="0">
                <a:solidFill>
                  <a:srgbClr val="4D4D4D"/>
                </a:solidFill>
                <a:effectLst/>
                <a:latin typeface="Inter"/>
              </a:rPr>
              <a:t>product backlog to pull into the current sprint backlog</a:t>
            </a:r>
            <a:r>
              <a:rPr lang="en-US" b="0" i="0" dirty="0">
                <a:solidFill>
                  <a:srgbClr val="4D4D4D"/>
                </a:solidFill>
                <a:effectLst/>
                <a:latin typeface="Inter"/>
              </a:rPr>
              <a:t>.</a:t>
            </a:r>
          </a:p>
          <a:p>
            <a:pPr algn="l">
              <a:buFont typeface="+mj-lt"/>
              <a:buAutoNum type="arabicPeriod"/>
            </a:pPr>
            <a:r>
              <a:rPr lang="en-US" b="0" i="0" dirty="0">
                <a:solidFill>
                  <a:srgbClr val="4D4D4D"/>
                </a:solidFill>
                <a:effectLst/>
                <a:latin typeface="Inter"/>
              </a:rPr>
              <a:t>The development team forms a plan for delivering the </a:t>
            </a:r>
            <a:r>
              <a:rPr lang="en-US" b="1" i="0" dirty="0">
                <a:solidFill>
                  <a:srgbClr val="4D4D4D"/>
                </a:solidFill>
                <a:effectLst/>
                <a:latin typeface="Inter"/>
              </a:rPr>
              <a:t>selected backlog items</a:t>
            </a:r>
            <a:r>
              <a:rPr lang="en-US" b="0" i="0" dirty="0">
                <a:solidFill>
                  <a:srgbClr val="4D4D4D"/>
                </a:solidFill>
                <a:effectLst/>
                <a:latin typeface="Inter"/>
              </a:rPr>
              <a:t>.</a:t>
            </a:r>
          </a:p>
        </p:txBody>
      </p:sp>
    </p:spTree>
    <p:extLst>
      <p:ext uri="{BB962C8B-B14F-4D97-AF65-F5344CB8AC3E}">
        <p14:creationId xmlns:p14="http://schemas.microsoft.com/office/powerpoint/2010/main" val="41624848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85A16F-C031-45A9-9ED8-70CE0FE382AD}"/>
              </a:ext>
            </a:extLst>
          </p:cNvPr>
          <p:cNvSpPr txBox="1"/>
          <p:nvPr/>
        </p:nvSpPr>
        <p:spPr>
          <a:xfrm>
            <a:off x="329514" y="337905"/>
            <a:ext cx="10832756" cy="5078313"/>
          </a:xfrm>
          <a:prstGeom prst="rect">
            <a:avLst/>
          </a:prstGeom>
          <a:noFill/>
        </p:spPr>
        <p:txBody>
          <a:bodyPr wrap="square">
            <a:spAutoFit/>
          </a:bodyPr>
          <a:lstStyle/>
          <a:p>
            <a:pPr algn="l"/>
            <a:r>
              <a:rPr lang="en-US" b="1" i="0" dirty="0">
                <a:effectLst/>
                <a:latin typeface="Inter"/>
              </a:rPr>
              <a:t>2. Daily Scrum</a:t>
            </a:r>
          </a:p>
          <a:p>
            <a:pPr marL="285750" indent="-285750" algn="l">
              <a:buFont typeface="Wingdings" panose="05000000000000000000" pitchFamily="2" charset="2"/>
              <a:buChar char="Ø"/>
            </a:pPr>
            <a:r>
              <a:rPr lang="en-US" b="0" i="0" dirty="0">
                <a:solidFill>
                  <a:srgbClr val="4D4D4D"/>
                </a:solidFill>
                <a:effectLst/>
                <a:latin typeface="Inter"/>
              </a:rPr>
              <a:t>The second Scrum ceremony, </a:t>
            </a:r>
            <a:r>
              <a:rPr lang="en-US" b="0" i="0" u="none" strike="noStrike" dirty="0">
                <a:solidFill>
                  <a:srgbClr val="4D4D4D"/>
                </a:solidFill>
                <a:effectLst/>
                <a:latin typeface="Inter"/>
                <a:hlinkClick r:id="rId2"/>
              </a:rPr>
              <a:t>daily Scrum</a:t>
            </a:r>
            <a:r>
              <a:rPr lang="en-US" b="0" i="0" dirty="0">
                <a:solidFill>
                  <a:srgbClr val="4D4D4D"/>
                </a:solidFill>
                <a:effectLst/>
                <a:latin typeface="Inter"/>
              </a:rPr>
              <a:t>, occurs on every day of the sprint when there isn’t another ceremony. It’s timeboxed at </a:t>
            </a:r>
            <a:r>
              <a:rPr lang="en-US" b="1" i="0" dirty="0">
                <a:solidFill>
                  <a:srgbClr val="4D4D4D"/>
                </a:solidFill>
                <a:effectLst/>
                <a:latin typeface="Inter"/>
              </a:rPr>
              <a:t>15 minutes</a:t>
            </a:r>
            <a:r>
              <a:rPr lang="en-US" b="0" i="0" dirty="0">
                <a:solidFill>
                  <a:srgbClr val="4D4D4D"/>
                </a:solidFill>
                <a:effectLst/>
                <a:latin typeface="Inter"/>
              </a:rPr>
              <a:t>, during which the team comes up with a plan for the next 24 hours.</a:t>
            </a:r>
          </a:p>
          <a:p>
            <a:pPr algn="l"/>
            <a:endParaRPr lang="en-US" b="0" i="0" dirty="0">
              <a:solidFill>
                <a:srgbClr val="4D4D4D"/>
              </a:solidFill>
              <a:effectLst/>
              <a:latin typeface="Inter"/>
            </a:endParaRPr>
          </a:p>
          <a:p>
            <a:pPr marL="285750" indent="-285750" algn="l">
              <a:buFont typeface="Wingdings" panose="05000000000000000000" pitchFamily="2" charset="2"/>
              <a:buChar char="Ø"/>
            </a:pPr>
            <a:r>
              <a:rPr lang="en-US" b="1" i="1" dirty="0">
                <a:solidFill>
                  <a:srgbClr val="4D4D4D"/>
                </a:solidFill>
                <a:effectLst/>
                <a:latin typeface="Inter"/>
              </a:rPr>
              <a:t>Tip: Hold daily Scrum at the same time and in the same place each day. The predictability reduces complexity, uncertainty, and helps individual members self-organize according to their own schedule.</a:t>
            </a:r>
          </a:p>
          <a:p>
            <a:pPr marL="285750" indent="-285750" algn="l">
              <a:buFont typeface="Wingdings" panose="05000000000000000000" pitchFamily="2" charset="2"/>
              <a:buChar char="Ø"/>
            </a:pPr>
            <a:endParaRPr lang="en-US" b="1" i="0" dirty="0">
              <a:solidFill>
                <a:srgbClr val="4D4D4D"/>
              </a:solidFill>
              <a:effectLst/>
              <a:latin typeface="Inter"/>
            </a:endParaRPr>
          </a:p>
          <a:p>
            <a:pPr marL="285750" indent="-285750" algn="l">
              <a:buFont typeface="Wingdings" panose="05000000000000000000" pitchFamily="2" charset="2"/>
              <a:buChar char="Ø"/>
            </a:pPr>
            <a:r>
              <a:rPr lang="en-US" b="0" i="0" dirty="0">
                <a:solidFill>
                  <a:srgbClr val="4D4D4D"/>
                </a:solidFill>
                <a:effectLst/>
                <a:latin typeface="Inter"/>
              </a:rPr>
              <a:t>Daily Scrum includes the development team, who run the meeting, and the Scrum master. A product owner may attend if helpful. If they don’t, the Scrum master should keep them informed of any major adjustments that might impact the sprint.</a:t>
            </a:r>
          </a:p>
          <a:p>
            <a:pPr algn="l"/>
            <a:endParaRPr lang="en-US" b="0" i="0" dirty="0">
              <a:solidFill>
                <a:srgbClr val="4D4D4D"/>
              </a:solidFill>
              <a:effectLst/>
              <a:latin typeface="Inter"/>
            </a:endParaRPr>
          </a:p>
          <a:p>
            <a:pPr algn="l"/>
            <a:r>
              <a:rPr lang="en-US" b="0" i="0" dirty="0">
                <a:solidFill>
                  <a:srgbClr val="4D4D4D"/>
                </a:solidFill>
                <a:effectLst/>
                <a:latin typeface="Inter"/>
              </a:rPr>
              <a:t>The key is to keep this ceremony brief. Daily Scrum isn’t a time for new ideas or one-on-one conversations. During daily Scrum, the team focuses on inspecting progress and identifying any changes to the day’s work. Each member of the development team explains:</a:t>
            </a:r>
          </a:p>
          <a:p>
            <a:pPr algn="l"/>
            <a:endParaRPr lang="en-US" b="0" i="0" dirty="0">
              <a:solidFill>
                <a:srgbClr val="4D4D4D"/>
              </a:solidFill>
              <a:effectLst/>
              <a:latin typeface="Inter"/>
            </a:endParaRPr>
          </a:p>
          <a:p>
            <a:pPr marL="285750" indent="-285750" algn="l">
              <a:buFont typeface="Wingdings" panose="05000000000000000000" pitchFamily="2" charset="2"/>
              <a:buChar char="v"/>
            </a:pPr>
            <a:r>
              <a:rPr lang="en-US" b="0" i="0" dirty="0">
                <a:solidFill>
                  <a:srgbClr val="4D4D4D"/>
                </a:solidFill>
                <a:effectLst/>
                <a:latin typeface="Inter"/>
              </a:rPr>
              <a:t>What they have done since the last daily Scrum.</a:t>
            </a:r>
          </a:p>
          <a:p>
            <a:pPr marL="285750" indent="-285750" algn="l">
              <a:buFont typeface="Wingdings" panose="05000000000000000000" pitchFamily="2" charset="2"/>
              <a:buChar char="v"/>
            </a:pPr>
            <a:r>
              <a:rPr lang="en-US" b="0" i="0" dirty="0">
                <a:solidFill>
                  <a:srgbClr val="4D4D4D"/>
                </a:solidFill>
                <a:effectLst/>
                <a:latin typeface="Inter"/>
              </a:rPr>
              <a:t>What they will work on today.</a:t>
            </a:r>
          </a:p>
          <a:p>
            <a:pPr marL="285750" indent="-285750" algn="l">
              <a:buFont typeface="Wingdings" panose="05000000000000000000" pitchFamily="2" charset="2"/>
              <a:buChar char="v"/>
            </a:pPr>
            <a:r>
              <a:rPr lang="en-US" b="0" i="0" dirty="0">
                <a:solidFill>
                  <a:srgbClr val="4D4D4D"/>
                </a:solidFill>
                <a:effectLst/>
                <a:latin typeface="Inter"/>
              </a:rPr>
              <a:t>Any problems preventing them from accomplishing their work.</a:t>
            </a:r>
            <a:endParaRPr lang="en-SG" dirty="0"/>
          </a:p>
        </p:txBody>
      </p:sp>
    </p:spTree>
    <p:extLst>
      <p:ext uri="{BB962C8B-B14F-4D97-AF65-F5344CB8AC3E}">
        <p14:creationId xmlns:p14="http://schemas.microsoft.com/office/powerpoint/2010/main" val="3564158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E2C46B-1CD8-4E63-A417-4C0D20321CC9}"/>
              </a:ext>
            </a:extLst>
          </p:cNvPr>
          <p:cNvSpPr txBox="1"/>
          <p:nvPr/>
        </p:nvSpPr>
        <p:spPr>
          <a:xfrm>
            <a:off x="420130" y="255373"/>
            <a:ext cx="11534182" cy="6143348"/>
          </a:xfrm>
          <a:prstGeom prst="rect">
            <a:avLst/>
          </a:prstGeom>
          <a:noFill/>
        </p:spPr>
        <p:txBody>
          <a:bodyPr wrap="square">
            <a:spAutoFit/>
          </a:bodyPr>
          <a:lstStyle/>
          <a:p>
            <a:pPr algn="l"/>
            <a:r>
              <a:rPr lang="en-US" b="1" i="0" dirty="0">
                <a:effectLst/>
                <a:latin typeface="Inter"/>
              </a:rPr>
              <a:t>3. Sprint review</a:t>
            </a:r>
          </a:p>
          <a:p>
            <a:pPr marL="285750" indent="-285750" algn="l">
              <a:lnSpc>
                <a:spcPct val="150000"/>
              </a:lnSpc>
              <a:buFont typeface="Wingdings" panose="05000000000000000000" pitchFamily="2" charset="2"/>
              <a:buChar char="Ø"/>
            </a:pPr>
            <a:r>
              <a:rPr lang="en-US" b="0" i="0" dirty="0">
                <a:solidFill>
                  <a:srgbClr val="4D4D4D"/>
                </a:solidFill>
                <a:effectLst/>
                <a:latin typeface="Inter"/>
              </a:rPr>
              <a:t>At the end of the sprint, the Scrum team holds sprint review. The entire team attends, as well as any stakeholders invited by the product owner.</a:t>
            </a:r>
          </a:p>
          <a:p>
            <a:pPr marL="285750" indent="-285750" algn="l">
              <a:lnSpc>
                <a:spcPct val="150000"/>
              </a:lnSpc>
              <a:buFont typeface="Wingdings" panose="05000000000000000000" pitchFamily="2" charset="2"/>
              <a:buChar char="Ø"/>
            </a:pPr>
            <a:r>
              <a:rPr lang="en-US" b="0" i="0" dirty="0">
                <a:solidFill>
                  <a:srgbClr val="4D4D4D"/>
                </a:solidFill>
                <a:effectLst/>
                <a:latin typeface="Inter"/>
              </a:rPr>
              <a:t>The purpose of sprint review is to inspect the newly created product increment and adapt the product backlog as necessary. By the end of sprint review, the Scrum team should have a revised product backlog and a good sense of what items to move to the upcoming sprint.</a:t>
            </a:r>
          </a:p>
          <a:p>
            <a:pPr marL="285750" indent="-285750" algn="l">
              <a:lnSpc>
                <a:spcPct val="150000"/>
              </a:lnSpc>
              <a:buFont typeface="Wingdings" panose="05000000000000000000" pitchFamily="2" charset="2"/>
              <a:buChar char="Ø"/>
            </a:pPr>
            <a:r>
              <a:rPr lang="en-US" b="0" i="0" dirty="0">
                <a:solidFill>
                  <a:srgbClr val="4D4D4D"/>
                </a:solidFill>
                <a:effectLst/>
                <a:latin typeface="Inter"/>
              </a:rPr>
              <a:t>During sprint review, the product owner and team explain the backlog items they completed. What work is now “done”? What does that “done” increment offer users? With the Scrum team and key stakeholders in one place, sprint review is the perfect opportunity to talk about the progress you’re making on the product.</a:t>
            </a:r>
          </a:p>
          <a:p>
            <a:pPr marL="285750" indent="-285750" algn="l">
              <a:lnSpc>
                <a:spcPct val="150000"/>
              </a:lnSpc>
              <a:buFont typeface="Wingdings" panose="05000000000000000000" pitchFamily="2" charset="2"/>
              <a:buChar char="Ø"/>
            </a:pPr>
            <a:r>
              <a:rPr lang="en-US" b="0" i="0" dirty="0">
                <a:solidFill>
                  <a:srgbClr val="4D4D4D"/>
                </a:solidFill>
                <a:effectLst/>
                <a:latin typeface="Inter"/>
              </a:rPr>
              <a:t>It’s also a great time to reflect on the utility of the product backlog. Is the team slated to work on the most pressing thing next? What changes need to be made to the product backlog as a result of the work completed? What impediments or new opportunities did you discover during the sprint, and how do they impact the road ahead?</a:t>
            </a:r>
          </a:p>
          <a:p>
            <a:pPr marL="285750" indent="-285750" algn="l">
              <a:lnSpc>
                <a:spcPct val="150000"/>
              </a:lnSpc>
              <a:buFont typeface="Wingdings" panose="05000000000000000000" pitchFamily="2" charset="2"/>
              <a:buChar char="Ø"/>
            </a:pPr>
            <a:r>
              <a:rPr lang="en-US" b="0" i="0" dirty="0">
                <a:solidFill>
                  <a:srgbClr val="4D4D4D"/>
                </a:solidFill>
                <a:effectLst/>
                <a:latin typeface="Inter"/>
              </a:rPr>
              <a:t>In short, you want to leave sprint review positive that the current product backlog is set up to best use the Scrum team’s resources. The team should feel they are working on items that deliver value and the other stakeholders should agree.</a:t>
            </a:r>
          </a:p>
        </p:txBody>
      </p:sp>
    </p:spTree>
    <p:extLst>
      <p:ext uri="{BB962C8B-B14F-4D97-AF65-F5344CB8AC3E}">
        <p14:creationId xmlns:p14="http://schemas.microsoft.com/office/powerpoint/2010/main" val="35038652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05F94C-AF6F-4099-B7DE-6359A9FDDCA0}"/>
              </a:ext>
            </a:extLst>
          </p:cNvPr>
          <p:cNvSpPr txBox="1"/>
          <p:nvPr/>
        </p:nvSpPr>
        <p:spPr>
          <a:xfrm>
            <a:off x="-1" y="98854"/>
            <a:ext cx="12013035" cy="6463308"/>
          </a:xfrm>
          <a:prstGeom prst="rect">
            <a:avLst/>
          </a:prstGeom>
          <a:noFill/>
        </p:spPr>
        <p:txBody>
          <a:bodyPr wrap="square">
            <a:spAutoFit/>
          </a:bodyPr>
          <a:lstStyle/>
          <a:p>
            <a:pPr algn="l"/>
            <a:r>
              <a:rPr lang="en-US" b="1" i="0" dirty="0">
                <a:effectLst/>
                <a:latin typeface="Inter"/>
              </a:rPr>
              <a:t>4. Sprint retrospective</a:t>
            </a:r>
          </a:p>
          <a:p>
            <a:pPr algn="l"/>
            <a:r>
              <a:rPr lang="en-US" b="0" i="0" dirty="0">
                <a:solidFill>
                  <a:srgbClr val="4D4D4D"/>
                </a:solidFill>
                <a:effectLst/>
                <a:latin typeface="Inter"/>
              </a:rPr>
              <a:t>After sprint review, but before the next sprint, the team holds the final scrum ceremony: the sprint retrospective, also known as the </a:t>
            </a:r>
            <a:r>
              <a:rPr lang="en-US" b="0" i="0" u="none" strike="noStrike" dirty="0">
                <a:solidFill>
                  <a:srgbClr val="4D4D4D"/>
                </a:solidFill>
                <a:effectLst/>
                <a:latin typeface="Inter"/>
                <a:hlinkClick r:id="rId2"/>
              </a:rPr>
              <a:t>agile retrospective</a:t>
            </a:r>
            <a:r>
              <a:rPr lang="en-US" b="0" i="0" dirty="0">
                <a:solidFill>
                  <a:srgbClr val="4D4D4D"/>
                </a:solidFill>
                <a:effectLst/>
                <a:latin typeface="Inter"/>
              </a:rPr>
              <a:t>. Just as the sprint review offers a moment for the team to inspect and adapt the product it’s making, the sprint retrospective is a space for the team to reflect on its process.</a:t>
            </a:r>
          </a:p>
          <a:p>
            <a:pPr algn="l"/>
            <a:endParaRPr lang="en-US" b="0" i="0" dirty="0">
              <a:solidFill>
                <a:srgbClr val="4D4D4D"/>
              </a:solidFill>
              <a:effectLst/>
              <a:latin typeface="Inter"/>
            </a:endParaRPr>
          </a:p>
          <a:p>
            <a:pPr algn="l"/>
            <a:r>
              <a:rPr lang="en-US" b="0" i="0" dirty="0">
                <a:solidFill>
                  <a:srgbClr val="4D4D4D"/>
                </a:solidFill>
                <a:effectLst/>
                <a:latin typeface="Inter"/>
              </a:rPr>
              <a:t>Retrospectives are usually timeboxed at 30-45 minutes (depending on team size) per week of sprint duration, though some teams opt to keep retrospectives in this timebox regardless of their cadence.</a:t>
            </a:r>
          </a:p>
          <a:p>
            <a:pPr algn="l"/>
            <a:endParaRPr lang="en-US" b="0" i="0" dirty="0">
              <a:solidFill>
                <a:srgbClr val="4D4D4D"/>
              </a:solidFill>
              <a:effectLst/>
              <a:latin typeface="Inter"/>
            </a:endParaRPr>
          </a:p>
          <a:p>
            <a:pPr algn="l"/>
            <a:r>
              <a:rPr lang="en-US" b="0" i="0" dirty="0">
                <a:solidFill>
                  <a:srgbClr val="4D4D4D"/>
                </a:solidFill>
                <a:effectLst/>
                <a:latin typeface="Inter"/>
              </a:rPr>
              <a:t>The Scrum master ensures all team members are present. The product owner may be present, but it’s not mandatory. No need for other stakeholders to attend, either. In fact, some teams might feel uncomfortable inspecting their internal processes under outsiders’ eyes.</a:t>
            </a:r>
          </a:p>
          <a:p>
            <a:pPr algn="l"/>
            <a:endParaRPr lang="en-US" b="0" i="0" dirty="0">
              <a:solidFill>
                <a:srgbClr val="4D4D4D"/>
              </a:solidFill>
              <a:effectLst/>
              <a:latin typeface="Inter"/>
            </a:endParaRPr>
          </a:p>
          <a:p>
            <a:pPr algn="l"/>
            <a:r>
              <a:rPr lang="en-US" b="0" i="0" dirty="0">
                <a:solidFill>
                  <a:srgbClr val="4D4D4D"/>
                </a:solidFill>
                <a:effectLst/>
                <a:latin typeface="Inter"/>
              </a:rPr>
              <a:t>The purpose of a sprint retrospective is to improve team processes. Every member of the development team should be given space to:</a:t>
            </a:r>
          </a:p>
          <a:p>
            <a:pPr algn="l">
              <a:buFont typeface="Arial" panose="020B0604020202020204" pitchFamily="34" charset="0"/>
              <a:buChar char="•"/>
            </a:pPr>
            <a:r>
              <a:rPr lang="en-US" b="0" i="0" dirty="0">
                <a:solidFill>
                  <a:srgbClr val="4D4D4D"/>
                </a:solidFill>
                <a:effectLst/>
                <a:latin typeface="Inter"/>
              </a:rPr>
              <a:t>Talk about the efficacy of the relationships, processes, and tools the team used to complete the work of the sprint.</a:t>
            </a:r>
          </a:p>
          <a:p>
            <a:pPr algn="l">
              <a:buFont typeface="Arial" panose="020B0604020202020204" pitchFamily="34" charset="0"/>
              <a:buChar char="•"/>
            </a:pPr>
            <a:r>
              <a:rPr lang="en-US" b="0" i="0" dirty="0">
                <a:solidFill>
                  <a:srgbClr val="4D4D4D"/>
                </a:solidFill>
                <a:effectLst/>
                <a:latin typeface="Inter"/>
              </a:rPr>
              <a:t>Discuss what worked well and what did not.</a:t>
            </a:r>
          </a:p>
          <a:p>
            <a:pPr algn="l">
              <a:buFont typeface="Arial" panose="020B0604020202020204" pitchFamily="34" charset="0"/>
              <a:buChar char="•"/>
            </a:pPr>
            <a:r>
              <a:rPr lang="en-US" b="0" i="0" dirty="0">
                <a:solidFill>
                  <a:srgbClr val="4D4D4D"/>
                </a:solidFill>
                <a:effectLst/>
                <a:latin typeface="Inter"/>
              </a:rPr>
              <a:t>Come up with a plan for the next sprint that capitalizes on pros and addresses cons.</a:t>
            </a:r>
          </a:p>
          <a:p>
            <a:pPr algn="l"/>
            <a:endParaRPr lang="en-US" b="0" i="0" dirty="0">
              <a:solidFill>
                <a:srgbClr val="4D4D4D"/>
              </a:solidFill>
              <a:effectLst/>
              <a:latin typeface="Inter"/>
            </a:endParaRPr>
          </a:p>
          <a:p>
            <a:pPr algn="l"/>
            <a:r>
              <a:rPr lang="en-US" b="0" i="0" dirty="0">
                <a:solidFill>
                  <a:srgbClr val="4D4D4D"/>
                </a:solidFill>
                <a:effectLst/>
                <a:latin typeface="Inter"/>
              </a:rPr>
              <a:t>A well-run retrospective will help the team bring potential problems to the surface so they don’t persist in future sprints. This Scrum ceremony is the perfect opportunity to get issues out in the open. Are relationship problems causing problems? Have antipatterns started to develop?</a:t>
            </a:r>
          </a:p>
          <a:p>
            <a:pPr algn="l"/>
            <a:r>
              <a:rPr lang="en-US" b="0" i="0" dirty="0">
                <a:solidFill>
                  <a:srgbClr val="4D4D4D"/>
                </a:solidFill>
                <a:effectLst/>
                <a:latin typeface="Inter"/>
              </a:rPr>
              <a:t>The development team runs the retrospective, though the Scrum master facilitates it. Together, they work to identify areas of improvement and agree on changes for the next sprint.</a:t>
            </a:r>
          </a:p>
        </p:txBody>
      </p:sp>
    </p:spTree>
    <p:extLst>
      <p:ext uri="{BB962C8B-B14F-4D97-AF65-F5344CB8AC3E}">
        <p14:creationId xmlns:p14="http://schemas.microsoft.com/office/powerpoint/2010/main" val="34878748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CC0FE6-B6ED-4E04-93F3-30A88E4D15A7}"/>
              </a:ext>
            </a:extLst>
          </p:cNvPr>
          <p:cNvSpPr txBox="1"/>
          <p:nvPr/>
        </p:nvSpPr>
        <p:spPr>
          <a:xfrm>
            <a:off x="98853" y="148281"/>
            <a:ext cx="11920151" cy="1754326"/>
          </a:xfrm>
          <a:prstGeom prst="rect">
            <a:avLst/>
          </a:prstGeom>
          <a:noFill/>
        </p:spPr>
        <p:txBody>
          <a:bodyPr wrap="square">
            <a:spAutoFit/>
          </a:bodyPr>
          <a:lstStyle/>
          <a:p>
            <a:pPr algn="l"/>
            <a:r>
              <a:rPr lang="en-US" b="1" i="0" dirty="0">
                <a:solidFill>
                  <a:srgbClr val="3A3A3A"/>
                </a:solidFill>
                <a:effectLst/>
                <a:latin typeface="Work Sans"/>
              </a:rPr>
              <a:t>Different </a:t>
            </a:r>
            <a:r>
              <a:rPr lang="en-US" b="1" i="0" dirty="0">
                <a:solidFill>
                  <a:srgbClr val="FF0000"/>
                </a:solidFill>
                <a:effectLst/>
                <a:latin typeface="Work Sans"/>
              </a:rPr>
              <a:t>Scrum Artifacts</a:t>
            </a:r>
          </a:p>
          <a:p>
            <a:pPr algn="l"/>
            <a:r>
              <a:rPr lang="en-US" b="1" i="0" dirty="0">
                <a:solidFill>
                  <a:schemeClr val="accent2">
                    <a:lumMod val="60000"/>
                    <a:lumOff val="40000"/>
                  </a:schemeClr>
                </a:solidFill>
                <a:effectLst/>
                <a:latin typeface="Work Sans"/>
              </a:rPr>
              <a:t>3 types of scrum </a:t>
            </a:r>
            <a:r>
              <a:rPr lang="en-US" b="1" i="0" dirty="0">
                <a:solidFill>
                  <a:srgbClr val="FF0000"/>
                </a:solidFill>
                <a:effectLst/>
                <a:latin typeface="Work Sans"/>
              </a:rPr>
              <a:t>artifacts</a:t>
            </a:r>
            <a:r>
              <a:rPr lang="en-US" b="1" i="0" dirty="0">
                <a:solidFill>
                  <a:schemeClr val="accent2">
                    <a:lumMod val="60000"/>
                    <a:lumOff val="40000"/>
                  </a:schemeClr>
                </a:solidFill>
                <a:effectLst/>
                <a:latin typeface="Work Sans"/>
              </a:rPr>
              <a:t> include:</a:t>
            </a:r>
            <a:endParaRPr lang="en-US" b="0" i="0" dirty="0">
              <a:solidFill>
                <a:schemeClr val="accent2">
                  <a:lumMod val="60000"/>
                  <a:lumOff val="40000"/>
                </a:schemeClr>
              </a:solidFill>
              <a:effectLst/>
              <a:latin typeface="Work Sans"/>
            </a:endParaRPr>
          </a:p>
          <a:p>
            <a:pPr algn="l">
              <a:buFont typeface="Arial" panose="020B0604020202020204" pitchFamily="34" charset="0"/>
              <a:buChar char="•"/>
            </a:pPr>
            <a:r>
              <a:rPr lang="en-US" b="0" i="0" dirty="0">
                <a:solidFill>
                  <a:srgbClr val="3A3A3A"/>
                </a:solidFill>
                <a:effectLst/>
                <a:latin typeface="Work Sans"/>
              </a:rPr>
              <a:t>Product backlog</a:t>
            </a:r>
          </a:p>
          <a:p>
            <a:pPr algn="l">
              <a:buFont typeface="Arial" panose="020B0604020202020204" pitchFamily="34" charset="0"/>
              <a:buChar char="•"/>
            </a:pPr>
            <a:r>
              <a:rPr lang="en-US" b="0" i="0" dirty="0">
                <a:solidFill>
                  <a:srgbClr val="3A3A3A"/>
                </a:solidFill>
                <a:effectLst/>
                <a:latin typeface="Work Sans"/>
              </a:rPr>
              <a:t>Sprint backlog and</a:t>
            </a:r>
          </a:p>
          <a:p>
            <a:pPr algn="l">
              <a:buFont typeface="Arial" panose="020B0604020202020204" pitchFamily="34" charset="0"/>
              <a:buChar char="•"/>
            </a:pPr>
            <a:r>
              <a:rPr lang="en-US" b="0" i="0" dirty="0">
                <a:solidFill>
                  <a:srgbClr val="3A3A3A"/>
                </a:solidFill>
                <a:effectLst/>
                <a:latin typeface="Work Sans"/>
              </a:rPr>
              <a:t>Product increments</a:t>
            </a:r>
          </a:p>
          <a:p>
            <a:pPr algn="l"/>
            <a:r>
              <a:rPr lang="en-US" b="1" i="0" dirty="0">
                <a:solidFill>
                  <a:srgbClr val="3A3A3A"/>
                </a:solidFill>
                <a:effectLst/>
                <a:latin typeface="Work Sans"/>
              </a:rPr>
              <a:t>Now we will see what these terms mean and how to create these artifacts.</a:t>
            </a:r>
            <a:endParaRPr lang="en-US" b="0" i="0" dirty="0">
              <a:solidFill>
                <a:srgbClr val="3A3A3A"/>
              </a:solidFill>
              <a:effectLst/>
              <a:latin typeface="Work Sans"/>
            </a:endParaRPr>
          </a:p>
        </p:txBody>
      </p:sp>
      <p:pic>
        <p:nvPicPr>
          <p:cNvPr id="4098" name="Picture 2" descr="Scrum Artifacts-types">
            <a:extLst>
              <a:ext uri="{FF2B5EF4-FFF2-40B4-BE49-F238E27FC236}">
                <a16:creationId xmlns:a16="http://schemas.microsoft.com/office/drawing/2014/main" id="{4AF31A06-B23B-4330-AE0C-2697D12423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546" y="2778350"/>
            <a:ext cx="7603523" cy="367187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EF6FF8F-7618-4277-8519-5E41C255FE8C}"/>
              </a:ext>
            </a:extLst>
          </p:cNvPr>
          <p:cNvPicPr>
            <a:picLocks noChangeAspect="1"/>
          </p:cNvPicPr>
          <p:nvPr/>
        </p:nvPicPr>
        <p:blipFill>
          <a:blip r:embed="rId3"/>
          <a:stretch>
            <a:fillRect/>
          </a:stretch>
        </p:blipFill>
        <p:spPr>
          <a:xfrm>
            <a:off x="9389849" y="469223"/>
            <a:ext cx="2134887" cy="1657521"/>
          </a:xfrm>
          <a:prstGeom prst="rect">
            <a:avLst/>
          </a:prstGeom>
        </p:spPr>
      </p:pic>
    </p:spTree>
    <p:extLst>
      <p:ext uri="{BB962C8B-B14F-4D97-AF65-F5344CB8AC3E}">
        <p14:creationId xmlns:p14="http://schemas.microsoft.com/office/powerpoint/2010/main" val="31244062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071C25-5146-47C3-9DC1-F26ECCDAEF7D}"/>
              </a:ext>
            </a:extLst>
          </p:cNvPr>
          <p:cNvSpPr txBox="1"/>
          <p:nvPr/>
        </p:nvSpPr>
        <p:spPr>
          <a:xfrm>
            <a:off x="140043" y="1"/>
            <a:ext cx="11623589" cy="3139321"/>
          </a:xfrm>
          <a:prstGeom prst="rect">
            <a:avLst/>
          </a:prstGeom>
          <a:noFill/>
        </p:spPr>
        <p:txBody>
          <a:bodyPr wrap="square">
            <a:spAutoFit/>
          </a:bodyPr>
          <a:lstStyle/>
          <a:p>
            <a:pPr algn="l"/>
            <a:r>
              <a:rPr lang="en-US" b="1" i="0" dirty="0">
                <a:solidFill>
                  <a:srgbClr val="3A3A3A"/>
                </a:solidFill>
                <a:effectLst/>
                <a:latin typeface="Work Sans"/>
              </a:rPr>
              <a:t>Product Backlog</a:t>
            </a:r>
          </a:p>
          <a:p>
            <a:pPr algn="l"/>
            <a:r>
              <a:rPr lang="en-US" b="0" i="0" dirty="0">
                <a:solidFill>
                  <a:srgbClr val="3A3A3A"/>
                </a:solidFill>
                <a:effectLst/>
                <a:latin typeface="Work Sans"/>
              </a:rPr>
              <a:t>To put it in simple terms, a product backlog is a list of all the things that are required in the product. It’s the final document to be referred to by the scrum team for anything related to the product. It’s an ordered list of items which is owned by the Product Owner (PO).</a:t>
            </a:r>
          </a:p>
          <a:p>
            <a:pPr algn="l"/>
            <a:r>
              <a:rPr lang="en-US" b="0" i="0" dirty="0">
                <a:solidFill>
                  <a:srgbClr val="3A3A3A"/>
                </a:solidFill>
                <a:effectLst/>
                <a:latin typeface="Work Sans"/>
              </a:rPr>
              <a:t>The PO is responsible for creating, maintaining and prioritizing this list. The POs use this product backlog to explain the top requirements that need to be done during the sprint to the scrum teams.</a:t>
            </a:r>
          </a:p>
          <a:p>
            <a:pPr algn="l"/>
            <a:r>
              <a:rPr lang="en-US" b="0" i="0" dirty="0">
                <a:solidFill>
                  <a:srgbClr val="3A3A3A"/>
                </a:solidFill>
                <a:effectLst/>
                <a:latin typeface="Work Sans"/>
              </a:rPr>
              <a:t>The items in this list may or may not be in a technical language. It can even be a layman’s language, but it should contain all the product requirements and the accompanying changes. Also, having a product backlog doesn’t mean that the scrum team will only have this artifact to follow.</a:t>
            </a:r>
          </a:p>
          <a:p>
            <a:pPr algn="l"/>
            <a:r>
              <a:rPr lang="en-US" b="0" i="0" dirty="0">
                <a:solidFill>
                  <a:srgbClr val="3A3A3A"/>
                </a:solidFill>
                <a:effectLst/>
                <a:latin typeface="Work Sans"/>
              </a:rPr>
              <a:t>They can create their own detailed artifacts but those won’t contradict or replace the product backlog. They will rather be in an alignment with the product backlog requirements.</a:t>
            </a:r>
          </a:p>
        </p:txBody>
      </p:sp>
      <p:pic>
        <p:nvPicPr>
          <p:cNvPr id="5" name="Picture 4">
            <a:extLst>
              <a:ext uri="{FF2B5EF4-FFF2-40B4-BE49-F238E27FC236}">
                <a16:creationId xmlns:a16="http://schemas.microsoft.com/office/drawing/2014/main" id="{E6F43CEA-522E-40F6-A0EE-DDE97FE7BCB0}"/>
              </a:ext>
            </a:extLst>
          </p:cNvPr>
          <p:cNvPicPr>
            <a:picLocks noChangeAspect="1"/>
          </p:cNvPicPr>
          <p:nvPr/>
        </p:nvPicPr>
        <p:blipFill>
          <a:blip r:embed="rId2"/>
          <a:stretch>
            <a:fillRect/>
          </a:stretch>
        </p:blipFill>
        <p:spPr>
          <a:xfrm>
            <a:off x="1742174" y="3310838"/>
            <a:ext cx="8048625" cy="2724150"/>
          </a:xfrm>
          <a:prstGeom prst="rect">
            <a:avLst/>
          </a:prstGeom>
        </p:spPr>
      </p:pic>
    </p:spTree>
    <p:extLst>
      <p:ext uri="{BB962C8B-B14F-4D97-AF65-F5344CB8AC3E}">
        <p14:creationId xmlns:p14="http://schemas.microsoft.com/office/powerpoint/2010/main" val="37317616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3F326D-5A2D-4563-9995-504B04742137}"/>
              </a:ext>
            </a:extLst>
          </p:cNvPr>
          <p:cNvSpPr txBox="1"/>
          <p:nvPr/>
        </p:nvSpPr>
        <p:spPr>
          <a:xfrm>
            <a:off x="0" y="67112"/>
            <a:ext cx="12192000" cy="6275641"/>
          </a:xfrm>
          <a:prstGeom prst="rect">
            <a:avLst/>
          </a:prstGeom>
          <a:noFill/>
        </p:spPr>
        <p:txBody>
          <a:bodyPr wrap="square">
            <a:spAutoFit/>
          </a:bodyPr>
          <a:lstStyle/>
          <a:p>
            <a:pPr algn="l"/>
            <a:r>
              <a:rPr lang="en-US" b="1" i="0" dirty="0">
                <a:solidFill>
                  <a:srgbClr val="FF6600"/>
                </a:solidFill>
                <a:effectLst/>
                <a:latin typeface="Work Sans"/>
              </a:rPr>
              <a:t>A product backlog should ideally follow the below rules:</a:t>
            </a:r>
            <a:endParaRPr lang="en-US" b="0" i="0" dirty="0">
              <a:solidFill>
                <a:srgbClr val="3A3A3A"/>
              </a:solidFill>
              <a:effectLst/>
              <a:latin typeface="Work Sans"/>
            </a:endParaRPr>
          </a:p>
          <a:p>
            <a:pPr algn="l">
              <a:lnSpc>
                <a:spcPct val="150000"/>
              </a:lnSpc>
            </a:pPr>
            <a:r>
              <a:rPr lang="en-US" b="1" i="0" dirty="0">
                <a:solidFill>
                  <a:srgbClr val="3A3A3A"/>
                </a:solidFill>
                <a:effectLst/>
                <a:latin typeface="Work Sans"/>
              </a:rPr>
              <a:t>(</a:t>
            </a:r>
            <a:r>
              <a:rPr lang="en-US" b="1" i="0" dirty="0" err="1">
                <a:solidFill>
                  <a:srgbClr val="3A3A3A"/>
                </a:solidFill>
                <a:effectLst/>
                <a:latin typeface="Work Sans"/>
              </a:rPr>
              <a:t>i</a:t>
            </a:r>
            <a:r>
              <a:rPr lang="en-US" b="1" i="0" dirty="0">
                <a:solidFill>
                  <a:srgbClr val="3A3A3A"/>
                </a:solidFill>
                <a:effectLst/>
                <a:latin typeface="Work Sans"/>
              </a:rPr>
              <a:t>) It should be prioritized</a:t>
            </a:r>
            <a:r>
              <a:rPr lang="en-US" b="0" i="0" dirty="0">
                <a:solidFill>
                  <a:srgbClr val="3A3A3A"/>
                </a:solidFill>
                <a:effectLst/>
                <a:latin typeface="Work Sans"/>
              </a:rPr>
              <a:t> – The items in the product backlog should be ordered as per their priority. This priority can be decided by the PO and the scrum team together. The prioritization factors can be any like benefit from the story point, the effort involved in the creation, complexity, customer priority etc.</a:t>
            </a:r>
          </a:p>
          <a:p>
            <a:pPr algn="l">
              <a:lnSpc>
                <a:spcPct val="150000"/>
              </a:lnSpc>
            </a:pPr>
            <a:r>
              <a:rPr lang="en-US" b="0" i="0" dirty="0">
                <a:solidFill>
                  <a:srgbClr val="3A3A3A"/>
                </a:solidFill>
                <a:effectLst/>
                <a:latin typeface="Work Sans"/>
              </a:rPr>
              <a:t>It helps the team in understanding what needs to be delivered first.</a:t>
            </a:r>
          </a:p>
          <a:p>
            <a:pPr algn="l">
              <a:lnSpc>
                <a:spcPct val="150000"/>
              </a:lnSpc>
            </a:pPr>
            <a:endParaRPr lang="en-US" b="0" i="0" dirty="0">
              <a:solidFill>
                <a:srgbClr val="3A3A3A"/>
              </a:solidFill>
              <a:effectLst/>
              <a:latin typeface="Work Sans"/>
            </a:endParaRPr>
          </a:p>
          <a:p>
            <a:pPr algn="l">
              <a:lnSpc>
                <a:spcPct val="150000"/>
              </a:lnSpc>
            </a:pPr>
            <a:r>
              <a:rPr lang="en-US" b="1" i="0" dirty="0">
                <a:solidFill>
                  <a:srgbClr val="3A3A3A"/>
                </a:solidFill>
                <a:effectLst/>
                <a:latin typeface="Work Sans"/>
              </a:rPr>
              <a:t>(ii) It should be estimated </a:t>
            </a:r>
            <a:r>
              <a:rPr lang="en-US" b="0" i="0" dirty="0">
                <a:solidFill>
                  <a:srgbClr val="3A3A3A"/>
                </a:solidFill>
                <a:effectLst/>
                <a:latin typeface="Work Sans"/>
              </a:rPr>
              <a:t>– The stories should always be estimated as per the agreed definition, whatever that might be. This can be used for prioritization as well.</a:t>
            </a:r>
          </a:p>
          <a:p>
            <a:pPr algn="l">
              <a:lnSpc>
                <a:spcPct val="150000"/>
              </a:lnSpc>
            </a:pPr>
            <a:endParaRPr lang="en-US" b="0" i="0" dirty="0">
              <a:solidFill>
                <a:srgbClr val="3A3A3A"/>
              </a:solidFill>
              <a:effectLst/>
              <a:latin typeface="Work Sans"/>
            </a:endParaRPr>
          </a:p>
          <a:p>
            <a:pPr algn="l">
              <a:lnSpc>
                <a:spcPct val="150000"/>
              </a:lnSpc>
            </a:pPr>
            <a:r>
              <a:rPr lang="en-US" b="1" i="0" dirty="0">
                <a:solidFill>
                  <a:srgbClr val="3A3A3A"/>
                </a:solidFill>
                <a:effectLst/>
                <a:latin typeface="Work Sans"/>
              </a:rPr>
              <a:t>(iii) It should be high level</a:t>
            </a:r>
            <a:r>
              <a:rPr lang="en-US" b="0" i="0" dirty="0">
                <a:solidFill>
                  <a:srgbClr val="3A3A3A"/>
                </a:solidFill>
                <a:effectLst/>
                <a:latin typeface="Work Sans"/>
              </a:rPr>
              <a:t> – The stories in the product backlog are meant to be high level and should not go into the details. Creation of detailed user stories as per the requirement is up to the scrum team and not the PO.</a:t>
            </a:r>
          </a:p>
          <a:p>
            <a:pPr algn="l">
              <a:lnSpc>
                <a:spcPct val="150000"/>
              </a:lnSpc>
            </a:pPr>
            <a:endParaRPr lang="en-US" b="0" i="0" dirty="0">
              <a:solidFill>
                <a:srgbClr val="3A3A3A"/>
              </a:solidFill>
              <a:effectLst/>
              <a:latin typeface="Work Sans"/>
            </a:endParaRPr>
          </a:p>
          <a:p>
            <a:pPr algn="l">
              <a:lnSpc>
                <a:spcPct val="150000"/>
              </a:lnSpc>
            </a:pPr>
            <a:r>
              <a:rPr lang="en-US" b="1" i="0" dirty="0">
                <a:solidFill>
                  <a:srgbClr val="3A3A3A"/>
                </a:solidFill>
                <a:effectLst/>
                <a:latin typeface="Work Sans"/>
              </a:rPr>
              <a:t>(iv) It should be dynamic</a:t>
            </a:r>
            <a:r>
              <a:rPr lang="en-US" b="0" i="0" dirty="0">
                <a:solidFill>
                  <a:srgbClr val="3A3A3A"/>
                </a:solidFill>
                <a:effectLst/>
                <a:latin typeface="Work Sans"/>
              </a:rPr>
              <a:t> – The product backlog is not a final static document. It should be revisited as the PO receives inputs from the scrum team and the customer requirements become more and more clear. Thus the document requirements are not frozen right at the beginning because there are additions/      deletions/modifications expected as the project progresses.</a:t>
            </a:r>
          </a:p>
        </p:txBody>
      </p:sp>
    </p:spTree>
    <p:extLst>
      <p:ext uri="{BB962C8B-B14F-4D97-AF65-F5344CB8AC3E}">
        <p14:creationId xmlns:p14="http://schemas.microsoft.com/office/powerpoint/2010/main" val="515705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8271DE-090D-419A-B6F4-D62FBC4573AB}"/>
              </a:ext>
            </a:extLst>
          </p:cNvPr>
          <p:cNvSpPr txBox="1"/>
          <p:nvPr/>
        </p:nvSpPr>
        <p:spPr>
          <a:xfrm>
            <a:off x="214184" y="90617"/>
            <a:ext cx="11450594" cy="1754326"/>
          </a:xfrm>
          <a:prstGeom prst="rect">
            <a:avLst/>
          </a:prstGeom>
          <a:noFill/>
        </p:spPr>
        <p:txBody>
          <a:bodyPr wrap="square">
            <a:spAutoFit/>
          </a:bodyPr>
          <a:lstStyle/>
          <a:p>
            <a:pPr algn="l"/>
            <a:r>
              <a:rPr lang="en-US" b="1" i="0" dirty="0">
                <a:solidFill>
                  <a:srgbClr val="3A3A3A"/>
                </a:solidFill>
                <a:effectLst/>
                <a:latin typeface="Work Sans"/>
              </a:rPr>
              <a:t>Sprint Backlog</a:t>
            </a:r>
          </a:p>
          <a:p>
            <a:pPr algn="l"/>
            <a:r>
              <a:rPr lang="en-US" b="0" i="0" dirty="0">
                <a:solidFill>
                  <a:srgbClr val="3A3A3A"/>
                </a:solidFill>
                <a:effectLst/>
                <a:latin typeface="Work Sans"/>
              </a:rPr>
              <a:t>You might remember that the scrum teams work in short iterations of 2 to 4 weeks called a sprint. During these sprints, the scrum team identifies the items from the product backlog created by the PO, which they plan to deliver as a part of the next iteration. The items which the scrum team selects to work upon become a part of the sprint backlog.</a:t>
            </a:r>
          </a:p>
          <a:p>
            <a:pPr algn="l"/>
            <a:r>
              <a:rPr lang="en-US" b="0" i="0" dirty="0">
                <a:solidFill>
                  <a:srgbClr val="3A3A3A"/>
                </a:solidFill>
                <a:effectLst/>
                <a:latin typeface="Work Sans"/>
              </a:rPr>
              <a:t>Thus they decide what functionalities are going to be there in the next iteration of the product. The scrum team is the one who decides what will go into the sprint backlog as they are the ones who are going to work on it.</a:t>
            </a:r>
          </a:p>
        </p:txBody>
      </p:sp>
      <p:pic>
        <p:nvPicPr>
          <p:cNvPr id="5122" name="Picture 2" descr="Scrum Artifacts and how to ensure transparency – Duncan Halley&amp;#39;s Blog">
            <a:extLst>
              <a:ext uri="{FF2B5EF4-FFF2-40B4-BE49-F238E27FC236}">
                <a16:creationId xmlns:a16="http://schemas.microsoft.com/office/drawing/2014/main" id="{B9547767-D937-4349-A45B-ACB6232431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2110" y="2280209"/>
            <a:ext cx="7562850" cy="3286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90526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4AF716-5885-4EC9-80E7-C119344322F9}"/>
              </a:ext>
            </a:extLst>
          </p:cNvPr>
          <p:cNvSpPr txBox="1"/>
          <p:nvPr/>
        </p:nvSpPr>
        <p:spPr>
          <a:xfrm>
            <a:off x="125835" y="436444"/>
            <a:ext cx="11794921" cy="6801862"/>
          </a:xfrm>
          <a:prstGeom prst="rect">
            <a:avLst/>
          </a:prstGeom>
          <a:noFill/>
        </p:spPr>
        <p:txBody>
          <a:bodyPr wrap="square">
            <a:spAutoFit/>
          </a:bodyPr>
          <a:lstStyle/>
          <a:p>
            <a:r>
              <a:rPr lang="en-US" sz="2000" b="0" i="0" dirty="0">
                <a:solidFill>
                  <a:srgbClr val="3A3A3A"/>
                </a:solidFill>
                <a:effectLst/>
                <a:latin typeface="Times New Roman" panose="02020603050405020304" pitchFamily="18" charset="0"/>
                <a:cs typeface="Times New Roman" panose="02020603050405020304" pitchFamily="18" charset="0"/>
              </a:rPr>
              <a:t>A goal of the scrum process is to develop features in such a way that the product is in a completed state at the end of every sprint, so it could be released, demonstrated to clients for feedback, or used as a tool for testing. While it’s not mandatory for an organization to release the product according to the schedule of scrum, this goal allows the state of the product to be part of the iterative process of development, testing, evaluation, and innovation that scrum encourages.</a:t>
            </a:r>
          </a:p>
          <a:p>
            <a:endParaRPr lang="en-US" sz="2000" dirty="0">
              <a:solidFill>
                <a:srgbClr val="3A3A3A"/>
              </a:solidFill>
              <a:latin typeface="Times New Roman" panose="02020603050405020304" pitchFamily="18" charset="0"/>
              <a:cs typeface="Times New Roman" panose="02020603050405020304" pitchFamily="18" charset="0"/>
            </a:endParaRPr>
          </a:p>
          <a:p>
            <a:r>
              <a:rPr lang="en-US" sz="2000" dirty="0">
                <a:effectLst/>
                <a:latin typeface="Times New Roman" panose="02020603050405020304" pitchFamily="18" charset="0"/>
                <a:cs typeface="Times New Roman" panose="02020603050405020304" pitchFamily="18" charset="0"/>
              </a:rPr>
              <a:t>The Increment is the sum of all the Product Backlog items completed during a Sprint and the value of the increments of all previous Sprints.</a:t>
            </a:r>
          </a:p>
          <a:p>
            <a:endParaRPr lang="en-US" sz="2000" dirty="0">
              <a:latin typeface="Times New Roman" panose="02020603050405020304" pitchFamily="18" charset="0"/>
              <a:cs typeface="Times New Roman" panose="02020603050405020304" pitchFamily="18" charset="0"/>
            </a:endParaRPr>
          </a:p>
          <a:p>
            <a:pPr algn="l"/>
            <a:r>
              <a:rPr lang="en-US" sz="2000" b="1" i="0" dirty="0">
                <a:effectLst/>
                <a:latin typeface="Times New Roman" panose="02020603050405020304" pitchFamily="18" charset="0"/>
                <a:cs typeface="Times New Roman" panose="02020603050405020304" pitchFamily="18" charset="0"/>
              </a:rPr>
              <a:t>“DONE” INCREMENT</a:t>
            </a:r>
          </a:p>
          <a:p>
            <a:pPr algn="l"/>
            <a:r>
              <a:rPr lang="en-US" sz="2000" b="0" i="0" dirty="0">
                <a:effectLst/>
                <a:latin typeface="Times New Roman" panose="02020603050405020304" pitchFamily="18" charset="0"/>
                <a:cs typeface="Times New Roman" panose="02020603050405020304" pitchFamily="18" charset="0"/>
              </a:rPr>
              <a:t>Every new Increment needs to be “Done”. It means that it needs to meet the Definition of “Done” created by the Scrum Team.</a:t>
            </a:r>
          </a:p>
          <a:p>
            <a:pPr algn="l"/>
            <a:endParaRPr lang="en-US" sz="2000" b="0" i="0" dirty="0">
              <a:effectLst/>
              <a:latin typeface="Times New Roman" panose="02020603050405020304" pitchFamily="18" charset="0"/>
              <a:cs typeface="Times New Roman" panose="02020603050405020304" pitchFamily="18" charset="0"/>
            </a:endParaRPr>
          </a:p>
          <a:p>
            <a:pPr algn="l"/>
            <a:r>
              <a:rPr lang="en-US" sz="2000" b="0" i="0" dirty="0">
                <a:effectLst/>
                <a:latin typeface="Times New Roman" panose="02020603050405020304" pitchFamily="18" charset="0"/>
                <a:cs typeface="Times New Roman" panose="02020603050405020304" pitchFamily="18" charset="0"/>
              </a:rPr>
              <a:t>The main role of the definition of “Done” is to increase and support high quality of the increment. Definition of “Done” is created by the </a:t>
            </a:r>
            <a:r>
              <a:rPr lang="en-US" sz="2000" b="0" i="0" u="none" strike="noStrike" dirty="0">
                <a:solidFill>
                  <a:srgbClr val="820323"/>
                </a:solidFill>
                <a:effectLst/>
                <a:latin typeface="Times New Roman" panose="02020603050405020304" pitchFamily="18" charset="0"/>
                <a:cs typeface="Times New Roman" panose="02020603050405020304" pitchFamily="18" charset="0"/>
                <a:hlinkClick r:id="rId2"/>
              </a:rPr>
              <a:t>Development Team’s</a:t>
            </a:r>
            <a:r>
              <a:rPr lang="en-US" sz="2000" b="0" i="0" dirty="0">
                <a:effectLst/>
                <a:latin typeface="Times New Roman" panose="02020603050405020304" pitchFamily="18" charset="0"/>
                <a:cs typeface="Times New Roman" panose="02020603050405020304" pitchFamily="18" charset="0"/>
              </a:rPr>
              <a:t> to have a common understanding about completed work and to ensure transparency.</a:t>
            </a:r>
          </a:p>
          <a:p>
            <a:pPr algn="l"/>
            <a:endParaRPr lang="en-US" sz="2000" dirty="0">
              <a:latin typeface="Times New Roman" panose="02020603050405020304" pitchFamily="18" charset="0"/>
              <a:cs typeface="Times New Roman" panose="02020603050405020304" pitchFamily="18" charset="0"/>
            </a:endParaRPr>
          </a:p>
          <a:p>
            <a:pPr algn="l"/>
            <a:endParaRPr lang="en-US" sz="2000" b="0" i="0" dirty="0">
              <a:effectLst/>
              <a:latin typeface="Times New Roman" panose="02020603050405020304" pitchFamily="18" charset="0"/>
              <a:cs typeface="Times New Roman" panose="02020603050405020304" pitchFamily="18" charset="0"/>
            </a:endParaRPr>
          </a:p>
          <a:p>
            <a:pPr algn="l"/>
            <a:r>
              <a:rPr lang="en-US" sz="2000" b="0" i="0" dirty="0">
                <a:effectLst/>
                <a:latin typeface="Times New Roman" panose="02020603050405020304" pitchFamily="18" charset="0"/>
                <a:cs typeface="Times New Roman" panose="02020603050405020304" pitchFamily="18" charset="0"/>
              </a:rPr>
              <a:t>What is more, definition of “Done” helps the </a:t>
            </a:r>
            <a:r>
              <a:rPr lang="en-US" sz="2000" b="0" i="0" u="none" strike="noStrike" dirty="0">
                <a:solidFill>
                  <a:srgbClr val="820323"/>
                </a:solidFill>
                <a:effectLst/>
                <a:latin typeface="Times New Roman" panose="02020603050405020304" pitchFamily="18" charset="0"/>
                <a:cs typeface="Times New Roman" panose="02020603050405020304" pitchFamily="18" charset="0"/>
                <a:hlinkClick r:id="rId2"/>
              </a:rPr>
              <a:t>Development Team’s</a:t>
            </a:r>
            <a:r>
              <a:rPr lang="en-US" sz="2000" b="0" i="0" dirty="0">
                <a:effectLst/>
                <a:latin typeface="Times New Roman" panose="02020603050405020304" pitchFamily="18" charset="0"/>
                <a:cs typeface="Times New Roman" panose="02020603050405020304" pitchFamily="18" charset="0"/>
              </a:rPr>
              <a:t> to select the right number of Product Backlog items into </a:t>
            </a:r>
            <a:r>
              <a:rPr lang="en-US" sz="2000" b="0" i="0" u="none" strike="noStrike" dirty="0">
                <a:solidFill>
                  <a:srgbClr val="820323"/>
                </a:solidFill>
                <a:effectLst/>
                <a:latin typeface="Times New Roman" panose="02020603050405020304" pitchFamily="18" charset="0"/>
                <a:cs typeface="Times New Roman" panose="02020603050405020304" pitchFamily="18" charset="0"/>
                <a:hlinkClick r:id="rId3"/>
              </a:rPr>
              <a:t>Sprint Backlog</a:t>
            </a:r>
            <a:r>
              <a:rPr lang="en-US" sz="2000" b="0" i="0" dirty="0">
                <a:effectLst/>
                <a:latin typeface="Times New Roman" panose="02020603050405020304" pitchFamily="18" charset="0"/>
                <a:cs typeface="Times New Roman" panose="02020603050405020304" pitchFamily="18" charset="0"/>
              </a:rPr>
              <a:t> during </a:t>
            </a:r>
            <a:r>
              <a:rPr lang="en-US" sz="2000" b="0" i="0" u="none" strike="noStrike" dirty="0">
                <a:solidFill>
                  <a:srgbClr val="820323"/>
                </a:solidFill>
                <a:effectLst/>
                <a:latin typeface="Times New Roman" panose="02020603050405020304" pitchFamily="18" charset="0"/>
                <a:cs typeface="Times New Roman" panose="02020603050405020304" pitchFamily="18" charset="0"/>
                <a:hlinkClick r:id="rId4"/>
              </a:rPr>
              <a:t>Sprint Planning</a:t>
            </a:r>
            <a:r>
              <a:rPr lang="en-US" sz="2000" b="0" i="0" dirty="0">
                <a:effectLst/>
                <a:latin typeface="Times New Roman" panose="02020603050405020304" pitchFamily="18" charset="0"/>
                <a:cs typeface="Times New Roman" panose="02020603050405020304" pitchFamily="18" charset="0"/>
              </a:rPr>
              <a:t> session.</a:t>
            </a:r>
          </a:p>
          <a:p>
            <a:endParaRPr lang="en-US" sz="1800" dirty="0">
              <a:effectLst/>
              <a:latin typeface="Times New Roman" panose="02020603050405020304" pitchFamily="18" charset="0"/>
              <a:cs typeface="Times New Roman" panose="02020603050405020304" pitchFamily="18" charset="0"/>
            </a:endParaRPr>
          </a:p>
          <a:p>
            <a:endParaRPr lang="en-SG" dirty="0"/>
          </a:p>
        </p:txBody>
      </p:sp>
      <p:sp>
        <p:nvSpPr>
          <p:cNvPr id="5" name="TextBox 4">
            <a:extLst>
              <a:ext uri="{FF2B5EF4-FFF2-40B4-BE49-F238E27FC236}">
                <a16:creationId xmlns:a16="http://schemas.microsoft.com/office/drawing/2014/main" id="{C148BC09-C9A4-4B7B-821F-C72199C42AFA}"/>
              </a:ext>
            </a:extLst>
          </p:cNvPr>
          <p:cNvSpPr txBox="1"/>
          <p:nvPr/>
        </p:nvSpPr>
        <p:spPr>
          <a:xfrm>
            <a:off x="58723" y="67112"/>
            <a:ext cx="9083180" cy="369332"/>
          </a:xfrm>
          <a:prstGeom prst="rect">
            <a:avLst/>
          </a:prstGeom>
          <a:noFill/>
        </p:spPr>
        <p:txBody>
          <a:bodyPr wrap="square">
            <a:spAutoFit/>
          </a:bodyPr>
          <a:lstStyle/>
          <a:p>
            <a:pPr algn="l"/>
            <a:r>
              <a:rPr lang="en-SG" sz="1800" b="1" i="0" dirty="0">
                <a:solidFill>
                  <a:srgbClr val="3A3A3A"/>
                </a:solidFill>
                <a:effectLst/>
                <a:latin typeface="Times New Roman" panose="02020603050405020304" pitchFamily="18" charset="0"/>
                <a:cs typeface="Times New Roman" panose="02020603050405020304" pitchFamily="18" charset="0"/>
              </a:rPr>
              <a:t>Product Increments</a:t>
            </a:r>
          </a:p>
        </p:txBody>
      </p:sp>
    </p:spTree>
    <p:extLst>
      <p:ext uri="{BB962C8B-B14F-4D97-AF65-F5344CB8AC3E}">
        <p14:creationId xmlns:p14="http://schemas.microsoft.com/office/powerpoint/2010/main" val="15660087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31B518-2874-40C0-B523-E9E079D1603F}"/>
              </a:ext>
            </a:extLst>
          </p:cNvPr>
          <p:cNvSpPr txBox="1"/>
          <p:nvPr/>
        </p:nvSpPr>
        <p:spPr>
          <a:xfrm>
            <a:off x="74141" y="140043"/>
            <a:ext cx="11763632" cy="1200329"/>
          </a:xfrm>
          <a:prstGeom prst="rect">
            <a:avLst/>
          </a:prstGeom>
          <a:noFill/>
        </p:spPr>
        <p:txBody>
          <a:bodyPr wrap="square">
            <a:spAutoFit/>
          </a:bodyPr>
          <a:lstStyle/>
          <a:p>
            <a:pPr algn="l">
              <a:buFont typeface="Arial" panose="020B0604020202020204" pitchFamily="34" charset="0"/>
              <a:buChar char="•"/>
            </a:pPr>
            <a:r>
              <a:rPr lang="en-US" b="0" i="0" dirty="0">
                <a:effectLst/>
                <a:latin typeface="Roboto" panose="02000000000000000000" pitchFamily="2" charset="0"/>
              </a:rPr>
              <a:t>Increment is sum of all items completed within the </a:t>
            </a:r>
            <a:r>
              <a:rPr lang="en-US" b="0" i="0" u="none" strike="noStrike" dirty="0">
                <a:solidFill>
                  <a:srgbClr val="820323"/>
                </a:solidFill>
                <a:effectLst/>
                <a:latin typeface="Roboto" panose="02000000000000000000" pitchFamily="2" charset="0"/>
                <a:hlinkClick r:id="rId2"/>
              </a:rPr>
              <a:t>Sprint</a:t>
            </a:r>
            <a:r>
              <a:rPr lang="en-US" b="0" i="0" dirty="0">
                <a:effectLst/>
                <a:latin typeface="Roboto" panose="02000000000000000000" pitchFamily="2" charset="0"/>
              </a:rPr>
              <a:t> + value of increments from previous iterations</a:t>
            </a:r>
          </a:p>
          <a:p>
            <a:pPr algn="l">
              <a:buFont typeface="Arial" panose="020B0604020202020204" pitchFamily="34" charset="0"/>
              <a:buChar char="•"/>
            </a:pPr>
            <a:r>
              <a:rPr lang="en-US" b="0" i="0" dirty="0">
                <a:effectLst/>
                <a:latin typeface="Roboto" panose="02000000000000000000" pitchFamily="2" charset="0"/>
              </a:rPr>
              <a:t>When Increment is created, definition of “Done” needs to be met</a:t>
            </a:r>
          </a:p>
          <a:p>
            <a:pPr algn="l">
              <a:buFont typeface="Arial" panose="020B0604020202020204" pitchFamily="34" charset="0"/>
              <a:buChar char="•"/>
            </a:pPr>
            <a:r>
              <a:rPr lang="en-US" b="0" i="0" dirty="0">
                <a:effectLst/>
                <a:latin typeface="Roboto" panose="02000000000000000000" pitchFamily="2" charset="0"/>
              </a:rPr>
              <a:t>Decision about releasing the Increment is in the </a:t>
            </a:r>
            <a:r>
              <a:rPr lang="en-US" b="0" i="0" u="none" strike="noStrike" dirty="0">
                <a:solidFill>
                  <a:srgbClr val="820323"/>
                </a:solidFill>
                <a:effectLst/>
                <a:latin typeface="Roboto" panose="02000000000000000000" pitchFamily="2" charset="0"/>
                <a:hlinkClick r:id="rId3"/>
              </a:rPr>
              <a:t>Product Owner’s</a:t>
            </a:r>
            <a:r>
              <a:rPr lang="en-US" b="0" i="0" dirty="0">
                <a:effectLst/>
                <a:latin typeface="Roboto" panose="02000000000000000000" pitchFamily="2" charset="0"/>
              </a:rPr>
              <a:t> hands, but it needs to be in useable/releasable state.</a:t>
            </a:r>
          </a:p>
        </p:txBody>
      </p:sp>
      <p:pic>
        <p:nvPicPr>
          <p:cNvPr id="7170" name="Picture 2" descr="Increment">
            <a:extLst>
              <a:ext uri="{FF2B5EF4-FFF2-40B4-BE49-F238E27FC236}">
                <a16:creationId xmlns:a16="http://schemas.microsoft.com/office/drawing/2014/main" id="{CCDFA6AE-F59D-4B85-978B-1E471FABDA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2356022"/>
            <a:ext cx="7817707" cy="3600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49146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AF59E2-7F98-46B9-ACDA-2926203577AA}"/>
              </a:ext>
            </a:extLst>
          </p:cNvPr>
          <p:cNvPicPr>
            <a:picLocks noChangeAspect="1"/>
          </p:cNvPicPr>
          <p:nvPr/>
        </p:nvPicPr>
        <p:blipFill>
          <a:blip r:embed="rId2"/>
          <a:stretch>
            <a:fillRect/>
          </a:stretch>
        </p:blipFill>
        <p:spPr>
          <a:xfrm>
            <a:off x="838200" y="385762"/>
            <a:ext cx="10515600" cy="6086475"/>
          </a:xfrm>
          <a:prstGeom prst="rect">
            <a:avLst/>
          </a:prstGeom>
        </p:spPr>
      </p:pic>
    </p:spTree>
    <p:extLst>
      <p:ext uri="{BB962C8B-B14F-4D97-AF65-F5344CB8AC3E}">
        <p14:creationId xmlns:p14="http://schemas.microsoft.com/office/powerpoint/2010/main" val="30877751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AAE94B-A6A4-414A-B3A1-24626AB1A0B4}"/>
              </a:ext>
            </a:extLst>
          </p:cNvPr>
          <p:cNvPicPr>
            <a:picLocks noChangeAspect="1"/>
          </p:cNvPicPr>
          <p:nvPr/>
        </p:nvPicPr>
        <p:blipFill>
          <a:blip r:embed="rId2"/>
          <a:stretch>
            <a:fillRect/>
          </a:stretch>
        </p:blipFill>
        <p:spPr>
          <a:xfrm>
            <a:off x="789725" y="799140"/>
            <a:ext cx="10612550" cy="5950241"/>
          </a:xfrm>
          <a:prstGeom prst="rect">
            <a:avLst/>
          </a:prstGeom>
        </p:spPr>
      </p:pic>
    </p:spTree>
    <p:extLst>
      <p:ext uri="{BB962C8B-B14F-4D97-AF65-F5344CB8AC3E}">
        <p14:creationId xmlns:p14="http://schemas.microsoft.com/office/powerpoint/2010/main" val="21939955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47B0C4-DB19-404A-AE8F-00BF57DC93BC}"/>
              </a:ext>
            </a:extLst>
          </p:cNvPr>
          <p:cNvSpPr txBox="1"/>
          <p:nvPr/>
        </p:nvSpPr>
        <p:spPr>
          <a:xfrm>
            <a:off x="172278" y="0"/>
            <a:ext cx="11873947" cy="6740307"/>
          </a:xfrm>
          <a:prstGeom prst="rect">
            <a:avLst/>
          </a:prstGeom>
          <a:noFill/>
        </p:spPr>
        <p:txBody>
          <a:bodyPr wrap="square">
            <a:spAutoFit/>
          </a:bodyPr>
          <a:lstStyle/>
          <a:p>
            <a:pPr algn="l"/>
            <a:r>
              <a:rPr lang="en-US" sz="2400" b="1" i="0" dirty="0">
                <a:solidFill>
                  <a:srgbClr val="575757"/>
                </a:solidFill>
                <a:effectLst/>
                <a:latin typeface="Times New Roman" panose="02020603050405020304" pitchFamily="18" charset="0"/>
                <a:cs typeface="Times New Roman" panose="02020603050405020304" pitchFamily="18" charset="0"/>
              </a:rPr>
              <a:t>Exhibit 1. The Original Scrum Framework</a:t>
            </a:r>
          </a:p>
          <a:p>
            <a:pPr algn="l"/>
            <a:endParaRPr lang="en-US" sz="2400" b="0" i="0" dirty="0">
              <a:solidFill>
                <a:srgbClr val="575757"/>
              </a:solidFill>
              <a:effectLst/>
              <a:latin typeface="Times New Roman" panose="02020603050405020304" pitchFamily="18" charset="0"/>
              <a:cs typeface="Times New Roman" panose="02020603050405020304" pitchFamily="18" charset="0"/>
            </a:endParaRPr>
          </a:p>
          <a:p>
            <a:pPr algn="l"/>
            <a:r>
              <a:rPr lang="en-US" sz="2400" b="0" i="0" dirty="0">
                <a:solidFill>
                  <a:srgbClr val="575757"/>
                </a:solidFill>
                <a:effectLst/>
                <a:latin typeface="Times New Roman" panose="02020603050405020304" pitchFamily="18" charset="0"/>
                <a:cs typeface="Times New Roman" panose="02020603050405020304" pitchFamily="18" charset="0"/>
              </a:rPr>
              <a:t>The project begins with a clear vision provided by the business, and a set of product features in order of importance. These features are part of the </a:t>
            </a:r>
            <a:r>
              <a:rPr lang="en-US" sz="2400" b="1" i="0" dirty="0">
                <a:solidFill>
                  <a:srgbClr val="575757"/>
                </a:solidFill>
                <a:effectLst/>
                <a:latin typeface="Times New Roman" panose="02020603050405020304" pitchFamily="18" charset="0"/>
                <a:cs typeface="Times New Roman" panose="02020603050405020304" pitchFamily="18" charset="0"/>
              </a:rPr>
              <a:t>product backlog</a:t>
            </a:r>
            <a:r>
              <a:rPr lang="en-US" sz="2400" b="0" i="0" dirty="0">
                <a:solidFill>
                  <a:srgbClr val="575757"/>
                </a:solidFill>
                <a:effectLst/>
                <a:latin typeface="Times New Roman" panose="02020603050405020304" pitchFamily="18" charset="0"/>
                <a:cs typeface="Times New Roman" panose="02020603050405020304" pitchFamily="18" charset="0"/>
              </a:rPr>
              <a:t>, which is maintained by the customer or customer representative referred to as the </a:t>
            </a:r>
            <a:r>
              <a:rPr lang="en-US" sz="2400" b="1" i="0" dirty="0">
                <a:solidFill>
                  <a:srgbClr val="575757"/>
                </a:solidFill>
                <a:effectLst/>
                <a:latin typeface="Times New Roman" panose="02020603050405020304" pitchFamily="18" charset="0"/>
                <a:cs typeface="Times New Roman" panose="02020603050405020304" pitchFamily="18" charset="0"/>
              </a:rPr>
              <a:t>Product Owner. </a:t>
            </a:r>
            <a:r>
              <a:rPr lang="en-US" sz="2400" b="0" i="0" dirty="0">
                <a:solidFill>
                  <a:srgbClr val="575757"/>
                </a:solidFill>
                <a:effectLst/>
                <a:latin typeface="Times New Roman" panose="02020603050405020304" pitchFamily="18" charset="0"/>
                <a:cs typeface="Times New Roman" panose="02020603050405020304" pitchFamily="18" charset="0"/>
              </a:rPr>
              <a:t>A time box commonly referred to as </a:t>
            </a:r>
            <a:r>
              <a:rPr lang="en-US" sz="2400" b="1" i="0" dirty="0">
                <a:solidFill>
                  <a:srgbClr val="575757"/>
                </a:solidFill>
                <a:effectLst/>
                <a:latin typeface="Times New Roman" panose="02020603050405020304" pitchFamily="18" charset="0"/>
                <a:cs typeface="Times New Roman" panose="02020603050405020304" pitchFamily="18" charset="0"/>
              </a:rPr>
              <a:t>an iteration or sprint</a:t>
            </a:r>
            <a:r>
              <a:rPr lang="en-US" sz="2400" b="0" i="0" dirty="0">
                <a:solidFill>
                  <a:srgbClr val="575757"/>
                </a:solidFill>
                <a:effectLst/>
                <a:latin typeface="Times New Roman" panose="02020603050405020304" pitchFamily="18" charset="0"/>
                <a:cs typeface="Times New Roman" panose="02020603050405020304" pitchFamily="18" charset="0"/>
              </a:rPr>
              <a:t>, is the set amount of time that the team has to complete the features selected. </a:t>
            </a:r>
          </a:p>
          <a:p>
            <a:pPr algn="l"/>
            <a:endParaRPr lang="en-US" sz="2400" dirty="0">
              <a:solidFill>
                <a:srgbClr val="575757"/>
              </a:solidFill>
              <a:latin typeface="Times New Roman" panose="02020603050405020304" pitchFamily="18" charset="0"/>
              <a:cs typeface="Times New Roman" panose="02020603050405020304" pitchFamily="18" charset="0"/>
            </a:endParaRPr>
          </a:p>
          <a:p>
            <a:pPr algn="l"/>
            <a:r>
              <a:rPr lang="en-US" sz="2400" b="0" i="0" dirty="0">
                <a:solidFill>
                  <a:srgbClr val="575757"/>
                </a:solidFill>
                <a:effectLst/>
                <a:latin typeface="Times New Roman" panose="02020603050405020304" pitchFamily="18" charset="0"/>
                <a:cs typeface="Times New Roman" panose="02020603050405020304" pitchFamily="18" charset="0"/>
              </a:rPr>
              <a:t>Sprints are generally from </a:t>
            </a:r>
            <a:r>
              <a:rPr lang="en-US" sz="2400" b="1" i="0" dirty="0">
                <a:solidFill>
                  <a:srgbClr val="575757"/>
                </a:solidFill>
                <a:effectLst/>
                <a:latin typeface="Times New Roman" panose="02020603050405020304" pitchFamily="18" charset="0"/>
                <a:cs typeface="Times New Roman" panose="02020603050405020304" pitchFamily="18" charset="0"/>
              </a:rPr>
              <a:t>one to four weeks</a:t>
            </a:r>
            <a:r>
              <a:rPr lang="en-US" sz="2400" b="0" i="0" dirty="0">
                <a:solidFill>
                  <a:srgbClr val="575757"/>
                </a:solidFill>
                <a:effectLst/>
                <a:latin typeface="Times New Roman" panose="02020603050405020304" pitchFamily="18" charset="0"/>
                <a:cs typeface="Times New Roman" panose="02020603050405020304" pitchFamily="18" charset="0"/>
              </a:rPr>
              <a:t> in length, and that length is maintained throughout the life of the project so as to establish a cadence. The team selects items from the product backlog that it believes can be completed in the sprint, and creates a sprint backlog consisting of the features and tasks as part of the sprint-planning meeting.</a:t>
            </a:r>
          </a:p>
          <a:p>
            <a:pPr algn="l"/>
            <a:endParaRPr lang="en-US" sz="2400" b="0" i="0" dirty="0">
              <a:solidFill>
                <a:srgbClr val="575757"/>
              </a:solidFill>
              <a:effectLst/>
              <a:latin typeface="Times New Roman" panose="02020603050405020304" pitchFamily="18" charset="0"/>
              <a:cs typeface="Times New Roman" panose="02020603050405020304" pitchFamily="18" charset="0"/>
            </a:endParaRPr>
          </a:p>
          <a:p>
            <a:pPr algn="l"/>
            <a:r>
              <a:rPr lang="en-US" sz="2400" b="0" i="0" dirty="0">
                <a:solidFill>
                  <a:srgbClr val="575757"/>
                </a:solidFill>
                <a:effectLst/>
                <a:latin typeface="Times New Roman" panose="02020603050405020304" pitchFamily="18" charset="0"/>
                <a:cs typeface="Times New Roman" panose="02020603050405020304" pitchFamily="18" charset="0"/>
              </a:rPr>
              <a:t>Once the team has committed to a sprint backlog, the task work begins. During this time in the sprint, the team is protected from interruptions and allowed to focus on meeting the sprint goal. No changes to the sprint backlog are allowed; however, the product backlog can be changed in preparation for the next sprint.</a:t>
            </a:r>
          </a:p>
          <a:p>
            <a:pPr algn="l"/>
            <a:endParaRPr lang="en-US" sz="2400" b="0" i="0" dirty="0">
              <a:solidFill>
                <a:srgbClr val="575757"/>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49919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5AB7F4-3DB8-4F6F-8739-B889109E5613}"/>
              </a:ext>
            </a:extLst>
          </p:cNvPr>
          <p:cNvSpPr txBox="1"/>
          <p:nvPr/>
        </p:nvSpPr>
        <p:spPr>
          <a:xfrm>
            <a:off x="312820" y="144379"/>
            <a:ext cx="11574379" cy="3046988"/>
          </a:xfrm>
          <a:prstGeom prst="rect">
            <a:avLst/>
          </a:prstGeom>
          <a:noFill/>
        </p:spPr>
        <p:txBody>
          <a:bodyPr wrap="square">
            <a:spAutoFit/>
          </a:bodyPr>
          <a:lstStyle/>
          <a:p>
            <a:pPr algn="l"/>
            <a:r>
              <a:rPr lang="en-US" sz="2400" b="0" i="0" dirty="0">
                <a:solidFill>
                  <a:srgbClr val="575757"/>
                </a:solidFill>
                <a:effectLst/>
                <a:latin typeface="Times New Roman" panose="02020603050405020304" pitchFamily="18" charset="0"/>
                <a:cs typeface="Times New Roman" panose="02020603050405020304" pitchFamily="18" charset="0"/>
              </a:rPr>
              <a:t>During the sprint, the team checks in daily with each other in the form of a 15-minute meeting known as a scrum. The team stands in a circle and each member states what they did yesterday, what they plan to do today, and what is getting in their way.</a:t>
            </a:r>
          </a:p>
          <a:p>
            <a:pPr algn="l"/>
            <a:endParaRPr lang="en-US" sz="2400" b="0" i="0" dirty="0">
              <a:solidFill>
                <a:srgbClr val="575757"/>
              </a:solidFill>
              <a:effectLst/>
              <a:latin typeface="Times New Roman" panose="02020603050405020304" pitchFamily="18" charset="0"/>
              <a:cs typeface="Times New Roman" panose="02020603050405020304" pitchFamily="18" charset="0"/>
            </a:endParaRPr>
          </a:p>
          <a:p>
            <a:pPr algn="l"/>
            <a:r>
              <a:rPr lang="en-US" sz="2400" b="0" i="0" dirty="0">
                <a:solidFill>
                  <a:srgbClr val="575757"/>
                </a:solidFill>
                <a:effectLst/>
                <a:latin typeface="Times New Roman" panose="02020603050405020304" pitchFamily="18" charset="0"/>
                <a:cs typeface="Times New Roman" panose="02020603050405020304" pitchFamily="18" charset="0"/>
              </a:rPr>
              <a:t>At the end of the sprint, the team demos the work they have completed to the stakeholders and gathers feedback that will affect what they work on in the next sprint. They also hold a retrospective to learn how to improve. This meeting is critical, as its focus is on the three pillars of Scrum: transparency, inspection, and adaptation.</a:t>
            </a:r>
          </a:p>
        </p:txBody>
      </p:sp>
    </p:spTree>
    <p:extLst>
      <p:ext uri="{BB962C8B-B14F-4D97-AF65-F5344CB8AC3E}">
        <p14:creationId xmlns:p14="http://schemas.microsoft.com/office/powerpoint/2010/main" val="37385296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42C5B5-768C-4EB9-955F-931AF6EB3A48}"/>
              </a:ext>
            </a:extLst>
          </p:cNvPr>
          <p:cNvSpPr txBox="1"/>
          <p:nvPr/>
        </p:nvSpPr>
        <p:spPr>
          <a:xfrm>
            <a:off x="0" y="0"/>
            <a:ext cx="12192000" cy="6463308"/>
          </a:xfrm>
          <a:prstGeom prst="rect">
            <a:avLst/>
          </a:prstGeom>
          <a:noFill/>
        </p:spPr>
        <p:txBody>
          <a:bodyPr wrap="square">
            <a:spAutoFit/>
          </a:bodyPr>
          <a:lstStyle/>
          <a:p>
            <a:pPr algn="l"/>
            <a:r>
              <a:rPr lang="en-US" b="1" i="0" dirty="0">
                <a:solidFill>
                  <a:srgbClr val="212121"/>
                </a:solidFill>
                <a:effectLst/>
                <a:latin typeface="Agrandir-Medium"/>
              </a:rPr>
              <a:t>The Application of Scrum</a:t>
            </a:r>
          </a:p>
          <a:p>
            <a:pPr algn="l"/>
            <a:r>
              <a:rPr lang="en-US" b="0" i="0" dirty="0">
                <a:solidFill>
                  <a:srgbClr val="575757"/>
                </a:solidFill>
                <a:effectLst/>
                <a:latin typeface="Helvetica" panose="020B0604020202020204" pitchFamily="34" charset="0"/>
              </a:rPr>
              <a:t>Scrum is applied by following a set of ceremonies, or meetings. Required Scrum ceremonies include the sprint planning meeting, the daily scrum, the sprint review and the sprint retrospective. Working in time boxes called sprints is also required. Release planning meetings are optional and allow for the planning and forecasting of groups of sprints.</a:t>
            </a:r>
          </a:p>
          <a:p>
            <a:pPr algn="l"/>
            <a:endParaRPr lang="en-US" b="0" i="0" dirty="0">
              <a:solidFill>
                <a:srgbClr val="575757"/>
              </a:solidFill>
              <a:effectLst/>
              <a:latin typeface="Helvetica" panose="020B0604020202020204" pitchFamily="34" charset="0"/>
            </a:endParaRPr>
          </a:p>
          <a:p>
            <a:pPr algn="l"/>
            <a:r>
              <a:rPr lang="en-US" b="1" i="0" dirty="0">
                <a:solidFill>
                  <a:srgbClr val="212121"/>
                </a:solidFill>
                <a:effectLst/>
                <a:latin typeface="Agrandir-Medium"/>
              </a:rPr>
              <a:t>Sprint Planning Meeting</a:t>
            </a:r>
          </a:p>
          <a:p>
            <a:pPr algn="l"/>
            <a:endParaRPr lang="en-US" b="1" i="0" dirty="0">
              <a:solidFill>
                <a:srgbClr val="212121"/>
              </a:solidFill>
              <a:effectLst/>
              <a:latin typeface="Agrandir-Medium"/>
            </a:endParaRPr>
          </a:p>
          <a:p>
            <a:pPr algn="l"/>
            <a:r>
              <a:rPr lang="en-US" b="0" i="0" dirty="0">
                <a:solidFill>
                  <a:srgbClr val="575757"/>
                </a:solidFill>
                <a:effectLst/>
                <a:latin typeface="Helvetica" panose="020B0604020202020204" pitchFamily="34" charset="0"/>
              </a:rPr>
              <a:t>The sprint-planning meeting is held on the first day of every sprint. The ScrumMaster, Product Owner, and Team are all in attendance. The Product Owner presents the set of features he or she would like to see completed in the sprint (the “what”) then the team determines the tasks needed to implement these features (the “how”). Work estimates are reviewed to see if the team has the time to complete all the features requested in the sprint. If so, the team commits to the sprint. If not, the lower priority features go back into the product backlog, until the workload for the sprint is small enough to obtain the team's commitment.</a:t>
            </a:r>
          </a:p>
          <a:p>
            <a:pPr algn="l"/>
            <a:endParaRPr lang="en-US" b="0" i="0" dirty="0">
              <a:solidFill>
                <a:srgbClr val="575757"/>
              </a:solidFill>
              <a:effectLst/>
              <a:latin typeface="Helvetica" panose="020B0604020202020204" pitchFamily="34" charset="0"/>
            </a:endParaRPr>
          </a:p>
          <a:p>
            <a:pPr algn="l"/>
            <a:r>
              <a:rPr lang="en-US" b="1" i="0" dirty="0">
                <a:solidFill>
                  <a:srgbClr val="212121"/>
                </a:solidFill>
                <a:effectLst/>
                <a:latin typeface="Agrandir-Medium"/>
              </a:rPr>
              <a:t>Tracking Progress</a:t>
            </a:r>
          </a:p>
          <a:p>
            <a:pPr algn="l"/>
            <a:endParaRPr lang="en-US" b="1" i="0" dirty="0">
              <a:solidFill>
                <a:srgbClr val="212121"/>
              </a:solidFill>
              <a:effectLst/>
              <a:latin typeface="Agrandir-Medium"/>
            </a:endParaRPr>
          </a:p>
          <a:p>
            <a:pPr algn="l"/>
            <a:r>
              <a:rPr lang="en-US" b="0" i="0" dirty="0">
                <a:solidFill>
                  <a:srgbClr val="575757"/>
                </a:solidFill>
                <a:effectLst/>
                <a:latin typeface="Helvetica" panose="020B0604020202020204" pitchFamily="34" charset="0"/>
              </a:rPr>
              <a:t>Once the sprint-planning meeting is complete and the team has made a commitment, the team begins to track its progress using highly visible information radiators. These radiators include the burndown chart and the task board.</a:t>
            </a:r>
          </a:p>
          <a:p>
            <a:pPr algn="l"/>
            <a:r>
              <a:rPr lang="en-US" b="0" i="0" dirty="0">
                <a:solidFill>
                  <a:srgbClr val="575757"/>
                </a:solidFill>
                <a:effectLst/>
                <a:latin typeface="Helvetica" panose="020B0604020202020204" pitchFamily="34" charset="0"/>
              </a:rPr>
              <a:t>The task board is used by the team to track the progress of the tasks for each feature. The minimum columns used are To Do, Doing, and Done. Teams will have their daily scrum meeting at the task board, and move items across the board when stating what they did yesterday, what they plan to do today, and what obstacles they are grappling with. See Exhibit 2 for an example task board for a software development project.</a:t>
            </a:r>
          </a:p>
        </p:txBody>
      </p:sp>
    </p:spTree>
    <p:extLst>
      <p:ext uri="{BB962C8B-B14F-4D97-AF65-F5344CB8AC3E}">
        <p14:creationId xmlns:p14="http://schemas.microsoft.com/office/powerpoint/2010/main" val="21019359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1676B9-EAAA-47B9-84C9-E19DC0A8ADAD}"/>
              </a:ext>
            </a:extLst>
          </p:cNvPr>
          <p:cNvPicPr>
            <a:picLocks noChangeAspect="1"/>
          </p:cNvPicPr>
          <p:nvPr/>
        </p:nvPicPr>
        <p:blipFill>
          <a:blip r:embed="rId2"/>
          <a:stretch>
            <a:fillRect/>
          </a:stretch>
        </p:blipFill>
        <p:spPr>
          <a:xfrm>
            <a:off x="656981" y="274982"/>
            <a:ext cx="11150707" cy="6308035"/>
          </a:xfrm>
          <a:prstGeom prst="rect">
            <a:avLst/>
          </a:prstGeom>
        </p:spPr>
      </p:pic>
    </p:spTree>
    <p:extLst>
      <p:ext uri="{BB962C8B-B14F-4D97-AF65-F5344CB8AC3E}">
        <p14:creationId xmlns:p14="http://schemas.microsoft.com/office/powerpoint/2010/main" val="17508642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A206D3-C883-453A-AC24-C0133D1157F3}"/>
              </a:ext>
            </a:extLst>
          </p:cNvPr>
          <p:cNvPicPr>
            <a:picLocks noChangeAspect="1"/>
          </p:cNvPicPr>
          <p:nvPr/>
        </p:nvPicPr>
        <p:blipFill>
          <a:blip r:embed="rId2"/>
          <a:stretch>
            <a:fillRect/>
          </a:stretch>
        </p:blipFill>
        <p:spPr>
          <a:xfrm>
            <a:off x="693004" y="570446"/>
            <a:ext cx="10805991" cy="6073057"/>
          </a:xfrm>
          <a:prstGeom prst="rect">
            <a:avLst/>
          </a:prstGeom>
        </p:spPr>
      </p:pic>
      <p:sp>
        <p:nvSpPr>
          <p:cNvPr id="4" name="TextBox 3">
            <a:extLst>
              <a:ext uri="{FF2B5EF4-FFF2-40B4-BE49-F238E27FC236}">
                <a16:creationId xmlns:a16="http://schemas.microsoft.com/office/drawing/2014/main" id="{2D158064-D415-4F51-8D73-85478D42460D}"/>
              </a:ext>
            </a:extLst>
          </p:cNvPr>
          <p:cNvSpPr txBox="1"/>
          <p:nvPr/>
        </p:nvSpPr>
        <p:spPr>
          <a:xfrm>
            <a:off x="140043" y="67938"/>
            <a:ext cx="9071919" cy="369332"/>
          </a:xfrm>
          <a:prstGeom prst="rect">
            <a:avLst/>
          </a:prstGeom>
          <a:noFill/>
        </p:spPr>
        <p:txBody>
          <a:bodyPr wrap="square">
            <a:spAutoFit/>
          </a:bodyPr>
          <a:lstStyle/>
          <a:p>
            <a:pPr algn="l"/>
            <a:r>
              <a:rPr lang="en-US" sz="1800" b="1" i="0" dirty="0">
                <a:solidFill>
                  <a:srgbClr val="575757"/>
                </a:solidFill>
                <a:effectLst/>
                <a:latin typeface="Times New Roman" panose="02020603050405020304" pitchFamily="18" charset="0"/>
                <a:cs typeface="Times New Roman" panose="02020603050405020304" pitchFamily="18" charset="0"/>
              </a:rPr>
              <a:t>Exhibit 2. Scrum Task Board Example</a:t>
            </a:r>
            <a:r>
              <a:rPr lang="en-US" sz="1800" b="0" i="0" dirty="0">
                <a:solidFill>
                  <a:srgbClr val="575757"/>
                </a:solidFill>
                <a:effectLst/>
                <a:latin typeface="Times New Roman" panose="02020603050405020304" pitchFamily="18" charset="0"/>
                <a:cs typeface="Times New Roman" panose="02020603050405020304" pitchFamily="18" charset="0"/>
              </a:rPr>
              <a:t> </a:t>
            </a:r>
          </a:p>
        </p:txBody>
      </p:sp>
      <p:sp>
        <p:nvSpPr>
          <p:cNvPr id="5" name="Rectangle 4">
            <a:extLst>
              <a:ext uri="{FF2B5EF4-FFF2-40B4-BE49-F238E27FC236}">
                <a16:creationId xmlns:a16="http://schemas.microsoft.com/office/drawing/2014/main" id="{AC54A67E-56A2-472D-A102-C9A5E3DD9BE0}"/>
              </a:ext>
            </a:extLst>
          </p:cNvPr>
          <p:cNvSpPr/>
          <p:nvPr/>
        </p:nvSpPr>
        <p:spPr>
          <a:xfrm>
            <a:off x="10297297" y="437270"/>
            <a:ext cx="1425146" cy="7325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2431151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38E66A-F5A8-4947-91A4-91D6DFF23B11}"/>
              </a:ext>
            </a:extLst>
          </p:cNvPr>
          <p:cNvSpPr txBox="1"/>
          <p:nvPr/>
        </p:nvSpPr>
        <p:spPr>
          <a:xfrm>
            <a:off x="159026" y="132522"/>
            <a:ext cx="11900452" cy="3046988"/>
          </a:xfrm>
          <a:prstGeom prst="rect">
            <a:avLst/>
          </a:prstGeom>
          <a:noFill/>
        </p:spPr>
        <p:txBody>
          <a:bodyPr wrap="square">
            <a:spAutoFit/>
          </a:bodyPr>
          <a:lstStyle/>
          <a:p>
            <a:pPr algn="l"/>
            <a:endParaRPr lang="en-US" sz="2400" b="0" i="0" dirty="0">
              <a:solidFill>
                <a:srgbClr val="575757"/>
              </a:solidFill>
              <a:effectLst/>
              <a:latin typeface="Times New Roman" panose="02020603050405020304" pitchFamily="18" charset="0"/>
              <a:cs typeface="Times New Roman" panose="02020603050405020304" pitchFamily="18" charset="0"/>
            </a:endParaRPr>
          </a:p>
          <a:p>
            <a:pPr algn="l"/>
            <a:r>
              <a:rPr lang="en-US" sz="2400" b="0" i="0" dirty="0">
                <a:solidFill>
                  <a:srgbClr val="575757"/>
                </a:solidFill>
                <a:effectLst/>
                <a:latin typeface="Times New Roman" panose="02020603050405020304" pitchFamily="18" charset="0"/>
                <a:cs typeface="Times New Roman" panose="02020603050405020304" pitchFamily="18" charset="0"/>
              </a:rPr>
              <a:t>The burndown chart shows the trend line of the amount of work left to do in the sprint. The x-axis is the number of days in the sprint, and the y-axis is the number of hours for all the tasks that were defined in the sprint-planning meeting. Over the days of the sprint, the line indicating the amount of work left to do should trend down to zero by the last day of the sprint. </a:t>
            </a:r>
          </a:p>
          <a:p>
            <a:pPr algn="l"/>
            <a:endParaRPr lang="en-US" sz="2400" dirty="0">
              <a:solidFill>
                <a:srgbClr val="575757"/>
              </a:solidFill>
              <a:latin typeface="Times New Roman" panose="02020603050405020304" pitchFamily="18" charset="0"/>
              <a:cs typeface="Times New Roman" panose="02020603050405020304" pitchFamily="18" charset="0"/>
            </a:endParaRPr>
          </a:p>
          <a:p>
            <a:pPr algn="l"/>
            <a:r>
              <a:rPr lang="en-US" sz="2400" b="0" i="0" dirty="0">
                <a:solidFill>
                  <a:srgbClr val="575757"/>
                </a:solidFill>
                <a:effectLst/>
                <a:latin typeface="Times New Roman" panose="02020603050405020304" pitchFamily="18" charset="0"/>
                <a:cs typeface="Times New Roman" panose="02020603050405020304" pitchFamily="18" charset="0"/>
              </a:rPr>
              <a:t>See Exhibit 3 for a sprint burndown chart example.</a:t>
            </a:r>
          </a:p>
          <a:p>
            <a:pPr algn="l"/>
            <a:endParaRPr lang="en-US" sz="2400" b="0" i="0" dirty="0">
              <a:solidFill>
                <a:srgbClr val="575757"/>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59534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Sprint Burndown Chart Example">
            <a:extLst>
              <a:ext uri="{FF2B5EF4-FFF2-40B4-BE49-F238E27FC236}">
                <a16:creationId xmlns:a16="http://schemas.microsoft.com/office/drawing/2014/main" id="{85B1B35F-9F09-4308-B912-E2B6CD7172A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5DDAB979-1190-489D-BC8A-CAF30C59C9F5}"/>
              </a:ext>
            </a:extLst>
          </p:cNvPr>
          <p:cNvPicPr>
            <a:picLocks noChangeAspect="1"/>
          </p:cNvPicPr>
          <p:nvPr/>
        </p:nvPicPr>
        <p:blipFill>
          <a:blip r:embed="rId2"/>
          <a:stretch>
            <a:fillRect/>
          </a:stretch>
        </p:blipFill>
        <p:spPr>
          <a:xfrm>
            <a:off x="795130" y="331304"/>
            <a:ext cx="11092070" cy="6056244"/>
          </a:xfrm>
          <a:prstGeom prst="rect">
            <a:avLst/>
          </a:prstGeom>
        </p:spPr>
      </p:pic>
    </p:spTree>
    <p:extLst>
      <p:ext uri="{BB962C8B-B14F-4D97-AF65-F5344CB8AC3E}">
        <p14:creationId xmlns:p14="http://schemas.microsoft.com/office/powerpoint/2010/main" val="42935243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ECE7F1-4A70-40B4-8968-4FF48E65334C}"/>
              </a:ext>
            </a:extLst>
          </p:cNvPr>
          <p:cNvSpPr txBox="1"/>
          <p:nvPr/>
        </p:nvSpPr>
        <p:spPr>
          <a:xfrm>
            <a:off x="106016" y="0"/>
            <a:ext cx="12085984" cy="6370975"/>
          </a:xfrm>
          <a:prstGeom prst="rect">
            <a:avLst/>
          </a:prstGeom>
          <a:noFill/>
        </p:spPr>
        <p:txBody>
          <a:bodyPr wrap="square">
            <a:spAutoFit/>
          </a:bodyPr>
          <a:lstStyle/>
          <a:p>
            <a:pPr algn="l"/>
            <a:r>
              <a:rPr lang="en-US" sz="2400" b="0" i="0" dirty="0">
                <a:solidFill>
                  <a:srgbClr val="575757"/>
                </a:solidFill>
                <a:effectLst/>
                <a:latin typeface="Times New Roman" panose="02020603050405020304" pitchFamily="18" charset="0"/>
                <a:cs typeface="Times New Roman" panose="02020603050405020304" pitchFamily="18" charset="0"/>
              </a:rPr>
              <a:t>Sprint progress is tracked using the burndown chart, the task board, and the daily scrum. In combination, these three things can provide a clear picture of what's being worked on, what's completed, what's still to be done, whether or not it will be completed in time, and what might be preventing the team from meeting its sprint and/or release goal.</a:t>
            </a:r>
          </a:p>
          <a:p>
            <a:pPr algn="l"/>
            <a:endParaRPr lang="en-US" sz="2400" b="0" i="0" dirty="0">
              <a:solidFill>
                <a:srgbClr val="575757"/>
              </a:solidFill>
              <a:effectLst/>
              <a:latin typeface="Times New Roman" panose="02020603050405020304" pitchFamily="18" charset="0"/>
              <a:cs typeface="Times New Roman" panose="02020603050405020304" pitchFamily="18" charset="0"/>
            </a:endParaRPr>
          </a:p>
          <a:p>
            <a:pPr algn="l"/>
            <a:r>
              <a:rPr lang="en-US" sz="2400" b="1" i="0" dirty="0">
                <a:solidFill>
                  <a:srgbClr val="212121"/>
                </a:solidFill>
                <a:effectLst/>
                <a:latin typeface="Times New Roman" panose="02020603050405020304" pitchFamily="18" charset="0"/>
                <a:cs typeface="Times New Roman" panose="02020603050405020304" pitchFamily="18" charset="0"/>
              </a:rPr>
              <a:t>Sprint Review</a:t>
            </a:r>
          </a:p>
          <a:p>
            <a:pPr algn="l"/>
            <a:r>
              <a:rPr lang="en-US" sz="2400" b="0" i="0" dirty="0">
                <a:solidFill>
                  <a:srgbClr val="575757"/>
                </a:solidFill>
                <a:effectLst/>
                <a:latin typeface="Times New Roman" panose="02020603050405020304" pitchFamily="18" charset="0"/>
                <a:cs typeface="Times New Roman" panose="02020603050405020304" pitchFamily="18" charset="0"/>
              </a:rPr>
              <a:t>At the end of the sprint, the team invites stakeholders to a sprint review meeting where the features that were completed in the sprint are </a:t>
            </a:r>
            <a:r>
              <a:rPr lang="en-US" sz="2400" b="0" i="0" dirty="0" err="1">
                <a:solidFill>
                  <a:srgbClr val="575757"/>
                </a:solidFill>
                <a:effectLst/>
                <a:latin typeface="Times New Roman" panose="02020603050405020304" pitchFamily="18" charset="0"/>
                <a:cs typeface="Times New Roman" panose="02020603050405020304" pitchFamily="18" charset="0"/>
              </a:rPr>
              <a:t>demo'd</a:t>
            </a:r>
            <a:r>
              <a:rPr lang="en-US" sz="2400" b="0" i="0" dirty="0">
                <a:solidFill>
                  <a:srgbClr val="575757"/>
                </a:solidFill>
                <a:effectLst/>
                <a:latin typeface="Times New Roman" panose="02020603050405020304" pitchFamily="18" charset="0"/>
                <a:cs typeface="Times New Roman" panose="02020603050405020304" pitchFamily="18" charset="0"/>
              </a:rPr>
              <a:t> and feedback is requested. The Product Owner keeps track of the feedback and incorporates it as needed into the product backlog.</a:t>
            </a:r>
          </a:p>
          <a:p>
            <a:pPr algn="l"/>
            <a:endParaRPr lang="en-US" sz="2400" b="0" i="0" dirty="0">
              <a:solidFill>
                <a:srgbClr val="575757"/>
              </a:solidFill>
              <a:effectLst/>
              <a:latin typeface="Times New Roman" panose="02020603050405020304" pitchFamily="18" charset="0"/>
              <a:cs typeface="Times New Roman" panose="02020603050405020304" pitchFamily="18" charset="0"/>
            </a:endParaRPr>
          </a:p>
          <a:p>
            <a:pPr algn="l"/>
            <a:r>
              <a:rPr lang="en-US" sz="2400" b="0" i="0" dirty="0">
                <a:solidFill>
                  <a:srgbClr val="575757"/>
                </a:solidFill>
                <a:effectLst/>
                <a:latin typeface="Times New Roman" panose="02020603050405020304" pitchFamily="18" charset="0"/>
                <a:cs typeface="Times New Roman" panose="02020603050405020304" pitchFamily="18" charset="0"/>
              </a:rPr>
              <a:t>Once the review is complete, the team (without the stakeholders) conducts a retrospective to determine what they did well that they wish to continue doing, what they struggled with, and what recommendations they have for change going forward. An action plan is created and these items are implemented over the course of the next sprint, and reviewed for efficacy in the next sprint retrospective.</a:t>
            </a:r>
          </a:p>
          <a:p>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16984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89E76F-CA46-41B8-9CD0-03C4CE0265DB}"/>
              </a:ext>
            </a:extLst>
          </p:cNvPr>
          <p:cNvSpPr txBox="1"/>
          <p:nvPr/>
        </p:nvSpPr>
        <p:spPr>
          <a:xfrm>
            <a:off x="0" y="0"/>
            <a:ext cx="11555896" cy="6001643"/>
          </a:xfrm>
          <a:prstGeom prst="rect">
            <a:avLst/>
          </a:prstGeom>
          <a:noFill/>
        </p:spPr>
        <p:txBody>
          <a:bodyPr wrap="square">
            <a:spAutoFit/>
          </a:bodyPr>
          <a:lstStyle/>
          <a:p>
            <a:pPr algn="l"/>
            <a:r>
              <a:rPr lang="en-US" sz="2400" b="1" i="0" dirty="0">
                <a:solidFill>
                  <a:srgbClr val="212121"/>
                </a:solidFill>
                <a:effectLst/>
                <a:latin typeface="Agrandir-Medium"/>
              </a:rPr>
              <a:t>Release Planning</a:t>
            </a:r>
          </a:p>
          <a:p>
            <a:pPr algn="l"/>
            <a:r>
              <a:rPr lang="en-US" sz="2400" b="0" i="0" dirty="0">
                <a:solidFill>
                  <a:srgbClr val="575757"/>
                </a:solidFill>
                <a:effectLst/>
                <a:latin typeface="Helvetica" panose="020B0604020202020204" pitchFamily="34" charset="0"/>
              </a:rPr>
              <a:t>Release Planning is also part of Scrum, and is a way to do long-term planning for a time box that consists of multiple sprints. This is often done quarterly, and the results of the quarter do not have to be a release to the customer, but may simply be an internal release to confirm system integration and validation. Exhibit 4 shows how release planning fits in with the rest of the Scrum framework.</a:t>
            </a:r>
          </a:p>
          <a:p>
            <a:pPr algn="l"/>
            <a:endParaRPr lang="en-US" sz="2400" b="0" i="0" dirty="0">
              <a:solidFill>
                <a:srgbClr val="575757"/>
              </a:solidFill>
              <a:effectLst/>
              <a:latin typeface="Helvetica" panose="020B0604020202020204" pitchFamily="34" charset="0"/>
            </a:endParaRPr>
          </a:p>
          <a:p>
            <a:pPr algn="l"/>
            <a:r>
              <a:rPr lang="en-US" sz="2400" b="0" i="0" dirty="0">
                <a:solidFill>
                  <a:srgbClr val="575757"/>
                </a:solidFill>
                <a:effectLst/>
                <a:latin typeface="Helvetica" panose="020B0604020202020204" pitchFamily="34" charset="0"/>
              </a:rPr>
              <a:t>The entire team attends the release-planning meeting, where the Product Owner presents the features she/he would like to see completed in the quarter. The team does not task out these features however, but instead provides gross level estimates to determine what features can be done in what sprint, and how many of these features can be completed by the end of the quarter. Release planning can be feature-driven (how many sprints will it take to complete this set of features?), time-driven (how many features can we expect to have completed by this deadline?) or cost-driven (given this budget, what does our schedule look like and what features will we have done before we run out of money?).</a:t>
            </a:r>
          </a:p>
        </p:txBody>
      </p:sp>
    </p:spTree>
    <p:extLst>
      <p:ext uri="{BB962C8B-B14F-4D97-AF65-F5344CB8AC3E}">
        <p14:creationId xmlns:p14="http://schemas.microsoft.com/office/powerpoint/2010/main" val="16162168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14C85C-24CD-4847-B8EC-B0EC69664552}"/>
              </a:ext>
            </a:extLst>
          </p:cNvPr>
          <p:cNvPicPr>
            <a:picLocks noChangeAspect="1"/>
          </p:cNvPicPr>
          <p:nvPr/>
        </p:nvPicPr>
        <p:blipFill>
          <a:blip r:embed="rId2"/>
          <a:stretch>
            <a:fillRect/>
          </a:stretch>
        </p:blipFill>
        <p:spPr>
          <a:xfrm>
            <a:off x="463827" y="490331"/>
            <a:ext cx="10628244" cy="5777948"/>
          </a:xfrm>
          <a:prstGeom prst="rect">
            <a:avLst/>
          </a:prstGeom>
        </p:spPr>
      </p:pic>
    </p:spTree>
    <p:extLst>
      <p:ext uri="{BB962C8B-B14F-4D97-AF65-F5344CB8AC3E}">
        <p14:creationId xmlns:p14="http://schemas.microsoft.com/office/powerpoint/2010/main" val="20431574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4C3D51-C6CB-4BC8-A042-0D9BDC1AAB57}"/>
              </a:ext>
            </a:extLst>
          </p:cNvPr>
          <p:cNvPicPr>
            <a:picLocks noChangeAspect="1"/>
          </p:cNvPicPr>
          <p:nvPr/>
        </p:nvPicPr>
        <p:blipFill>
          <a:blip r:embed="rId2"/>
          <a:stretch>
            <a:fillRect/>
          </a:stretch>
        </p:blipFill>
        <p:spPr>
          <a:xfrm>
            <a:off x="505083" y="192947"/>
            <a:ext cx="11608619" cy="6251711"/>
          </a:xfrm>
          <a:prstGeom prst="rect">
            <a:avLst/>
          </a:prstGeom>
        </p:spPr>
      </p:pic>
    </p:spTree>
    <p:extLst>
      <p:ext uri="{BB962C8B-B14F-4D97-AF65-F5344CB8AC3E}">
        <p14:creationId xmlns:p14="http://schemas.microsoft.com/office/powerpoint/2010/main" val="12051837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F69A22-13C7-402B-8DD4-46D29C6AA5A4}"/>
              </a:ext>
            </a:extLst>
          </p:cNvPr>
          <p:cNvPicPr>
            <a:picLocks noChangeAspect="1"/>
          </p:cNvPicPr>
          <p:nvPr/>
        </p:nvPicPr>
        <p:blipFill>
          <a:blip r:embed="rId2"/>
          <a:stretch>
            <a:fillRect/>
          </a:stretch>
        </p:blipFill>
        <p:spPr>
          <a:xfrm>
            <a:off x="220293" y="530087"/>
            <a:ext cx="11830696" cy="6003235"/>
          </a:xfrm>
          <a:prstGeom prst="rect">
            <a:avLst/>
          </a:prstGeom>
        </p:spPr>
      </p:pic>
    </p:spTree>
    <p:extLst>
      <p:ext uri="{BB962C8B-B14F-4D97-AF65-F5344CB8AC3E}">
        <p14:creationId xmlns:p14="http://schemas.microsoft.com/office/powerpoint/2010/main" val="8817740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9C1EEF-5C37-40FF-AB2C-4238D258AE40}"/>
              </a:ext>
            </a:extLst>
          </p:cNvPr>
          <p:cNvPicPr>
            <a:picLocks noChangeAspect="1"/>
          </p:cNvPicPr>
          <p:nvPr/>
        </p:nvPicPr>
        <p:blipFill>
          <a:blip r:embed="rId2"/>
          <a:stretch>
            <a:fillRect/>
          </a:stretch>
        </p:blipFill>
        <p:spPr>
          <a:xfrm>
            <a:off x="685617" y="427839"/>
            <a:ext cx="11506383" cy="5835487"/>
          </a:xfrm>
          <a:prstGeom prst="rect">
            <a:avLst/>
          </a:prstGeom>
        </p:spPr>
      </p:pic>
    </p:spTree>
    <p:extLst>
      <p:ext uri="{BB962C8B-B14F-4D97-AF65-F5344CB8AC3E}">
        <p14:creationId xmlns:p14="http://schemas.microsoft.com/office/powerpoint/2010/main" val="20363006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video">
            <a:hlinkClick r:id="" action="ppaction://media"/>
            <a:extLst>
              <a:ext uri="{FF2B5EF4-FFF2-40B4-BE49-F238E27FC236}">
                <a16:creationId xmlns:a16="http://schemas.microsoft.com/office/drawing/2014/main" id="{F9F65185-795C-47D6-A264-C9AAD06D517A}"/>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040353" y="354226"/>
            <a:ext cx="9904867" cy="5540841"/>
          </a:xfrm>
          <a:prstGeom prst="rect">
            <a:avLst/>
          </a:prstGeom>
        </p:spPr>
      </p:pic>
    </p:spTree>
    <p:extLst>
      <p:ext uri="{BB962C8B-B14F-4D97-AF65-F5344CB8AC3E}">
        <p14:creationId xmlns:p14="http://schemas.microsoft.com/office/powerpoint/2010/main" val="3430123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328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638</TotalTime>
  <Words>4624</Words>
  <Application>Microsoft Office PowerPoint</Application>
  <PresentationFormat>Widescreen</PresentationFormat>
  <Paragraphs>215</Paragraphs>
  <Slides>63</Slides>
  <Notes>0</Notes>
  <HiddenSlides>0</HiddenSlides>
  <MMClips>1</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63</vt:i4>
      </vt:variant>
    </vt:vector>
  </HeadingPairs>
  <TitlesOfParts>
    <vt:vector size="79" baseType="lpstr">
      <vt:lpstr>Agrandir-Medium</vt:lpstr>
      <vt:lpstr>Arial</vt:lpstr>
      <vt:lpstr>Calibri</vt:lpstr>
      <vt:lpstr>Calibri Light</vt:lpstr>
      <vt:lpstr>erdana</vt:lpstr>
      <vt:lpstr>Helvetica</vt:lpstr>
      <vt:lpstr>Inter</vt:lpstr>
      <vt:lpstr>inter-bold</vt:lpstr>
      <vt:lpstr>inter-regular</vt:lpstr>
      <vt:lpstr>Open Sans</vt:lpstr>
      <vt:lpstr>Roboto</vt:lpstr>
      <vt:lpstr>Times New Roman</vt:lpstr>
      <vt:lpstr>var(--med-font)</vt:lpstr>
      <vt:lpstr>Wingdings</vt:lpstr>
      <vt:lpstr>Work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CHARAN THOTA</dc:creator>
  <cp:lastModifiedBy>SPThota</cp:lastModifiedBy>
  <cp:revision>14</cp:revision>
  <dcterms:created xsi:type="dcterms:W3CDTF">2021-08-17T06:35:17Z</dcterms:created>
  <dcterms:modified xsi:type="dcterms:W3CDTF">2021-08-20T05:56:27Z</dcterms:modified>
</cp:coreProperties>
</file>