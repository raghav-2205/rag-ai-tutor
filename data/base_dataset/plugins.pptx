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Lst>
  <p:sldSz cy="6858000" cx="12192000"/>
  <p:notesSz cx="6858000" cy="9144000"/>
  <p:embeddedFontLst>
    <p:embeddedFont>
      <p:font typeface="Lato"/>
      <p:regular r:id="rId10"/>
      <p:bold r:id="rId11"/>
      <p:italic r:id="rId12"/>
      <p:boldItalic r:id="rId13"/>
    </p:embeddedFont>
    <p:embeddedFont>
      <p:font typeface="Book Antiqua"/>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18" roundtripDataSignature="AMtx7mjbaz9xdzBGq0j90YMajjGEQXj8S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font" Target="fonts/Lato-bold.fntdata"/><Relationship Id="rId10" Type="http://schemas.openxmlformats.org/officeDocument/2006/relationships/font" Target="fonts/Lato-regular.fntdata"/><Relationship Id="rId13" Type="http://schemas.openxmlformats.org/officeDocument/2006/relationships/font" Target="fonts/Lato-boldItalic.fntdata"/><Relationship Id="rId12" Type="http://schemas.openxmlformats.org/officeDocument/2006/relationships/font" Target="fonts/Lato-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BookAntiqua-bold.fntdata"/><Relationship Id="rId14" Type="http://schemas.openxmlformats.org/officeDocument/2006/relationships/font" Target="fonts/BookAntiqua-regular.fntdata"/><Relationship Id="rId17" Type="http://schemas.openxmlformats.org/officeDocument/2006/relationships/font" Target="fonts/BookAntiqua-boldItalic.fntdata"/><Relationship Id="rId16" Type="http://schemas.openxmlformats.org/officeDocument/2006/relationships/font" Target="fonts/BookAntiqua-italic.fntdata"/><Relationship Id="rId5" Type="http://schemas.openxmlformats.org/officeDocument/2006/relationships/slide" Target="slides/slide1.xml"/><Relationship Id="rId6" Type="http://schemas.openxmlformats.org/officeDocument/2006/relationships/slide" Target="slides/slide2.xml"/><Relationship Id="rId18"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6"/>
          <p:cNvSpPr/>
          <p:nvPr>
            <p:ph idx="2" type="pic"/>
          </p:nvPr>
        </p:nvSpPr>
        <p:spPr>
          <a:xfrm>
            <a:off x="5183188" y="987425"/>
            <a:ext cx="6172200" cy="4873625"/>
          </a:xfrm>
          <a:prstGeom prst="rect">
            <a:avLst/>
          </a:prstGeom>
          <a:noFill/>
          <a:ln>
            <a:noFill/>
          </a:ln>
        </p:spPr>
      </p:sp>
      <p:sp>
        <p:nvSpPr>
          <p:cNvPr id="64" name="Google Shape;64;p1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hyperlink" Target="https://plugins.jenkins.io/dashboard-view" TargetMode="External"/><Relationship Id="rId4" Type="http://schemas.openxmlformats.org/officeDocument/2006/relationships/hyperlink" Target="https://plugins.jenkins.io/view-job-filters" TargetMode="External"/><Relationship Id="rId5" Type="http://schemas.openxmlformats.org/officeDocument/2006/relationships/hyperlink" Target="https://plugins.jenkins.io/cloudbees-folder"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plugins.jenkins.io/monitoring" TargetMode="External"/><Relationship Id="rId4" Type="http://schemas.openxmlformats.org/officeDocument/2006/relationships/hyperlink" Target="https://plugins.jenkins.io/performance" TargetMode="External"/><Relationship Id="rId5" Type="http://schemas.openxmlformats.org/officeDocument/2006/relationships/hyperlink" Target="https://plugins.jenkins.io/perfpublisher"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plugins.jenkins.io/kubernetes" TargetMode="External"/><Relationship Id="rId4" Type="http://schemas.openxmlformats.org/officeDocument/2006/relationships/hyperlink" Target="https://plugins.jenkins.io/amazon-ec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plugins.jenkins.io/test-results-analyzer" TargetMode="External"/><Relationship Id="rId4" Type="http://schemas.openxmlformats.org/officeDocument/2006/relationships/hyperlink" Target="https://plugins.jenkins.io/bootstraped-multi-test-results-report"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plugins.jenkins.io/build-pipeline-plugin" TargetMode="External"/><Relationship Id="rId4" Type="http://schemas.openxmlformats.org/officeDocument/2006/relationships/hyperlink" Target="https://plugins.jenkins.io/jenkins-multijob-plugin" TargetMode="External"/><Relationship Id="rId5" Type="http://schemas.openxmlformats.org/officeDocument/2006/relationships/hyperlink" Target="https://plugins.jenkins.io/workflow-aggregator"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2"/>
          <p:cNvSpPr txBox="1"/>
          <p:nvPr/>
        </p:nvSpPr>
        <p:spPr>
          <a:xfrm>
            <a:off x="1" y="0"/>
            <a:ext cx="11993216" cy="81590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N" sz="4400" u="none" cap="none" strike="noStrike">
                <a:solidFill>
                  <a:srgbClr val="000000"/>
                </a:solidFill>
                <a:latin typeface="Arial"/>
                <a:ea typeface="Arial"/>
                <a:cs typeface="Arial"/>
                <a:sym typeface="Arial"/>
              </a:rPr>
              <a:t>Jenkins plugins </a:t>
            </a:r>
            <a:endParaRPr b="0" i="0" sz="4400" u="none" strike="noStrike">
              <a:solidFill>
                <a:srgbClr val="000000"/>
              </a:solidFill>
              <a:latin typeface="Arial"/>
              <a:ea typeface="Arial"/>
              <a:cs typeface="Arial"/>
              <a:sym typeface="Arial"/>
            </a:endParaRPr>
          </a:p>
          <a:p>
            <a:pPr indent="0" lvl="0" marL="0" marR="0" rtl="0" algn="l">
              <a:spcBef>
                <a:spcPts val="0"/>
              </a:spcBef>
              <a:spcAft>
                <a:spcPts val="0"/>
              </a:spcAft>
              <a:buNone/>
            </a:pPr>
            <a:r>
              <a:rPr b="0" i="0" lang="en-IN" sz="1800" u="none" strike="noStrike">
                <a:solidFill>
                  <a:srgbClr val="000000"/>
                </a:solidFill>
                <a:latin typeface="Book Antiqua"/>
                <a:ea typeface="Book Antiqua"/>
                <a:cs typeface="Book Antiqua"/>
                <a:sym typeface="Book Antiqua"/>
              </a:rPr>
              <a:t>Jenkins has a plugin system to add functionality to the build server. </a:t>
            </a:r>
            <a:endParaRPr/>
          </a:p>
          <a:p>
            <a:pPr indent="0" lvl="0" marL="0" marR="0" rtl="0" algn="l">
              <a:spcBef>
                <a:spcPts val="0"/>
              </a:spcBef>
              <a:spcAft>
                <a:spcPts val="0"/>
              </a:spcAft>
              <a:buNone/>
            </a:pPr>
            <a:r>
              <a:t/>
            </a:r>
            <a:endParaRPr sz="1800">
              <a:solidFill>
                <a:srgbClr val="000000"/>
              </a:solidFill>
              <a:latin typeface="Book Antiqua"/>
              <a:ea typeface="Book Antiqua"/>
              <a:cs typeface="Book Antiqua"/>
              <a:sym typeface="Book Antiqua"/>
            </a:endParaRPr>
          </a:p>
          <a:p>
            <a:pPr indent="0" lvl="0" marL="0" marR="0" rtl="0" algn="l">
              <a:spcBef>
                <a:spcPts val="0"/>
              </a:spcBef>
              <a:spcAft>
                <a:spcPts val="0"/>
              </a:spcAft>
              <a:buNone/>
            </a:pPr>
            <a:r>
              <a:rPr b="0" i="0" lang="en-IN" sz="1800" u="none" strike="noStrike">
                <a:solidFill>
                  <a:srgbClr val="000000"/>
                </a:solidFill>
                <a:latin typeface="Book Antiqua"/>
                <a:ea typeface="Book Antiqua"/>
                <a:cs typeface="Book Antiqua"/>
                <a:sym typeface="Book Antiqua"/>
              </a:rPr>
              <a:t>There are many different plugins available, and they can be installed from within the Jenkins web interface.</a:t>
            </a:r>
            <a:endParaRPr/>
          </a:p>
          <a:p>
            <a:pPr indent="0" lvl="0" marL="0" marR="0" rtl="0" algn="l">
              <a:spcBef>
                <a:spcPts val="0"/>
              </a:spcBef>
              <a:spcAft>
                <a:spcPts val="0"/>
              </a:spcAft>
              <a:buNone/>
            </a:pPr>
            <a:r>
              <a:t/>
            </a:r>
            <a:endParaRPr sz="1800">
              <a:solidFill>
                <a:srgbClr val="000000"/>
              </a:solidFill>
              <a:latin typeface="Book Antiqua"/>
              <a:ea typeface="Book Antiqua"/>
              <a:cs typeface="Book Antiqua"/>
              <a:sym typeface="Book Antiqua"/>
            </a:endParaRPr>
          </a:p>
          <a:p>
            <a:pPr indent="0" lvl="0" marL="0" marR="0" rtl="0" algn="l">
              <a:lnSpc>
                <a:spcPct val="107000"/>
              </a:lnSpc>
              <a:spcBef>
                <a:spcPts val="0"/>
              </a:spcBef>
              <a:spcAft>
                <a:spcPts val="0"/>
              </a:spcAft>
              <a:buNone/>
            </a:pPr>
            <a:r>
              <a:rPr b="0" i="0" lang="en-IN" sz="1800" u="none" strike="noStrike">
                <a:solidFill>
                  <a:srgbClr val="000000"/>
                </a:solidFill>
                <a:latin typeface="Book Antiqua"/>
                <a:ea typeface="Book Antiqua"/>
                <a:cs typeface="Book Antiqua"/>
                <a:sym typeface="Book Antiqua"/>
              </a:rPr>
              <a:t> Many of them can be installed without even restarting Jenkins. </a:t>
            </a:r>
            <a:r>
              <a:rPr lang="en-IN" sz="1800">
                <a:solidFill>
                  <a:srgbClr val="000000"/>
                </a:solidFill>
                <a:latin typeface="Arial"/>
                <a:ea typeface="Arial"/>
                <a:cs typeface="Arial"/>
                <a:sym typeface="Arial"/>
              </a:rPr>
              <a:t>Productivity</a:t>
            </a:r>
            <a:endParaRPr/>
          </a:p>
          <a:p>
            <a:pPr indent="0" lvl="0" marL="0" marR="0" rtl="0" algn="l">
              <a:lnSpc>
                <a:spcPct val="107000"/>
              </a:lnSpc>
              <a:spcBef>
                <a:spcPts val="800"/>
              </a:spcBef>
              <a:spcAft>
                <a:spcPts val="0"/>
              </a:spcAft>
              <a:buNone/>
            </a:pPr>
            <a:r>
              <a:t/>
            </a:r>
            <a:endParaRPr sz="18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None/>
            </a:pPr>
            <a:r>
              <a:rPr b="1" lang="en-IN" sz="1800" u="sng">
                <a:solidFill>
                  <a:srgbClr val="0000FF"/>
                </a:solidFill>
                <a:latin typeface="Lato"/>
                <a:ea typeface="Lato"/>
                <a:cs typeface="Lato"/>
                <a:sym typeface="Lato"/>
                <a:hlinkClick r:id="rId3">
                  <a:extLst>
                    <a:ext uri="{A12FA001-AC4F-418D-AE19-62706E023703}">
                      <ahyp:hlinkClr val="tx"/>
                    </a:ext>
                  </a:extLst>
                </a:hlinkClick>
              </a:rPr>
              <a:t>1. Dashboard View Plugin</a:t>
            </a:r>
            <a:endParaRPr sz="18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None/>
            </a:pPr>
            <a:r>
              <a:rPr lang="en-IN" sz="1800">
                <a:solidFill>
                  <a:srgbClr val="374046"/>
                </a:solidFill>
                <a:latin typeface="Lato"/>
                <a:ea typeface="Lato"/>
                <a:cs typeface="Lato"/>
                <a:sym typeface="Lato"/>
              </a:rPr>
              <a:t>The ‘Dashboard view plugin’ provides a new Jenkins dashboard that allows you to monitor the status of all the tasks. Ideally, this also has time tracking capabilities for the duration taken by each job and also shows the entire time execution. These are fundamentals that help you manage Jenkins.</a:t>
            </a:r>
            <a:endParaRPr sz="1800">
              <a:solidFill>
                <a:schemeClr val="dk1"/>
              </a:solidFill>
              <a:latin typeface="Calibri"/>
              <a:ea typeface="Calibri"/>
              <a:cs typeface="Calibri"/>
              <a:sym typeface="Calibri"/>
            </a:endParaRPr>
          </a:p>
          <a:p>
            <a:pPr indent="0" lvl="0" marL="0" marR="0" rtl="0" algn="l">
              <a:lnSpc>
                <a:spcPct val="107000"/>
              </a:lnSpc>
              <a:spcBef>
                <a:spcPts val="2100"/>
              </a:spcBef>
              <a:spcAft>
                <a:spcPts val="0"/>
              </a:spcAft>
              <a:buNone/>
            </a:pPr>
            <a:r>
              <a:rPr b="1" lang="en-IN" sz="1800" u="sng">
                <a:solidFill>
                  <a:srgbClr val="0000FF"/>
                </a:solidFill>
                <a:latin typeface="Lato"/>
                <a:ea typeface="Lato"/>
                <a:cs typeface="Lato"/>
                <a:sym typeface="Lato"/>
                <a:hlinkClick r:id="rId4">
                  <a:extLst>
                    <a:ext uri="{A12FA001-AC4F-418D-AE19-62706E023703}">
                      <ahyp:hlinkClr val="tx"/>
                    </a:ext>
                  </a:extLst>
                </a:hlinkClick>
              </a:rPr>
              <a:t>2. View Job Filters Plugin</a:t>
            </a:r>
            <a:endParaRPr sz="18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None/>
            </a:pPr>
            <a:r>
              <a:rPr lang="en-IN" sz="1800">
                <a:solidFill>
                  <a:srgbClr val="374046"/>
                </a:solidFill>
                <a:latin typeface="Lato"/>
                <a:ea typeface="Lato"/>
                <a:cs typeface="Lato"/>
                <a:sym typeface="Lato"/>
              </a:rPr>
              <a:t>The ‘View Job Filters plugin’ is an out-of-the-box method to build different views for all your Jenkins jobs. Whether it’s build status or trends and triggers, with the ‘View Job Filters plugin,’ you will find all these filtering options in addition to many others.</a:t>
            </a:r>
            <a:endParaRPr sz="1800">
              <a:solidFill>
                <a:schemeClr val="dk1"/>
              </a:solidFill>
              <a:latin typeface="Calibri"/>
              <a:ea typeface="Calibri"/>
              <a:cs typeface="Calibri"/>
              <a:sym typeface="Calibri"/>
            </a:endParaRPr>
          </a:p>
          <a:p>
            <a:pPr indent="0" lvl="0" marL="0" marR="0" rtl="0" algn="l">
              <a:lnSpc>
                <a:spcPct val="107000"/>
              </a:lnSpc>
              <a:spcBef>
                <a:spcPts val="2100"/>
              </a:spcBef>
              <a:spcAft>
                <a:spcPts val="0"/>
              </a:spcAft>
              <a:buNone/>
            </a:pPr>
            <a:r>
              <a:rPr b="1" lang="en-IN" sz="1800" u="sng">
                <a:solidFill>
                  <a:srgbClr val="0000FF"/>
                </a:solidFill>
                <a:latin typeface="Lato"/>
                <a:ea typeface="Lato"/>
                <a:cs typeface="Lato"/>
                <a:sym typeface="Lato"/>
                <a:hlinkClick r:id="rId5">
                  <a:extLst>
                    <a:ext uri="{A12FA001-AC4F-418D-AE19-62706E023703}">
                      <ahyp:hlinkClr val="tx"/>
                    </a:ext>
                  </a:extLst>
                </a:hlinkClick>
              </a:rPr>
              <a:t>3. Folders Plugin</a:t>
            </a:r>
            <a:endParaRPr sz="18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None/>
            </a:pPr>
            <a:r>
              <a:rPr lang="en-IN" sz="1800">
                <a:solidFill>
                  <a:srgbClr val="374046"/>
                </a:solidFill>
                <a:latin typeface="Lato"/>
                <a:ea typeface="Lato"/>
                <a:cs typeface="Lato"/>
                <a:sym typeface="Lato"/>
              </a:rPr>
              <a:t>The ‘Folder’s plugin’ is a great method for grouping your Jenkins tasks. Furthermore, organize your CI server can be arranged perfectly with the nestable folders available in this plugin.</a:t>
            </a:r>
            <a:endParaRPr sz="1800">
              <a:solidFill>
                <a:schemeClr val="dk1"/>
              </a:solidFill>
              <a:latin typeface="Calibri"/>
              <a:ea typeface="Calibri"/>
              <a:cs typeface="Calibri"/>
              <a:sym typeface="Calibri"/>
            </a:endParaRPr>
          </a:p>
          <a:p>
            <a:pPr indent="0" lvl="0" marL="0" marR="0" rtl="0" algn="l">
              <a:spcBef>
                <a:spcPts val="2100"/>
              </a:spcBef>
              <a:spcAft>
                <a:spcPts val="0"/>
              </a:spcAft>
              <a:buNone/>
            </a:pPr>
            <a:r>
              <a:t/>
            </a:r>
            <a:endParaRPr b="0" i="0" sz="1800" u="none" strike="noStrike">
              <a:solidFill>
                <a:srgbClr val="000000"/>
              </a:solidFill>
              <a:latin typeface="Book Antiqua"/>
              <a:ea typeface="Book Antiqua"/>
              <a:cs typeface="Book Antiqua"/>
              <a:sym typeface="Book Antiqua"/>
            </a:endParaRPr>
          </a:p>
          <a:p>
            <a:pPr indent="0" lvl="0" marL="0" marR="0" rtl="0" algn="l">
              <a:spcBef>
                <a:spcPts val="0"/>
              </a:spcBef>
              <a:spcAft>
                <a:spcPts val="0"/>
              </a:spcAft>
              <a:buNone/>
            </a:pPr>
            <a:r>
              <a:t/>
            </a:r>
            <a:endParaRPr sz="1800">
              <a:solidFill>
                <a:srgbClr val="000000"/>
              </a:solidFill>
              <a:latin typeface="Book Antiqua"/>
              <a:ea typeface="Book Antiqua"/>
              <a:cs typeface="Book Antiqua"/>
              <a:sym typeface="Book Antiqua"/>
            </a:endParaRPr>
          </a:p>
          <a:p>
            <a:pPr indent="0" lvl="0" marL="0" marR="0" rtl="0" algn="l">
              <a:spcBef>
                <a:spcPts val="0"/>
              </a:spcBef>
              <a:spcAft>
                <a:spcPts val="0"/>
              </a:spcAft>
              <a:buNone/>
            </a:pPr>
            <a:r>
              <a:t/>
            </a:r>
            <a:endParaRPr sz="1800">
              <a:solidFill>
                <a:srgbClr val="000000"/>
              </a:solidFill>
              <a:latin typeface="Book Antiqua"/>
              <a:ea typeface="Book Antiqua"/>
              <a:cs typeface="Book Antiqua"/>
              <a:sym typeface="Book Antiqua"/>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3"/>
          <p:cNvSpPr txBox="1"/>
          <p:nvPr/>
        </p:nvSpPr>
        <p:spPr>
          <a:xfrm>
            <a:off x="0" y="145774"/>
            <a:ext cx="12192000" cy="5178597"/>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lang="en-IN" sz="2400">
                <a:solidFill>
                  <a:srgbClr val="000000"/>
                </a:solidFill>
                <a:latin typeface="Arial"/>
                <a:ea typeface="Arial"/>
                <a:cs typeface="Arial"/>
                <a:sym typeface="Arial"/>
              </a:rPr>
              <a:t>Monitoring</a:t>
            </a:r>
            <a:endParaRPr sz="14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None/>
            </a:pPr>
            <a:r>
              <a:rPr b="1" lang="en-IN" sz="1800" u="sng">
                <a:solidFill>
                  <a:srgbClr val="0000FF"/>
                </a:solidFill>
                <a:latin typeface="Lato"/>
                <a:ea typeface="Lato"/>
                <a:cs typeface="Lato"/>
                <a:sym typeface="Lato"/>
                <a:hlinkClick r:id="rId3">
                  <a:extLst>
                    <a:ext uri="{A12FA001-AC4F-418D-AE19-62706E023703}">
                      <ahyp:hlinkClr val="tx"/>
                    </a:ext>
                  </a:extLst>
                </a:hlinkClick>
              </a:rPr>
              <a:t>4. Monitoring Plugin</a:t>
            </a:r>
            <a:endParaRPr sz="14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None/>
            </a:pPr>
            <a:r>
              <a:rPr lang="en-IN" sz="1800">
                <a:solidFill>
                  <a:srgbClr val="374046"/>
                </a:solidFill>
                <a:latin typeface="Lato"/>
                <a:ea typeface="Lato"/>
                <a:cs typeface="Lato"/>
                <a:sym typeface="Lato"/>
              </a:rPr>
              <a:t>The ‘Monitoring Plugin’ uses Java Melody to keep track of Jenkins. This plugin allocates charts for CPU, HTTP response time, memory, and much more. It further provides information on HTTP periods, logs accounts, head dumps, and other data. With this plugin, you can check the status/progress of jobs under consideration and view statistics that will help you proactively manage Jenkins via the interface.</a:t>
            </a:r>
            <a:endParaRPr sz="1400">
              <a:solidFill>
                <a:schemeClr val="dk1"/>
              </a:solidFill>
              <a:latin typeface="Calibri"/>
              <a:ea typeface="Calibri"/>
              <a:cs typeface="Calibri"/>
              <a:sym typeface="Calibri"/>
            </a:endParaRPr>
          </a:p>
          <a:p>
            <a:pPr indent="0" lvl="0" marL="0" marR="0" rtl="0" algn="l">
              <a:lnSpc>
                <a:spcPct val="107000"/>
              </a:lnSpc>
              <a:spcBef>
                <a:spcPts val="2100"/>
              </a:spcBef>
              <a:spcAft>
                <a:spcPts val="0"/>
              </a:spcAft>
              <a:buNone/>
            </a:pPr>
            <a:r>
              <a:rPr b="1" lang="en-IN" sz="2400">
                <a:solidFill>
                  <a:srgbClr val="000000"/>
                </a:solidFill>
                <a:latin typeface="Arial"/>
                <a:ea typeface="Arial"/>
                <a:cs typeface="Arial"/>
                <a:sym typeface="Arial"/>
              </a:rPr>
              <a:t>Performance Enhancers</a:t>
            </a:r>
            <a:endParaRPr sz="14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None/>
            </a:pPr>
            <a:r>
              <a:rPr b="1" lang="en-IN" sz="1800" u="sng">
                <a:solidFill>
                  <a:srgbClr val="0000FF"/>
                </a:solidFill>
                <a:latin typeface="Lato"/>
                <a:ea typeface="Lato"/>
                <a:cs typeface="Lato"/>
                <a:sym typeface="Lato"/>
                <a:hlinkClick r:id="rId4">
                  <a:extLst>
                    <a:ext uri="{A12FA001-AC4F-418D-AE19-62706E023703}">
                      <ahyp:hlinkClr val="tx"/>
                    </a:ext>
                  </a:extLst>
                </a:hlinkClick>
              </a:rPr>
              <a:t>6. Performance Plugin</a:t>
            </a:r>
            <a:endParaRPr sz="14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None/>
            </a:pPr>
            <a:r>
              <a:rPr lang="en-IN" sz="1800">
                <a:solidFill>
                  <a:srgbClr val="374046"/>
                </a:solidFill>
                <a:latin typeface="Lato"/>
                <a:ea typeface="Lato"/>
                <a:cs typeface="Lato"/>
                <a:sym typeface="Lato"/>
              </a:rPr>
              <a:t>You can watch your project’s performance via trend reports and graphs, and set your build status to either right, unstable or failed.</a:t>
            </a:r>
            <a:endParaRPr sz="1400">
              <a:solidFill>
                <a:schemeClr val="dk1"/>
              </a:solidFill>
              <a:latin typeface="Calibri"/>
              <a:ea typeface="Calibri"/>
              <a:cs typeface="Calibri"/>
              <a:sym typeface="Calibri"/>
            </a:endParaRPr>
          </a:p>
          <a:p>
            <a:pPr indent="0" lvl="0" marL="0" marR="0" rtl="0" algn="l">
              <a:lnSpc>
                <a:spcPct val="107000"/>
              </a:lnSpc>
              <a:spcBef>
                <a:spcPts val="2100"/>
              </a:spcBef>
              <a:spcAft>
                <a:spcPts val="0"/>
              </a:spcAft>
              <a:buNone/>
            </a:pPr>
            <a:r>
              <a:rPr b="1" lang="en-IN" sz="1800">
                <a:solidFill>
                  <a:schemeClr val="dk1"/>
                </a:solidFill>
                <a:latin typeface="Arial"/>
                <a:ea typeface="Arial"/>
                <a:cs typeface="Arial"/>
                <a:sym typeface="Arial"/>
              </a:rPr>
              <a:t>  </a:t>
            </a:r>
            <a:r>
              <a:rPr b="1" lang="en-IN" sz="1800" u="sng">
                <a:solidFill>
                  <a:srgbClr val="0000FF"/>
                </a:solidFill>
                <a:latin typeface="Lato"/>
                <a:ea typeface="Lato"/>
                <a:cs typeface="Lato"/>
                <a:sym typeface="Lato"/>
                <a:hlinkClick r:id="rId5">
                  <a:extLst>
                    <a:ext uri="{A12FA001-AC4F-418D-AE19-62706E023703}">
                      <ahyp:hlinkClr val="tx"/>
                    </a:ext>
                  </a:extLst>
                </a:hlinkClick>
              </a:rPr>
              <a:t>7. Performance Publisher Plugin</a:t>
            </a:r>
            <a:endParaRPr sz="14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None/>
            </a:pPr>
            <a:r>
              <a:rPr lang="en-IN" sz="1800">
                <a:solidFill>
                  <a:srgbClr val="374046"/>
                </a:solidFill>
                <a:latin typeface="Lato"/>
                <a:ea typeface="Lato"/>
                <a:cs typeface="Lato"/>
                <a:sym typeface="Lato"/>
              </a:rPr>
              <a:t>An outstanding feature of Performance Published plugin is that it is designed to work with every testing tool by generating trend and global reports for test result analysis. </a:t>
            </a:r>
            <a:endParaRPr sz="14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4"/>
          <p:cNvSpPr txBox="1"/>
          <p:nvPr/>
        </p:nvSpPr>
        <p:spPr>
          <a:xfrm>
            <a:off x="-1" y="0"/>
            <a:ext cx="12099235" cy="5523307"/>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lang="en-IN" sz="1800" u="sng">
                <a:solidFill>
                  <a:srgbClr val="0000FF"/>
                </a:solidFill>
                <a:latin typeface="Lato"/>
                <a:ea typeface="Lato"/>
                <a:cs typeface="Lato"/>
                <a:sym typeface="Lato"/>
                <a:hlinkClick r:id="rId3">
                  <a:extLst>
                    <a:ext uri="{A12FA001-AC4F-418D-AE19-62706E023703}">
                      <ahyp:hlinkClr val="tx"/>
                    </a:ext>
                  </a:extLst>
                </a:hlinkClick>
              </a:rPr>
              <a:t>8. Kubernetes Plugin</a:t>
            </a:r>
            <a:endParaRPr sz="14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None/>
            </a:pPr>
            <a:r>
              <a:rPr lang="en-IN" sz="1800">
                <a:solidFill>
                  <a:srgbClr val="374046"/>
                </a:solidFill>
                <a:latin typeface="Lato"/>
                <a:ea typeface="Lato"/>
                <a:cs typeface="Lato"/>
                <a:sym typeface="Lato"/>
              </a:rPr>
              <a:t>The ‘Kubernetes plugin’ works, surprisingly, with Kubernetes. So, if you plan to use Kubernetes for your infrastructure, this plugin is the way forward for setting up and tearing down Jenkins’ agents. While moving to Kubernetes is not the easiest process, the results are worth it.</a:t>
            </a:r>
            <a:endParaRPr sz="1400">
              <a:solidFill>
                <a:schemeClr val="dk1"/>
              </a:solidFill>
              <a:latin typeface="Calibri"/>
              <a:ea typeface="Calibri"/>
              <a:cs typeface="Calibri"/>
              <a:sym typeface="Calibri"/>
            </a:endParaRPr>
          </a:p>
          <a:p>
            <a:pPr indent="0" lvl="0" marL="0" marR="0" rtl="0" algn="l">
              <a:lnSpc>
                <a:spcPct val="107000"/>
              </a:lnSpc>
              <a:spcBef>
                <a:spcPts val="2100"/>
              </a:spcBef>
              <a:spcAft>
                <a:spcPts val="0"/>
              </a:spcAft>
              <a:buNone/>
            </a:pPr>
            <a:r>
              <a:rPr b="1" lang="en-IN" sz="1800" u="sng">
                <a:solidFill>
                  <a:srgbClr val="0000FF"/>
                </a:solidFill>
                <a:latin typeface="Lato"/>
                <a:ea typeface="Lato"/>
                <a:cs typeface="Lato"/>
                <a:sym typeface="Lato"/>
                <a:hlinkClick r:id="rId4">
                  <a:extLst>
                    <a:ext uri="{A12FA001-AC4F-418D-AE19-62706E023703}">
                      <ahyp:hlinkClr val="tx"/>
                    </a:ext>
                  </a:extLst>
                </a:hlinkClick>
              </a:rPr>
              <a:t>10. Amazon ECS Container Service</a:t>
            </a:r>
            <a:endParaRPr sz="14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None/>
            </a:pPr>
            <a:r>
              <a:rPr lang="en-IN" sz="1800">
                <a:solidFill>
                  <a:srgbClr val="374046"/>
                </a:solidFill>
                <a:latin typeface="Lato"/>
                <a:ea typeface="Lato"/>
                <a:cs typeface="Lato"/>
                <a:sym typeface="Lato"/>
              </a:rPr>
              <a:t>Use the ‘Amazon ECS Container Service’ plugin to manage Jenkins cloud slaves and deploy Docker-based applications on a cluster.</a:t>
            </a:r>
            <a:endParaRPr/>
          </a:p>
          <a:p>
            <a:pPr indent="0" lvl="0" marL="0" marR="0" rtl="0" algn="l">
              <a:lnSpc>
                <a:spcPct val="107000"/>
              </a:lnSpc>
              <a:spcBef>
                <a:spcPts val="2100"/>
              </a:spcBef>
              <a:spcAft>
                <a:spcPts val="0"/>
              </a:spcAft>
              <a:buNone/>
            </a:pPr>
            <a:r>
              <a:rPr b="1" lang="en-IN" sz="1800">
                <a:solidFill>
                  <a:srgbClr val="000000"/>
                </a:solidFill>
                <a:latin typeface="Arial"/>
                <a:ea typeface="Arial"/>
                <a:cs typeface="Arial"/>
                <a:sym typeface="Arial"/>
              </a:rPr>
              <a:t>Tests Analysis Plugins</a:t>
            </a:r>
            <a:endParaRPr sz="18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None/>
            </a:pPr>
            <a:r>
              <a:rPr lang="en-IN" sz="1800">
                <a:solidFill>
                  <a:srgbClr val="374046"/>
                </a:solidFill>
                <a:latin typeface="Lato"/>
                <a:ea typeface="Lato"/>
                <a:cs typeface="Lato"/>
                <a:sym typeface="Lato"/>
              </a:rPr>
              <a:t>Jenkins is the ultimate companion for performing your tests as part of CI. However, Jenkins doesn’t provide any way of studying test results after execution, which is an essential aspect of testing.</a:t>
            </a:r>
            <a:endParaRPr sz="1800">
              <a:solidFill>
                <a:schemeClr val="dk1"/>
              </a:solidFill>
              <a:latin typeface="Calibri"/>
              <a:ea typeface="Calibri"/>
              <a:cs typeface="Calibri"/>
              <a:sym typeface="Calibri"/>
            </a:endParaRPr>
          </a:p>
          <a:p>
            <a:pPr indent="0" lvl="0" marL="0" marR="0" rtl="0" algn="l">
              <a:lnSpc>
                <a:spcPct val="107000"/>
              </a:lnSpc>
              <a:spcBef>
                <a:spcPts val="2100"/>
              </a:spcBef>
              <a:spcAft>
                <a:spcPts val="0"/>
              </a:spcAft>
              <a:buNone/>
            </a:pPr>
            <a:r>
              <a:t/>
            </a:r>
            <a:endParaRPr sz="1800">
              <a:solidFill>
                <a:srgbClr val="374046"/>
              </a:solidFill>
              <a:latin typeface="Lato"/>
              <a:ea typeface="Lato"/>
              <a:cs typeface="Lato"/>
              <a:sym typeface="Lato"/>
            </a:endParaRPr>
          </a:p>
          <a:p>
            <a:pPr indent="0" lvl="0" marL="0" marR="0" rtl="0" algn="l">
              <a:lnSpc>
                <a:spcPct val="107000"/>
              </a:lnSpc>
              <a:spcBef>
                <a:spcPts val="2100"/>
              </a:spcBef>
              <a:spcAft>
                <a:spcPts val="0"/>
              </a:spcAft>
              <a:buNone/>
            </a:pPr>
            <a:r>
              <a:t/>
            </a:r>
            <a:endParaRPr sz="1800">
              <a:solidFill>
                <a:srgbClr val="374046"/>
              </a:solidFill>
              <a:latin typeface="Lato"/>
              <a:ea typeface="Lato"/>
              <a:cs typeface="Lato"/>
              <a:sym typeface="Lato"/>
            </a:endParaRPr>
          </a:p>
          <a:p>
            <a:pPr indent="0" lvl="0" marL="0" marR="0" rtl="0" algn="l">
              <a:lnSpc>
                <a:spcPct val="107000"/>
              </a:lnSpc>
              <a:spcBef>
                <a:spcPts val="2100"/>
              </a:spcBef>
              <a:spcAft>
                <a:spcPts val="0"/>
              </a:spcAft>
              <a:buNone/>
            </a:pPr>
            <a:r>
              <a:t/>
            </a:r>
            <a:endParaRPr sz="14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5"/>
          <p:cNvSpPr txBox="1"/>
          <p:nvPr/>
        </p:nvSpPr>
        <p:spPr>
          <a:xfrm>
            <a:off x="119270" y="132523"/>
            <a:ext cx="11940208" cy="3218445"/>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lang="en-IN" sz="1800" u="sng">
                <a:solidFill>
                  <a:srgbClr val="0000FF"/>
                </a:solidFill>
                <a:latin typeface="Lato"/>
                <a:ea typeface="Lato"/>
                <a:cs typeface="Lato"/>
                <a:sym typeface="Lato"/>
                <a:hlinkClick r:id="rId3">
                  <a:extLst>
                    <a:ext uri="{A12FA001-AC4F-418D-AE19-62706E023703}">
                      <ahyp:hlinkClr val="tx"/>
                    </a:ext>
                  </a:extLst>
                </a:hlinkClick>
              </a:rPr>
              <a:t>11. Test Results Analyzer</a:t>
            </a:r>
            <a:endParaRPr sz="18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None/>
            </a:pPr>
            <a:r>
              <a:rPr lang="en-IN" sz="1800">
                <a:solidFill>
                  <a:srgbClr val="374046"/>
                </a:solidFill>
                <a:latin typeface="Lato"/>
                <a:ea typeface="Lato"/>
                <a:cs typeface="Lato"/>
                <a:sym typeface="Lato"/>
              </a:rPr>
              <a:t>The Test Results plugin is preferable as it offers greater visibility on tests results and execution trend patterns as well as allowing easy installation. The ‘Tests Result Analyzer’ gives many different graphical representations and a quite detailed matrix table that will direct you to the outcome of each test for all the builds you’ve had. A reliable method of identifying unstable tests.</a:t>
            </a:r>
            <a:endParaRPr sz="1800">
              <a:solidFill>
                <a:schemeClr val="dk1"/>
              </a:solidFill>
              <a:latin typeface="Calibri"/>
              <a:ea typeface="Calibri"/>
              <a:cs typeface="Calibri"/>
              <a:sym typeface="Calibri"/>
            </a:endParaRPr>
          </a:p>
          <a:p>
            <a:pPr indent="0" lvl="0" marL="0" marR="0" rtl="0" algn="l">
              <a:lnSpc>
                <a:spcPct val="107000"/>
              </a:lnSpc>
              <a:spcBef>
                <a:spcPts val="2100"/>
              </a:spcBef>
              <a:spcAft>
                <a:spcPts val="0"/>
              </a:spcAft>
              <a:buNone/>
            </a:pPr>
            <a:r>
              <a:rPr b="1" lang="en-IN" sz="1800" u="sng">
                <a:solidFill>
                  <a:srgbClr val="0000FF"/>
                </a:solidFill>
                <a:latin typeface="Lato"/>
                <a:ea typeface="Lato"/>
                <a:cs typeface="Lato"/>
                <a:sym typeface="Lato"/>
                <a:hlinkClick r:id="rId4">
                  <a:extLst>
                    <a:ext uri="{A12FA001-AC4F-418D-AE19-62706E023703}">
                      <ahyp:hlinkClr val="tx"/>
                    </a:ext>
                  </a:extLst>
                </a:hlinkClick>
              </a:rPr>
              <a:t>12. Bootstrapped-multi-test-result-report plugin</a:t>
            </a:r>
            <a:endParaRPr sz="18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None/>
            </a:pPr>
            <a:r>
              <a:rPr lang="en-IN" sz="1800">
                <a:solidFill>
                  <a:srgbClr val="374046"/>
                </a:solidFill>
                <a:latin typeface="Lato"/>
                <a:ea typeface="Lato"/>
                <a:cs typeface="Lato"/>
                <a:sym typeface="Lato"/>
              </a:rPr>
              <a:t>The ‘bootstrapped-multi-test-result-report plugin’ enables you to build HTML reports based on tests’ results. A major advantage of this plugin is its ability to make interactive reports that enable you to see the overall picture of all outcomes as well as detailed results of steps statuses.</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6"/>
          <p:cNvSpPr txBox="1"/>
          <p:nvPr/>
        </p:nvSpPr>
        <p:spPr>
          <a:xfrm>
            <a:off x="397565" y="212035"/>
            <a:ext cx="11436626" cy="5839227"/>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lang="en-IN" sz="2400">
                <a:solidFill>
                  <a:srgbClr val="000000"/>
                </a:solidFill>
                <a:latin typeface="Arial"/>
                <a:ea typeface="Arial"/>
                <a:cs typeface="Arial"/>
                <a:sym typeface="Arial"/>
              </a:rPr>
              <a:t>Pipeline / Flow</a:t>
            </a:r>
            <a:endParaRPr sz="14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None/>
            </a:pPr>
            <a:r>
              <a:rPr b="1" lang="en-IN" sz="1800" u="sng">
                <a:solidFill>
                  <a:srgbClr val="0000FF"/>
                </a:solidFill>
                <a:latin typeface="Lato"/>
                <a:ea typeface="Lato"/>
                <a:cs typeface="Lato"/>
                <a:sym typeface="Lato"/>
                <a:hlinkClick r:id="rId3">
                  <a:extLst>
                    <a:ext uri="{A12FA001-AC4F-418D-AE19-62706E023703}">
                      <ahyp:hlinkClr val="tx"/>
                    </a:ext>
                  </a:extLst>
                </a:hlinkClick>
              </a:rPr>
              <a:t>13. Build Pipeline Plugin</a:t>
            </a:r>
            <a:endParaRPr sz="14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None/>
            </a:pPr>
            <a:r>
              <a:rPr lang="en-IN" sz="1800">
                <a:solidFill>
                  <a:srgbClr val="374046"/>
                </a:solidFill>
                <a:latin typeface="Lato"/>
                <a:ea typeface="Lato"/>
                <a:cs typeface="Lato"/>
                <a:sym typeface="Lato"/>
              </a:rPr>
              <a:t>This plugin provides a view of the jobs that make up your build pipeline, upstream and also downstream. Furthermore, it allows you to define manual triggers for specific tasks that may need intervention before their execution. Build Pipeline Plugin is a game changer for Jenkins’ users because it makes pipelines scriptable as well as providing an incredibly powerful avenue in which to develop complex DevOps pipelines.</a:t>
            </a:r>
            <a:endParaRPr sz="1400">
              <a:solidFill>
                <a:schemeClr val="dk1"/>
              </a:solidFill>
              <a:latin typeface="Calibri"/>
              <a:ea typeface="Calibri"/>
              <a:cs typeface="Calibri"/>
              <a:sym typeface="Calibri"/>
            </a:endParaRPr>
          </a:p>
          <a:p>
            <a:pPr indent="0" lvl="0" marL="0" marR="0" rtl="0" algn="l">
              <a:lnSpc>
                <a:spcPct val="107000"/>
              </a:lnSpc>
              <a:spcBef>
                <a:spcPts val="2100"/>
              </a:spcBef>
              <a:spcAft>
                <a:spcPts val="0"/>
              </a:spcAft>
              <a:buNone/>
            </a:pPr>
            <a:r>
              <a:rPr b="1" lang="en-IN" sz="1800" u="sng">
                <a:solidFill>
                  <a:srgbClr val="0000FF"/>
                </a:solidFill>
                <a:latin typeface="Lato"/>
                <a:ea typeface="Lato"/>
                <a:cs typeface="Lato"/>
                <a:sym typeface="Lato"/>
                <a:hlinkClick r:id="rId4">
                  <a:extLst>
                    <a:ext uri="{A12FA001-AC4F-418D-AE19-62706E023703}">
                      <ahyp:hlinkClr val="tx"/>
                    </a:ext>
                  </a:extLst>
                </a:hlinkClick>
              </a:rPr>
              <a:t>14. Multijob Plugin</a:t>
            </a:r>
            <a:endParaRPr sz="14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None/>
            </a:pPr>
            <a:r>
              <a:rPr lang="en-IN" sz="1800">
                <a:solidFill>
                  <a:srgbClr val="374046"/>
                </a:solidFill>
                <a:latin typeface="Lato"/>
                <a:ea typeface="Lato"/>
                <a:cs typeface="Lato"/>
                <a:sym typeface="Lato"/>
              </a:rPr>
              <a:t>This plugin allows you to express complex tasks and then organize them according to their structures in the Jenkins. You can use this plugin whenever you need to clean up the mess for chain definitions with upstream or downstream jobs. You may also use it when you need to create a hierarchy of tasks to be executed sequentially.</a:t>
            </a:r>
            <a:endParaRPr sz="1400">
              <a:solidFill>
                <a:schemeClr val="dk1"/>
              </a:solidFill>
              <a:latin typeface="Calibri"/>
              <a:ea typeface="Calibri"/>
              <a:cs typeface="Calibri"/>
              <a:sym typeface="Calibri"/>
            </a:endParaRPr>
          </a:p>
          <a:p>
            <a:pPr indent="0" lvl="0" marL="0" marR="0" rtl="0" algn="l">
              <a:lnSpc>
                <a:spcPct val="107000"/>
              </a:lnSpc>
              <a:spcBef>
                <a:spcPts val="2100"/>
              </a:spcBef>
              <a:spcAft>
                <a:spcPts val="0"/>
              </a:spcAft>
              <a:buNone/>
            </a:pPr>
            <a:r>
              <a:rPr lang="en-IN" sz="1800">
                <a:solidFill>
                  <a:srgbClr val="374046"/>
                </a:solidFill>
                <a:latin typeface="Lato"/>
                <a:ea typeface="Lato"/>
                <a:cs typeface="Lato"/>
                <a:sym typeface="Lato"/>
              </a:rPr>
              <a:t>Upon its installation, you can create ‘Multijob’ projects, and also define phases that can hold more than one job in addition to executing jobs in parallel to each other.</a:t>
            </a:r>
            <a:endParaRPr sz="1400">
              <a:solidFill>
                <a:schemeClr val="dk1"/>
              </a:solidFill>
              <a:latin typeface="Calibri"/>
              <a:ea typeface="Calibri"/>
              <a:cs typeface="Calibri"/>
              <a:sym typeface="Calibri"/>
            </a:endParaRPr>
          </a:p>
          <a:p>
            <a:pPr indent="0" lvl="0" marL="0" marR="0" rtl="0" algn="l">
              <a:lnSpc>
                <a:spcPct val="107000"/>
              </a:lnSpc>
              <a:spcBef>
                <a:spcPts val="2100"/>
              </a:spcBef>
              <a:spcAft>
                <a:spcPts val="0"/>
              </a:spcAft>
              <a:buNone/>
            </a:pPr>
            <a:r>
              <a:rPr b="1" lang="en-IN" sz="1800" u="sng">
                <a:solidFill>
                  <a:srgbClr val="0000FF"/>
                </a:solidFill>
                <a:latin typeface="Lato"/>
                <a:ea typeface="Lato"/>
                <a:cs typeface="Lato"/>
                <a:sym typeface="Lato"/>
                <a:hlinkClick r:id="rId5">
                  <a:extLst>
                    <a:ext uri="{A12FA001-AC4F-418D-AE19-62706E023703}">
                      <ahyp:hlinkClr val="tx"/>
                    </a:ext>
                  </a:extLst>
                </a:hlinkClick>
              </a:rPr>
              <a:t>15. Pipeline Plugin</a:t>
            </a:r>
            <a:endParaRPr sz="14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None/>
            </a:pPr>
            <a:r>
              <a:rPr lang="en-IN" sz="1800">
                <a:solidFill>
                  <a:srgbClr val="374046"/>
                </a:solidFill>
                <a:latin typeface="Lato"/>
                <a:ea typeface="Lato"/>
                <a:cs typeface="Lato"/>
                <a:sym typeface="Lato"/>
              </a:rPr>
              <a:t>‘Pipeline’ attempts to automate your continuous delivery pipeline and performs other complex tasks in Jenkins using traditional plugins and freestyle projects.</a:t>
            </a:r>
            <a:endParaRPr sz="14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2021-10-20T09:13:52Z</dcterms:created>
  <dc:creator>SAI CHARAN THOTA</dc:creator>
</cp:coreProperties>
</file>