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62" r:id="rId6"/>
    <p:sldId id="261" r:id="rId7"/>
    <p:sldId id="264" r:id="rId8"/>
    <p:sldId id="267" r:id="rId9"/>
    <p:sldId id="265" r:id="rId10"/>
    <p:sldId id="268" r:id="rId11"/>
    <p:sldId id="26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72" d="100"/>
          <a:sy n="72" d="100"/>
        </p:scale>
        <p:origin x="61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E3534-9AB2-40B5-A3AA-D1713FFAA11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8881F18C-8029-43A7-BDB4-F57F28CF298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6B99E258-BBAB-47AB-9001-9BEA2CB6FABF}"/>
              </a:ext>
            </a:extLst>
          </p:cNvPr>
          <p:cNvSpPr>
            <a:spLocks noGrp="1"/>
          </p:cNvSpPr>
          <p:nvPr>
            <p:ph type="dt" sz="half" idx="10"/>
          </p:nvPr>
        </p:nvSpPr>
        <p:spPr/>
        <p:txBody>
          <a:bodyPr/>
          <a:lstStyle/>
          <a:p>
            <a:fld id="{FC614579-A7E8-4DD3-94C7-B2A7B240CDFE}" type="datetimeFigureOut">
              <a:rPr lang="en-SG" smtClean="0"/>
              <a:t>11/9/2021</a:t>
            </a:fld>
            <a:endParaRPr lang="en-SG"/>
          </a:p>
        </p:txBody>
      </p:sp>
      <p:sp>
        <p:nvSpPr>
          <p:cNvPr id="5" name="Footer Placeholder 4">
            <a:extLst>
              <a:ext uri="{FF2B5EF4-FFF2-40B4-BE49-F238E27FC236}">
                <a16:creationId xmlns:a16="http://schemas.microsoft.com/office/drawing/2014/main" id="{C54F0680-4AD7-4D07-8857-D1C21C147E4D}"/>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5B9B93F4-EA57-47DB-92AD-6A57F1D1E2E6}"/>
              </a:ext>
            </a:extLst>
          </p:cNvPr>
          <p:cNvSpPr>
            <a:spLocks noGrp="1"/>
          </p:cNvSpPr>
          <p:nvPr>
            <p:ph type="sldNum" sz="quarter" idx="12"/>
          </p:nvPr>
        </p:nvSpPr>
        <p:spPr/>
        <p:txBody>
          <a:bodyPr/>
          <a:lstStyle/>
          <a:p>
            <a:fld id="{94C10EDB-1C5C-4752-9323-CE9DAC654DEE}" type="slidenum">
              <a:rPr lang="en-SG" smtClean="0"/>
              <a:t>‹#›</a:t>
            </a:fld>
            <a:endParaRPr lang="en-SG"/>
          </a:p>
        </p:txBody>
      </p:sp>
    </p:spTree>
    <p:extLst>
      <p:ext uri="{BB962C8B-B14F-4D97-AF65-F5344CB8AC3E}">
        <p14:creationId xmlns:p14="http://schemas.microsoft.com/office/powerpoint/2010/main" val="1178459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3A6CA-BDFC-47EF-BCBA-92D1020419E1}"/>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32ABA91B-6C34-4E33-B632-5FB7D61C67E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A96FE22F-84C8-4F22-B9D3-4AE5CB75A6E5}"/>
              </a:ext>
            </a:extLst>
          </p:cNvPr>
          <p:cNvSpPr>
            <a:spLocks noGrp="1"/>
          </p:cNvSpPr>
          <p:nvPr>
            <p:ph type="dt" sz="half" idx="10"/>
          </p:nvPr>
        </p:nvSpPr>
        <p:spPr/>
        <p:txBody>
          <a:bodyPr/>
          <a:lstStyle/>
          <a:p>
            <a:fld id="{FC614579-A7E8-4DD3-94C7-B2A7B240CDFE}" type="datetimeFigureOut">
              <a:rPr lang="en-SG" smtClean="0"/>
              <a:t>11/9/2021</a:t>
            </a:fld>
            <a:endParaRPr lang="en-SG"/>
          </a:p>
        </p:txBody>
      </p:sp>
      <p:sp>
        <p:nvSpPr>
          <p:cNvPr id="5" name="Footer Placeholder 4">
            <a:extLst>
              <a:ext uri="{FF2B5EF4-FFF2-40B4-BE49-F238E27FC236}">
                <a16:creationId xmlns:a16="http://schemas.microsoft.com/office/drawing/2014/main" id="{212FB6B1-28D4-4369-854C-8BC362FB2F9B}"/>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750E7969-20A0-4B3D-B608-247FF8F912FE}"/>
              </a:ext>
            </a:extLst>
          </p:cNvPr>
          <p:cNvSpPr>
            <a:spLocks noGrp="1"/>
          </p:cNvSpPr>
          <p:nvPr>
            <p:ph type="sldNum" sz="quarter" idx="12"/>
          </p:nvPr>
        </p:nvSpPr>
        <p:spPr/>
        <p:txBody>
          <a:bodyPr/>
          <a:lstStyle/>
          <a:p>
            <a:fld id="{94C10EDB-1C5C-4752-9323-CE9DAC654DEE}" type="slidenum">
              <a:rPr lang="en-SG" smtClean="0"/>
              <a:t>‹#›</a:t>
            </a:fld>
            <a:endParaRPr lang="en-SG"/>
          </a:p>
        </p:txBody>
      </p:sp>
    </p:spTree>
    <p:extLst>
      <p:ext uri="{BB962C8B-B14F-4D97-AF65-F5344CB8AC3E}">
        <p14:creationId xmlns:p14="http://schemas.microsoft.com/office/powerpoint/2010/main" val="4124250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EEB15-4A6C-4317-A285-488CD8D199C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54B17AD6-78B6-4CEF-AC43-93529CE96DF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0EFA12D-83B2-4016-8F98-6F03018FD959}"/>
              </a:ext>
            </a:extLst>
          </p:cNvPr>
          <p:cNvSpPr>
            <a:spLocks noGrp="1"/>
          </p:cNvSpPr>
          <p:nvPr>
            <p:ph type="dt" sz="half" idx="10"/>
          </p:nvPr>
        </p:nvSpPr>
        <p:spPr/>
        <p:txBody>
          <a:bodyPr/>
          <a:lstStyle/>
          <a:p>
            <a:fld id="{FC614579-A7E8-4DD3-94C7-B2A7B240CDFE}" type="datetimeFigureOut">
              <a:rPr lang="en-SG" smtClean="0"/>
              <a:t>11/9/2021</a:t>
            </a:fld>
            <a:endParaRPr lang="en-SG"/>
          </a:p>
        </p:txBody>
      </p:sp>
      <p:sp>
        <p:nvSpPr>
          <p:cNvPr id="5" name="Footer Placeholder 4">
            <a:extLst>
              <a:ext uri="{FF2B5EF4-FFF2-40B4-BE49-F238E27FC236}">
                <a16:creationId xmlns:a16="http://schemas.microsoft.com/office/drawing/2014/main" id="{6A2C28A3-75A6-41C2-987B-8D286092C9AC}"/>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6223DFCD-4A23-4607-87B1-D325D3D7FAC3}"/>
              </a:ext>
            </a:extLst>
          </p:cNvPr>
          <p:cNvSpPr>
            <a:spLocks noGrp="1"/>
          </p:cNvSpPr>
          <p:nvPr>
            <p:ph type="sldNum" sz="quarter" idx="12"/>
          </p:nvPr>
        </p:nvSpPr>
        <p:spPr/>
        <p:txBody>
          <a:bodyPr/>
          <a:lstStyle/>
          <a:p>
            <a:fld id="{94C10EDB-1C5C-4752-9323-CE9DAC654DEE}" type="slidenum">
              <a:rPr lang="en-SG" smtClean="0"/>
              <a:t>‹#›</a:t>
            </a:fld>
            <a:endParaRPr lang="en-SG"/>
          </a:p>
        </p:txBody>
      </p:sp>
    </p:spTree>
    <p:extLst>
      <p:ext uri="{BB962C8B-B14F-4D97-AF65-F5344CB8AC3E}">
        <p14:creationId xmlns:p14="http://schemas.microsoft.com/office/powerpoint/2010/main" val="39349317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6D577-A0A4-412A-866B-B90D87BE80C7}"/>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EC032588-5205-4EBF-BFE0-52DDD1FD33A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57B0CEBA-DE54-4960-9028-AA93AA0CBB7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61D2C2A7-0A5A-48B7-BE54-F6267D5082A4}"/>
              </a:ext>
            </a:extLst>
          </p:cNvPr>
          <p:cNvSpPr>
            <a:spLocks noGrp="1"/>
          </p:cNvSpPr>
          <p:nvPr>
            <p:ph type="dt" sz="half" idx="10"/>
          </p:nvPr>
        </p:nvSpPr>
        <p:spPr/>
        <p:txBody>
          <a:bodyPr/>
          <a:lstStyle/>
          <a:p>
            <a:fld id="{FC614579-A7E8-4DD3-94C7-B2A7B240CDFE}" type="datetimeFigureOut">
              <a:rPr lang="en-SG" smtClean="0"/>
              <a:t>11/9/2021</a:t>
            </a:fld>
            <a:endParaRPr lang="en-SG"/>
          </a:p>
        </p:txBody>
      </p:sp>
      <p:sp>
        <p:nvSpPr>
          <p:cNvPr id="6" name="Footer Placeholder 5">
            <a:extLst>
              <a:ext uri="{FF2B5EF4-FFF2-40B4-BE49-F238E27FC236}">
                <a16:creationId xmlns:a16="http://schemas.microsoft.com/office/drawing/2014/main" id="{A604A0C4-39F8-4D3F-9553-C6EB853E2AF2}"/>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E077F1A3-CF9E-442B-AC4E-2AC5FE905B7B}"/>
              </a:ext>
            </a:extLst>
          </p:cNvPr>
          <p:cNvSpPr>
            <a:spLocks noGrp="1"/>
          </p:cNvSpPr>
          <p:nvPr>
            <p:ph type="sldNum" sz="quarter" idx="12"/>
          </p:nvPr>
        </p:nvSpPr>
        <p:spPr/>
        <p:txBody>
          <a:bodyPr/>
          <a:lstStyle/>
          <a:p>
            <a:fld id="{94C10EDB-1C5C-4752-9323-CE9DAC654DEE}" type="slidenum">
              <a:rPr lang="en-SG" smtClean="0"/>
              <a:t>‹#›</a:t>
            </a:fld>
            <a:endParaRPr lang="en-SG"/>
          </a:p>
        </p:txBody>
      </p:sp>
    </p:spTree>
    <p:extLst>
      <p:ext uri="{BB962C8B-B14F-4D97-AF65-F5344CB8AC3E}">
        <p14:creationId xmlns:p14="http://schemas.microsoft.com/office/powerpoint/2010/main" val="32354562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440E9-894C-4056-9F28-E000DF91BAB8}"/>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B0BE011F-EB57-4C6F-8886-53129DCACF1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6E3C946-E8E8-49F9-B718-F1A4034EE2D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E0FF0140-51E7-4D63-84FB-62F4575C17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437B9E2-479D-440E-9760-2CBE23DE02C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C23BE802-F87B-4680-8CC4-188A09F07B7F}"/>
              </a:ext>
            </a:extLst>
          </p:cNvPr>
          <p:cNvSpPr>
            <a:spLocks noGrp="1"/>
          </p:cNvSpPr>
          <p:nvPr>
            <p:ph type="dt" sz="half" idx="10"/>
          </p:nvPr>
        </p:nvSpPr>
        <p:spPr/>
        <p:txBody>
          <a:bodyPr/>
          <a:lstStyle/>
          <a:p>
            <a:fld id="{FC614579-A7E8-4DD3-94C7-B2A7B240CDFE}" type="datetimeFigureOut">
              <a:rPr lang="en-SG" smtClean="0"/>
              <a:t>11/9/2021</a:t>
            </a:fld>
            <a:endParaRPr lang="en-SG"/>
          </a:p>
        </p:txBody>
      </p:sp>
      <p:sp>
        <p:nvSpPr>
          <p:cNvPr id="8" name="Footer Placeholder 7">
            <a:extLst>
              <a:ext uri="{FF2B5EF4-FFF2-40B4-BE49-F238E27FC236}">
                <a16:creationId xmlns:a16="http://schemas.microsoft.com/office/drawing/2014/main" id="{B8670B2A-EE08-40D5-B779-B62B7CD3DEB3}"/>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4E04001B-2277-427E-B332-83D27C50D270}"/>
              </a:ext>
            </a:extLst>
          </p:cNvPr>
          <p:cNvSpPr>
            <a:spLocks noGrp="1"/>
          </p:cNvSpPr>
          <p:nvPr>
            <p:ph type="sldNum" sz="quarter" idx="12"/>
          </p:nvPr>
        </p:nvSpPr>
        <p:spPr/>
        <p:txBody>
          <a:bodyPr/>
          <a:lstStyle/>
          <a:p>
            <a:fld id="{94C10EDB-1C5C-4752-9323-CE9DAC654DEE}" type="slidenum">
              <a:rPr lang="en-SG" smtClean="0"/>
              <a:t>‹#›</a:t>
            </a:fld>
            <a:endParaRPr lang="en-SG"/>
          </a:p>
        </p:txBody>
      </p:sp>
    </p:spTree>
    <p:extLst>
      <p:ext uri="{BB962C8B-B14F-4D97-AF65-F5344CB8AC3E}">
        <p14:creationId xmlns:p14="http://schemas.microsoft.com/office/powerpoint/2010/main" val="18812250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8E520-2EDD-4552-B675-3B9C9496D648}"/>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D7F46F33-EC8F-453C-A31B-FC194AF8B2E0}"/>
              </a:ext>
            </a:extLst>
          </p:cNvPr>
          <p:cNvSpPr>
            <a:spLocks noGrp="1"/>
          </p:cNvSpPr>
          <p:nvPr>
            <p:ph type="dt" sz="half" idx="10"/>
          </p:nvPr>
        </p:nvSpPr>
        <p:spPr/>
        <p:txBody>
          <a:bodyPr/>
          <a:lstStyle/>
          <a:p>
            <a:fld id="{FC614579-A7E8-4DD3-94C7-B2A7B240CDFE}" type="datetimeFigureOut">
              <a:rPr lang="en-SG" smtClean="0"/>
              <a:t>11/9/2021</a:t>
            </a:fld>
            <a:endParaRPr lang="en-SG"/>
          </a:p>
        </p:txBody>
      </p:sp>
      <p:sp>
        <p:nvSpPr>
          <p:cNvPr id="4" name="Footer Placeholder 3">
            <a:extLst>
              <a:ext uri="{FF2B5EF4-FFF2-40B4-BE49-F238E27FC236}">
                <a16:creationId xmlns:a16="http://schemas.microsoft.com/office/drawing/2014/main" id="{FA9E8B61-BDB1-4D0B-BC7C-A4BF92F6E986}"/>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620CB532-D2F3-405B-A4BE-A4547D55661B}"/>
              </a:ext>
            </a:extLst>
          </p:cNvPr>
          <p:cNvSpPr>
            <a:spLocks noGrp="1"/>
          </p:cNvSpPr>
          <p:nvPr>
            <p:ph type="sldNum" sz="quarter" idx="12"/>
          </p:nvPr>
        </p:nvSpPr>
        <p:spPr/>
        <p:txBody>
          <a:bodyPr/>
          <a:lstStyle/>
          <a:p>
            <a:fld id="{94C10EDB-1C5C-4752-9323-CE9DAC654DEE}" type="slidenum">
              <a:rPr lang="en-SG" smtClean="0"/>
              <a:t>‹#›</a:t>
            </a:fld>
            <a:endParaRPr lang="en-SG"/>
          </a:p>
        </p:txBody>
      </p:sp>
    </p:spTree>
    <p:extLst>
      <p:ext uri="{BB962C8B-B14F-4D97-AF65-F5344CB8AC3E}">
        <p14:creationId xmlns:p14="http://schemas.microsoft.com/office/powerpoint/2010/main" val="40264123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A6279BE-CAFA-446F-90A9-55519B3B8DB4}"/>
              </a:ext>
            </a:extLst>
          </p:cNvPr>
          <p:cNvSpPr>
            <a:spLocks noGrp="1"/>
          </p:cNvSpPr>
          <p:nvPr>
            <p:ph type="dt" sz="half" idx="10"/>
          </p:nvPr>
        </p:nvSpPr>
        <p:spPr/>
        <p:txBody>
          <a:bodyPr/>
          <a:lstStyle/>
          <a:p>
            <a:fld id="{FC614579-A7E8-4DD3-94C7-B2A7B240CDFE}" type="datetimeFigureOut">
              <a:rPr lang="en-SG" smtClean="0"/>
              <a:t>11/9/2021</a:t>
            </a:fld>
            <a:endParaRPr lang="en-SG"/>
          </a:p>
        </p:txBody>
      </p:sp>
      <p:sp>
        <p:nvSpPr>
          <p:cNvPr id="3" name="Footer Placeholder 2">
            <a:extLst>
              <a:ext uri="{FF2B5EF4-FFF2-40B4-BE49-F238E27FC236}">
                <a16:creationId xmlns:a16="http://schemas.microsoft.com/office/drawing/2014/main" id="{C1C8EFE5-C354-462B-823F-C535A2B1232B}"/>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2AA45D4D-C47F-4360-AAC3-69932C3D812E}"/>
              </a:ext>
            </a:extLst>
          </p:cNvPr>
          <p:cNvSpPr>
            <a:spLocks noGrp="1"/>
          </p:cNvSpPr>
          <p:nvPr>
            <p:ph type="sldNum" sz="quarter" idx="12"/>
          </p:nvPr>
        </p:nvSpPr>
        <p:spPr/>
        <p:txBody>
          <a:bodyPr/>
          <a:lstStyle/>
          <a:p>
            <a:fld id="{94C10EDB-1C5C-4752-9323-CE9DAC654DEE}" type="slidenum">
              <a:rPr lang="en-SG" smtClean="0"/>
              <a:t>‹#›</a:t>
            </a:fld>
            <a:endParaRPr lang="en-SG"/>
          </a:p>
        </p:txBody>
      </p:sp>
    </p:spTree>
    <p:extLst>
      <p:ext uri="{BB962C8B-B14F-4D97-AF65-F5344CB8AC3E}">
        <p14:creationId xmlns:p14="http://schemas.microsoft.com/office/powerpoint/2010/main" val="32459557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23359-F28E-4878-939C-ED61D9B693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489F5C66-6DE3-472F-A4BB-F89D9E61270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89BAB03A-AF8F-440C-A6EB-16E808DB5C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7720019-ADB1-470B-BFE7-5665529549D3}"/>
              </a:ext>
            </a:extLst>
          </p:cNvPr>
          <p:cNvSpPr>
            <a:spLocks noGrp="1"/>
          </p:cNvSpPr>
          <p:nvPr>
            <p:ph type="dt" sz="half" idx="10"/>
          </p:nvPr>
        </p:nvSpPr>
        <p:spPr/>
        <p:txBody>
          <a:bodyPr/>
          <a:lstStyle/>
          <a:p>
            <a:fld id="{FC614579-A7E8-4DD3-94C7-B2A7B240CDFE}" type="datetimeFigureOut">
              <a:rPr lang="en-SG" smtClean="0"/>
              <a:t>11/9/2021</a:t>
            </a:fld>
            <a:endParaRPr lang="en-SG"/>
          </a:p>
        </p:txBody>
      </p:sp>
      <p:sp>
        <p:nvSpPr>
          <p:cNvPr id="6" name="Footer Placeholder 5">
            <a:extLst>
              <a:ext uri="{FF2B5EF4-FFF2-40B4-BE49-F238E27FC236}">
                <a16:creationId xmlns:a16="http://schemas.microsoft.com/office/drawing/2014/main" id="{967A6842-0146-40A3-A4E3-BF63E0C7925A}"/>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29DD61A4-617F-4E4B-AABC-CEF5006F0139}"/>
              </a:ext>
            </a:extLst>
          </p:cNvPr>
          <p:cNvSpPr>
            <a:spLocks noGrp="1"/>
          </p:cNvSpPr>
          <p:nvPr>
            <p:ph type="sldNum" sz="quarter" idx="12"/>
          </p:nvPr>
        </p:nvSpPr>
        <p:spPr/>
        <p:txBody>
          <a:bodyPr/>
          <a:lstStyle/>
          <a:p>
            <a:fld id="{94C10EDB-1C5C-4752-9323-CE9DAC654DEE}" type="slidenum">
              <a:rPr lang="en-SG" smtClean="0"/>
              <a:t>‹#›</a:t>
            </a:fld>
            <a:endParaRPr lang="en-SG"/>
          </a:p>
        </p:txBody>
      </p:sp>
    </p:spTree>
    <p:extLst>
      <p:ext uri="{BB962C8B-B14F-4D97-AF65-F5344CB8AC3E}">
        <p14:creationId xmlns:p14="http://schemas.microsoft.com/office/powerpoint/2010/main" val="42200239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EB87E-959C-43EF-A265-746931C699C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8FECAB01-ED73-4693-B741-B50CBDB8927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D71A4295-D60A-4411-B9B6-5317E39016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B3CD31-DDEA-45A9-B55F-3A9E5677D703}"/>
              </a:ext>
            </a:extLst>
          </p:cNvPr>
          <p:cNvSpPr>
            <a:spLocks noGrp="1"/>
          </p:cNvSpPr>
          <p:nvPr>
            <p:ph type="dt" sz="half" idx="10"/>
          </p:nvPr>
        </p:nvSpPr>
        <p:spPr/>
        <p:txBody>
          <a:bodyPr/>
          <a:lstStyle/>
          <a:p>
            <a:fld id="{FC614579-A7E8-4DD3-94C7-B2A7B240CDFE}" type="datetimeFigureOut">
              <a:rPr lang="en-SG" smtClean="0"/>
              <a:t>11/9/2021</a:t>
            </a:fld>
            <a:endParaRPr lang="en-SG"/>
          </a:p>
        </p:txBody>
      </p:sp>
      <p:sp>
        <p:nvSpPr>
          <p:cNvPr id="6" name="Footer Placeholder 5">
            <a:extLst>
              <a:ext uri="{FF2B5EF4-FFF2-40B4-BE49-F238E27FC236}">
                <a16:creationId xmlns:a16="http://schemas.microsoft.com/office/drawing/2014/main" id="{0A107BAF-16BE-4B65-B308-6F6129893DA5}"/>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FBA67DD0-7249-4617-985B-EBBBA10218AD}"/>
              </a:ext>
            </a:extLst>
          </p:cNvPr>
          <p:cNvSpPr>
            <a:spLocks noGrp="1"/>
          </p:cNvSpPr>
          <p:nvPr>
            <p:ph type="sldNum" sz="quarter" idx="12"/>
          </p:nvPr>
        </p:nvSpPr>
        <p:spPr/>
        <p:txBody>
          <a:bodyPr/>
          <a:lstStyle/>
          <a:p>
            <a:fld id="{94C10EDB-1C5C-4752-9323-CE9DAC654DEE}" type="slidenum">
              <a:rPr lang="en-SG" smtClean="0"/>
              <a:t>‹#›</a:t>
            </a:fld>
            <a:endParaRPr lang="en-SG"/>
          </a:p>
        </p:txBody>
      </p:sp>
    </p:spTree>
    <p:extLst>
      <p:ext uri="{BB962C8B-B14F-4D97-AF65-F5344CB8AC3E}">
        <p14:creationId xmlns:p14="http://schemas.microsoft.com/office/powerpoint/2010/main" val="2317643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92041-7376-4655-BE55-CC9D45718629}"/>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D78639A3-9746-460E-9A16-384E84CF4B2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5ECB0774-2254-4CDB-90BC-56E68620E7B8}"/>
              </a:ext>
            </a:extLst>
          </p:cNvPr>
          <p:cNvSpPr>
            <a:spLocks noGrp="1"/>
          </p:cNvSpPr>
          <p:nvPr>
            <p:ph type="dt" sz="half" idx="10"/>
          </p:nvPr>
        </p:nvSpPr>
        <p:spPr/>
        <p:txBody>
          <a:bodyPr/>
          <a:lstStyle/>
          <a:p>
            <a:fld id="{FC614579-A7E8-4DD3-94C7-B2A7B240CDFE}" type="datetimeFigureOut">
              <a:rPr lang="en-SG" smtClean="0"/>
              <a:t>11/9/2021</a:t>
            </a:fld>
            <a:endParaRPr lang="en-SG"/>
          </a:p>
        </p:txBody>
      </p:sp>
      <p:sp>
        <p:nvSpPr>
          <p:cNvPr id="5" name="Footer Placeholder 4">
            <a:extLst>
              <a:ext uri="{FF2B5EF4-FFF2-40B4-BE49-F238E27FC236}">
                <a16:creationId xmlns:a16="http://schemas.microsoft.com/office/drawing/2014/main" id="{CD83275E-D8D7-4407-9E4D-916D0E988AF7}"/>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78A561B2-F9F2-4E3C-9113-3F471FE1A2F7}"/>
              </a:ext>
            </a:extLst>
          </p:cNvPr>
          <p:cNvSpPr>
            <a:spLocks noGrp="1"/>
          </p:cNvSpPr>
          <p:nvPr>
            <p:ph type="sldNum" sz="quarter" idx="12"/>
          </p:nvPr>
        </p:nvSpPr>
        <p:spPr/>
        <p:txBody>
          <a:bodyPr/>
          <a:lstStyle/>
          <a:p>
            <a:fld id="{94C10EDB-1C5C-4752-9323-CE9DAC654DEE}" type="slidenum">
              <a:rPr lang="en-SG" smtClean="0"/>
              <a:t>‹#›</a:t>
            </a:fld>
            <a:endParaRPr lang="en-SG"/>
          </a:p>
        </p:txBody>
      </p:sp>
    </p:spTree>
    <p:extLst>
      <p:ext uri="{BB962C8B-B14F-4D97-AF65-F5344CB8AC3E}">
        <p14:creationId xmlns:p14="http://schemas.microsoft.com/office/powerpoint/2010/main" val="35688577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E0D89D1-E90F-4D45-8D0F-26F3949804D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FDA2983E-C22B-49C0-8B5C-BDA6D38D9F2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1DEEEAE4-BA2B-46BD-AB61-93B4864F6304}"/>
              </a:ext>
            </a:extLst>
          </p:cNvPr>
          <p:cNvSpPr>
            <a:spLocks noGrp="1"/>
          </p:cNvSpPr>
          <p:nvPr>
            <p:ph type="dt" sz="half" idx="10"/>
          </p:nvPr>
        </p:nvSpPr>
        <p:spPr/>
        <p:txBody>
          <a:bodyPr/>
          <a:lstStyle/>
          <a:p>
            <a:fld id="{FC614579-A7E8-4DD3-94C7-B2A7B240CDFE}" type="datetimeFigureOut">
              <a:rPr lang="en-SG" smtClean="0"/>
              <a:t>11/9/2021</a:t>
            </a:fld>
            <a:endParaRPr lang="en-SG"/>
          </a:p>
        </p:txBody>
      </p:sp>
      <p:sp>
        <p:nvSpPr>
          <p:cNvPr id="5" name="Footer Placeholder 4">
            <a:extLst>
              <a:ext uri="{FF2B5EF4-FFF2-40B4-BE49-F238E27FC236}">
                <a16:creationId xmlns:a16="http://schemas.microsoft.com/office/drawing/2014/main" id="{4FBAA823-B45C-4F3A-B68F-9E1F254B5ABD}"/>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8B24CC9F-6E7E-4AA3-A927-D67177A937C3}"/>
              </a:ext>
            </a:extLst>
          </p:cNvPr>
          <p:cNvSpPr>
            <a:spLocks noGrp="1"/>
          </p:cNvSpPr>
          <p:nvPr>
            <p:ph type="sldNum" sz="quarter" idx="12"/>
          </p:nvPr>
        </p:nvSpPr>
        <p:spPr/>
        <p:txBody>
          <a:bodyPr/>
          <a:lstStyle/>
          <a:p>
            <a:fld id="{94C10EDB-1C5C-4752-9323-CE9DAC654DEE}" type="slidenum">
              <a:rPr lang="en-SG" smtClean="0"/>
              <a:t>‹#›</a:t>
            </a:fld>
            <a:endParaRPr lang="en-SG"/>
          </a:p>
        </p:txBody>
      </p:sp>
    </p:spTree>
    <p:extLst>
      <p:ext uri="{BB962C8B-B14F-4D97-AF65-F5344CB8AC3E}">
        <p14:creationId xmlns:p14="http://schemas.microsoft.com/office/powerpoint/2010/main" val="13930992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EDC70E3-7108-4EC6-9384-D7F7A8FDE4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AF9C43AC-CF8B-4513-84EF-80A977AD1B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BF168AD2-A0BF-455A-B305-C338BCAEF0E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614579-A7E8-4DD3-94C7-B2A7B240CDFE}" type="datetimeFigureOut">
              <a:rPr lang="en-SG" smtClean="0"/>
              <a:t>11/9/2021</a:t>
            </a:fld>
            <a:endParaRPr lang="en-SG"/>
          </a:p>
        </p:txBody>
      </p:sp>
      <p:sp>
        <p:nvSpPr>
          <p:cNvPr id="5" name="Footer Placeholder 4">
            <a:extLst>
              <a:ext uri="{FF2B5EF4-FFF2-40B4-BE49-F238E27FC236}">
                <a16:creationId xmlns:a16="http://schemas.microsoft.com/office/drawing/2014/main" id="{B50CD14C-6176-44A9-A7D6-C8EC251ED0A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a:p>
        </p:txBody>
      </p:sp>
      <p:sp>
        <p:nvSpPr>
          <p:cNvPr id="6" name="Slide Number Placeholder 5">
            <a:extLst>
              <a:ext uri="{FF2B5EF4-FFF2-40B4-BE49-F238E27FC236}">
                <a16:creationId xmlns:a16="http://schemas.microsoft.com/office/drawing/2014/main" id="{FC99A917-62B2-4A37-8F62-B671B1CDE9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C10EDB-1C5C-4752-9323-CE9DAC654DEE}" type="slidenum">
              <a:rPr lang="en-SG" smtClean="0"/>
              <a:t>‹#›</a:t>
            </a:fld>
            <a:endParaRPr lang="en-SG"/>
          </a:p>
        </p:txBody>
      </p:sp>
    </p:spTree>
    <p:extLst>
      <p:ext uri="{BB962C8B-B14F-4D97-AF65-F5344CB8AC3E}">
        <p14:creationId xmlns:p14="http://schemas.microsoft.com/office/powerpoint/2010/main" val="15827204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hyperlink" Target="https://discover.astera.com/data-profiling-the-first-step-in-the-data-migration-process" TargetMode="Externa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hyperlink" Target="https://www.astera.com/products/centerprise-data/" TargetMode="Externa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www.astera.com/solutions/technology-solutions/change-data-capture/" TargetMode="External"/><Relationship Id="rId2" Type="http://schemas.openxmlformats.org/officeDocument/2006/relationships/hyperlink" Target="https://www.astera.com/by-use-case/data-synchronization/"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FE71D9-3A0C-4A57-B11B-62D30552F98B}"/>
              </a:ext>
            </a:extLst>
          </p:cNvPr>
          <p:cNvSpPr>
            <a:spLocks noGrp="1"/>
          </p:cNvSpPr>
          <p:nvPr>
            <p:ph type="ctrTitle"/>
          </p:nvPr>
        </p:nvSpPr>
        <p:spPr/>
        <p:txBody>
          <a:bodyPr/>
          <a:lstStyle/>
          <a:p>
            <a:r>
              <a:rPr lang="en-US" dirty="0">
                <a:solidFill>
                  <a:srgbClr val="FF0000"/>
                </a:solidFill>
                <a:latin typeface="arial" panose="020B0604020202020204" pitchFamily="34" charset="0"/>
              </a:rPr>
              <a:t>Handling D</a:t>
            </a:r>
            <a:r>
              <a:rPr lang="en-US" b="0" i="0" dirty="0">
                <a:solidFill>
                  <a:srgbClr val="FF0000"/>
                </a:solidFill>
                <a:effectLst/>
                <a:latin typeface="arial" panose="020B0604020202020204" pitchFamily="34" charset="0"/>
              </a:rPr>
              <a:t>atabase </a:t>
            </a:r>
            <a:r>
              <a:rPr lang="en-US" dirty="0">
                <a:solidFill>
                  <a:srgbClr val="FF0000"/>
                </a:solidFill>
                <a:latin typeface="arial" panose="020B0604020202020204" pitchFamily="34" charset="0"/>
              </a:rPr>
              <a:t>M</a:t>
            </a:r>
            <a:r>
              <a:rPr lang="en-US" b="0" i="0" dirty="0">
                <a:solidFill>
                  <a:srgbClr val="FF0000"/>
                </a:solidFill>
                <a:effectLst/>
                <a:latin typeface="arial" panose="020B0604020202020204" pitchFamily="34" charset="0"/>
              </a:rPr>
              <a:t>igrations</a:t>
            </a:r>
            <a:endParaRPr lang="en-SG" dirty="0"/>
          </a:p>
        </p:txBody>
      </p:sp>
      <p:sp>
        <p:nvSpPr>
          <p:cNvPr id="3" name="Subtitle 2">
            <a:extLst>
              <a:ext uri="{FF2B5EF4-FFF2-40B4-BE49-F238E27FC236}">
                <a16:creationId xmlns:a16="http://schemas.microsoft.com/office/drawing/2014/main" id="{351F6505-79DF-4347-BB9A-07EDB78304F7}"/>
              </a:ext>
            </a:extLst>
          </p:cNvPr>
          <p:cNvSpPr>
            <a:spLocks noGrp="1"/>
          </p:cNvSpPr>
          <p:nvPr>
            <p:ph type="subTitle" idx="1"/>
          </p:nvPr>
        </p:nvSpPr>
        <p:spPr/>
        <p:txBody>
          <a:bodyPr/>
          <a:lstStyle/>
          <a:p>
            <a:endParaRPr lang="en-SG" dirty="0"/>
          </a:p>
        </p:txBody>
      </p:sp>
    </p:spTree>
    <p:extLst>
      <p:ext uri="{BB962C8B-B14F-4D97-AF65-F5344CB8AC3E}">
        <p14:creationId xmlns:p14="http://schemas.microsoft.com/office/powerpoint/2010/main" val="24139340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4D3185A-1AE2-4D86-BBD9-F16F15E21D92}"/>
              </a:ext>
            </a:extLst>
          </p:cNvPr>
          <p:cNvSpPr txBox="1"/>
          <p:nvPr/>
        </p:nvSpPr>
        <p:spPr>
          <a:xfrm>
            <a:off x="75501" y="0"/>
            <a:ext cx="11727809" cy="8402300"/>
          </a:xfrm>
          <a:prstGeom prst="rect">
            <a:avLst/>
          </a:prstGeom>
          <a:noFill/>
        </p:spPr>
        <p:txBody>
          <a:bodyPr wrap="square">
            <a:spAutoFit/>
          </a:bodyPr>
          <a:lstStyle/>
          <a:p>
            <a:pPr algn="l"/>
            <a:r>
              <a:rPr lang="en-US" b="0" i="0" dirty="0">
                <a:solidFill>
                  <a:srgbClr val="FF0000"/>
                </a:solidFill>
                <a:effectLst/>
                <a:latin typeface="arial" panose="020B0604020202020204" pitchFamily="34" charset="0"/>
              </a:rPr>
              <a:t>What is meant by database migration?</a:t>
            </a:r>
          </a:p>
          <a:p>
            <a:pPr algn="l"/>
            <a:endParaRPr lang="en-US" b="0" i="0" dirty="0">
              <a:solidFill>
                <a:srgbClr val="202124"/>
              </a:solidFill>
              <a:effectLst/>
              <a:latin typeface="arial" panose="020B0604020202020204" pitchFamily="34" charset="0"/>
            </a:endParaRPr>
          </a:p>
          <a:p>
            <a:pPr algn="l"/>
            <a:r>
              <a:rPr lang="en-US" b="0" i="0" dirty="0">
                <a:solidFill>
                  <a:srgbClr val="202124"/>
                </a:solidFill>
                <a:effectLst/>
                <a:latin typeface="arial" panose="020B0604020202020204" pitchFamily="34" charset="0"/>
              </a:rPr>
              <a:t>Database migration is </a:t>
            </a:r>
            <a:r>
              <a:rPr lang="en-US" b="1" i="0" dirty="0">
                <a:solidFill>
                  <a:srgbClr val="202124"/>
                </a:solidFill>
                <a:effectLst/>
                <a:latin typeface="arial" panose="020B0604020202020204" pitchFamily="34" charset="0"/>
              </a:rPr>
              <a:t>the process of migrating data from one or more source databases to one or more target databases by using a database migration service</a:t>
            </a:r>
            <a:r>
              <a:rPr lang="en-US" b="0" i="0" dirty="0">
                <a:solidFill>
                  <a:srgbClr val="202124"/>
                </a:solidFill>
                <a:effectLst/>
                <a:latin typeface="arial" panose="020B0604020202020204" pitchFamily="34" charset="0"/>
              </a:rPr>
              <a:t>. </a:t>
            </a:r>
          </a:p>
          <a:p>
            <a:pPr algn="l"/>
            <a:endParaRPr lang="en-US" dirty="0">
              <a:solidFill>
                <a:srgbClr val="202124"/>
              </a:solidFill>
              <a:latin typeface="arial" panose="020B0604020202020204" pitchFamily="34" charset="0"/>
            </a:endParaRPr>
          </a:p>
          <a:p>
            <a:pPr algn="l"/>
            <a:r>
              <a:rPr lang="en-US" b="0" i="0" dirty="0">
                <a:solidFill>
                  <a:srgbClr val="202124"/>
                </a:solidFill>
                <a:effectLst/>
                <a:latin typeface="arial" panose="020B0604020202020204" pitchFamily="34" charset="0"/>
              </a:rPr>
              <a:t>When a migration is finished, the dataset in the source databases resides fully, though possibly restructured, in the target databases.</a:t>
            </a:r>
          </a:p>
          <a:p>
            <a:pPr algn="l"/>
            <a:endParaRPr lang="en-US" dirty="0">
              <a:solidFill>
                <a:srgbClr val="202124"/>
              </a:solidFill>
              <a:latin typeface="arial" panose="020B0604020202020204" pitchFamily="34" charset="0"/>
            </a:endParaRPr>
          </a:p>
          <a:p>
            <a:pPr marL="285750" indent="-285750" algn="l">
              <a:buFont typeface="Wingdings" panose="05000000000000000000" pitchFamily="2" charset="2"/>
              <a:buChar char="ü"/>
            </a:pPr>
            <a:r>
              <a:rPr lang="en-US" b="0" i="0" dirty="0">
                <a:solidFill>
                  <a:srgbClr val="000000"/>
                </a:solidFill>
                <a:effectLst/>
                <a:latin typeface="Graphik"/>
              </a:rPr>
              <a:t>Database migration, in simple words, means </a:t>
            </a:r>
            <a:r>
              <a:rPr lang="en-US" b="1" i="0" dirty="0">
                <a:solidFill>
                  <a:srgbClr val="000000"/>
                </a:solidFill>
                <a:effectLst/>
                <a:latin typeface="Graphik"/>
              </a:rPr>
              <a:t>moving data from one platform to another. </a:t>
            </a:r>
          </a:p>
          <a:p>
            <a:pPr marL="285750" indent="-285750" algn="l">
              <a:buFont typeface="Wingdings" panose="05000000000000000000" pitchFamily="2" charset="2"/>
              <a:buChar char="ü"/>
            </a:pPr>
            <a:endParaRPr lang="en-US" dirty="0">
              <a:solidFill>
                <a:srgbClr val="000000"/>
              </a:solidFill>
              <a:latin typeface="Graphik"/>
            </a:endParaRPr>
          </a:p>
          <a:p>
            <a:pPr marL="285750" indent="-285750" algn="l">
              <a:buFont typeface="Wingdings" panose="05000000000000000000" pitchFamily="2" charset="2"/>
              <a:buChar char="ü"/>
            </a:pPr>
            <a:r>
              <a:rPr lang="en-US" b="0" i="0" dirty="0">
                <a:solidFill>
                  <a:srgbClr val="000000"/>
                </a:solidFill>
                <a:effectLst/>
                <a:latin typeface="Graphik"/>
              </a:rPr>
              <a:t>it is a complex, multiphase process, which usually includes assessment, database schema conversion, script conversion, data migration, functional testing, performance tuning, and many other steps.  </a:t>
            </a:r>
            <a:endParaRPr lang="en-US" b="0" i="0" dirty="0">
              <a:solidFill>
                <a:srgbClr val="202124"/>
              </a:solidFill>
              <a:effectLst/>
              <a:latin typeface="arial" panose="020B0604020202020204" pitchFamily="34" charset="0"/>
            </a:endParaRPr>
          </a:p>
          <a:p>
            <a:pPr algn="l"/>
            <a:endParaRPr lang="en-US" b="0" i="0" dirty="0">
              <a:solidFill>
                <a:srgbClr val="000000"/>
              </a:solidFill>
              <a:effectLst/>
              <a:latin typeface="Graphik"/>
            </a:endParaRPr>
          </a:p>
          <a:p>
            <a:pPr algn="l"/>
            <a:endParaRPr lang="en-US" b="0" i="0" dirty="0">
              <a:solidFill>
                <a:srgbClr val="000000"/>
              </a:solidFill>
              <a:effectLst/>
              <a:latin typeface="Graphik"/>
            </a:endParaRPr>
          </a:p>
          <a:p>
            <a:pPr algn="l"/>
            <a:endParaRPr lang="en-US" b="0" i="0" dirty="0">
              <a:solidFill>
                <a:srgbClr val="000000"/>
              </a:solidFill>
              <a:effectLst/>
              <a:latin typeface="Graphik"/>
            </a:endParaRPr>
          </a:p>
          <a:p>
            <a:pPr algn="l"/>
            <a:r>
              <a:rPr lang="en-US" b="1" i="0" dirty="0">
                <a:solidFill>
                  <a:srgbClr val="202124"/>
                </a:solidFill>
                <a:effectLst/>
                <a:latin typeface="arial" panose="020B0604020202020204" pitchFamily="34" charset="0"/>
              </a:rPr>
              <a:t>What are database migrations </a:t>
            </a:r>
            <a:r>
              <a:rPr lang="en-US" b="1" i="0" dirty="0">
                <a:solidFill>
                  <a:schemeClr val="accent1"/>
                </a:solidFill>
                <a:effectLst/>
                <a:latin typeface="arial" panose="020B0604020202020204" pitchFamily="34" charset="0"/>
              </a:rPr>
              <a:t>used or need </a:t>
            </a:r>
            <a:r>
              <a:rPr lang="en-US" b="1" i="0" dirty="0">
                <a:solidFill>
                  <a:srgbClr val="202124"/>
                </a:solidFill>
                <a:effectLst/>
                <a:latin typeface="arial" panose="020B0604020202020204" pitchFamily="34" charset="0"/>
              </a:rPr>
              <a:t>for?</a:t>
            </a:r>
          </a:p>
          <a:p>
            <a:pPr algn="l"/>
            <a:endParaRPr lang="en-US" b="0" i="0" dirty="0">
              <a:solidFill>
                <a:srgbClr val="202124"/>
              </a:solidFill>
              <a:effectLst/>
              <a:latin typeface="arial" panose="020B0604020202020204" pitchFamily="34" charset="0"/>
            </a:endParaRPr>
          </a:p>
          <a:p>
            <a:pPr algn="l"/>
            <a:r>
              <a:rPr lang="en-US" b="0" i="0" dirty="0">
                <a:solidFill>
                  <a:srgbClr val="202124"/>
                </a:solidFill>
                <a:effectLst/>
                <a:latin typeface="arial" panose="020B0604020202020204" pitchFamily="34" charset="0"/>
              </a:rPr>
              <a:t>Database migration is important because it </a:t>
            </a:r>
            <a:r>
              <a:rPr lang="en-US" b="1" i="0" dirty="0">
                <a:solidFill>
                  <a:srgbClr val="202124"/>
                </a:solidFill>
                <a:effectLst/>
                <a:latin typeface="arial" panose="020B0604020202020204" pitchFamily="34" charset="0"/>
              </a:rPr>
              <a:t>helps to save money</a:t>
            </a:r>
            <a:r>
              <a:rPr lang="en-US" b="0" i="0" dirty="0">
                <a:solidFill>
                  <a:srgbClr val="202124"/>
                </a:solidFill>
                <a:effectLst/>
                <a:latin typeface="arial" panose="020B0604020202020204" pitchFamily="34" charset="0"/>
              </a:rPr>
              <a:t>. The benefit of database migration is that it helps move data from an </a:t>
            </a:r>
            <a:r>
              <a:rPr lang="en-US" b="1" i="0" dirty="0">
                <a:solidFill>
                  <a:srgbClr val="202124"/>
                </a:solidFill>
                <a:effectLst/>
                <a:latin typeface="arial" panose="020B0604020202020204" pitchFamily="34" charset="0"/>
              </a:rPr>
              <a:t>outdated legacy system to a modernized software</a:t>
            </a:r>
            <a:r>
              <a:rPr lang="en-US" b="0" i="0" dirty="0">
                <a:solidFill>
                  <a:srgbClr val="202124"/>
                </a:solidFill>
                <a:effectLst/>
                <a:latin typeface="arial" panose="020B0604020202020204" pitchFamily="34" charset="0"/>
              </a:rPr>
              <a:t>. Database migration helps to unify disparate data so that it is accessible by different systems.</a:t>
            </a:r>
          </a:p>
          <a:p>
            <a:pPr algn="l"/>
            <a:endParaRPr lang="en-US" b="0" i="0" dirty="0">
              <a:solidFill>
                <a:srgbClr val="202124"/>
              </a:solidFill>
              <a:effectLst/>
              <a:latin typeface="arial" panose="020B0604020202020204" pitchFamily="34" charset="0"/>
            </a:endParaRPr>
          </a:p>
          <a:p>
            <a:pPr algn="l"/>
            <a:endParaRPr lang="en-US" dirty="0">
              <a:solidFill>
                <a:srgbClr val="202124"/>
              </a:solidFill>
              <a:latin typeface="arial" panose="020B0604020202020204" pitchFamily="34" charset="0"/>
            </a:endParaRPr>
          </a:p>
          <a:p>
            <a:pPr algn="l"/>
            <a:endParaRPr lang="en-US" b="0" i="0" dirty="0">
              <a:solidFill>
                <a:srgbClr val="202124"/>
              </a:solidFill>
              <a:effectLst/>
              <a:latin typeface="arial" panose="020B0604020202020204" pitchFamily="34" charset="0"/>
            </a:endParaRPr>
          </a:p>
          <a:p>
            <a:pPr algn="l"/>
            <a:endParaRPr lang="en-US" dirty="0">
              <a:solidFill>
                <a:srgbClr val="202124"/>
              </a:solidFill>
              <a:latin typeface="arial" panose="020B0604020202020204" pitchFamily="34" charset="0"/>
            </a:endParaRPr>
          </a:p>
          <a:p>
            <a:pPr algn="l"/>
            <a:endParaRPr lang="en-US" b="0" i="0" dirty="0">
              <a:solidFill>
                <a:srgbClr val="202124"/>
              </a:solidFill>
              <a:effectLst/>
              <a:latin typeface="arial" panose="020B0604020202020204" pitchFamily="34" charset="0"/>
            </a:endParaRPr>
          </a:p>
          <a:p>
            <a:pPr algn="l"/>
            <a:endParaRPr lang="en-US" dirty="0">
              <a:solidFill>
                <a:srgbClr val="202124"/>
              </a:solidFill>
              <a:latin typeface="arial" panose="020B0604020202020204" pitchFamily="34" charset="0"/>
            </a:endParaRPr>
          </a:p>
          <a:p>
            <a:pPr algn="l"/>
            <a:endParaRPr lang="en-US" b="0" i="0" dirty="0">
              <a:solidFill>
                <a:srgbClr val="202124"/>
              </a:solidFill>
              <a:effectLst/>
              <a:latin typeface="arial" panose="020B0604020202020204" pitchFamily="34" charset="0"/>
            </a:endParaRPr>
          </a:p>
          <a:p>
            <a:pPr algn="l"/>
            <a:endParaRPr lang="en-US" dirty="0">
              <a:solidFill>
                <a:srgbClr val="202124"/>
              </a:solidFill>
              <a:latin typeface="arial" panose="020B0604020202020204" pitchFamily="34" charset="0"/>
            </a:endParaRPr>
          </a:p>
          <a:p>
            <a:pPr algn="l"/>
            <a:endParaRPr lang="en-US" b="0" i="0" dirty="0">
              <a:solidFill>
                <a:srgbClr val="202124"/>
              </a:solidFill>
              <a:effectLst/>
              <a:latin typeface="arial" panose="020B0604020202020204" pitchFamily="34" charset="0"/>
            </a:endParaRPr>
          </a:p>
          <a:p>
            <a:pPr algn="l"/>
            <a:endParaRPr lang="en-US" b="0" i="0" dirty="0">
              <a:solidFill>
                <a:srgbClr val="202124"/>
              </a:solidFill>
              <a:effectLst/>
              <a:latin typeface="arial" panose="020B0604020202020204" pitchFamily="34" charset="0"/>
            </a:endParaRPr>
          </a:p>
        </p:txBody>
      </p:sp>
    </p:spTree>
    <p:extLst>
      <p:ext uri="{BB962C8B-B14F-4D97-AF65-F5344CB8AC3E}">
        <p14:creationId xmlns:p14="http://schemas.microsoft.com/office/powerpoint/2010/main" val="15778217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9E2611-CFDE-4D1E-B099-36B1812A33CB}"/>
              </a:ext>
            </a:extLst>
          </p:cNvPr>
          <p:cNvSpPr txBox="1"/>
          <p:nvPr/>
        </p:nvSpPr>
        <p:spPr>
          <a:xfrm>
            <a:off x="0" y="0"/>
            <a:ext cx="12018627" cy="8094524"/>
          </a:xfrm>
          <a:prstGeom prst="rect">
            <a:avLst/>
          </a:prstGeom>
          <a:noFill/>
        </p:spPr>
        <p:txBody>
          <a:bodyPr wrap="square">
            <a:spAutoFit/>
          </a:bodyPr>
          <a:lstStyle/>
          <a:p>
            <a:pPr algn="l"/>
            <a:endParaRPr lang="en-US" sz="2000" b="1" dirty="0">
              <a:solidFill>
                <a:srgbClr val="000000"/>
              </a:solidFill>
              <a:latin typeface="Times New Roman" panose="02020603050405020304" pitchFamily="18" charset="0"/>
              <a:cs typeface="Times New Roman" panose="02020603050405020304" pitchFamily="18" charset="0"/>
            </a:endParaRPr>
          </a:p>
          <a:p>
            <a:pPr algn="l"/>
            <a:r>
              <a:rPr lang="en-US" sz="2000" b="1" i="0" dirty="0">
                <a:solidFill>
                  <a:srgbClr val="FF0000"/>
                </a:solidFill>
                <a:effectLst/>
                <a:latin typeface="Times New Roman" panose="02020603050405020304" pitchFamily="18" charset="0"/>
                <a:cs typeface="Times New Roman" panose="02020603050405020304" pitchFamily="18" charset="0"/>
              </a:rPr>
              <a:t>1. To Save expenses:</a:t>
            </a:r>
            <a:endParaRPr lang="en-US" sz="2000" b="0" i="0" dirty="0">
              <a:solidFill>
                <a:srgbClr val="FF0000"/>
              </a:solidFill>
              <a:effectLst/>
              <a:latin typeface="Times New Roman" panose="02020603050405020304" pitchFamily="18" charset="0"/>
              <a:cs typeface="Times New Roman" panose="02020603050405020304" pitchFamily="18" charset="0"/>
            </a:endParaRPr>
          </a:p>
          <a:p>
            <a:pPr algn="l"/>
            <a:r>
              <a:rPr lang="en-US" sz="2000" b="0" i="0" dirty="0">
                <a:solidFill>
                  <a:schemeClr val="accent1"/>
                </a:solidFill>
                <a:effectLst/>
                <a:latin typeface="Times New Roman" panose="02020603050405020304" pitchFamily="18" charset="0"/>
                <a:cs typeface="Times New Roman" panose="02020603050405020304" pitchFamily="18" charset="0"/>
              </a:rPr>
              <a:t>Using old databases might add overhead expenses to the company</a:t>
            </a:r>
            <a:r>
              <a:rPr lang="en-US" sz="2000" b="0" i="0" dirty="0">
                <a:solidFill>
                  <a:srgbClr val="000000"/>
                </a:solidFill>
                <a:effectLst/>
                <a:latin typeface="Times New Roman" panose="02020603050405020304" pitchFamily="18" charset="0"/>
                <a:cs typeface="Times New Roman" panose="02020603050405020304" pitchFamily="18" charset="0"/>
              </a:rPr>
              <a:t>. Like installing other applications or systems to work in a quick manner. They will move their database to a platform that will serve their purpose in an efficient manner. This will help </a:t>
            </a:r>
            <a:r>
              <a:rPr lang="en-US" sz="2000" b="0" i="0" dirty="0">
                <a:solidFill>
                  <a:schemeClr val="accent1"/>
                </a:solidFill>
                <a:effectLst/>
                <a:latin typeface="Times New Roman" panose="02020603050405020304" pitchFamily="18" charset="0"/>
                <a:cs typeface="Times New Roman" panose="02020603050405020304" pitchFamily="18" charset="0"/>
              </a:rPr>
              <a:t>in saving on infrastructure as well as manpower </a:t>
            </a:r>
            <a:r>
              <a:rPr lang="en-US" sz="2000" b="0" i="0" dirty="0">
                <a:solidFill>
                  <a:srgbClr val="000000"/>
                </a:solidFill>
                <a:effectLst/>
                <a:latin typeface="Times New Roman" panose="02020603050405020304" pitchFamily="18" charset="0"/>
                <a:cs typeface="Times New Roman" panose="02020603050405020304" pitchFamily="18" charset="0"/>
              </a:rPr>
              <a:t>and expertise needed to support it.</a:t>
            </a:r>
          </a:p>
          <a:p>
            <a:pPr algn="l"/>
            <a:endParaRPr lang="en-US" sz="2000" b="0" i="0" dirty="0">
              <a:solidFill>
                <a:srgbClr val="000000"/>
              </a:solidFill>
              <a:effectLst/>
              <a:latin typeface="Times New Roman" panose="02020603050405020304" pitchFamily="18" charset="0"/>
              <a:cs typeface="Times New Roman" panose="02020603050405020304" pitchFamily="18" charset="0"/>
            </a:endParaRPr>
          </a:p>
          <a:p>
            <a:pPr algn="l"/>
            <a:endParaRPr lang="en-US" sz="2000" dirty="0">
              <a:solidFill>
                <a:srgbClr val="000000"/>
              </a:solidFill>
              <a:latin typeface="Times New Roman" panose="02020603050405020304" pitchFamily="18" charset="0"/>
              <a:cs typeface="Times New Roman" panose="02020603050405020304" pitchFamily="18" charset="0"/>
            </a:endParaRPr>
          </a:p>
          <a:p>
            <a:pPr algn="l"/>
            <a:r>
              <a:rPr lang="en-US" sz="2000" b="1" i="0" dirty="0">
                <a:solidFill>
                  <a:srgbClr val="FF0000"/>
                </a:solidFill>
                <a:effectLst/>
                <a:latin typeface="Times New Roman" panose="02020603050405020304" pitchFamily="18" charset="0"/>
                <a:cs typeface="Times New Roman" panose="02020603050405020304" pitchFamily="18" charset="0"/>
              </a:rPr>
              <a:t>2. Upgrade to new technology </a:t>
            </a:r>
            <a:endParaRPr lang="en-US" sz="2000" b="0" i="0" dirty="0">
              <a:solidFill>
                <a:srgbClr val="FF0000"/>
              </a:solidFill>
              <a:effectLst/>
              <a:latin typeface="Times New Roman" panose="02020603050405020304" pitchFamily="18" charset="0"/>
              <a:cs typeface="Times New Roman" panose="02020603050405020304" pitchFamily="18" charset="0"/>
            </a:endParaRPr>
          </a:p>
          <a:p>
            <a:pPr algn="l"/>
            <a:r>
              <a:rPr lang="en-US" sz="2000" b="0" i="0" dirty="0">
                <a:solidFill>
                  <a:schemeClr val="accent1"/>
                </a:solidFill>
                <a:effectLst/>
                <a:latin typeface="Times New Roman" panose="02020603050405020304" pitchFamily="18" charset="0"/>
                <a:cs typeface="Times New Roman" panose="02020603050405020304" pitchFamily="18" charset="0"/>
              </a:rPr>
              <a:t>This is a very common reason for migration, where the company would shift from either an outdated system </a:t>
            </a:r>
            <a:r>
              <a:rPr lang="en-US" sz="2000" b="0" i="0" dirty="0">
                <a:solidFill>
                  <a:srgbClr val="000000"/>
                </a:solidFill>
                <a:effectLst/>
                <a:latin typeface="Times New Roman" panose="02020603050405020304" pitchFamily="18" charset="0"/>
                <a:cs typeface="Times New Roman" panose="02020603050405020304" pitchFamily="18" charset="0"/>
              </a:rPr>
              <a:t>or a legacy one to a system that is designed for the current day data needs. </a:t>
            </a:r>
          </a:p>
          <a:p>
            <a:pPr algn="l"/>
            <a:endParaRPr lang="en-US" sz="2000" b="0" i="0" dirty="0">
              <a:solidFill>
                <a:srgbClr val="000000"/>
              </a:solidFill>
              <a:effectLst/>
              <a:latin typeface="Times New Roman" panose="02020603050405020304" pitchFamily="18" charset="0"/>
              <a:cs typeface="Times New Roman" panose="02020603050405020304" pitchFamily="18" charset="0"/>
            </a:endParaRPr>
          </a:p>
          <a:p>
            <a:pPr algn="l"/>
            <a:endParaRPr lang="en-US" sz="2000" b="0" i="0" dirty="0">
              <a:solidFill>
                <a:srgbClr val="000000"/>
              </a:solidFill>
              <a:effectLst/>
              <a:latin typeface="Times New Roman" panose="02020603050405020304" pitchFamily="18" charset="0"/>
              <a:cs typeface="Times New Roman" panose="02020603050405020304" pitchFamily="18" charset="0"/>
            </a:endParaRPr>
          </a:p>
          <a:p>
            <a:pPr algn="l"/>
            <a:r>
              <a:rPr lang="en-US" sz="2000" b="0" i="0" dirty="0">
                <a:solidFill>
                  <a:srgbClr val="000000"/>
                </a:solidFill>
                <a:effectLst/>
                <a:latin typeface="Times New Roman" panose="02020603050405020304" pitchFamily="18" charset="0"/>
                <a:cs typeface="Times New Roman" panose="02020603050405020304" pitchFamily="18" charset="0"/>
              </a:rPr>
              <a:t>In this era of big data, adopting new and efficient storage techniques is a necessity. For instance, a company might choose to move from a legacy </a:t>
            </a:r>
            <a:r>
              <a:rPr lang="en-US" sz="2000" b="0" i="0" dirty="0">
                <a:solidFill>
                  <a:schemeClr val="accent1"/>
                </a:solidFill>
                <a:effectLst/>
                <a:latin typeface="Times New Roman" panose="02020603050405020304" pitchFamily="18" charset="0"/>
                <a:cs typeface="Times New Roman" panose="02020603050405020304" pitchFamily="18" charset="0"/>
              </a:rPr>
              <a:t>SQL database</a:t>
            </a:r>
            <a:r>
              <a:rPr lang="en-US" sz="2000" b="0" i="0" dirty="0">
                <a:solidFill>
                  <a:srgbClr val="000000"/>
                </a:solidFill>
                <a:effectLst/>
                <a:latin typeface="Times New Roman" panose="02020603050405020304" pitchFamily="18" charset="0"/>
                <a:cs typeface="Times New Roman" panose="02020603050405020304" pitchFamily="18" charset="0"/>
              </a:rPr>
              <a:t> to any other flexible system. </a:t>
            </a:r>
          </a:p>
          <a:p>
            <a:pPr algn="l"/>
            <a:endParaRPr lang="en-US" sz="2000" b="0" i="0" dirty="0">
              <a:solidFill>
                <a:srgbClr val="000000"/>
              </a:solidFill>
              <a:effectLst/>
              <a:latin typeface="Times New Roman" panose="02020603050405020304" pitchFamily="18" charset="0"/>
              <a:cs typeface="Times New Roman" panose="02020603050405020304" pitchFamily="18" charset="0"/>
            </a:endParaRPr>
          </a:p>
          <a:p>
            <a:pPr algn="l"/>
            <a:r>
              <a:rPr lang="en-US" sz="2000" b="1" i="0" dirty="0">
                <a:solidFill>
                  <a:srgbClr val="FF0000"/>
                </a:solidFill>
                <a:effectLst/>
                <a:latin typeface="Times New Roman" panose="02020603050405020304" pitchFamily="18" charset="0"/>
                <a:cs typeface="Times New Roman" panose="02020603050405020304" pitchFamily="18" charset="0"/>
              </a:rPr>
              <a:t>3. To Reduce Redundancy </a:t>
            </a:r>
            <a:endParaRPr lang="en-US" sz="2000" b="0" i="0" dirty="0">
              <a:solidFill>
                <a:srgbClr val="FF0000"/>
              </a:solidFill>
              <a:effectLst/>
              <a:latin typeface="Times New Roman" panose="02020603050405020304" pitchFamily="18" charset="0"/>
              <a:cs typeface="Times New Roman" panose="02020603050405020304" pitchFamily="18" charset="0"/>
            </a:endParaRPr>
          </a:p>
          <a:p>
            <a:pPr algn="l"/>
            <a:r>
              <a:rPr lang="en-US" sz="2000" b="0" i="0" dirty="0">
                <a:solidFill>
                  <a:srgbClr val="000000"/>
                </a:solidFill>
                <a:effectLst/>
                <a:latin typeface="Times New Roman" panose="02020603050405020304" pitchFamily="18" charset="0"/>
                <a:cs typeface="Times New Roman" panose="02020603050405020304" pitchFamily="18" charset="0"/>
              </a:rPr>
              <a:t>Data migration is an essential thing for the companies in order to  move all the company data to a single place. This will help in minimizing redundant data. Also, the data stored in one place can be easily accessible by all the divisions of the company. </a:t>
            </a:r>
          </a:p>
          <a:p>
            <a:pPr algn="l"/>
            <a:endParaRPr lang="en-US" sz="2000" b="0" i="0" dirty="0">
              <a:solidFill>
                <a:srgbClr val="000000"/>
              </a:solidFill>
              <a:effectLst/>
              <a:latin typeface="Times New Roman" panose="02020603050405020304" pitchFamily="18" charset="0"/>
              <a:cs typeface="Times New Roman" panose="02020603050405020304" pitchFamily="18" charset="0"/>
            </a:endParaRPr>
          </a:p>
          <a:p>
            <a:pPr algn="l"/>
            <a:r>
              <a:rPr lang="en-US" sz="2000" b="0" i="0" dirty="0">
                <a:solidFill>
                  <a:srgbClr val="000000"/>
                </a:solidFill>
                <a:effectLst/>
                <a:latin typeface="Times New Roman" panose="02020603050405020304" pitchFamily="18" charset="0"/>
                <a:cs typeface="Times New Roman" panose="02020603050405020304" pitchFamily="18" charset="0"/>
              </a:rPr>
              <a:t>For instance, different departments have different databases and there is no sync between them. It becomes really difficult to gain insights from your data when you have different databases that are incompatible. </a:t>
            </a:r>
          </a:p>
          <a:p>
            <a:pPr algn="l"/>
            <a:endParaRPr lang="en-US" sz="2000" b="0" i="0" dirty="0">
              <a:solidFill>
                <a:srgbClr val="000000"/>
              </a:solidFill>
              <a:effectLst/>
              <a:latin typeface="Times New Roman" panose="02020603050405020304" pitchFamily="18" charset="0"/>
              <a:cs typeface="Times New Roman" panose="02020603050405020304" pitchFamily="18" charset="0"/>
            </a:endParaRPr>
          </a:p>
          <a:p>
            <a:pPr algn="l"/>
            <a:endParaRPr lang="en-US" sz="2000" b="0" i="0" dirty="0">
              <a:solidFill>
                <a:srgbClr val="000000"/>
              </a:solidFill>
              <a:effectLst/>
              <a:latin typeface="Times New Roman" panose="02020603050405020304" pitchFamily="18" charset="0"/>
              <a:cs typeface="Times New Roman" panose="02020603050405020304" pitchFamily="18" charset="0"/>
            </a:endParaRPr>
          </a:p>
          <a:p>
            <a:pPr algn="l"/>
            <a:endParaRPr lang="en-US" sz="2000" b="0" i="0" dirty="0">
              <a:solidFill>
                <a:srgbClr val="000000"/>
              </a:solidFill>
              <a:effectLst/>
              <a:latin typeface="Times New Roman" panose="02020603050405020304" pitchFamily="18" charset="0"/>
              <a:cs typeface="Times New Roman" panose="02020603050405020304" pitchFamily="18" charset="0"/>
            </a:endParaRPr>
          </a:p>
          <a:p>
            <a:pPr algn="l"/>
            <a:endParaRPr lang="en-US" sz="2000" b="1" i="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13792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BE73384-88DE-45E7-BF84-329069570F25}"/>
              </a:ext>
            </a:extLst>
          </p:cNvPr>
          <p:cNvSpPr txBox="1"/>
          <p:nvPr/>
        </p:nvSpPr>
        <p:spPr>
          <a:xfrm>
            <a:off x="92279" y="0"/>
            <a:ext cx="11467750" cy="5909310"/>
          </a:xfrm>
          <a:prstGeom prst="rect">
            <a:avLst/>
          </a:prstGeom>
          <a:noFill/>
        </p:spPr>
        <p:txBody>
          <a:bodyPr wrap="square">
            <a:spAutoFit/>
          </a:bodyPr>
          <a:lstStyle/>
          <a:p>
            <a:pPr algn="l"/>
            <a:r>
              <a:rPr lang="en-US" b="1" i="0" dirty="0">
                <a:solidFill>
                  <a:srgbClr val="000000"/>
                </a:solidFill>
                <a:effectLst/>
                <a:latin typeface="Graphik"/>
              </a:rPr>
              <a:t>4</a:t>
            </a:r>
            <a:r>
              <a:rPr lang="en-US" b="1" i="0" dirty="0">
                <a:solidFill>
                  <a:srgbClr val="FF0000"/>
                </a:solidFill>
                <a:effectLst/>
                <a:latin typeface="Graphik"/>
              </a:rPr>
              <a:t>. Security Fixes:</a:t>
            </a:r>
            <a:endParaRPr lang="en-US" b="0" i="0" dirty="0">
              <a:solidFill>
                <a:srgbClr val="FF0000"/>
              </a:solidFill>
              <a:effectLst/>
              <a:latin typeface="Graphik"/>
            </a:endParaRPr>
          </a:p>
          <a:p>
            <a:pPr algn="l"/>
            <a:r>
              <a:rPr lang="en-US" b="0" i="0" dirty="0">
                <a:solidFill>
                  <a:srgbClr val="000000"/>
                </a:solidFill>
                <a:effectLst/>
                <a:latin typeface="Graphik"/>
              </a:rPr>
              <a:t>Most of the organizations fail to upgrade their databases regularly as they do other systems. This eventually leaves a wide gap for the </a:t>
            </a:r>
            <a:r>
              <a:rPr lang="en-US" b="0" i="0" dirty="0">
                <a:solidFill>
                  <a:schemeClr val="accent1"/>
                </a:solidFill>
                <a:effectLst/>
                <a:latin typeface="Graphik"/>
              </a:rPr>
              <a:t>hackers to enter and reveal or steal information. </a:t>
            </a:r>
          </a:p>
          <a:p>
            <a:pPr algn="l"/>
            <a:endParaRPr lang="en-US" b="0" i="0" dirty="0">
              <a:solidFill>
                <a:srgbClr val="000000"/>
              </a:solidFill>
              <a:effectLst/>
              <a:latin typeface="Graphik"/>
            </a:endParaRPr>
          </a:p>
          <a:p>
            <a:pPr algn="l"/>
            <a:r>
              <a:rPr lang="en-US" b="0" i="0" dirty="0">
                <a:solidFill>
                  <a:srgbClr val="000000"/>
                </a:solidFill>
                <a:effectLst/>
                <a:latin typeface="Graphik"/>
              </a:rPr>
              <a:t>Most of the database upgrades come with security options, </a:t>
            </a:r>
            <a:r>
              <a:rPr lang="en-US" b="0" i="0" dirty="0">
                <a:solidFill>
                  <a:schemeClr val="accent1"/>
                </a:solidFill>
                <a:effectLst/>
                <a:latin typeface="Graphik"/>
              </a:rPr>
              <a:t>which implies that the only way to protect your database is to get it updated on a regular basis. </a:t>
            </a:r>
          </a:p>
          <a:p>
            <a:pPr algn="l"/>
            <a:endParaRPr lang="en-US" b="0" i="0" dirty="0">
              <a:solidFill>
                <a:srgbClr val="000000"/>
              </a:solidFill>
              <a:effectLst/>
              <a:latin typeface="Graphik"/>
            </a:endParaRPr>
          </a:p>
          <a:p>
            <a:pPr algn="l"/>
            <a:r>
              <a:rPr lang="en-US" b="1" i="0" dirty="0">
                <a:solidFill>
                  <a:srgbClr val="FF0000"/>
                </a:solidFill>
                <a:effectLst/>
                <a:latin typeface="Graphik"/>
              </a:rPr>
              <a:t>5. Data cleaning and coding</a:t>
            </a:r>
            <a:endParaRPr lang="en-US" b="0" i="0" dirty="0">
              <a:solidFill>
                <a:srgbClr val="FF0000"/>
              </a:solidFill>
              <a:effectLst/>
              <a:latin typeface="Graphik"/>
            </a:endParaRPr>
          </a:p>
          <a:p>
            <a:pPr algn="l"/>
            <a:r>
              <a:rPr lang="en-US" b="0" i="0" dirty="0">
                <a:solidFill>
                  <a:srgbClr val="000000"/>
                </a:solidFill>
                <a:effectLst/>
                <a:latin typeface="Graphik"/>
              </a:rPr>
              <a:t>Data stored in databases might be in </a:t>
            </a:r>
            <a:r>
              <a:rPr lang="en-US" b="0" i="0" dirty="0">
                <a:solidFill>
                  <a:schemeClr val="accent1"/>
                </a:solidFill>
                <a:effectLst/>
                <a:latin typeface="Graphik"/>
              </a:rPr>
              <a:t>different formats that would have come from varied sources</a:t>
            </a:r>
            <a:r>
              <a:rPr lang="en-US" b="0" i="0" dirty="0">
                <a:solidFill>
                  <a:srgbClr val="000000"/>
                </a:solidFill>
                <a:effectLst/>
                <a:latin typeface="Graphik"/>
              </a:rPr>
              <a:t>. The data coming from various places needs to be </a:t>
            </a:r>
            <a:r>
              <a:rPr lang="en-US" b="0" i="0" dirty="0">
                <a:solidFill>
                  <a:schemeClr val="accent1"/>
                </a:solidFill>
                <a:effectLst/>
                <a:latin typeface="Graphik"/>
              </a:rPr>
              <a:t>cleansed, normalized or transformed</a:t>
            </a:r>
            <a:r>
              <a:rPr lang="en-US" b="0" i="0" dirty="0">
                <a:solidFill>
                  <a:srgbClr val="000000"/>
                </a:solidFill>
                <a:effectLst/>
                <a:latin typeface="Graphik"/>
              </a:rPr>
              <a:t>. </a:t>
            </a:r>
          </a:p>
          <a:p>
            <a:pPr algn="l"/>
            <a:endParaRPr lang="en-US" dirty="0">
              <a:solidFill>
                <a:schemeClr val="accent1"/>
              </a:solidFill>
              <a:latin typeface="Graphik"/>
            </a:endParaRPr>
          </a:p>
          <a:p>
            <a:pPr algn="l"/>
            <a:r>
              <a:rPr lang="en-US" b="0" i="0" dirty="0">
                <a:solidFill>
                  <a:schemeClr val="accent1"/>
                </a:solidFill>
                <a:effectLst/>
                <a:latin typeface="Open Sans" panose="020B0606030504020204" pitchFamily="34" charset="0"/>
              </a:rPr>
              <a:t>The common </a:t>
            </a:r>
            <a:r>
              <a:rPr lang="en-US" b="1" i="0" dirty="0">
                <a:solidFill>
                  <a:schemeClr val="accent1"/>
                </a:solidFill>
                <a:effectLst/>
                <a:latin typeface="Open Sans" panose="020B0606030504020204" pitchFamily="34" charset="0"/>
              </a:rPr>
              <a:t>reasons</a:t>
            </a:r>
            <a:r>
              <a:rPr lang="en-US" b="0" i="0" dirty="0">
                <a:solidFill>
                  <a:schemeClr val="accent1"/>
                </a:solidFill>
                <a:effectLst/>
                <a:latin typeface="Open Sans" panose="020B0606030504020204" pitchFamily="34" charset="0"/>
              </a:rPr>
              <a:t> for using database migration are:</a:t>
            </a:r>
          </a:p>
          <a:p>
            <a:pPr algn="l"/>
            <a:endParaRPr lang="en-US" b="0" i="0" dirty="0">
              <a:solidFill>
                <a:srgbClr val="474747"/>
              </a:solidFill>
              <a:effectLst/>
              <a:latin typeface="Open Sans" panose="020B0606030504020204" pitchFamily="34" charset="0"/>
            </a:endParaRPr>
          </a:p>
          <a:p>
            <a:pPr marL="285750" indent="-285750" algn="l">
              <a:buFont typeface="Wingdings" panose="05000000000000000000" pitchFamily="2" charset="2"/>
              <a:buChar char="Ø"/>
            </a:pPr>
            <a:r>
              <a:rPr lang="en-US" b="0" i="0" dirty="0">
                <a:solidFill>
                  <a:srgbClr val="FF0000"/>
                </a:solidFill>
                <a:effectLst/>
                <a:latin typeface="Open Sans" panose="020B0606030504020204" pitchFamily="34" charset="0"/>
              </a:rPr>
              <a:t>Upgrading to the latest version of the database software to improve security and compliance</a:t>
            </a:r>
          </a:p>
          <a:p>
            <a:pPr marL="285750" indent="-285750" algn="l">
              <a:buFont typeface="Wingdings" panose="05000000000000000000" pitchFamily="2" charset="2"/>
              <a:buChar char="Ø"/>
            </a:pPr>
            <a:endParaRPr lang="en-US" b="0" i="0" dirty="0">
              <a:solidFill>
                <a:srgbClr val="FF0000"/>
              </a:solidFill>
              <a:effectLst/>
              <a:latin typeface="Open Sans" panose="020B0606030504020204" pitchFamily="34" charset="0"/>
            </a:endParaRPr>
          </a:p>
          <a:p>
            <a:pPr marL="285750" indent="-285750" algn="l">
              <a:buFont typeface="Wingdings" panose="05000000000000000000" pitchFamily="2" charset="2"/>
              <a:buChar char="Ø"/>
            </a:pPr>
            <a:r>
              <a:rPr lang="en-US" b="0" i="0" dirty="0">
                <a:solidFill>
                  <a:srgbClr val="FF0000"/>
                </a:solidFill>
                <a:effectLst/>
                <a:latin typeface="Open Sans" panose="020B0606030504020204" pitchFamily="34" charset="0"/>
              </a:rPr>
              <a:t>Moving existing data to a new database to reduce cost, improve performance, and achieve scalability</a:t>
            </a:r>
          </a:p>
          <a:p>
            <a:pPr marL="285750" indent="-285750" algn="l">
              <a:buFont typeface="Wingdings" panose="05000000000000000000" pitchFamily="2" charset="2"/>
              <a:buChar char="Ø"/>
            </a:pPr>
            <a:endParaRPr lang="en-US" b="0" i="0" dirty="0">
              <a:solidFill>
                <a:srgbClr val="FF0000"/>
              </a:solidFill>
              <a:effectLst/>
              <a:latin typeface="Open Sans" panose="020B0606030504020204" pitchFamily="34" charset="0"/>
            </a:endParaRPr>
          </a:p>
          <a:p>
            <a:pPr marL="285750" indent="-285750" algn="l">
              <a:buFont typeface="Wingdings" panose="05000000000000000000" pitchFamily="2" charset="2"/>
              <a:buChar char="Ø"/>
            </a:pPr>
            <a:r>
              <a:rPr lang="en-US" b="0" i="0" dirty="0">
                <a:solidFill>
                  <a:srgbClr val="FF0000"/>
                </a:solidFill>
                <a:effectLst/>
                <a:latin typeface="Open Sans" panose="020B0606030504020204" pitchFamily="34" charset="0"/>
              </a:rPr>
              <a:t>Moving from an on-premise database to a cloud-based database for better scalability and lower costs</a:t>
            </a:r>
          </a:p>
          <a:p>
            <a:pPr marL="285750" indent="-285750" algn="l">
              <a:buFont typeface="Wingdings" panose="05000000000000000000" pitchFamily="2" charset="2"/>
              <a:buChar char="Ø"/>
            </a:pPr>
            <a:endParaRPr lang="en-US" b="0" i="0" dirty="0">
              <a:solidFill>
                <a:srgbClr val="FF0000"/>
              </a:solidFill>
              <a:effectLst/>
              <a:latin typeface="Open Sans" panose="020B0606030504020204" pitchFamily="34" charset="0"/>
            </a:endParaRPr>
          </a:p>
          <a:p>
            <a:pPr marL="285750" indent="-285750" algn="l">
              <a:buFont typeface="Wingdings" panose="05000000000000000000" pitchFamily="2" charset="2"/>
              <a:buChar char="Ø"/>
            </a:pPr>
            <a:r>
              <a:rPr lang="en-US" b="0" i="0" dirty="0">
                <a:solidFill>
                  <a:srgbClr val="FF0000"/>
                </a:solidFill>
                <a:effectLst/>
                <a:latin typeface="Open Sans" panose="020B0606030504020204" pitchFamily="34" charset="0"/>
              </a:rPr>
              <a:t>Merge data from several databases into a single database for a unified data view post-merger</a:t>
            </a:r>
          </a:p>
          <a:p>
            <a:pPr algn="l"/>
            <a:endParaRPr lang="en-US" b="0" i="0" dirty="0">
              <a:solidFill>
                <a:srgbClr val="000000"/>
              </a:solidFill>
              <a:effectLst/>
              <a:latin typeface="Graphik"/>
            </a:endParaRPr>
          </a:p>
        </p:txBody>
      </p:sp>
    </p:spTree>
    <p:extLst>
      <p:ext uri="{BB962C8B-B14F-4D97-AF65-F5344CB8AC3E}">
        <p14:creationId xmlns:p14="http://schemas.microsoft.com/office/powerpoint/2010/main" val="26130568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96EF8D-BF5A-4D8A-B5FA-D19AF7AD025F}"/>
              </a:ext>
            </a:extLst>
          </p:cNvPr>
          <p:cNvSpPr txBox="1"/>
          <p:nvPr/>
        </p:nvSpPr>
        <p:spPr>
          <a:xfrm>
            <a:off x="145774" y="176168"/>
            <a:ext cx="11887200" cy="6247864"/>
          </a:xfrm>
          <a:prstGeom prst="rect">
            <a:avLst/>
          </a:prstGeom>
          <a:noFill/>
        </p:spPr>
        <p:txBody>
          <a:bodyPr wrap="square">
            <a:spAutoFit/>
          </a:bodyPr>
          <a:lstStyle/>
          <a:p>
            <a:pPr algn="l"/>
            <a:r>
              <a:rPr lang="en-US" sz="2000" b="1" i="0" dirty="0">
                <a:solidFill>
                  <a:srgbClr val="FF0000"/>
                </a:solidFill>
                <a:effectLst/>
                <a:latin typeface="Times New Roman" panose="02020603050405020304" pitchFamily="18" charset="0"/>
                <a:cs typeface="Times New Roman" panose="02020603050405020304" pitchFamily="18" charset="0"/>
              </a:rPr>
              <a:t>Database Migration Challenges</a:t>
            </a:r>
          </a:p>
          <a:p>
            <a:pPr algn="l"/>
            <a:r>
              <a:rPr lang="en-US" sz="2000" b="0" i="0" dirty="0">
                <a:solidFill>
                  <a:srgbClr val="474747"/>
                </a:solidFill>
                <a:effectLst/>
                <a:latin typeface="Times New Roman" panose="02020603050405020304" pitchFamily="18" charset="0"/>
                <a:cs typeface="Times New Roman" panose="02020603050405020304" pitchFamily="18" charset="0"/>
              </a:rPr>
              <a:t>DB migration has been a common practice for years. However, that does not change the fact that it requires careful consideration due to the complex nature of its data migration steps. </a:t>
            </a:r>
          </a:p>
          <a:p>
            <a:pPr algn="l"/>
            <a:endParaRPr lang="en-US" sz="2000" b="0" i="0" dirty="0">
              <a:solidFill>
                <a:srgbClr val="474747"/>
              </a:solidFill>
              <a:effectLst/>
              <a:latin typeface="Times New Roman" panose="02020603050405020304" pitchFamily="18" charset="0"/>
              <a:cs typeface="Times New Roman" panose="02020603050405020304" pitchFamily="18" charset="0"/>
            </a:endParaRPr>
          </a:p>
          <a:p>
            <a:pPr algn="l"/>
            <a:r>
              <a:rPr lang="en-US" sz="2000" b="0" i="0" dirty="0">
                <a:solidFill>
                  <a:srgbClr val="474747"/>
                </a:solidFill>
                <a:effectLst/>
                <a:latin typeface="Times New Roman" panose="02020603050405020304" pitchFamily="18" charset="0"/>
                <a:cs typeface="Times New Roman" panose="02020603050405020304" pitchFamily="18" charset="0"/>
              </a:rPr>
              <a:t>Some </a:t>
            </a:r>
            <a:r>
              <a:rPr lang="en-US" sz="2000" b="1" i="0" dirty="0">
                <a:solidFill>
                  <a:schemeClr val="accent1"/>
                </a:solidFill>
                <a:effectLst/>
                <a:latin typeface="Times New Roman" panose="02020603050405020304" pitchFamily="18" charset="0"/>
                <a:cs typeface="Times New Roman" panose="02020603050405020304" pitchFamily="18" charset="0"/>
              </a:rPr>
              <a:t>key challenges companies encounter while migrating their data include</a:t>
            </a:r>
            <a:r>
              <a:rPr lang="en-US" sz="2000" b="0" i="0" dirty="0">
                <a:solidFill>
                  <a:srgbClr val="474747"/>
                </a:solidFill>
                <a:effectLst/>
                <a:latin typeface="Times New Roman" panose="02020603050405020304" pitchFamily="18" charset="0"/>
                <a:cs typeface="Times New Roman" panose="02020603050405020304" pitchFamily="18" charset="0"/>
              </a:rPr>
              <a:t>:</a:t>
            </a:r>
          </a:p>
          <a:p>
            <a:pPr algn="l"/>
            <a:endParaRPr lang="en-US" sz="2000" b="0" i="0" dirty="0">
              <a:solidFill>
                <a:srgbClr val="474747"/>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2000" b="1" i="0" dirty="0">
                <a:solidFill>
                  <a:srgbClr val="FF0000"/>
                </a:solidFill>
                <a:effectLst/>
                <a:latin typeface="Times New Roman" panose="02020603050405020304" pitchFamily="18" charset="0"/>
                <a:cs typeface="Times New Roman" panose="02020603050405020304" pitchFamily="18" charset="0"/>
              </a:rPr>
              <a:t>Data Loss: </a:t>
            </a:r>
            <a:r>
              <a:rPr lang="en-US" sz="2000" b="0" i="0" dirty="0">
                <a:solidFill>
                  <a:srgbClr val="474747"/>
                </a:solidFill>
                <a:effectLst/>
                <a:latin typeface="Times New Roman" panose="02020603050405020304" pitchFamily="18" charset="0"/>
                <a:cs typeface="Times New Roman" panose="02020603050405020304" pitchFamily="18" charset="0"/>
              </a:rPr>
              <a:t>The most common issue firms face is the loss of data during the DB migration. During the planning stage, testing for data </a:t>
            </a:r>
            <a:r>
              <a:rPr lang="en-US" sz="2000" b="1" i="0" dirty="0">
                <a:solidFill>
                  <a:schemeClr val="accent1"/>
                </a:solidFill>
                <a:effectLst/>
                <a:latin typeface="Times New Roman" panose="02020603050405020304" pitchFamily="18" charset="0"/>
                <a:cs typeface="Times New Roman" panose="02020603050405020304" pitchFamily="18" charset="0"/>
              </a:rPr>
              <a:t>loss or data corruption is crucial to verify whether complete data was migrated during the migration process or not.</a:t>
            </a:r>
          </a:p>
          <a:p>
            <a:pPr algn="l">
              <a:buFont typeface="+mj-lt"/>
              <a:buAutoNum type="arabicPeriod"/>
            </a:pPr>
            <a:endParaRPr lang="en-US" sz="2000" b="0" i="0" dirty="0">
              <a:solidFill>
                <a:srgbClr val="474747"/>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2000" b="1" i="0" dirty="0">
                <a:solidFill>
                  <a:srgbClr val="FF0000"/>
                </a:solidFill>
                <a:effectLst/>
                <a:latin typeface="Times New Roman" panose="02020603050405020304" pitchFamily="18" charset="0"/>
                <a:cs typeface="Times New Roman" panose="02020603050405020304" pitchFamily="18" charset="0"/>
              </a:rPr>
              <a:t>Data Security</a:t>
            </a:r>
            <a:r>
              <a:rPr lang="en-US" sz="2000" b="1" i="0" dirty="0">
                <a:solidFill>
                  <a:srgbClr val="474747"/>
                </a:solidFill>
                <a:effectLst/>
                <a:latin typeface="Times New Roman" panose="02020603050405020304" pitchFamily="18" charset="0"/>
                <a:cs typeface="Times New Roman" panose="02020603050405020304" pitchFamily="18" charset="0"/>
              </a:rPr>
              <a:t>: </a:t>
            </a:r>
            <a:r>
              <a:rPr lang="en-US" sz="2000" b="0" i="0" dirty="0">
                <a:solidFill>
                  <a:srgbClr val="474747"/>
                </a:solidFill>
                <a:effectLst/>
                <a:latin typeface="Times New Roman" panose="02020603050405020304" pitchFamily="18" charset="0"/>
                <a:cs typeface="Times New Roman" panose="02020603050405020304" pitchFamily="18" charset="0"/>
              </a:rPr>
              <a:t>Data is a business’s most valuable asset. Therefore, its security is of utmost importance. Before the DB migration process occurs, </a:t>
            </a:r>
            <a:r>
              <a:rPr lang="en-US" sz="2000" b="1" i="0" dirty="0">
                <a:solidFill>
                  <a:schemeClr val="accent1"/>
                </a:solidFill>
                <a:effectLst/>
                <a:latin typeface="Times New Roman" panose="02020603050405020304" pitchFamily="18" charset="0"/>
                <a:cs typeface="Times New Roman" panose="02020603050405020304" pitchFamily="18" charset="0"/>
              </a:rPr>
              <a:t>data encryption should be a top priority</a:t>
            </a:r>
            <a:r>
              <a:rPr lang="en-US" sz="2000" b="0" i="0" dirty="0">
                <a:solidFill>
                  <a:srgbClr val="474747"/>
                </a:solidFill>
                <a:effectLst/>
                <a:latin typeface="Times New Roman" panose="02020603050405020304" pitchFamily="18" charset="0"/>
                <a:cs typeface="Times New Roman" panose="02020603050405020304" pitchFamily="18" charset="0"/>
              </a:rPr>
              <a:t>.</a:t>
            </a:r>
          </a:p>
          <a:p>
            <a:pPr algn="l">
              <a:buFont typeface="+mj-lt"/>
              <a:buAutoNum type="arabicPeriod"/>
            </a:pPr>
            <a:endParaRPr lang="en-US" sz="2000" b="0" i="0" dirty="0">
              <a:solidFill>
                <a:srgbClr val="474747"/>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2000" b="1" i="0" dirty="0">
                <a:solidFill>
                  <a:srgbClr val="FF0000"/>
                </a:solidFill>
                <a:effectLst/>
                <a:latin typeface="Times New Roman" panose="02020603050405020304" pitchFamily="18" charset="0"/>
                <a:cs typeface="Times New Roman" panose="02020603050405020304" pitchFamily="18" charset="0"/>
              </a:rPr>
              <a:t>Difficulty during planning</a:t>
            </a:r>
            <a:r>
              <a:rPr lang="en-US" sz="2000" b="1" i="0" dirty="0">
                <a:solidFill>
                  <a:srgbClr val="474747"/>
                </a:solidFill>
                <a:effectLst/>
                <a:latin typeface="Times New Roman" panose="02020603050405020304" pitchFamily="18" charset="0"/>
                <a:cs typeface="Times New Roman" panose="02020603050405020304" pitchFamily="18" charset="0"/>
              </a:rPr>
              <a:t>: </a:t>
            </a:r>
            <a:r>
              <a:rPr lang="en-US" sz="2000" b="0" i="0" dirty="0">
                <a:solidFill>
                  <a:srgbClr val="474747"/>
                </a:solidFill>
                <a:effectLst/>
                <a:latin typeface="Times New Roman" panose="02020603050405020304" pitchFamily="18" charset="0"/>
                <a:cs typeface="Times New Roman" panose="02020603050405020304" pitchFamily="18" charset="0"/>
              </a:rPr>
              <a:t>Large companies usually have </a:t>
            </a:r>
            <a:r>
              <a:rPr lang="en-US" sz="2000" b="1" i="0" dirty="0">
                <a:solidFill>
                  <a:schemeClr val="accent1"/>
                </a:solidFill>
                <a:effectLst/>
                <a:latin typeface="Times New Roman" panose="02020603050405020304" pitchFamily="18" charset="0"/>
                <a:cs typeface="Times New Roman" panose="02020603050405020304" pitchFamily="18" charset="0"/>
              </a:rPr>
              <a:t>various disparate(different) </a:t>
            </a:r>
            <a:r>
              <a:rPr lang="en-US" sz="2000" b="0" i="0" dirty="0">
                <a:solidFill>
                  <a:srgbClr val="474747"/>
                </a:solidFill>
                <a:effectLst/>
                <a:latin typeface="Times New Roman" panose="02020603050405020304" pitchFamily="18" charset="0"/>
                <a:cs typeface="Times New Roman" panose="02020603050405020304" pitchFamily="18" charset="0"/>
              </a:rPr>
              <a:t>databases in different departments of the companies. During the planning stage of database migration, locating these databases and planning how to convert all schemas and normalize data is a common challenge.</a:t>
            </a:r>
          </a:p>
          <a:p>
            <a:pPr algn="l"/>
            <a:endParaRPr lang="en-US" sz="2000" b="0" i="0" dirty="0">
              <a:solidFill>
                <a:srgbClr val="474747"/>
              </a:solidFill>
              <a:effectLst/>
              <a:latin typeface="Times New Roman" panose="02020603050405020304" pitchFamily="18" charset="0"/>
              <a:cs typeface="Times New Roman" panose="02020603050405020304" pitchFamily="18" charset="0"/>
            </a:endParaRPr>
          </a:p>
          <a:p>
            <a:pPr algn="l"/>
            <a:r>
              <a:rPr lang="en-US" sz="2000" b="1" i="0" dirty="0">
                <a:solidFill>
                  <a:srgbClr val="FF0000"/>
                </a:solidFill>
                <a:effectLst/>
                <a:latin typeface="Times New Roman" panose="02020603050405020304" pitchFamily="18" charset="0"/>
                <a:cs typeface="Times New Roman" panose="02020603050405020304" pitchFamily="18" charset="0"/>
              </a:rPr>
              <a:t>4.Migration strategy</a:t>
            </a:r>
            <a:r>
              <a:rPr lang="en-US" sz="2000" b="1" i="0" dirty="0">
                <a:solidFill>
                  <a:srgbClr val="474747"/>
                </a:solidFill>
                <a:effectLst/>
                <a:latin typeface="Times New Roman" panose="02020603050405020304" pitchFamily="18" charset="0"/>
                <a:cs typeface="Times New Roman" panose="02020603050405020304" pitchFamily="18" charset="0"/>
              </a:rPr>
              <a:t>: </a:t>
            </a:r>
            <a:r>
              <a:rPr lang="en-US" sz="2000" b="0" i="0" dirty="0">
                <a:solidFill>
                  <a:srgbClr val="474747"/>
                </a:solidFill>
                <a:effectLst/>
                <a:latin typeface="Times New Roman" panose="02020603050405020304" pitchFamily="18" charset="0"/>
                <a:cs typeface="Times New Roman" panose="02020603050405020304" pitchFamily="18" charset="0"/>
              </a:rPr>
              <a:t>A common question asked is how to do DB migration. Companies miss out on some crucial aspects and end up using a database migration strategy that is not suitable for their company. Therefore, It is necessary to conduct </a:t>
            </a:r>
            <a:r>
              <a:rPr lang="en-US" sz="2000" b="1" i="0" dirty="0">
                <a:solidFill>
                  <a:schemeClr val="accent1"/>
                </a:solidFill>
                <a:effectLst/>
                <a:latin typeface="Times New Roman" panose="02020603050405020304" pitchFamily="18" charset="0"/>
                <a:cs typeface="Times New Roman" panose="02020603050405020304" pitchFamily="18" charset="0"/>
              </a:rPr>
              <a:t>ample(full) research before DB migration takes place</a:t>
            </a:r>
            <a:r>
              <a:rPr lang="en-US" sz="2000" b="1" i="0" dirty="0">
                <a:solidFill>
                  <a:srgbClr val="474747"/>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8122228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E14FD05-FCDD-4599-A95B-8DE0BAD339C9}"/>
              </a:ext>
            </a:extLst>
          </p:cNvPr>
          <p:cNvSpPr txBox="1"/>
          <p:nvPr/>
        </p:nvSpPr>
        <p:spPr>
          <a:xfrm>
            <a:off x="176168" y="167780"/>
            <a:ext cx="11761365" cy="400110"/>
          </a:xfrm>
          <a:prstGeom prst="rect">
            <a:avLst/>
          </a:prstGeom>
          <a:noFill/>
        </p:spPr>
        <p:txBody>
          <a:bodyPr wrap="square">
            <a:spAutoFit/>
          </a:bodyPr>
          <a:lstStyle/>
          <a:p>
            <a:pPr algn="l"/>
            <a:r>
              <a:rPr lang="en-US" sz="2000" b="1" i="0" dirty="0">
                <a:solidFill>
                  <a:srgbClr val="FF0000"/>
                </a:solidFill>
                <a:effectLst/>
                <a:latin typeface="Times New Roman" panose="02020603050405020304" pitchFamily="18" charset="0"/>
                <a:cs typeface="Times New Roman" panose="02020603050405020304" pitchFamily="18" charset="0"/>
              </a:rPr>
              <a:t>How does database migration work? (Database migration steps)</a:t>
            </a:r>
          </a:p>
        </p:txBody>
      </p:sp>
      <p:sp>
        <p:nvSpPr>
          <p:cNvPr id="5" name="TextBox 4">
            <a:extLst>
              <a:ext uri="{FF2B5EF4-FFF2-40B4-BE49-F238E27FC236}">
                <a16:creationId xmlns:a16="http://schemas.microsoft.com/office/drawing/2014/main" id="{08746990-2507-4693-AEBC-7DB4CA87D050}"/>
              </a:ext>
            </a:extLst>
          </p:cNvPr>
          <p:cNvSpPr txBox="1"/>
          <p:nvPr/>
        </p:nvSpPr>
        <p:spPr>
          <a:xfrm>
            <a:off x="94375" y="567890"/>
            <a:ext cx="12097625" cy="5324535"/>
          </a:xfrm>
          <a:prstGeom prst="rect">
            <a:avLst/>
          </a:prstGeom>
          <a:noFill/>
        </p:spPr>
        <p:txBody>
          <a:bodyPr wrap="square">
            <a:spAutoFit/>
          </a:bodyPr>
          <a:lstStyle/>
          <a:p>
            <a:r>
              <a:rPr lang="en-US" sz="2000" b="0" i="0" dirty="0">
                <a:solidFill>
                  <a:srgbClr val="000000"/>
                </a:solidFill>
                <a:effectLst/>
                <a:latin typeface="Times New Roman" panose="02020603050405020304" pitchFamily="18" charset="0"/>
                <a:cs typeface="Times New Roman" panose="02020603050405020304" pitchFamily="18" charset="0"/>
              </a:rPr>
              <a:t>If you are planning to migrate your database, then you should gather all the information required to successfully complete the project.</a:t>
            </a:r>
          </a:p>
          <a:p>
            <a:endParaRPr lang="en-US" sz="2000" dirty="0">
              <a:solidFill>
                <a:srgbClr val="000000"/>
              </a:solidFill>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2000" b="1" i="0" dirty="0">
                <a:solidFill>
                  <a:srgbClr val="000000"/>
                </a:solidFill>
                <a:effectLst/>
                <a:latin typeface="Times New Roman" panose="02020603050405020304" pitchFamily="18" charset="0"/>
                <a:cs typeface="Times New Roman" panose="02020603050405020304" pitchFamily="18" charset="0"/>
              </a:rPr>
              <a:t>Pre-migration steps</a:t>
            </a:r>
            <a:endParaRPr lang="en-US" sz="2000" b="0" i="0" dirty="0">
              <a:solidFill>
                <a:srgbClr val="000000"/>
              </a:solidFill>
              <a:effectLst/>
              <a:latin typeface="Times New Roman" panose="02020603050405020304" pitchFamily="18" charset="0"/>
              <a:cs typeface="Times New Roman" panose="02020603050405020304" pitchFamily="18" charset="0"/>
            </a:endParaRPr>
          </a:p>
          <a:p>
            <a:pPr algn="l"/>
            <a:r>
              <a:rPr lang="en-US" sz="2000" b="0" i="0" dirty="0">
                <a:solidFill>
                  <a:srgbClr val="000000"/>
                </a:solidFill>
                <a:effectLst/>
                <a:latin typeface="Times New Roman" panose="02020603050405020304" pitchFamily="18" charset="0"/>
                <a:cs typeface="Times New Roman" panose="02020603050405020304" pitchFamily="18" charset="0"/>
              </a:rPr>
              <a:t>These steps should be taken before actually migrating the database, which will include the basic planning, structuring, understanding the requirements, and finalizing the move.</a:t>
            </a:r>
          </a:p>
          <a:p>
            <a:pPr algn="l"/>
            <a:endParaRPr lang="en-US" sz="2000" b="0" i="0" dirty="0">
              <a:solidFill>
                <a:srgbClr val="000000"/>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2000" b="1" i="0" dirty="0">
                <a:solidFill>
                  <a:srgbClr val="000000"/>
                </a:solidFill>
                <a:effectLst/>
                <a:latin typeface="Times New Roman" panose="02020603050405020304" pitchFamily="18" charset="0"/>
                <a:cs typeface="Times New Roman" panose="02020603050405020304" pitchFamily="18" charset="0"/>
              </a:rPr>
              <a:t>Migration Steps</a:t>
            </a:r>
          </a:p>
          <a:p>
            <a:pPr algn="l"/>
            <a:endParaRPr lang="en-US" sz="2000" b="0" i="0" dirty="0">
              <a:solidFill>
                <a:srgbClr val="000000"/>
              </a:solidFill>
              <a:effectLst/>
              <a:latin typeface="Times New Roman" panose="02020603050405020304" pitchFamily="18" charset="0"/>
              <a:cs typeface="Times New Roman" panose="02020603050405020304" pitchFamily="18" charset="0"/>
            </a:endParaRPr>
          </a:p>
          <a:p>
            <a:pPr algn="l"/>
            <a:r>
              <a:rPr lang="en-US" sz="2000" b="0" i="0" dirty="0">
                <a:solidFill>
                  <a:srgbClr val="000000"/>
                </a:solidFill>
                <a:effectLst/>
                <a:latin typeface="Times New Roman" panose="02020603050405020304" pitchFamily="18" charset="0"/>
                <a:cs typeface="Times New Roman" panose="02020603050405020304" pitchFamily="18" charset="0"/>
              </a:rPr>
              <a:t>These are the steps that are to be taken while implementing database migration. These steps should be accomplished with proper accountability taking utmost care about data governance roles, risks related to migration, etc. </a:t>
            </a:r>
          </a:p>
          <a:p>
            <a:pPr algn="l"/>
            <a:endParaRPr lang="en-US" sz="2000" b="0" i="0" dirty="0">
              <a:solidFill>
                <a:srgbClr val="000000"/>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2000" b="1" i="0" dirty="0">
                <a:solidFill>
                  <a:srgbClr val="000000"/>
                </a:solidFill>
                <a:effectLst/>
                <a:latin typeface="Times New Roman" panose="02020603050405020304" pitchFamily="18" charset="0"/>
                <a:cs typeface="Times New Roman" panose="02020603050405020304" pitchFamily="18" charset="0"/>
              </a:rPr>
              <a:t>Post-migration steps</a:t>
            </a:r>
          </a:p>
          <a:p>
            <a:pPr algn="l">
              <a:buFont typeface="Arial" panose="020B0604020202020204" pitchFamily="34" charset="0"/>
              <a:buChar char="•"/>
            </a:pPr>
            <a:endParaRPr lang="en-US" sz="2000" b="0" i="0" dirty="0">
              <a:solidFill>
                <a:srgbClr val="000000"/>
              </a:solidFill>
              <a:effectLst/>
              <a:latin typeface="Times New Roman" panose="02020603050405020304" pitchFamily="18" charset="0"/>
              <a:cs typeface="Times New Roman" panose="02020603050405020304" pitchFamily="18" charset="0"/>
            </a:endParaRPr>
          </a:p>
          <a:p>
            <a:pPr algn="l"/>
            <a:r>
              <a:rPr lang="en-US" sz="2000" b="0" i="0" dirty="0">
                <a:solidFill>
                  <a:srgbClr val="000000"/>
                </a:solidFill>
                <a:effectLst/>
                <a:latin typeface="Times New Roman" panose="02020603050405020304" pitchFamily="18" charset="0"/>
                <a:cs typeface="Times New Roman" panose="02020603050405020304" pitchFamily="18" charset="0"/>
              </a:rPr>
              <a:t>Once database migration is complete, there might be some issues that would have gone unnoticed during the process. These steps would be necessarily taken to ensure that the migration process gets over in an error-free manner.</a:t>
            </a:r>
          </a:p>
          <a:p>
            <a:endParaRPr lang="en-SG"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863520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8C5CFF-69A5-48B3-94F9-2680F342B372}"/>
              </a:ext>
            </a:extLst>
          </p:cNvPr>
          <p:cNvSpPr txBox="1"/>
          <p:nvPr/>
        </p:nvSpPr>
        <p:spPr>
          <a:xfrm>
            <a:off x="109057" y="58723"/>
            <a:ext cx="11752976" cy="6247864"/>
          </a:xfrm>
          <a:prstGeom prst="rect">
            <a:avLst/>
          </a:prstGeom>
          <a:noFill/>
        </p:spPr>
        <p:txBody>
          <a:bodyPr wrap="square">
            <a:spAutoFit/>
          </a:bodyPr>
          <a:lstStyle/>
          <a:p>
            <a:pPr algn="l"/>
            <a:r>
              <a:rPr lang="en-US" sz="2000" b="1" i="0" dirty="0">
                <a:solidFill>
                  <a:srgbClr val="FF0000"/>
                </a:solidFill>
                <a:effectLst/>
                <a:latin typeface="Times New Roman" panose="02020603050405020304" pitchFamily="18" charset="0"/>
                <a:cs typeface="Times New Roman" panose="02020603050405020304" pitchFamily="18" charset="0"/>
              </a:rPr>
              <a:t>How To Do Database Migrations </a:t>
            </a:r>
          </a:p>
          <a:p>
            <a:pPr algn="l"/>
            <a:endParaRPr lang="en-US" sz="2000" b="0" i="0" dirty="0">
              <a:solidFill>
                <a:srgbClr val="FF0000"/>
              </a:solidFill>
              <a:effectLst/>
              <a:latin typeface="Times New Roman" panose="02020603050405020304" pitchFamily="18" charset="0"/>
              <a:cs typeface="Times New Roman" panose="02020603050405020304" pitchFamily="18" charset="0"/>
            </a:endParaRPr>
          </a:p>
          <a:p>
            <a:pPr algn="l"/>
            <a:r>
              <a:rPr lang="en-US" sz="2000" b="0" i="0" dirty="0">
                <a:solidFill>
                  <a:srgbClr val="474747"/>
                </a:solidFill>
                <a:effectLst/>
                <a:latin typeface="Times New Roman" panose="02020603050405020304" pitchFamily="18" charset="0"/>
                <a:cs typeface="Times New Roman" panose="02020603050405020304" pitchFamily="18" charset="0"/>
              </a:rPr>
              <a:t>The process of DB migration is a multi-step process that starts with assessing the source system and finishes at testing the migration design and replicating it to the product build. </a:t>
            </a:r>
            <a:r>
              <a:rPr lang="en-US" sz="2000" b="1" i="0" dirty="0">
                <a:solidFill>
                  <a:schemeClr val="accent1"/>
                </a:solidFill>
                <a:effectLst/>
                <a:latin typeface="Times New Roman" panose="02020603050405020304" pitchFamily="18" charset="0"/>
                <a:cs typeface="Times New Roman" panose="02020603050405020304" pitchFamily="18" charset="0"/>
              </a:rPr>
              <a:t>It is important to have an appropriate database migration strategy along with the right data migration tools to make the database migration process more efficient.</a:t>
            </a:r>
          </a:p>
          <a:p>
            <a:pPr algn="l"/>
            <a:endParaRPr lang="en-US" sz="2000" b="0" i="0" dirty="0">
              <a:solidFill>
                <a:srgbClr val="474747"/>
              </a:solidFill>
              <a:effectLst/>
              <a:latin typeface="Times New Roman" panose="02020603050405020304" pitchFamily="18" charset="0"/>
              <a:cs typeface="Times New Roman" panose="02020603050405020304" pitchFamily="18" charset="0"/>
            </a:endParaRPr>
          </a:p>
          <a:p>
            <a:pPr algn="l"/>
            <a:r>
              <a:rPr lang="en-US" sz="2000" b="0" i="0" dirty="0">
                <a:solidFill>
                  <a:srgbClr val="FF0000"/>
                </a:solidFill>
                <a:effectLst/>
                <a:latin typeface="Times New Roman" panose="02020603050405020304" pitchFamily="18" charset="0"/>
                <a:cs typeface="Times New Roman" panose="02020603050405020304" pitchFamily="18" charset="0"/>
              </a:rPr>
              <a:t>Let’s take a look at the different database </a:t>
            </a:r>
            <a:r>
              <a:rPr lang="en-US" sz="2000" b="1" i="0" dirty="0">
                <a:solidFill>
                  <a:srgbClr val="FF0000"/>
                </a:solidFill>
                <a:effectLst/>
                <a:latin typeface="Times New Roman" panose="02020603050405020304" pitchFamily="18" charset="0"/>
                <a:cs typeface="Times New Roman" panose="02020603050405020304" pitchFamily="18" charset="0"/>
              </a:rPr>
              <a:t>migration steps</a:t>
            </a:r>
            <a:r>
              <a:rPr lang="en-US" sz="2000" b="0" i="0" dirty="0">
                <a:solidFill>
                  <a:srgbClr val="FF0000"/>
                </a:solidFill>
                <a:effectLst/>
                <a:latin typeface="Times New Roman" panose="02020603050405020304" pitchFamily="18" charset="0"/>
                <a:cs typeface="Times New Roman" panose="02020603050405020304" pitchFamily="18" charset="0"/>
              </a:rPr>
              <a:t> to understand how to do database migration:</a:t>
            </a:r>
          </a:p>
          <a:p>
            <a:pPr algn="l"/>
            <a:endParaRPr lang="en-US" sz="2000" dirty="0">
              <a:solidFill>
                <a:srgbClr val="474747"/>
              </a:solidFill>
              <a:latin typeface="Times New Roman" panose="02020603050405020304" pitchFamily="18" charset="0"/>
              <a:cs typeface="Times New Roman" panose="02020603050405020304" pitchFamily="18" charset="0"/>
            </a:endParaRPr>
          </a:p>
          <a:p>
            <a:pPr marL="342900" indent="-342900" algn="l">
              <a:buAutoNum type="arabicPeriod"/>
            </a:pPr>
            <a:r>
              <a:rPr lang="en-US" sz="2000" b="1" i="0" dirty="0">
                <a:solidFill>
                  <a:srgbClr val="FF0000"/>
                </a:solidFill>
                <a:effectLst/>
                <a:latin typeface="Times New Roman" panose="02020603050405020304" pitchFamily="18" charset="0"/>
                <a:cs typeface="Times New Roman" panose="02020603050405020304" pitchFamily="18" charset="0"/>
              </a:rPr>
              <a:t>Understanding the Source Database</a:t>
            </a:r>
          </a:p>
          <a:p>
            <a:pPr algn="l"/>
            <a:endParaRPr lang="en-US" sz="2000" b="0" i="0" dirty="0">
              <a:solidFill>
                <a:srgbClr val="333333"/>
              </a:solidFill>
              <a:effectLst/>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r>
              <a:rPr lang="en-US" sz="2000" b="0" i="0" dirty="0">
                <a:solidFill>
                  <a:srgbClr val="474747"/>
                </a:solidFill>
                <a:effectLst/>
                <a:latin typeface="Times New Roman" panose="02020603050405020304" pitchFamily="18" charset="0"/>
                <a:cs typeface="Times New Roman" panose="02020603050405020304" pitchFamily="18" charset="0"/>
              </a:rPr>
              <a:t>An important database migration step to understand is that the source data that will populate your target database before starting any database migration project. Here are the questions that you should be able to answer about your source database:</a:t>
            </a:r>
          </a:p>
          <a:p>
            <a:pPr algn="l"/>
            <a:endParaRPr lang="en-US" sz="2000" b="0" i="0" dirty="0">
              <a:solidFill>
                <a:srgbClr val="474747"/>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2000" b="1" i="0" dirty="0">
                <a:solidFill>
                  <a:srgbClr val="474747"/>
                </a:solidFill>
                <a:effectLst/>
                <a:latin typeface="Times New Roman" panose="02020603050405020304" pitchFamily="18" charset="0"/>
                <a:cs typeface="Times New Roman" panose="02020603050405020304" pitchFamily="18" charset="0"/>
              </a:rPr>
              <a:t>What is the size of the source database?</a:t>
            </a:r>
            <a:r>
              <a:rPr lang="en-US" sz="2000" b="0" i="0" dirty="0">
                <a:solidFill>
                  <a:srgbClr val="474747"/>
                </a:solidFill>
                <a:effectLst/>
                <a:latin typeface="Times New Roman" panose="02020603050405020304" pitchFamily="18" charset="0"/>
                <a:cs typeface="Times New Roman" panose="02020603050405020304" pitchFamily="18" charset="0"/>
              </a:rPr>
              <a:t> The size and complexity of the database you are trying to migrate will determine the scope of your migration project. </a:t>
            </a:r>
            <a:r>
              <a:rPr lang="en-US" sz="2000" b="0" i="0" dirty="0">
                <a:solidFill>
                  <a:schemeClr val="accent1"/>
                </a:solidFill>
                <a:effectLst/>
                <a:latin typeface="Times New Roman" panose="02020603050405020304" pitchFamily="18" charset="0"/>
                <a:cs typeface="Times New Roman" panose="02020603050405020304" pitchFamily="18" charset="0"/>
              </a:rPr>
              <a:t>This will also determine the amount of time and computing resources required to transfer the data.</a:t>
            </a:r>
          </a:p>
          <a:p>
            <a:pPr algn="l">
              <a:buFont typeface="Arial" panose="020B0604020202020204" pitchFamily="34" charset="0"/>
              <a:buChar char="•"/>
            </a:pPr>
            <a:endParaRPr lang="en-US" sz="2000" b="0" i="0" dirty="0">
              <a:solidFill>
                <a:srgbClr val="474747"/>
              </a:solidFill>
              <a:effectLst/>
              <a:latin typeface="Times New Roman" panose="02020603050405020304" pitchFamily="18" charset="0"/>
              <a:cs typeface="Times New Roman" panose="02020603050405020304" pitchFamily="18" charset="0"/>
            </a:endParaRPr>
          </a:p>
          <a:p>
            <a:pPr algn="l"/>
            <a:endParaRPr lang="en-US" sz="2000" b="0" i="0" dirty="0">
              <a:solidFill>
                <a:srgbClr val="474747"/>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02725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EB6136D-C01E-4E91-BF11-1BF6064D2EC1}"/>
              </a:ext>
            </a:extLst>
          </p:cNvPr>
          <p:cNvSpPr txBox="1"/>
          <p:nvPr/>
        </p:nvSpPr>
        <p:spPr>
          <a:xfrm>
            <a:off x="145773" y="159026"/>
            <a:ext cx="11940209" cy="5940088"/>
          </a:xfrm>
          <a:prstGeom prst="rect">
            <a:avLst/>
          </a:prstGeom>
          <a:noFill/>
        </p:spPr>
        <p:txBody>
          <a:bodyPr wrap="square">
            <a:spAutoFit/>
          </a:bodyPr>
          <a:lstStyle/>
          <a:p>
            <a:pPr algn="l">
              <a:buFont typeface="Arial" panose="020B0604020202020204" pitchFamily="34" charset="0"/>
              <a:buChar char="•"/>
            </a:pPr>
            <a:r>
              <a:rPr lang="en-US" sz="2000" b="1" i="0" dirty="0">
                <a:solidFill>
                  <a:srgbClr val="474747"/>
                </a:solidFill>
                <a:effectLst/>
                <a:latin typeface="Times New Roman" panose="02020603050405020304" pitchFamily="18" charset="0"/>
                <a:cs typeface="Times New Roman" panose="02020603050405020304" pitchFamily="18" charset="0"/>
              </a:rPr>
              <a:t>Does the database contain ‘large’ tables?’</a:t>
            </a:r>
            <a:r>
              <a:rPr lang="en-US" sz="2000" b="0" i="0" dirty="0">
                <a:solidFill>
                  <a:srgbClr val="474747"/>
                </a:solidFill>
                <a:effectLst/>
                <a:latin typeface="Times New Roman" panose="02020603050405020304" pitchFamily="18" charset="0"/>
                <a:cs typeface="Times New Roman" panose="02020603050405020304" pitchFamily="18" charset="0"/>
              </a:rPr>
              <a:t> If your source database contains tables that have </a:t>
            </a:r>
            <a:r>
              <a:rPr lang="en-US" sz="2000" b="0" i="0" dirty="0">
                <a:solidFill>
                  <a:schemeClr val="accent1"/>
                </a:solidFill>
                <a:effectLst/>
                <a:latin typeface="Times New Roman" panose="02020603050405020304" pitchFamily="18" charset="0"/>
                <a:cs typeface="Times New Roman" panose="02020603050405020304" pitchFamily="18" charset="0"/>
              </a:rPr>
              <a:t>millions of rows, you might want to use a tool with the capability to load data in parallel.</a:t>
            </a:r>
          </a:p>
          <a:p>
            <a:pPr algn="l">
              <a:buFont typeface="Arial" panose="020B0604020202020204" pitchFamily="34" charset="0"/>
              <a:buChar char="•"/>
            </a:pPr>
            <a:endParaRPr lang="en-US" sz="2000" b="0" i="0" dirty="0">
              <a:solidFill>
                <a:srgbClr val="474747"/>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2000" b="1" i="0" dirty="0">
                <a:solidFill>
                  <a:srgbClr val="474747"/>
                </a:solidFill>
                <a:effectLst/>
                <a:latin typeface="Times New Roman" panose="02020603050405020304" pitchFamily="18" charset="0"/>
                <a:cs typeface="Times New Roman" panose="02020603050405020304" pitchFamily="18" charset="0"/>
              </a:rPr>
              <a:t>What kind of data types will be involved?</a:t>
            </a:r>
            <a:r>
              <a:rPr lang="en-US" sz="2000" b="0" i="0" dirty="0">
                <a:solidFill>
                  <a:srgbClr val="474747"/>
                </a:solidFill>
                <a:effectLst/>
                <a:latin typeface="Times New Roman" panose="02020603050405020304" pitchFamily="18" charset="0"/>
                <a:cs typeface="Times New Roman" panose="02020603050405020304" pitchFamily="18" charset="0"/>
              </a:rPr>
              <a:t> If you are migrating data between different databases, </a:t>
            </a:r>
            <a:r>
              <a:rPr lang="en-US" sz="2000" b="0" i="0" dirty="0">
                <a:solidFill>
                  <a:schemeClr val="accent1"/>
                </a:solidFill>
                <a:effectLst/>
                <a:latin typeface="Times New Roman" panose="02020603050405020304" pitchFamily="18" charset="0"/>
                <a:cs typeface="Times New Roman" panose="02020603050405020304" pitchFamily="18" charset="0"/>
              </a:rPr>
              <a:t>such as an SQL database to an Oracle one, you will need schema conversion(taking care of syntax, using different tools) capabilities to execute your DB migration project successfully.</a:t>
            </a:r>
          </a:p>
          <a:p>
            <a:pPr algn="l">
              <a:buFont typeface="Arial" panose="020B0604020202020204" pitchFamily="34" charset="0"/>
              <a:buChar char="•"/>
            </a:pPr>
            <a:endParaRPr lang="en-US" sz="2000" dirty="0">
              <a:solidFill>
                <a:schemeClr val="accent1"/>
              </a:solidFill>
              <a:latin typeface="Times New Roman" panose="02020603050405020304" pitchFamily="18" charset="0"/>
              <a:cs typeface="Times New Roman" panose="02020603050405020304" pitchFamily="18" charset="0"/>
            </a:endParaRPr>
          </a:p>
          <a:p>
            <a:pPr algn="l"/>
            <a:r>
              <a:rPr lang="en-US" sz="2000" b="1" i="0" dirty="0">
                <a:solidFill>
                  <a:srgbClr val="FF0000"/>
                </a:solidFill>
                <a:effectLst/>
                <a:latin typeface="Open Sans" panose="020B0606030504020204" pitchFamily="34" charset="0"/>
              </a:rPr>
              <a:t>2. Assessing the Data</a:t>
            </a:r>
          </a:p>
          <a:p>
            <a:pPr algn="l"/>
            <a:endParaRPr lang="en-US" sz="2000" b="0" i="0" dirty="0">
              <a:solidFill>
                <a:srgbClr val="333333"/>
              </a:solidFill>
              <a:effectLst/>
              <a:latin typeface="Open Sans" panose="020B0606030504020204" pitchFamily="34" charset="0"/>
            </a:endParaRPr>
          </a:p>
          <a:p>
            <a:pPr marL="342900" indent="-342900" algn="l">
              <a:buFont typeface="Wingdings" panose="05000000000000000000" pitchFamily="2" charset="2"/>
              <a:buChar char="Ø"/>
            </a:pPr>
            <a:r>
              <a:rPr lang="en-US" sz="2000" b="0" i="0" dirty="0">
                <a:solidFill>
                  <a:srgbClr val="474747"/>
                </a:solidFill>
                <a:effectLst/>
                <a:latin typeface="Open Sans" panose="020B0606030504020204" pitchFamily="34" charset="0"/>
              </a:rPr>
              <a:t>This step involves a more granular assessment of the data you want to migrate. You would want to </a:t>
            </a:r>
            <a:r>
              <a:rPr lang="en-US" sz="2000" b="0" i="0" u="none" strike="noStrike" dirty="0">
                <a:solidFill>
                  <a:srgbClr val="21759B"/>
                </a:solidFill>
                <a:effectLst/>
                <a:latin typeface="Open Sans" panose="020B0606030504020204" pitchFamily="34" charset="0"/>
                <a:hlinkClick r:id="rId2"/>
              </a:rPr>
              <a:t>profile your source data</a:t>
            </a:r>
            <a:r>
              <a:rPr lang="en-US" sz="2000" b="0" i="0" dirty="0">
                <a:solidFill>
                  <a:srgbClr val="474747"/>
                </a:solidFill>
                <a:effectLst/>
                <a:latin typeface="Open Sans" panose="020B0606030504020204" pitchFamily="34" charset="0"/>
              </a:rPr>
              <a:t> and define data quality rules to remove inconsistencies, duplicate values, or incorrect information. </a:t>
            </a:r>
          </a:p>
          <a:p>
            <a:pPr marL="342900" indent="-342900" algn="l">
              <a:buFont typeface="Wingdings" panose="05000000000000000000" pitchFamily="2" charset="2"/>
              <a:buChar char="Ø"/>
            </a:pPr>
            <a:endParaRPr lang="en-US" sz="2000" dirty="0">
              <a:solidFill>
                <a:srgbClr val="474747"/>
              </a:solidFill>
              <a:latin typeface="Open Sans" panose="020B0606030504020204" pitchFamily="34" charset="0"/>
            </a:endParaRPr>
          </a:p>
          <a:p>
            <a:pPr marL="342900" indent="-342900" algn="l">
              <a:buFont typeface="Wingdings" panose="05000000000000000000" pitchFamily="2" charset="2"/>
              <a:buChar char="Ø"/>
            </a:pPr>
            <a:r>
              <a:rPr lang="en-US" sz="2000" b="0" i="0" dirty="0">
                <a:solidFill>
                  <a:srgbClr val="474747"/>
                </a:solidFill>
                <a:effectLst/>
                <a:latin typeface="Open Sans" panose="020B0606030504020204" pitchFamily="34" charset="0"/>
              </a:rPr>
              <a:t>Data profiling at an early stage of migration will help you mitigate the risk of delays, budget overruns, and even complete failures. </a:t>
            </a:r>
          </a:p>
          <a:p>
            <a:pPr marL="342900" indent="-342900" algn="l">
              <a:buFont typeface="Wingdings" panose="05000000000000000000" pitchFamily="2" charset="2"/>
              <a:buChar char="Ø"/>
            </a:pPr>
            <a:endParaRPr lang="en-US" sz="2000" dirty="0">
              <a:solidFill>
                <a:srgbClr val="474747"/>
              </a:solidFill>
              <a:latin typeface="Open Sans" panose="020B0606030504020204" pitchFamily="34" charset="0"/>
            </a:endParaRPr>
          </a:p>
          <a:p>
            <a:pPr marL="342900" indent="-342900" algn="l">
              <a:buFont typeface="Wingdings" panose="05000000000000000000" pitchFamily="2" charset="2"/>
              <a:buChar char="Ø"/>
            </a:pPr>
            <a:r>
              <a:rPr lang="en-US" sz="2000" b="0" i="0" dirty="0">
                <a:solidFill>
                  <a:srgbClr val="474747"/>
                </a:solidFill>
                <a:effectLst/>
                <a:latin typeface="Open Sans" panose="020B0606030504020204" pitchFamily="34" charset="0"/>
              </a:rPr>
              <a:t>You will also be able to define data quality rules to validate your data and improve its quality and accuracy resulting in efficient DB migration.</a:t>
            </a:r>
          </a:p>
          <a:p>
            <a:pPr algn="l">
              <a:buFont typeface="Arial" panose="020B0604020202020204" pitchFamily="34" charset="0"/>
              <a:buChar char="•"/>
            </a:pPr>
            <a:endParaRPr lang="en-US" sz="2000" b="0" i="0" dirty="0">
              <a:solidFill>
                <a:schemeClr val="accent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176112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A7C1E98-E523-4417-9900-8EC30D8A4F93}"/>
              </a:ext>
            </a:extLst>
          </p:cNvPr>
          <p:cNvSpPr txBox="1"/>
          <p:nvPr/>
        </p:nvSpPr>
        <p:spPr>
          <a:xfrm>
            <a:off x="58723" y="1"/>
            <a:ext cx="11887200" cy="6863417"/>
          </a:xfrm>
          <a:prstGeom prst="rect">
            <a:avLst/>
          </a:prstGeom>
          <a:noFill/>
        </p:spPr>
        <p:txBody>
          <a:bodyPr wrap="square">
            <a:spAutoFit/>
          </a:bodyPr>
          <a:lstStyle/>
          <a:p>
            <a:pPr algn="l"/>
            <a:endParaRPr lang="en-US" sz="2000" dirty="0">
              <a:solidFill>
                <a:srgbClr val="474747"/>
              </a:solidFill>
              <a:latin typeface="Times New Roman" panose="02020603050405020304" pitchFamily="18" charset="0"/>
              <a:cs typeface="Times New Roman" panose="02020603050405020304" pitchFamily="18" charset="0"/>
            </a:endParaRPr>
          </a:p>
          <a:p>
            <a:pPr algn="l"/>
            <a:r>
              <a:rPr lang="en-US" sz="2000" b="1" i="0" dirty="0">
                <a:solidFill>
                  <a:srgbClr val="FF0000"/>
                </a:solidFill>
                <a:effectLst/>
                <a:latin typeface="Times New Roman" panose="02020603050405020304" pitchFamily="18" charset="0"/>
                <a:cs typeface="Times New Roman" panose="02020603050405020304" pitchFamily="18" charset="0"/>
              </a:rPr>
              <a:t>3. Converting Database Schema</a:t>
            </a:r>
          </a:p>
          <a:p>
            <a:pPr algn="l"/>
            <a:endParaRPr lang="en-US" sz="2000" dirty="0">
              <a:solidFill>
                <a:srgbClr val="FF0000"/>
              </a:solidFill>
              <a:latin typeface="Times New Roman" panose="02020603050405020304" pitchFamily="18" charset="0"/>
              <a:cs typeface="Times New Roman" panose="02020603050405020304" pitchFamily="18" charset="0"/>
            </a:endParaRPr>
          </a:p>
          <a:p>
            <a:pPr algn="l"/>
            <a:r>
              <a:rPr lang="en-US" sz="2000" b="1" i="0" dirty="0">
                <a:solidFill>
                  <a:srgbClr val="0070C0"/>
                </a:solidFill>
                <a:effectLst/>
                <a:latin typeface="Times New Roman" panose="02020603050405020304" pitchFamily="18" charset="0"/>
                <a:cs typeface="Times New Roman" panose="02020603050405020304" pitchFamily="18" charset="0"/>
              </a:rPr>
              <a:t>What is homogenous and heterogenous migration?</a:t>
            </a:r>
          </a:p>
          <a:p>
            <a:pPr algn="l"/>
            <a:endParaRPr lang="en-US" sz="2000" b="1" i="0" dirty="0">
              <a:solidFill>
                <a:srgbClr val="0070C0"/>
              </a:solidFill>
              <a:effectLst/>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ü"/>
            </a:pPr>
            <a:r>
              <a:rPr lang="en-US" sz="2000" i="0" dirty="0">
                <a:solidFill>
                  <a:srgbClr val="0070C0"/>
                </a:solidFill>
                <a:effectLst/>
                <a:latin typeface="Times New Roman" panose="02020603050405020304" pitchFamily="18" charset="0"/>
                <a:cs typeface="Times New Roman" panose="02020603050405020304" pitchFamily="18" charset="0"/>
              </a:rPr>
              <a:t>When the source and target database are the same, this is referred to as a “</a:t>
            </a:r>
            <a:r>
              <a:rPr lang="en-US" sz="2000" b="1" i="0" dirty="0">
                <a:solidFill>
                  <a:srgbClr val="0070C0"/>
                </a:solidFill>
                <a:effectLst/>
                <a:latin typeface="Times New Roman" panose="02020603050405020304" pitchFamily="18" charset="0"/>
                <a:cs typeface="Times New Roman" panose="02020603050405020304" pitchFamily="18" charset="0"/>
              </a:rPr>
              <a:t>homogeneous</a:t>
            </a:r>
            <a:r>
              <a:rPr lang="en-US" sz="2000" i="0" dirty="0">
                <a:solidFill>
                  <a:srgbClr val="0070C0"/>
                </a:solidFill>
                <a:effectLst/>
                <a:latin typeface="Times New Roman" panose="02020603050405020304" pitchFamily="18" charset="0"/>
                <a:cs typeface="Times New Roman" panose="02020603050405020304" pitchFamily="18" charset="0"/>
              </a:rPr>
              <a:t>” conversion. </a:t>
            </a:r>
          </a:p>
          <a:p>
            <a:pPr marL="285750" indent="-285750" algn="l">
              <a:buFont typeface="Wingdings" panose="05000000000000000000" pitchFamily="2" charset="2"/>
              <a:buChar char="ü"/>
            </a:pPr>
            <a:endParaRPr lang="en-US" sz="2000" dirty="0">
              <a:solidFill>
                <a:srgbClr val="0070C0"/>
              </a:solidFill>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ü"/>
            </a:pPr>
            <a:r>
              <a:rPr lang="en-US" sz="2000" i="0" dirty="0">
                <a:solidFill>
                  <a:srgbClr val="0070C0"/>
                </a:solidFill>
                <a:effectLst/>
                <a:latin typeface="Times New Roman" panose="02020603050405020304" pitchFamily="18" charset="0"/>
                <a:cs typeface="Times New Roman" panose="02020603050405020304" pitchFamily="18" charset="0"/>
              </a:rPr>
              <a:t>When the databases are different, this is referred to as a “</a:t>
            </a:r>
            <a:r>
              <a:rPr lang="en-US" sz="2000" b="1" i="0" dirty="0">
                <a:solidFill>
                  <a:srgbClr val="0070C0"/>
                </a:solidFill>
                <a:effectLst/>
                <a:latin typeface="Times New Roman" panose="02020603050405020304" pitchFamily="18" charset="0"/>
                <a:cs typeface="Times New Roman" panose="02020603050405020304" pitchFamily="18" charset="0"/>
              </a:rPr>
              <a:t>heterogeneous</a:t>
            </a:r>
            <a:r>
              <a:rPr lang="en-US" sz="2000" i="0" dirty="0">
                <a:solidFill>
                  <a:srgbClr val="0070C0"/>
                </a:solidFill>
                <a:effectLst/>
                <a:latin typeface="Times New Roman" panose="02020603050405020304" pitchFamily="18" charset="0"/>
                <a:cs typeface="Times New Roman" panose="02020603050405020304" pitchFamily="18" charset="0"/>
              </a:rPr>
              <a:t>” migration. </a:t>
            </a:r>
          </a:p>
          <a:p>
            <a:pPr algn="l"/>
            <a:endParaRPr lang="en-US" sz="2000" dirty="0">
              <a:solidFill>
                <a:srgbClr val="0070C0"/>
              </a:solidFill>
              <a:latin typeface="Times New Roman" panose="02020603050405020304" pitchFamily="18" charset="0"/>
              <a:cs typeface="Times New Roman" panose="02020603050405020304" pitchFamily="18" charset="0"/>
            </a:endParaRPr>
          </a:p>
          <a:p>
            <a:pPr algn="l"/>
            <a:r>
              <a:rPr lang="en-US" sz="2000" i="0" dirty="0">
                <a:solidFill>
                  <a:srgbClr val="0070C0"/>
                </a:solidFill>
                <a:effectLst/>
                <a:latin typeface="Times New Roman" panose="02020603050405020304" pitchFamily="18" charset="0"/>
                <a:cs typeface="Times New Roman" panose="02020603050405020304" pitchFamily="18" charset="0"/>
              </a:rPr>
              <a:t>Homogeneous migrations are often the starting point for migration.</a:t>
            </a:r>
          </a:p>
          <a:p>
            <a:pPr algn="l"/>
            <a:endParaRPr lang="en-US" sz="2000" b="1" i="0" dirty="0">
              <a:solidFill>
                <a:srgbClr val="FF0000"/>
              </a:solidFill>
              <a:effectLst/>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r>
              <a:rPr lang="en-US" sz="2000" b="0" i="0" dirty="0">
                <a:solidFill>
                  <a:srgbClr val="474747"/>
                </a:solidFill>
                <a:effectLst/>
                <a:latin typeface="Times New Roman" panose="02020603050405020304" pitchFamily="18" charset="0"/>
                <a:cs typeface="Times New Roman" panose="02020603050405020304" pitchFamily="18" charset="0"/>
              </a:rPr>
              <a:t>Heterogeneous migrations that involve migrating data between different database engines are relatively more complex than homogenous migrations. </a:t>
            </a:r>
          </a:p>
          <a:p>
            <a:pPr marL="285750" indent="-285750" algn="l">
              <a:buFont typeface="Wingdings" panose="05000000000000000000" pitchFamily="2" charset="2"/>
              <a:buChar char="Ø"/>
            </a:pPr>
            <a:endParaRPr lang="en-US" sz="2000" dirty="0">
              <a:solidFill>
                <a:srgbClr val="474747"/>
              </a:solidFill>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r>
              <a:rPr lang="en-US" sz="2000" b="0" i="0" dirty="0">
                <a:solidFill>
                  <a:srgbClr val="474747"/>
                </a:solidFill>
                <a:effectLst/>
                <a:latin typeface="Times New Roman" panose="02020603050405020304" pitchFamily="18" charset="0"/>
                <a:cs typeface="Times New Roman" panose="02020603050405020304" pitchFamily="18" charset="0"/>
              </a:rPr>
              <a:t>While schemas for heterogeneous database migrations can be converted manually, it is often very resource-intensive and time-consuming. </a:t>
            </a:r>
          </a:p>
          <a:p>
            <a:pPr marL="285750" indent="-285750" algn="l">
              <a:buFont typeface="Wingdings" panose="05000000000000000000" pitchFamily="2" charset="2"/>
              <a:buChar char="Ø"/>
            </a:pPr>
            <a:endParaRPr lang="en-US" sz="2000" dirty="0">
              <a:solidFill>
                <a:srgbClr val="474747"/>
              </a:solidFill>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r>
              <a:rPr lang="en-US" sz="2000" b="0" i="0" dirty="0">
                <a:solidFill>
                  <a:srgbClr val="474747"/>
                </a:solidFill>
                <a:effectLst/>
                <a:latin typeface="Times New Roman" panose="02020603050405020304" pitchFamily="18" charset="0"/>
                <a:cs typeface="Times New Roman" panose="02020603050405020304" pitchFamily="18" charset="0"/>
              </a:rPr>
              <a:t>Therefore, using a </a:t>
            </a:r>
            <a:r>
              <a:rPr lang="en-US" sz="2000" b="0" i="0" u="none" strike="noStrike" dirty="0">
                <a:solidFill>
                  <a:srgbClr val="21759B"/>
                </a:solidFill>
                <a:effectLst/>
                <a:latin typeface="Times New Roman" panose="02020603050405020304" pitchFamily="18" charset="0"/>
                <a:cs typeface="Times New Roman" panose="02020603050405020304" pitchFamily="18" charset="0"/>
                <a:hlinkClick r:id="rId2"/>
              </a:rPr>
              <a:t>data migration tool</a:t>
            </a:r>
            <a:r>
              <a:rPr lang="en-US" sz="2000" b="0" i="0" dirty="0">
                <a:solidFill>
                  <a:srgbClr val="474747"/>
                </a:solidFill>
                <a:effectLst/>
                <a:latin typeface="Times New Roman" panose="02020603050405020304" pitchFamily="18" charset="0"/>
                <a:cs typeface="Times New Roman" panose="02020603050405020304" pitchFamily="18" charset="0"/>
              </a:rPr>
              <a:t> with database schema migration conversion capability can help expedite the process and migrate data to the new database.</a:t>
            </a:r>
          </a:p>
          <a:p>
            <a:pPr algn="l"/>
            <a:endParaRPr lang="en-US" sz="2000" dirty="0">
              <a:solidFill>
                <a:srgbClr val="474747"/>
              </a:solidFill>
              <a:latin typeface="Times New Roman" panose="02020603050405020304" pitchFamily="18" charset="0"/>
              <a:cs typeface="Times New Roman" panose="02020603050405020304" pitchFamily="18" charset="0"/>
            </a:endParaRPr>
          </a:p>
          <a:p>
            <a:pPr algn="l"/>
            <a:endParaRPr lang="en-US" sz="2000" b="0" i="0" dirty="0">
              <a:solidFill>
                <a:srgbClr val="474747"/>
              </a:solidFill>
              <a:effectLst/>
              <a:latin typeface="Times New Roman" panose="02020603050405020304" pitchFamily="18" charset="0"/>
              <a:cs typeface="Times New Roman" panose="02020603050405020304" pitchFamily="18" charset="0"/>
            </a:endParaRPr>
          </a:p>
          <a:p>
            <a:pPr algn="l"/>
            <a:endParaRPr lang="en-US" sz="2000" b="0" i="0" dirty="0">
              <a:solidFill>
                <a:srgbClr val="474747"/>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17719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25FD42-4A27-4D20-A805-88B70C33C535}"/>
              </a:ext>
            </a:extLst>
          </p:cNvPr>
          <p:cNvSpPr txBox="1"/>
          <p:nvPr/>
        </p:nvSpPr>
        <p:spPr>
          <a:xfrm>
            <a:off x="212035" y="119270"/>
            <a:ext cx="11887200" cy="4801314"/>
          </a:xfrm>
          <a:prstGeom prst="rect">
            <a:avLst/>
          </a:prstGeom>
          <a:noFill/>
        </p:spPr>
        <p:txBody>
          <a:bodyPr wrap="square">
            <a:spAutoFit/>
          </a:bodyPr>
          <a:lstStyle/>
          <a:p>
            <a:pPr algn="l"/>
            <a:r>
              <a:rPr lang="en-US" b="1" dirty="0">
                <a:solidFill>
                  <a:srgbClr val="FF0000"/>
                </a:solidFill>
                <a:latin typeface="Open Sans" panose="020B0606030504020204" pitchFamily="34" charset="0"/>
              </a:rPr>
              <a:t>4</a:t>
            </a:r>
            <a:r>
              <a:rPr lang="en-US" b="1" i="0" dirty="0">
                <a:solidFill>
                  <a:srgbClr val="FF0000"/>
                </a:solidFill>
                <a:effectLst/>
                <a:latin typeface="Open Sans" panose="020B0606030504020204" pitchFamily="34" charset="0"/>
              </a:rPr>
              <a:t>. Executing the Migration</a:t>
            </a:r>
          </a:p>
          <a:p>
            <a:pPr marL="285750" indent="-285750" algn="l">
              <a:buFont typeface="Wingdings" panose="05000000000000000000" pitchFamily="2" charset="2"/>
              <a:buChar char="Ø"/>
            </a:pPr>
            <a:r>
              <a:rPr lang="en-US" b="0" i="0" dirty="0">
                <a:solidFill>
                  <a:srgbClr val="474747"/>
                </a:solidFill>
                <a:effectLst/>
                <a:latin typeface="Open Sans" panose="020B0606030504020204" pitchFamily="34" charset="0"/>
              </a:rPr>
              <a:t>Most companies plan migration projects for when they can afford downtimes, e.g., on weekends or a public holiday. </a:t>
            </a:r>
          </a:p>
          <a:p>
            <a:pPr marL="285750" indent="-285750" algn="l">
              <a:buFont typeface="Wingdings" panose="05000000000000000000" pitchFamily="2" charset="2"/>
              <a:buChar char="Ø"/>
            </a:pPr>
            <a:endParaRPr lang="en-US" dirty="0">
              <a:solidFill>
                <a:srgbClr val="474747"/>
              </a:solidFill>
              <a:latin typeface="Open Sans" panose="020B0606030504020204" pitchFamily="34" charset="0"/>
            </a:endParaRPr>
          </a:p>
          <a:p>
            <a:pPr marL="285750" indent="-285750" algn="l">
              <a:buFont typeface="Wingdings" panose="05000000000000000000" pitchFamily="2" charset="2"/>
              <a:buChar char="Ø"/>
            </a:pPr>
            <a:r>
              <a:rPr lang="en-US" b="0" i="0" dirty="0">
                <a:solidFill>
                  <a:srgbClr val="474747"/>
                </a:solidFill>
                <a:effectLst/>
                <a:latin typeface="Open Sans" panose="020B0606030504020204" pitchFamily="34" charset="0"/>
              </a:rPr>
              <a:t>That said, it is now more important than ever before to plan DB migrations to minimize or outright eliminate interruptions to everyday data management processes.</a:t>
            </a:r>
          </a:p>
          <a:p>
            <a:pPr marL="285750" indent="-285750" algn="l">
              <a:buFont typeface="Wingdings" panose="05000000000000000000" pitchFamily="2" charset="2"/>
              <a:buChar char="Ø"/>
            </a:pPr>
            <a:endParaRPr lang="en-US" dirty="0">
              <a:solidFill>
                <a:srgbClr val="474747"/>
              </a:solidFill>
              <a:latin typeface="Open Sans" panose="020B0606030504020204" pitchFamily="34" charset="0"/>
            </a:endParaRPr>
          </a:p>
          <a:p>
            <a:pPr marL="285750" indent="-285750" algn="l">
              <a:buFont typeface="Wingdings" panose="05000000000000000000" pitchFamily="2" charset="2"/>
              <a:buChar char="Ø"/>
            </a:pPr>
            <a:endParaRPr lang="en-US" b="0" i="0" dirty="0">
              <a:solidFill>
                <a:srgbClr val="474747"/>
              </a:solidFill>
              <a:effectLst/>
              <a:latin typeface="Open Sans" panose="020B0606030504020204" pitchFamily="34" charset="0"/>
            </a:endParaRPr>
          </a:p>
          <a:p>
            <a:pPr marL="285750" indent="-285750" algn="l">
              <a:buFont typeface="Wingdings" panose="05000000000000000000" pitchFamily="2" charset="2"/>
              <a:buChar char="Ø"/>
            </a:pPr>
            <a:r>
              <a:rPr lang="en-US" b="0" i="0" dirty="0">
                <a:solidFill>
                  <a:srgbClr val="474747"/>
                </a:solidFill>
                <a:effectLst/>
                <a:latin typeface="Open Sans" panose="020B0606030504020204" pitchFamily="34" charset="0"/>
              </a:rPr>
              <a:t>This can be achieved with paid and free database migration tools that offer </a:t>
            </a:r>
            <a:r>
              <a:rPr lang="en-US" b="0" i="0" u="none" strike="noStrike" dirty="0">
                <a:solidFill>
                  <a:srgbClr val="21759B"/>
                </a:solidFill>
                <a:effectLst/>
                <a:latin typeface="Open Sans" panose="020B0606030504020204" pitchFamily="34" charset="0"/>
                <a:hlinkClick r:id="rId2"/>
              </a:rPr>
              <a:t>data synchronization</a:t>
            </a:r>
            <a:r>
              <a:rPr lang="en-US" b="0" i="0" dirty="0">
                <a:solidFill>
                  <a:srgbClr val="474747"/>
                </a:solidFill>
                <a:effectLst/>
                <a:latin typeface="Open Sans" panose="020B0606030504020204" pitchFamily="34" charset="0"/>
              </a:rPr>
              <a:t> or </a:t>
            </a:r>
            <a:r>
              <a:rPr lang="en-US" b="0" i="0" u="none" strike="noStrike" dirty="0">
                <a:solidFill>
                  <a:srgbClr val="21759B"/>
                </a:solidFill>
                <a:effectLst/>
                <a:latin typeface="Open Sans" panose="020B0606030504020204" pitchFamily="34" charset="0"/>
                <a:hlinkClick r:id="rId3"/>
              </a:rPr>
              <a:t>Change Data Capture (CDC)</a:t>
            </a:r>
            <a:r>
              <a:rPr lang="en-US" b="0" i="0" dirty="0">
                <a:solidFill>
                  <a:srgbClr val="474747"/>
                </a:solidFill>
                <a:effectLst/>
                <a:latin typeface="Open Sans" panose="020B0606030504020204" pitchFamily="34" charset="0"/>
              </a:rPr>
              <a:t> functionality. Using these tools, you can perform the initial load and then capture any changes that take place during or after the initial load.</a:t>
            </a:r>
          </a:p>
          <a:p>
            <a:pPr marL="285750" indent="-285750" algn="l">
              <a:buFont typeface="Wingdings" panose="05000000000000000000" pitchFamily="2" charset="2"/>
              <a:buChar char="Ø"/>
            </a:pPr>
            <a:endParaRPr lang="en-US" b="0" i="0" dirty="0">
              <a:solidFill>
                <a:srgbClr val="474747"/>
              </a:solidFill>
              <a:effectLst/>
              <a:latin typeface="Open Sans" panose="020B0606030504020204" pitchFamily="34" charset="0"/>
            </a:endParaRPr>
          </a:p>
          <a:p>
            <a:pPr marL="285750" indent="-285750" algn="l">
              <a:buFont typeface="Wingdings" panose="05000000000000000000" pitchFamily="2" charset="2"/>
              <a:buChar char="Ø"/>
            </a:pPr>
            <a:r>
              <a:rPr lang="en-US" b="0" i="0" dirty="0">
                <a:solidFill>
                  <a:srgbClr val="474747"/>
                </a:solidFill>
                <a:effectLst/>
                <a:latin typeface="Open Sans" panose="020B0606030504020204" pitchFamily="34" charset="0"/>
              </a:rPr>
              <a:t>Once all the data has been migrated to the new database successfully, a retirement policy needs to be developed for the old database, if required.</a:t>
            </a:r>
          </a:p>
          <a:p>
            <a:pPr marL="285750" indent="-285750" algn="l">
              <a:buFont typeface="Wingdings" panose="05000000000000000000" pitchFamily="2" charset="2"/>
              <a:buChar char="Ø"/>
            </a:pPr>
            <a:endParaRPr lang="en-US" dirty="0">
              <a:solidFill>
                <a:srgbClr val="474747"/>
              </a:solidFill>
              <a:latin typeface="Open Sans" panose="020B0606030504020204" pitchFamily="34" charset="0"/>
            </a:endParaRPr>
          </a:p>
          <a:p>
            <a:pPr marL="285750" indent="-285750" algn="l">
              <a:buFont typeface="Wingdings" panose="05000000000000000000" pitchFamily="2" charset="2"/>
              <a:buChar char="Ø"/>
            </a:pPr>
            <a:r>
              <a:rPr lang="en-US" b="0" i="0" dirty="0">
                <a:solidFill>
                  <a:srgbClr val="474747"/>
                </a:solidFill>
                <a:effectLst/>
                <a:latin typeface="Open Sans" panose="020B0606030504020204" pitchFamily="34" charset="0"/>
              </a:rPr>
              <a:t> In addition, systems need to be put into place to validate and monitor the quality of the data transferred to the target database.</a:t>
            </a:r>
          </a:p>
        </p:txBody>
      </p:sp>
    </p:spTree>
    <p:extLst>
      <p:ext uri="{BB962C8B-B14F-4D97-AF65-F5344CB8AC3E}">
        <p14:creationId xmlns:p14="http://schemas.microsoft.com/office/powerpoint/2010/main" val="16265056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F0B5B49-FF70-4A24-B832-EFC2C7DAFB1A}"/>
              </a:ext>
            </a:extLst>
          </p:cNvPr>
          <p:cNvSpPr txBox="1"/>
          <p:nvPr/>
        </p:nvSpPr>
        <p:spPr>
          <a:xfrm>
            <a:off x="119269" y="583096"/>
            <a:ext cx="11688417" cy="923330"/>
          </a:xfrm>
          <a:prstGeom prst="rect">
            <a:avLst/>
          </a:prstGeom>
          <a:noFill/>
        </p:spPr>
        <p:txBody>
          <a:bodyPr wrap="square">
            <a:spAutoFit/>
          </a:bodyPr>
          <a:lstStyle/>
          <a:p>
            <a:r>
              <a:rPr lang="en-US" b="0" i="0" dirty="0">
                <a:solidFill>
                  <a:srgbClr val="202124"/>
                </a:solidFill>
                <a:effectLst/>
                <a:latin typeface="arial" panose="020B0604020202020204" pitchFamily="34" charset="0"/>
              </a:rPr>
              <a:t>Data tier </a:t>
            </a:r>
            <a:r>
              <a:rPr lang="en-US" b="1" i="0" dirty="0">
                <a:solidFill>
                  <a:srgbClr val="202124"/>
                </a:solidFill>
                <a:effectLst/>
                <a:latin typeface="arial" panose="020B0604020202020204" pitchFamily="34" charset="0"/>
              </a:rPr>
              <a:t>controls the servers where the information is stored</a:t>
            </a:r>
            <a:r>
              <a:rPr lang="en-US" b="0" i="0" dirty="0">
                <a:solidFill>
                  <a:srgbClr val="202124"/>
                </a:solidFill>
                <a:effectLst/>
                <a:latin typeface="arial" panose="020B0604020202020204" pitchFamily="34" charset="0"/>
              </a:rPr>
              <a:t>; it runs a relational database management system on a database server or a mainframe and contains the computer data storage logic. The data tier keeps data independent from application servers or processing logic and improves scalability and performance.</a:t>
            </a:r>
            <a:endParaRPr lang="en-IN" dirty="0"/>
          </a:p>
        </p:txBody>
      </p:sp>
    </p:spTree>
    <p:extLst>
      <p:ext uri="{BB962C8B-B14F-4D97-AF65-F5344CB8AC3E}">
        <p14:creationId xmlns:p14="http://schemas.microsoft.com/office/powerpoint/2010/main" val="12916768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240</TotalTime>
  <Words>1646</Words>
  <Application>Microsoft Office PowerPoint</Application>
  <PresentationFormat>Widescreen</PresentationFormat>
  <Paragraphs>134</Paragraphs>
  <Slides>11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arial</vt:lpstr>
      <vt:lpstr>arial</vt:lpstr>
      <vt:lpstr>Calibri</vt:lpstr>
      <vt:lpstr>Calibri Light</vt:lpstr>
      <vt:lpstr>Graphik</vt:lpstr>
      <vt:lpstr>Open Sans</vt:lpstr>
      <vt:lpstr>Times New Roman</vt:lpstr>
      <vt:lpstr>Wingdings</vt:lpstr>
      <vt:lpstr>Office Theme</vt:lpstr>
      <vt:lpstr>Handling Database Migrations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SPThota</dc:creator>
  <cp:lastModifiedBy>SAI CHARAN THOTA</cp:lastModifiedBy>
  <cp:revision>8</cp:revision>
  <dcterms:created xsi:type="dcterms:W3CDTF">2021-09-08T18:09:21Z</dcterms:created>
  <dcterms:modified xsi:type="dcterms:W3CDTF">2021-09-11T05:41:23Z</dcterms:modified>
</cp:coreProperties>
</file>