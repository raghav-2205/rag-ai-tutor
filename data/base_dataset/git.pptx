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300" r:id="rId5"/>
    <p:sldId id="299" r:id="rId6"/>
    <p:sldId id="285" r:id="rId7"/>
    <p:sldId id="303" r:id="rId8"/>
    <p:sldId id="304" r:id="rId9"/>
    <p:sldId id="301" r:id="rId10"/>
    <p:sldId id="305" r:id="rId11"/>
    <p:sldId id="306" r:id="rId12"/>
    <p:sldId id="307" r:id="rId13"/>
    <p:sldId id="308" r:id="rId14"/>
    <p:sldId id="309" r:id="rId15"/>
    <p:sldId id="314" r:id="rId16"/>
    <p:sldId id="310" r:id="rId17"/>
    <p:sldId id="315" r:id="rId18"/>
    <p:sldId id="316" r:id="rId19"/>
    <p:sldId id="311" r:id="rId20"/>
    <p:sldId id="312" r:id="rId21"/>
    <p:sldId id="313"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9837B-B063-4F79-BF98-78238FD203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166AE04-3522-4F5C-ABF7-EF967CFEF54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223A0BB-B0BD-437B-A22F-1666FC87EF20}"/>
              </a:ext>
            </a:extLst>
          </p:cNvPr>
          <p:cNvSpPr>
            <a:spLocks noGrp="1"/>
          </p:cNvSpPr>
          <p:nvPr>
            <p:ph type="dt" sz="half" idx="10"/>
          </p:nvPr>
        </p:nvSpPr>
        <p:spPr/>
        <p:txBody>
          <a:bodyPr/>
          <a:lstStyle/>
          <a:p>
            <a:fld id="{FBE30AA9-DB9F-45B2-BF26-EC5FE3707688}" type="datetimeFigureOut">
              <a:rPr lang="en-IN" smtClean="0"/>
              <a:t>08-11-2021</a:t>
            </a:fld>
            <a:endParaRPr lang="en-IN"/>
          </a:p>
        </p:txBody>
      </p:sp>
      <p:sp>
        <p:nvSpPr>
          <p:cNvPr id="5" name="Footer Placeholder 4">
            <a:extLst>
              <a:ext uri="{FF2B5EF4-FFF2-40B4-BE49-F238E27FC236}">
                <a16:creationId xmlns:a16="http://schemas.microsoft.com/office/drawing/2014/main" id="{0A19392F-356E-446F-BC09-E4BF0AA4E8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959AE9-F660-4587-874D-860A469F9505}"/>
              </a:ext>
            </a:extLst>
          </p:cNvPr>
          <p:cNvSpPr>
            <a:spLocks noGrp="1"/>
          </p:cNvSpPr>
          <p:nvPr>
            <p:ph type="sldNum" sz="quarter" idx="12"/>
          </p:nvPr>
        </p:nvSpPr>
        <p:spPr/>
        <p:txBody>
          <a:bodyPr/>
          <a:lstStyle/>
          <a:p>
            <a:fld id="{88DBD334-602E-4E1E-9585-7B3DBCA24792}" type="slidenum">
              <a:rPr lang="en-IN" smtClean="0"/>
              <a:t>‹#›</a:t>
            </a:fld>
            <a:endParaRPr lang="en-IN"/>
          </a:p>
        </p:txBody>
      </p:sp>
    </p:spTree>
    <p:extLst>
      <p:ext uri="{BB962C8B-B14F-4D97-AF65-F5344CB8AC3E}">
        <p14:creationId xmlns:p14="http://schemas.microsoft.com/office/powerpoint/2010/main" val="17862659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E207D-6AA4-4B8E-AC60-E9A0FB4C125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85B8BC1-851D-4683-B62E-400C288EDF9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5A297E2-ECC5-4F03-86E3-4D6C1370CF71}"/>
              </a:ext>
            </a:extLst>
          </p:cNvPr>
          <p:cNvSpPr>
            <a:spLocks noGrp="1"/>
          </p:cNvSpPr>
          <p:nvPr>
            <p:ph type="dt" sz="half" idx="10"/>
          </p:nvPr>
        </p:nvSpPr>
        <p:spPr/>
        <p:txBody>
          <a:bodyPr/>
          <a:lstStyle/>
          <a:p>
            <a:fld id="{FBE30AA9-DB9F-45B2-BF26-EC5FE3707688}" type="datetimeFigureOut">
              <a:rPr lang="en-IN" smtClean="0"/>
              <a:t>08-11-2021</a:t>
            </a:fld>
            <a:endParaRPr lang="en-IN"/>
          </a:p>
        </p:txBody>
      </p:sp>
      <p:sp>
        <p:nvSpPr>
          <p:cNvPr id="5" name="Footer Placeholder 4">
            <a:extLst>
              <a:ext uri="{FF2B5EF4-FFF2-40B4-BE49-F238E27FC236}">
                <a16:creationId xmlns:a16="http://schemas.microsoft.com/office/drawing/2014/main" id="{2C603396-2C96-46F7-BF03-0103508974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9A6444-689D-4B43-B85C-AC16BD16C6EA}"/>
              </a:ext>
            </a:extLst>
          </p:cNvPr>
          <p:cNvSpPr>
            <a:spLocks noGrp="1"/>
          </p:cNvSpPr>
          <p:nvPr>
            <p:ph type="sldNum" sz="quarter" idx="12"/>
          </p:nvPr>
        </p:nvSpPr>
        <p:spPr/>
        <p:txBody>
          <a:bodyPr/>
          <a:lstStyle/>
          <a:p>
            <a:fld id="{88DBD334-602E-4E1E-9585-7B3DBCA24792}" type="slidenum">
              <a:rPr lang="en-IN" smtClean="0"/>
              <a:t>‹#›</a:t>
            </a:fld>
            <a:endParaRPr lang="en-IN"/>
          </a:p>
        </p:txBody>
      </p:sp>
    </p:spTree>
    <p:extLst>
      <p:ext uri="{BB962C8B-B14F-4D97-AF65-F5344CB8AC3E}">
        <p14:creationId xmlns:p14="http://schemas.microsoft.com/office/powerpoint/2010/main" val="21062869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5A60A-8A1B-46AA-8488-17D8E42A43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418741B-248A-4BCC-AF29-BD47EE2E636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63639CC-25ED-4059-B9C7-560F072B0A15}"/>
              </a:ext>
            </a:extLst>
          </p:cNvPr>
          <p:cNvSpPr>
            <a:spLocks noGrp="1"/>
          </p:cNvSpPr>
          <p:nvPr>
            <p:ph type="dt" sz="half" idx="10"/>
          </p:nvPr>
        </p:nvSpPr>
        <p:spPr/>
        <p:txBody>
          <a:bodyPr/>
          <a:lstStyle/>
          <a:p>
            <a:fld id="{FBE30AA9-DB9F-45B2-BF26-EC5FE3707688}" type="datetimeFigureOut">
              <a:rPr lang="en-IN" smtClean="0"/>
              <a:t>08-11-2021</a:t>
            </a:fld>
            <a:endParaRPr lang="en-IN"/>
          </a:p>
        </p:txBody>
      </p:sp>
      <p:sp>
        <p:nvSpPr>
          <p:cNvPr id="5" name="Footer Placeholder 4">
            <a:extLst>
              <a:ext uri="{FF2B5EF4-FFF2-40B4-BE49-F238E27FC236}">
                <a16:creationId xmlns:a16="http://schemas.microsoft.com/office/drawing/2014/main" id="{6B375854-100B-4F5F-AB75-73719715BC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D94FD50-3277-47BC-8637-F4AE7B70703A}"/>
              </a:ext>
            </a:extLst>
          </p:cNvPr>
          <p:cNvSpPr>
            <a:spLocks noGrp="1"/>
          </p:cNvSpPr>
          <p:nvPr>
            <p:ph type="sldNum" sz="quarter" idx="12"/>
          </p:nvPr>
        </p:nvSpPr>
        <p:spPr/>
        <p:txBody>
          <a:bodyPr/>
          <a:lstStyle/>
          <a:p>
            <a:fld id="{88DBD334-602E-4E1E-9585-7B3DBCA24792}" type="slidenum">
              <a:rPr lang="en-IN" smtClean="0"/>
              <a:t>‹#›</a:t>
            </a:fld>
            <a:endParaRPr lang="en-IN"/>
          </a:p>
        </p:txBody>
      </p:sp>
    </p:spTree>
    <p:extLst>
      <p:ext uri="{BB962C8B-B14F-4D97-AF65-F5344CB8AC3E}">
        <p14:creationId xmlns:p14="http://schemas.microsoft.com/office/powerpoint/2010/main" val="6370943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5346F-FDA7-476E-B5E3-9526BDB5350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950A540-806A-45CE-BA54-983AA3D27BC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67A3B9C-762B-4AED-A53D-702E7BDB26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5BC9243-F247-4E91-8467-76CEF49FFD7D}"/>
              </a:ext>
            </a:extLst>
          </p:cNvPr>
          <p:cNvSpPr>
            <a:spLocks noGrp="1"/>
          </p:cNvSpPr>
          <p:nvPr>
            <p:ph type="dt" sz="half" idx="10"/>
          </p:nvPr>
        </p:nvSpPr>
        <p:spPr/>
        <p:txBody>
          <a:bodyPr/>
          <a:lstStyle/>
          <a:p>
            <a:fld id="{FBE30AA9-DB9F-45B2-BF26-EC5FE3707688}" type="datetimeFigureOut">
              <a:rPr lang="en-IN" smtClean="0"/>
              <a:t>08-11-2021</a:t>
            </a:fld>
            <a:endParaRPr lang="en-IN"/>
          </a:p>
        </p:txBody>
      </p:sp>
      <p:sp>
        <p:nvSpPr>
          <p:cNvPr id="6" name="Footer Placeholder 5">
            <a:extLst>
              <a:ext uri="{FF2B5EF4-FFF2-40B4-BE49-F238E27FC236}">
                <a16:creationId xmlns:a16="http://schemas.microsoft.com/office/drawing/2014/main" id="{655EA0F7-F671-4A2C-996D-DEC46BC02AE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4CE4EFD-5F1B-49F7-9D3E-760E4C683A14}"/>
              </a:ext>
            </a:extLst>
          </p:cNvPr>
          <p:cNvSpPr>
            <a:spLocks noGrp="1"/>
          </p:cNvSpPr>
          <p:nvPr>
            <p:ph type="sldNum" sz="quarter" idx="12"/>
          </p:nvPr>
        </p:nvSpPr>
        <p:spPr/>
        <p:txBody>
          <a:bodyPr/>
          <a:lstStyle/>
          <a:p>
            <a:fld id="{88DBD334-602E-4E1E-9585-7B3DBCA24792}" type="slidenum">
              <a:rPr lang="en-IN" smtClean="0"/>
              <a:t>‹#›</a:t>
            </a:fld>
            <a:endParaRPr lang="en-IN"/>
          </a:p>
        </p:txBody>
      </p:sp>
    </p:spTree>
    <p:extLst>
      <p:ext uri="{BB962C8B-B14F-4D97-AF65-F5344CB8AC3E}">
        <p14:creationId xmlns:p14="http://schemas.microsoft.com/office/powerpoint/2010/main" val="42086829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13026-4410-4DF2-9D65-0FBD4623293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5E5D525-C8B4-4FF2-B57C-A9C878533F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C049E9E-3990-4070-8500-A4105ED7973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04E431D-E582-4678-B51D-CCC05BB54C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E44860E-0ADF-4302-B4AB-EEDF0456F51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468AF0F-F195-4F16-8FFA-38A05174A97D}"/>
              </a:ext>
            </a:extLst>
          </p:cNvPr>
          <p:cNvSpPr>
            <a:spLocks noGrp="1"/>
          </p:cNvSpPr>
          <p:nvPr>
            <p:ph type="dt" sz="half" idx="10"/>
          </p:nvPr>
        </p:nvSpPr>
        <p:spPr/>
        <p:txBody>
          <a:bodyPr/>
          <a:lstStyle/>
          <a:p>
            <a:fld id="{FBE30AA9-DB9F-45B2-BF26-EC5FE3707688}" type="datetimeFigureOut">
              <a:rPr lang="en-IN" smtClean="0"/>
              <a:t>08-11-2021</a:t>
            </a:fld>
            <a:endParaRPr lang="en-IN"/>
          </a:p>
        </p:txBody>
      </p:sp>
      <p:sp>
        <p:nvSpPr>
          <p:cNvPr id="8" name="Footer Placeholder 7">
            <a:extLst>
              <a:ext uri="{FF2B5EF4-FFF2-40B4-BE49-F238E27FC236}">
                <a16:creationId xmlns:a16="http://schemas.microsoft.com/office/drawing/2014/main" id="{BFD144F6-8782-44A2-992B-F69E84E97F4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813DB4F-3D3D-4C93-9019-41F124EB9073}"/>
              </a:ext>
            </a:extLst>
          </p:cNvPr>
          <p:cNvSpPr>
            <a:spLocks noGrp="1"/>
          </p:cNvSpPr>
          <p:nvPr>
            <p:ph type="sldNum" sz="quarter" idx="12"/>
          </p:nvPr>
        </p:nvSpPr>
        <p:spPr/>
        <p:txBody>
          <a:bodyPr/>
          <a:lstStyle/>
          <a:p>
            <a:fld id="{88DBD334-602E-4E1E-9585-7B3DBCA24792}" type="slidenum">
              <a:rPr lang="en-IN" smtClean="0"/>
              <a:t>‹#›</a:t>
            </a:fld>
            <a:endParaRPr lang="en-IN"/>
          </a:p>
        </p:txBody>
      </p:sp>
    </p:spTree>
    <p:extLst>
      <p:ext uri="{BB962C8B-B14F-4D97-AF65-F5344CB8AC3E}">
        <p14:creationId xmlns:p14="http://schemas.microsoft.com/office/powerpoint/2010/main" val="8768061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627C9-E364-4C61-9C73-85B83C5424A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98744E7-F383-46B3-924C-9766FEAE5A5B}"/>
              </a:ext>
            </a:extLst>
          </p:cNvPr>
          <p:cNvSpPr>
            <a:spLocks noGrp="1"/>
          </p:cNvSpPr>
          <p:nvPr>
            <p:ph type="dt" sz="half" idx="10"/>
          </p:nvPr>
        </p:nvSpPr>
        <p:spPr/>
        <p:txBody>
          <a:bodyPr/>
          <a:lstStyle/>
          <a:p>
            <a:fld id="{FBE30AA9-DB9F-45B2-BF26-EC5FE3707688}" type="datetimeFigureOut">
              <a:rPr lang="en-IN" smtClean="0"/>
              <a:t>08-11-2021</a:t>
            </a:fld>
            <a:endParaRPr lang="en-IN"/>
          </a:p>
        </p:txBody>
      </p:sp>
      <p:sp>
        <p:nvSpPr>
          <p:cNvPr id="4" name="Footer Placeholder 3">
            <a:extLst>
              <a:ext uri="{FF2B5EF4-FFF2-40B4-BE49-F238E27FC236}">
                <a16:creationId xmlns:a16="http://schemas.microsoft.com/office/drawing/2014/main" id="{5EE2FADF-02B8-43E4-A532-232BD20D769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BDD84FB-BEC1-4117-8524-52DB262F79CA}"/>
              </a:ext>
            </a:extLst>
          </p:cNvPr>
          <p:cNvSpPr>
            <a:spLocks noGrp="1"/>
          </p:cNvSpPr>
          <p:nvPr>
            <p:ph type="sldNum" sz="quarter" idx="12"/>
          </p:nvPr>
        </p:nvSpPr>
        <p:spPr/>
        <p:txBody>
          <a:bodyPr/>
          <a:lstStyle/>
          <a:p>
            <a:fld id="{88DBD334-602E-4E1E-9585-7B3DBCA24792}" type="slidenum">
              <a:rPr lang="en-IN" smtClean="0"/>
              <a:t>‹#›</a:t>
            </a:fld>
            <a:endParaRPr lang="en-IN"/>
          </a:p>
        </p:txBody>
      </p:sp>
    </p:spTree>
    <p:extLst>
      <p:ext uri="{BB962C8B-B14F-4D97-AF65-F5344CB8AC3E}">
        <p14:creationId xmlns:p14="http://schemas.microsoft.com/office/powerpoint/2010/main" val="36102159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49CEAC-757B-4488-8A4C-014A932D9D30}"/>
              </a:ext>
            </a:extLst>
          </p:cNvPr>
          <p:cNvSpPr>
            <a:spLocks noGrp="1"/>
          </p:cNvSpPr>
          <p:nvPr>
            <p:ph type="dt" sz="half" idx="10"/>
          </p:nvPr>
        </p:nvSpPr>
        <p:spPr/>
        <p:txBody>
          <a:bodyPr/>
          <a:lstStyle/>
          <a:p>
            <a:fld id="{FBE30AA9-DB9F-45B2-BF26-EC5FE3707688}" type="datetimeFigureOut">
              <a:rPr lang="en-IN" smtClean="0"/>
              <a:t>08-11-2021</a:t>
            </a:fld>
            <a:endParaRPr lang="en-IN"/>
          </a:p>
        </p:txBody>
      </p:sp>
      <p:sp>
        <p:nvSpPr>
          <p:cNvPr id="3" name="Footer Placeholder 2">
            <a:extLst>
              <a:ext uri="{FF2B5EF4-FFF2-40B4-BE49-F238E27FC236}">
                <a16:creationId xmlns:a16="http://schemas.microsoft.com/office/drawing/2014/main" id="{A51480DD-1CF7-4F35-8D67-87B7ED648B5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E46118D-962F-4E8A-9884-3D6A5FC87201}"/>
              </a:ext>
            </a:extLst>
          </p:cNvPr>
          <p:cNvSpPr>
            <a:spLocks noGrp="1"/>
          </p:cNvSpPr>
          <p:nvPr>
            <p:ph type="sldNum" sz="quarter" idx="12"/>
          </p:nvPr>
        </p:nvSpPr>
        <p:spPr/>
        <p:txBody>
          <a:bodyPr/>
          <a:lstStyle/>
          <a:p>
            <a:fld id="{88DBD334-602E-4E1E-9585-7B3DBCA24792}" type="slidenum">
              <a:rPr lang="en-IN" smtClean="0"/>
              <a:t>‹#›</a:t>
            </a:fld>
            <a:endParaRPr lang="en-IN"/>
          </a:p>
        </p:txBody>
      </p:sp>
    </p:spTree>
    <p:extLst>
      <p:ext uri="{BB962C8B-B14F-4D97-AF65-F5344CB8AC3E}">
        <p14:creationId xmlns:p14="http://schemas.microsoft.com/office/powerpoint/2010/main" val="7113192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FCDBE-E1A2-4B84-99AC-C40D08CC20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06AC461-5328-4274-B020-9745BD282E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73299FB-B41B-45AA-8D6F-2936C117DC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FF49CA-4F1E-408B-B24E-E6208BB7AD8C}"/>
              </a:ext>
            </a:extLst>
          </p:cNvPr>
          <p:cNvSpPr>
            <a:spLocks noGrp="1"/>
          </p:cNvSpPr>
          <p:nvPr>
            <p:ph type="dt" sz="half" idx="10"/>
          </p:nvPr>
        </p:nvSpPr>
        <p:spPr/>
        <p:txBody>
          <a:bodyPr/>
          <a:lstStyle/>
          <a:p>
            <a:fld id="{FBE30AA9-DB9F-45B2-BF26-EC5FE3707688}" type="datetimeFigureOut">
              <a:rPr lang="en-IN" smtClean="0"/>
              <a:t>08-11-2021</a:t>
            </a:fld>
            <a:endParaRPr lang="en-IN"/>
          </a:p>
        </p:txBody>
      </p:sp>
      <p:sp>
        <p:nvSpPr>
          <p:cNvPr id="6" name="Footer Placeholder 5">
            <a:extLst>
              <a:ext uri="{FF2B5EF4-FFF2-40B4-BE49-F238E27FC236}">
                <a16:creationId xmlns:a16="http://schemas.microsoft.com/office/drawing/2014/main" id="{2BF10D25-FA43-47F9-B087-8332C59266E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87C7C64-38C4-4AB6-A7DE-A0A51F18546A}"/>
              </a:ext>
            </a:extLst>
          </p:cNvPr>
          <p:cNvSpPr>
            <a:spLocks noGrp="1"/>
          </p:cNvSpPr>
          <p:nvPr>
            <p:ph type="sldNum" sz="quarter" idx="12"/>
          </p:nvPr>
        </p:nvSpPr>
        <p:spPr/>
        <p:txBody>
          <a:bodyPr/>
          <a:lstStyle/>
          <a:p>
            <a:fld id="{88DBD334-602E-4E1E-9585-7B3DBCA24792}" type="slidenum">
              <a:rPr lang="en-IN" smtClean="0"/>
              <a:t>‹#›</a:t>
            </a:fld>
            <a:endParaRPr lang="en-IN"/>
          </a:p>
        </p:txBody>
      </p:sp>
    </p:spTree>
    <p:extLst>
      <p:ext uri="{BB962C8B-B14F-4D97-AF65-F5344CB8AC3E}">
        <p14:creationId xmlns:p14="http://schemas.microsoft.com/office/powerpoint/2010/main" val="902699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88575-D4E6-4801-9925-4CD44C61BE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4C52093-0E42-472D-8A32-8B6A4EF29E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9766E2E-0D1F-44BD-99BD-4ED516D776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2C9405-F3B0-4A58-854E-B89E2ABC6C77}"/>
              </a:ext>
            </a:extLst>
          </p:cNvPr>
          <p:cNvSpPr>
            <a:spLocks noGrp="1"/>
          </p:cNvSpPr>
          <p:nvPr>
            <p:ph type="dt" sz="half" idx="10"/>
          </p:nvPr>
        </p:nvSpPr>
        <p:spPr/>
        <p:txBody>
          <a:bodyPr/>
          <a:lstStyle/>
          <a:p>
            <a:fld id="{FBE30AA9-DB9F-45B2-BF26-EC5FE3707688}" type="datetimeFigureOut">
              <a:rPr lang="en-IN" smtClean="0"/>
              <a:t>08-11-2021</a:t>
            </a:fld>
            <a:endParaRPr lang="en-IN"/>
          </a:p>
        </p:txBody>
      </p:sp>
      <p:sp>
        <p:nvSpPr>
          <p:cNvPr id="6" name="Footer Placeholder 5">
            <a:extLst>
              <a:ext uri="{FF2B5EF4-FFF2-40B4-BE49-F238E27FC236}">
                <a16:creationId xmlns:a16="http://schemas.microsoft.com/office/drawing/2014/main" id="{3474462C-24D0-48B3-8557-DABBD1877B1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0F80C15-4047-450C-B460-F7E658ECED74}"/>
              </a:ext>
            </a:extLst>
          </p:cNvPr>
          <p:cNvSpPr>
            <a:spLocks noGrp="1"/>
          </p:cNvSpPr>
          <p:nvPr>
            <p:ph type="sldNum" sz="quarter" idx="12"/>
          </p:nvPr>
        </p:nvSpPr>
        <p:spPr/>
        <p:txBody>
          <a:bodyPr/>
          <a:lstStyle/>
          <a:p>
            <a:fld id="{88DBD334-602E-4E1E-9585-7B3DBCA24792}" type="slidenum">
              <a:rPr lang="en-IN" smtClean="0"/>
              <a:t>‹#›</a:t>
            </a:fld>
            <a:endParaRPr lang="en-IN"/>
          </a:p>
        </p:txBody>
      </p:sp>
    </p:spTree>
    <p:extLst>
      <p:ext uri="{BB962C8B-B14F-4D97-AF65-F5344CB8AC3E}">
        <p14:creationId xmlns:p14="http://schemas.microsoft.com/office/powerpoint/2010/main" val="31413994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E59E9-0878-4957-BA57-37E432DACA1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C7CD656-23D8-4887-B04E-4DBDD00C77E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C6667A3-BA76-4F56-A220-6009E1BDC4FD}"/>
              </a:ext>
            </a:extLst>
          </p:cNvPr>
          <p:cNvSpPr>
            <a:spLocks noGrp="1"/>
          </p:cNvSpPr>
          <p:nvPr>
            <p:ph type="dt" sz="half" idx="10"/>
          </p:nvPr>
        </p:nvSpPr>
        <p:spPr/>
        <p:txBody>
          <a:bodyPr/>
          <a:lstStyle/>
          <a:p>
            <a:fld id="{FBE30AA9-DB9F-45B2-BF26-EC5FE3707688}" type="datetimeFigureOut">
              <a:rPr lang="en-IN" smtClean="0"/>
              <a:t>08-11-2021</a:t>
            </a:fld>
            <a:endParaRPr lang="en-IN"/>
          </a:p>
        </p:txBody>
      </p:sp>
      <p:sp>
        <p:nvSpPr>
          <p:cNvPr id="5" name="Footer Placeholder 4">
            <a:extLst>
              <a:ext uri="{FF2B5EF4-FFF2-40B4-BE49-F238E27FC236}">
                <a16:creationId xmlns:a16="http://schemas.microsoft.com/office/drawing/2014/main" id="{177A89D2-ED43-4C02-A273-004A1101AA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BF7D9E8-6FAE-4E9E-9D78-54A3A2AC42C6}"/>
              </a:ext>
            </a:extLst>
          </p:cNvPr>
          <p:cNvSpPr>
            <a:spLocks noGrp="1"/>
          </p:cNvSpPr>
          <p:nvPr>
            <p:ph type="sldNum" sz="quarter" idx="12"/>
          </p:nvPr>
        </p:nvSpPr>
        <p:spPr/>
        <p:txBody>
          <a:bodyPr/>
          <a:lstStyle/>
          <a:p>
            <a:fld id="{88DBD334-602E-4E1E-9585-7B3DBCA24792}" type="slidenum">
              <a:rPr lang="en-IN" smtClean="0"/>
              <a:t>‹#›</a:t>
            </a:fld>
            <a:endParaRPr lang="en-IN"/>
          </a:p>
        </p:txBody>
      </p:sp>
    </p:spTree>
    <p:extLst>
      <p:ext uri="{BB962C8B-B14F-4D97-AF65-F5344CB8AC3E}">
        <p14:creationId xmlns:p14="http://schemas.microsoft.com/office/powerpoint/2010/main" val="25964927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469BD46-F84C-4140-9BF0-AAB8756E2B8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87BA99B-1AB1-4519-BCC8-3A4BB0DFF10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8814DAF-D098-4014-9F77-4CC2B9B8FA69}"/>
              </a:ext>
            </a:extLst>
          </p:cNvPr>
          <p:cNvSpPr>
            <a:spLocks noGrp="1"/>
          </p:cNvSpPr>
          <p:nvPr>
            <p:ph type="dt" sz="half" idx="10"/>
          </p:nvPr>
        </p:nvSpPr>
        <p:spPr/>
        <p:txBody>
          <a:bodyPr/>
          <a:lstStyle/>
          <a:p>
            <a:fld id="{FBE30AA9-DB9F-45B2-BF26-EC5FE3707688}" type="datetimeFigureOut">
              <a:rPr lang="en-IN" smtClean="0"/>
              <a:t>08-11-2021</a:t>
            </a:fld>
            <a:endParaRPr lang="en-IN"/>
          </a:p>
        </p:txBody>
      </p:sp>
      <p:sp>
        <p:nvSpPr>
          <p:cNvPr id="5" name="Footer Placeholder 4">
            <a:extLst>
              <a:ext uri="{FF2B5EF4-FFF2-40B4-BE49-F238E27FC236}">
                <a16:creationId xmlns:a16="http://schemas.microsoft.com/office/drawing/2014/main" id="{60752052-50B3-49D5-8790-CDE8E36B19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1268F5-2E3E-46A8-8F29-B00269311DD7}"/>
              </a:ext>
            </a:extLst>
          </p:cNvPr>
          <p:cNvSpPr>
            <a:spLocks noGrp="1"/>
          </p:cNvSpPr>
          <p:nvPr>
            <p:ph type="sldNum" sz="quarter" idx="12"/>
          </p:nvPr>
        </p:nvSpPr>
        <p:spPr/>
        <p:txBody>
          <a:bodyPr/>
          <a:lstStyle/>
          <a:p>
            <a:fld id="{88DBD334-602E-4E1E-9585-7B3DBCA24792}" type="slidenum">
              <a:rPr lang="en-IN" smtClean="0"/>
              <a:t>‹#›</a:t>
            </a:fld>
            <a:endParaRPr lang="en-IN"/>
          </a:p>
        </p:txBody>
      </p:sp>
    </p:spTree>
    <p:extLst>
      <p:ext uri="{BB962C8B-B14F-4D97-AF65-F5344CB8AC3E}">
        <p14:creationId xmlns:p14="http://schemas.microsoft.com/office/powerpoint/2010/main" val="23954171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84C819-5CD3-4704-B782-F1749E638AA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63A7CC9-3ADD-46B7-9EC1-25F14B7227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3F1EF73-FCEF-408C-9B45-E39FEA79DDF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E30AA9-DB9F-45B2-BF26-EC5FE3707688}" type="datetimeFigureOut">
              <a:rPr lang="en-IN" smtClean="0"/>
              <a:t>08-11-2021</a:t>
            </a:fld>
            <a:endParaRPr lang="en-IN"/>
          </a:p>
        </p:txBody>
      </p:sp>
      <p:sp>
        <p:nvSpPr>
          <p:cNvPr id="5" name="Footer Placeholder 4">
            <a:extLst>
              <a:ext uri="{FF2B5EF4-FFF2-40B4-BE49-F238E27FC236}">
                <a16:creationId xmlns:a16="http://schemas.microsoft.com/office/drawing/2014/main" id="{8F9D4BE7-DAE4-407E-B028-466C59D584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EFAB13B-F55A-4529-8B71-EF8A8AE7B1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DBD334-602E-4E1E-9585-7B3DBCA24792}" type="slidenum">
              <a:rPr lang="en-IN" smtClean="0"/>
              <a:t>‹#›</a:t>
            </a:fld>
            <a:endParaRPr lang="en-IN"/>
          </a:p>
        </p:txBody>
      </p:sp>
    </p:spTree>
    <p:extLst>
      <p:ext uri="{BB962C8B-B14F-4D97-AF65-F5344CB8AC3E}">
        <p14:creationId xmlns:p14="http://schemas.microsoft.com/office/powerpoint/2010/main" val="40844177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hyperlink" Target="https://intellipaat.com/blog/tutorial/devops-tutorial/git-tutorial/"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hyperlink" Target="https://intellipaat.com/blog/tutorial/devops-tutorial/git-commands/"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hyperlink" Target="https://intellipaat.com/blog/what-is-devops/"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64757-354A-448D-81C9-A8B72114B2B8}"/>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10B7F460-BEC2-4CD6-A528-6ADDB09DCA3E}"/>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0363383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51652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581ED2-5308-4BB6-989C-FB509A9D1955}"/>
              </a:ext>
            </a:extLst>
          </p:cNvPr>
          <p:cNvSpPr txBox="1"/>
          <p:nvPr/>
        </p:nvSpPr>
        <p:spPr>
          <a:xfrm>
            <a:off x="384313" y="291548"/>
            <a:ext cx="11648661" cy="4955203"/>
          </a:xfrm>
          <a:prstGeom prst="rect">
            <a:avLst/>
          </a:prstGeom>
          <a:noFill/>
        </p:spPr>
        <p:txBody>
          <a:bodyPr wrap="square">
            <a:spAutoFit/>
          </a:bodyPr>
          <a:lstStyle/>
          <a:p>
            <a:r>
              <a:rPr lang="en-IN" sz="2800" b="1" i="0" u="none" strike="noStrike" baseline="0" dirty="0">
                <a:solidFill>
                  <a:srgbClr val="000000"/>
                </a:solidFill>
                <a:latin typeface="Calibri" panose="020F0502020204030204" pitchFamily="34" charset="0"/>
              </a:rPr>
              <a:t>What is GIT?</a:t>
            </a:r>
          </a:p>
          <a:p>
            <a:endParaRPr lang="en-IN" sz="1800" b="0" i="0" u="none" strike="noStrike" baseline="0" dirty="0">
              <a:solidFill>
                <a:srgbClr val="000000"/>
              </a:solidFill>
              <a:latin typeface="Calibri" panose="020F0502020204030204" pitchFamily="34" charset="0"/>
            </a:endParaRPr>
          </a:p>
          <a:p>
            <a:pPr>
              <a:lnSpc>
                <a:spcPct val="150000"/>
              </a:lnSpc>
            </a:pPr>
            <a:r>
              <a:rPr lang="en-US" sz="1800" b="0" i="0" u="none" strike="noStrike" baseline="0" dirty="0">
                <a:solidFill>
                  <a:srgbClr val="000000"/>
                </a:solidFill>
                <a:latin typeface="Segoe UI Emoji" panose="020B0502040204020203" pitchFamily="34" charset="0"/>
              </a:rPr>
              <a:t>✽ </a:t>
            </a:r>
            <a:r>
              <a:rPr lang="en-US" sz="2400" i="0" u="none" strike="noStrike" baseline="0" dirty="0">
                <a:solidFill>
                  <a:srgbClr val="000000"/>
                </a:solidFill>
                <a:latin typeface="Calibri" panose="020F0502020204030204" pitchFamily="34" charset="0"/>
              </a:rPr>
              <a:t>Git is Distributed Version Control System Tool. </a:t>
            </a:r>
          </a:p>
          <a:p>
            <a:pPr>
              <a:lnSpc>
                <a:spcPct val="150000"/>
              </a:lnSpc>
            </a:pPr>
            <a:r>
              <a:rPr lang="en-US" sz="2400" i="0" u="none" strike="noStrike" baseline="0" dirty="0">
                <a:solidFill>
                  <a:srgbClr val="000000"/>
                </a:solidFill>
                <a:latin typeface="Segoe UI Emoji" panose="020B0502040204020203" pitchFamily="34" charset="0"/>
              </a:rPr>
              <a:t>✽ </a:t>
            </a:r>
            <a:r>
              <a:rPr lang="en-US" sz="2400" i="0" u="none" strike="noStrike" baseline="0" dirty="0">
                <a:solidFill>
                  <a:srgbClr val="000000"/>
                </a:solidFill>
                <a:latin typeface="Calibri" panose="020F0502020204030204" pitchFamily="34" charset="0"/>
              </a:rPr>
              <a:t>Git is not acronym and hence no expansion. But most of the people abbreviated as </a:t>
            </a:r>
          </a:p>
          <a:p>
            <a:pPr>
              <a:lnSpc>
                <a:spcPct val="150000"/>
              </a:lnSpc>
            </a:pPr>
            <a:r>
              <a:rPr lang="en-IN" sz="2400" i="0" u="none" strike="noStrike" baseline="0" dirty="0">
                <a:solidFill>
                  <a:srgbClr val="000000"/>
                </a:solidFill>
                <a:latin typeface="Segoe UI Emoji" panose="020B0502040204020203" pitchFamily="34" charset="0"/>
              </a:rPr>
              <a:t>✽ </a:t>
            </a:r>
            <a:r>
              <a:rPr lang="en-IN" sz="2400" i="0" u="none" strike="noStrike" baseline="0" dirty="0">
                <a:solidFill>
                  <a:srgbClr val="000000"/>
                </a:solidFill>
                <a:latin typeface="Calibri" panose="020F0502020204030204" pitchFamily="34" charset="0"/>
              </a:rPr>
              <a:t>"Global Information Tracker". </a:t>
            </a:r>
          </a:p>
          <a:p>
            <a:pPr>
              <a:lnSpc>
                <a:spcPct val="150000"/>
              </a:lnSpc>
            </a:pPr>
            <a:r>
              <a:rPr lang="en-US" sz="2400" i="0" u="none" strike="noStrike" baseline="0" dirty="0">
                <a:solidFill>
                  <a:srgbClr val="000000"/>
                </a:solidFill>
                <a:latin typeface="Segoe UI Emoji" panose="020B0502040204020203" pitchFamily="34" charset="0"/>
              </a:rPr>
              <a:t>✽ </a:t>
            </a:r>
            <a:r>
              <a:rPr lang="en-US" sz="2400" i="0" u="none" strike="noStrike" baseline="0" dirty="0">
                <a:solidFill>
                  <a:srgbClr val="000000"/>
                </a:solidFill>
                <a:latin typeface="Calibri" panose="020F0502020204030204" pitchFamily="34" charset="0"/>
              </a:rPr>
              <a:t>GIT is developed by Linus Torvalds(Finnish software engineer), who also developed Linux </a:t>
            </a:r>
            <a:r>
              <a:rPr lang="en-US" sz="2400" i="0" u="none" strike="noStrike" baseline="0" dirty="0" err="1">
                <a:solidFill>
                  <a:srgbClr val="000000"/>
                </a:solidFill>
                <a:latin typeface="Calibri" panose="020F0502020204030204" pitchFamily="34" charset="0"/>
              </a:rPr>
              <a:t>Kenel</a:t>
            </a:r>
            <a:r>
              <a:rPr lang="en-US" sz="2400" i="0" u="none" strike="noStrike" baseline="0" dirty="0">
                <a:solidFill>
                  <a:srgbClr val="000000"/>
                </a:solidFill>
                <a:latin typeface="Calibri" panose="020F0502020204030204" pitchFamily="34" charset="0"/>
              </a:rPr>
              <a:t>. </a:t>
            </a:r>
          </a:p>
          <a:p>
            <a:pPr>
              <a:lnSpc>
                <a:spcPct val="150000"/>
              </a:lnSpc>
            </a:pPr>
            <a:r>
              <a:rPr lang="en-US" sz="2400" i="0" u="none" strike="noStrike" baseline="0" dirty="0">
                <a:solidFill>
                  <a:srgbClr val="000000"/>
                </a:solidFill>
                <a:latin typeface="Segoe UI Emoji" panose="020B0502040204020203" pitchFamily="34" charset="0"/>
              </a:rPr>
              <a:t>✽ </a:t>
            </a:r>
            <a:r>
              <a:rPr lang="en-US" sz="2400" i="0" u="none" strike="noStrike" baseline="0" dirty="0">
                <a:solidFill>
                  <a:srgbClr val="000000"/>
                </a:solidFill>
                <a:latin typeface="Calibri" panose="020F0502020204030204" pitchFamily="34" charset="0"/>
              </a:rPr>
              <a:t>Most of the companies like Microsoft, Facebook, Yahoo, LinkedIn, Intel using Git as Version Control System Tool. </a:t>
            </a:r>
          </a:p>
          <a:p>
            <a:pPr algn="just"/>
            <a:endParaRPr lang="en-US" b="0" i="0" dirty="0">
              <a:solidFill>
                <a:srgbClr val="4A4A4A"/>
              </a:solidFill>
              <a:effectLst/>
              <a:latin typeface="Open Sans" panose="020B0606030504020204" pitchFamily="34" charset="0"/>
            </a:endParaRPr>
          </a:p>
        </p:txBody>
      </p:sp>
    </p:spTree>
    <p:extLst>
      <p:ext uri="{BB962C8B-B14F-4D97-AF65-F5344CB8AC3E}">
        <p14:creationId xmlns:p14="http://schemas.microsoft.com/office/powerpoint/2010/main" val="22083775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ev-git">
            <a:extLst>
              <a:ext uri="{FF2B5EF4-FFF2-40B4-BE49-F238E27FC236}">
                <a16:creationId xmlns:a16="http://schemas.microsoft.com/office/drawing/2014/main" id="{A1D8B175-3F3A-456A-B842-AEBCEC9D40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1634" y="503582"/>
            <a:ext cx="10641495" cy="62152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1088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935AA62-8753-4309-871C-77BBFC1F5152}"/>
              </a:ext>
            </a:extLst>
          </p:cNvPr>
          <p:cNvSpPr txBox="1"/>
          <p:nvPr/>
        </p:nvSpPr>
        <p:spPr>
          <a:xfrm>
            <a:off x="0" y="0"/>
            <a:ext cx="12192000" cy="6119945"/>
          </a:xfrm>
          <a:prstGeom prst="rect">
            <a:avLst/>
          </a:prstGeom>
          <a:noFill/>
        </p:spPr>
        <p:txBody>
          <a:bodyPr wrap="square">
            <a:spAutoFit/>
          </a:bodyPr>
          <a:lstStyle/>
          <a:p>
            <a:pPr algn="l"/>
            <a:r>
              <a:rPr lang="en-US" sz="2400" b="1" i="0" dirty="0">
                <a:solidFill>
                  <a:srgbClr val="272C37"/>
                </a:solidFill>
                <a:effectLst/>
                <a:latin typeface="Times New Roman" panose="02020603050405020304" pitchFamily="18" charset="0"/>
                <a:cs typeface="Times New Roman" panose="02020603050405020304" pitchFamily="18" charset="0"/>
              </a:rPr>
              <a:t>Features of Git:</a:t>
            </a:r>
          </a:p>
          <a:p>
            <a:pPr algn="l"/>
            <a:endParaRPr lang="en-US" b="1" dirty="0">
              <a:solidFill>
                <a:srgbClr val="272C37"/>
              </a:solidFill>
              <a:latin typeface="Roboto" panose="02000000000000000000" pitchFamily="2" charset="0"/>
            </a:endParaRPr>
          </a:p>
          <a:p>
            <a:endParaRPr lang="en-IN" sz="1800" b="0" i="0" u="none" strike="noStrike" baseline="0" dirty="0">
              <a:solidFill>
                <a:srgbClr val="000000"/>
              </a:solidFill>
              <a:latin typeface="Calibri" panose="020F0502020204030204" pitchFamily="34" charset="0"/>
            </a:endParaRPr>
          </a:p>
          <a:p>
            <a:r>
              <a:rPr lang="en-US" sz="2400" b="1" i="0" u="none" strike="noStrike" baseline="0" dirty="0">
                <a:solidFill>
                  <a:srgbClr val="000000"/>
                </a:solidFill>
                <a:latin typeface="Times New Roman" panose="02020603050405020304" pitchFamily="18" charset="0"/>
                <a:cs typeface="Times New Roman" panose="02020603050405020304" pitchFamily="18" charset="0"/>
              </a:rPr>
              <a:t>Git is very popular because of the following features: </a:t>
            </a:r>
            <a:endParaRPr lang="en-US" sz="2400" b="1" i="0" dirty="0">
              <a:solidFill>
                <a:srgbClr val="272C37"/>
              </a:solidFill>
              <a:effectLst/>
              <a:latin typeface="Times New Roman" panose="02020603050405020304" pitchFamily="18" charset="0"/>
              <a:cs typeface="Times New Roman" panose="02020603050405020304" pitchFamily="18" charset="0"/>
            </a:endParaRPr>
          </a:p>
          <a:p>
            <a:pPr algn="l"/>
            <a:endParaRPr lang="en-US" sz="2400" b="0" i="0" dirty="0">
              <a:solidFill>
                <a:srgbClr val="272C37"/>
              </a:solidFill>
              <a:effectLst/>
              <a:latin typeface="Times New Roman" panose="02020603050405020304" pitchFamily="18" charset="0"/>
              <a:cs typeface="Times New Roman" panose="02020603050405020304" pitchFamily="18" charset="0"/>
            </a:endParaRPr>
          </a:p>
          <a:p>
            <a:pPr algn="l">
              <a:lnSpc>
                <a:spcPct val="150000"/>
              </a:lnSpc>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Tracks history</a:t>
            </a:r>
          </a:p>
          <a:p>
            <a:pPr algn="l">
              <a:lnSpc>
                <a:spcPct val="150000"/>
              </a:lnSpc>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Free and open source</a:t>
            </a:r>
          </a:p>
          <a:p>
            <a:pPr algn="l">
              <a:lnSpc>
                <a:spcPct val="150000"/>
              </a:lnSpc>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Supports non-linear development</a:t>
            </a:r>
          </a:p>
          <a:p>
            <a:pPr algn="l">
              <a:lnSpc>
                <a:spcPct val="150000"/>
              </a:lnSpc>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Creates backups</a:t>
            </a:r>
          </a:p>
          <a:p>
            <a:pPr algn="l">
              <a:lnSpc>
                <a:spcPct val="150000"/>
              </a:lnSpc>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Scalable</a:t>
            </a:r>
          </a:p>
          <a:p>
            <a:pPr algn="l">
              <a:lnSpc>
                <a:spcPct val="150000"/>
              </a:lnSpc>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Supports collaboration</a:t>
            </a:r>
          </a:p>
          <a:p>
            <a:pPr algn="l">
              <a:lnSpc>
                <a:spcPct val="150000"/>
              </a:lnSpc>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Branching is easier</a:t>
            </a:r>
          </a:p>
          <a:p>
            <a:pPr algn="l">
              <a:lnSpc>
                <a:spcPct val="150000"/>
              </a:lnSpc>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Distributed development</a:t>
            </a:r>
          </a:p>
        </p:txBody>
      </p:sp>
    </p:spTree>
    <p:extLst>
      <p:ext uri="{BB962C8B-B14F-4D97-AF65-F5344CB8AC3E}">
        <p14:creationId xmlns:p14="http://schemas.microsoft.com/office/powerpoint/2010/main" val="8254647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C75E09B-3EFD-4D15-8605-1A0D2980EA32}"/>
              </a:ext>
            </a:extLst>
          </p:cNvPr>
          <p:cNvSpPr txBox="1"/>
          <p:nvPr/>
        </p:nvSpPr>
        <p:spPr>
          <a:xfrm>
            <a:off x="265042" y="172278"/>
            <a:ext cx="11622157" cy="5669309"/>
          </a:xfrm>
          <a:prstGeom prst="rect">
            <a:avLst/>
          </a:prstGeom>
          <a:noFill/>
        </p:spPr>
        <p:txBody>
          <a:bodyPr wrap="square">
            <a:spAutoFit/>
          </a:bodyPr>
          <a:lstStyle/>
          <a:p>
            <a:r>
              <a:rPr lang="en-US" sz="2400" b="1" i="0" u="none" strike="noStrike" baseline="0" dirty="0">
                <a:solidFill>
                  <a:srgbClr val="000000"/>
                </a:solidFill>
                <a:latin typeface="Times New Roman" panose="02020603050405020304" pitchFamily="18" charset="0"/>
                <a:cs typeface="Times New Roman" panose="02020603050405020304" pitchFamily="18" charset="0"/>
              </a:rPr>
              <a:t>Git is very popular because of the following features: </a:t>
            </a:r>
          </a:p>
          <a:p>
            <a:endParaRPr lang="en-US" sz="2400" b="1" i="0" u="none" strike="noStrike" baseline="0" dirty="0">
              <a:solidFill>
                <a:srgbClr val="000000"/>
              </a:solidFill>
              <a:latin typeface="Times New Roman" panose="02020603050405020304" pitchFamily="18" charset="0"/>
              <a:cs typeface="Times New Roman" panose="02020603050405020304" pitchFamily="18" charset="0"/>
            </a:endParaRPr>
          </a:p>
          <a:p>
            <a:r>
              <a:rPr lang="en-IN" sz="2400" b="1" i="0" u="none" strike="noStrike" baseline="0" dirty="0">
                <a:solidFill>
                  <a:srgbClr val="000000"/>
                </a:solidFill>
                <a:latin typeface="Times New Roman" panose="02020603050405020304" pitchFamily="18" charset="0"/>
                <a:cs typeface="Times New Roman" panose="02020603050405020304" pitchFamily="18" charset="0"/>
              </a:rPr>
              <a:t>Distributed </a:t>
            </a:r>
          </a:p>
          <a:p>
            <a:endParaRPr lang="en-IN" sz="2400" b="1" i="0" u="none" strike="noStrike" baseline="0" dirty="0">
              <a:solidFill>
                <a:srgbClr val="000000"/>
              </a:solidFill>
              <a:latin typeface="Times New Roman" panose="02020603050405020304" pitchFamily="18" charset="0"/>
              <a:cs typeface="Times New Roman" panose="02020603050405020304" pitchFamily="18" charset="0"/>
            </a:endParaRPr>
          </a:p>
          <a:p>
            <a:pPr>
              <a:lnSpc>
                <a:spcPct val="150000"/>
              </a:lnSpc>
            </a:pPr>
            <a:r>
              <a:rPr lang="en-US" sz="2000" i="0" u="none" strike="noStrike" baseline="0" dirty="0">
                <a:solidFill>
                  <a:srgbClr val="000000"/>
                </a:solidFill>
                <a:latin typeface="Times New Roman" panose="02020603050405020304" pitchFamily="18" charset="0"/>
                <a:cs typeface="Times New Roman" panose="02020603050405020304" pitchFamily="18" charset="0"/>
              </a:rPr>
              <a:t>Git is developed based on Distributed Version Control System Architecture. </a:t>
            </a:r>
          </a:p>
          <a:p>
            <a:pPr>
              <a:lnSpc>
                <a:spcPct val="150000"/>
              </a:lnSpc>
            </a:pPr>
            <a:r>
              <a:rPr lang="en-US" sz="2000" i="0" u="none" strike="noStrike" baseline="0" dirty="0">
                <a:solidFill>
                  <a:srgbClr val="000000"/>
                </a:solidFill>
                <a:latin typeface="Times New Roman" panose="02020603050405020304" pitchFamily="18" charset="0"/>
                <a:cs typeface="Times New Roman" panose="02020603050405020304" pitchFamily="18" charset="0"/>
              </a:rPr>
              <a:t>Because of Distributed Architecture it has several advantages: </a:t>
            </a:r>
          </a:p>
          <a:p>
            <a:pPr>
              <a:lnSpc>
                <a:spcPct val="150000"/>
              </a:lnSpc>
            </a:pPr>
            <a:r>
              <a:rPr lang="en-US" sz="2000" i="0" u="none" strike="noStrike" baseline="0" dirty="0">
                <a:solidFill>
                  <a:srgbClr val="000000"/>
                </a:solidFill>
                <a:latin typeface="Times New Roman" panose="02020603050405020304" pitchFamily="18" charset="0"/>
                <a:cs typeface="Times New Roman" panose="02020603050405020304" pitchFamily="18" charset="0"/>
              </a:rPr>
              <a:t>A) Every Developer has his own local repository. All the operations can be performed locally. Hence local repo and remote repo need not be connected always. </a:t>
            </a:r>
          </a:p>
          <a:p>
            <a:pPr>
              <a:lnSpc>
                <a:spcPct val="150000"/>
              </a:lnSpc>
            </a:pPr>
            <a:r>
              <a:rPr lang="en-US" sz="2000" i="0" u="none" strike="noStrike" baseline="0" dirty="0">
                <a:solidFill>
                  <a:srgbClr val="000000"/>
                </a:solidFill>
                <a:latin typeface="Times New Roman" panose="02020603050405020304" pitchFamily="18" charset="0"/>
                <a:cs typeface="Times New Roman" panose="02020603050405020304" pitchFamily="18" charset="0"/>
              </a:rPr>
              <a:t>B) All operations will be performed locally, and hence performance is high when compared with other VCSs. i.e. it is very speed </a:t>
            </a:r>
          </a:p>
          <a:p>
            <a:pPr>
              <a:lnSpc>
                <a:spcPct val="150000"/>
              </a:lnSpc>
            </a:pPr>
            <a:r>
              <a:rPr lang="en-US" sz="2000" i="0" u="none" strike="noStrike" baseline="0" dirty="0">
                <a:solidFill>
                  <a:srgbClr val="000000"/>
                </a:solidFill>
                <a:latin typeface="Times New Roman" panose="02020603050405020304" pitchFamily="18" charset="0"/>
                <a:cs typeface="Times New Roman" panose="02020603050405020304" pitchFamily="18" charset="0"/>
              </a:rPr>
              <a:t>C) Most of operations are local. Hence we can work offline most of the times. </a:t>
            </a:r>
          </a:p>
          <a:p>
            <a:pPr>
              <a:lnSpc>
                <a:spcPct val="150000"/>
              </a:lnSpc>
            </a:pPr>
            <a:r>
              <a:rPr lang="en-US" sz="2000" i="0" u="none" strike="noStrike" baseline="0" dirty="0">
                <a:solidFill>
                  <a:srgbClr val="000000"/>
                </a:solidFill>
                <a:latin typeface="Times New Roman" panose="02020603050405020304" pitchFamily="18" charset="0"/>
                <a:cs typeface="Times New Roman" panose="02020603050405020304" pitchFamily="18" charset="0"/>
              </a:rPr>
              <a:t>D) There is no single point failure as Every Developer has his own local repository. </a:t>
            </a:r>
          </a:p>
          <a:p>
            <a:pPr>
              <a:lnSpc>
                <a:spcPct val="150000"/>
              </a:lnSpc>
            </a:pPr>
            <a:r>
              <a:rPr lang="en-US" sz="2000" i="0" u="none" strike="noStrike" baseline="0" dirty="0">
                <a:solidFill>
                  <a:srgbClr val="000000"/>
                </a:solidFill>
                <a:latin typeface="Times New Roman" panose="02020603050405020304" pitchFamily="18" charset="0"/>
                <a:cs typeface="Times New Roman" panose="02020603050405020304" pitchFamily="18" charset="0"/>
              </a:rPr>
              <a:t>E) It enables parallel development &amp; automatic-backups.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9524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C8B3E82-254D-4222-8FBB-A4EEE1EECF09}"/>
              </a:ext>
            </a:extLst>
          </p:cNvPr>
          <p:cNvSpPr txBox="1"/>
          <p:nvPr/>
        </p:nvSpPr>
        <p:spPr>
          <a:xfrm>
            <a:off x="0" y="0"/>
            <a:ext cx="12192000" cy="6869638"/>
          </a:xfrm>
          <a:prstGeom prst="rect">
            <a:avLst/>
          </a:prstGeom>
          <a:noFill/>
        </p:spPr>
        <p:txBody>
          <a:bodyPr wrap="square">
            <a:spAutoFit/>
          </a:bodyPr>
          <a:lstStyle/>
          <a:p>
            <a:r>
              <a:rPr lang="en-IN" sz="2400" b="1" i="0" u="none" strike="noStrike" baseline="0" dirty="0">
                <a:solidFill>
                  <a:srgbClr val="000000"/>
                </a:solidFill>
                <a:latin typeface="Times New Roman" panose="02020603050405020304" pitchFamily="18" charset="0"/>
                <a:cs typeface="Times New Roman" panose="02020603050405020304" pitchFamily="18" charset="0"/>
              </a:rPr>
              <a:t>2) Staging Area: </a:t>
            </a:r>
          </a:p>
          <a:p>
            <a:pPr>
              <a:lnSpc>
                <a:spcPct val="150000"/>
              </a:lnSpc>
            </a:pPr>
            <a:r>
              <a:rPr lang="en-US" sz="2000" i="0" u="none" strike="noStrike" baseline="0" dirty="0">
                <a:solidFill>
                  <a:srgbClr val="000000"/>
                </a:solidFill>
                <a:latin typeface="Times New Roman" panose="02020603050405020304" pitchFamily="18" charset="0"/>
                <a:cs typeface="Times New Roman" panose="02020603050405020304" pitchFamily="18" charset="0"/>
              </a:rPr>
              <a:t>It is also known as index area. </a:t>
            </a:r>
          </a:p>
          <a:p>
            <a:pPr>
              <a:lnSpc>
                <a:spcPct val="150000"/>
              </a:lnSpc>
            </a:pPr>
            <a:r>
              <a:rPr lang="en-US" sz="2000" i="0" u="none" strike="noStrike" baseline="0" dirty="0">
                <a:solidFill>
                  <a:srgbClr val="000000"/>
                </a:solidFill>
                <a:latin typeface="Times New Roman" panose="02020603050405020304" pitchFamily="18" charset="0"/>
                <a:cs typeface="Times New Roman" panose="02020603050405020304" pitchFamily="18" charset="0"/>
              </a:rPr>
              <a:t>There is logical layer/virtual layer in git between working directory and local repository. </a:t>
            </a:r>
          </a:p>
          <a:p>
            <a:pPr>
              <a:lnSpc>
                <a:spcPct val="150000"/>
              </a:lnSpc>
            </a:pPr>
            <a:r>
              <a:rPr lang="en-US" sz="2000" i="0" u="none" strike="noStrike" baseline="0" dirty="0">
                <a:solidFill>
                  <a:srgbClr val="000000"/>
                </a:solidFill>
                <a:latin typeface="Times New Roman" panose="02020603050405020304" pitchFamily="18" charset="0"/>
                <a:cs typeface="Times New Roman" panose="02020603050405020304" pitchFamily="18" charset="0"/>
              </a:rPr>
              <a:t>Working Directory </a:t>
            </a:r>
          </a:p>
          <a:p>
            <a:pPr>
              <a:lnSpc>
                <a:spcPct val="150000"/>
              </a:lnSpc>
            </a:pPr>
            <a:r>
              <a:rPr lang="en-US" sz="2000" i="0" u="none" strike="noStrike" baseline="0" dirty="0">
                <a:solidFill>
                  <a:srgbClr val="000000"/>
                </a:solidFill>
                <a:latin typeface="Times New Roman" panose="02020603050405020304" pitchFamily="18" charset="0"/>
                <a:cs typeface="Times New Roman" panose="02020603050405020304" pitchFamily="18" charset="0"/>
              </a:rPr>
              <a:t> Staging Area </a:t>
            </a:r>
          </a:p>
          <a:p>
            <a:pPr>
              <a:lnSpc>
                <a:spcPct val="150000"/>
              </a:lnSpc>
            </a:pPr>
            <a:r>
              <a:rPr lang="en-US" sz="2000" i="0" u="none" strike="noStrike" baseline="0" dirty="0">
                <a:solidFill>
                  <a:srgbClr val="000000"/>
                </a:solidFill>
                <a:latin typeface="Times New Roman" panose="02020603050405020304" pitchFamily="18" charset="0"/>
                <a:cs typeface="Times New Roman" panose="02020603050405020304" pitchFamily="18" charset="0"/>
              </a:rPr>
              <a:t> Local Repository </a:t>
            </a:r>
          </a:p>
          <a:p>
            <a:pPr>
              <a:lnSpc>
                <a:spcPct val="150000"/>
              </a:lnSpc>
            </a:pPr>
            <a:r>
              <a:rPr lang="en-US" sz="2000" i="0" u="none" strike="noStrike" baseline="0" dirty="0">
                <a:solidFill>
                  <a:srgbClr val="000000"/>
                </a:solidFill>
                <a:latin typeface="Times New Roman" panose="02020603050405020304" pitchFamily="18" charset="0"/>
                <a:cs typeface="Times New Roman" panose="02020603050405020304" pitchFamily="18" charset="0"/>
              </a:rPr>
              <a:t>We cannot commit the files of working directory directly. First we have to add to the staging area and then we have to commit. </a:t>
            </a:r>
          </a:p>
          <a:p>
            <a:pPr>
              <a:lnSpc>
                <a:spcPct val="150000"/>
              </a:lnSpc>
            </a:pPr>
            <a:r>
              <a:rPr lang="en-US" sz="2000" i="0" u="none" strike="noStrike" baseline="0" dirty="0">
                <a:solidFill>
                  <a:srgbClr val="000000"/>
                </a:solidFill>
                <a:latin typeface="Times New Roman" panose="02020603050405020304" pitchFamily="18" charset="0"/>
                <a:cs typeface="Times New Roman" panose="02020603050405020304" pitchFamily="18" charset="0"/>
              </a:rPr>
              <a:t>This staging area is helpful to double check/cross-check our changes before commit. </a:t>
            </a:r>
          </a:p>
          <a:p>
            <a:pPr>
              <a:lnSpc>
                <a:spcPct val="150000"/>
              </a:lnSpc>
            </a:pPr>
            <a:r>
              <a:rPr lang="en-US" sz="2000" i="0" u="none" strike="noStrike" baseline="0" dirty="0">
                <a:solidFill>
                  <a:srgbClr val="000000"/>
                </a:solidFill>
                <a:latin typeface="Times New Roman" panose="02020603050405020304" pitchFamily="18" charset="0"/>
                <a:cs typeface="Times New Roman" panose="02020603050405020304" pitchFamily="18" charset="0"/>
              </a:rPr>
              <a:t>This type of layer is not available in other Version Control System Tools like CVS, SVN etc. </a:t>
            </a:r>
          </a:p>
          <a:p>
            <a:pPr>
              <a:lnSpc>
                <a:spcPct val="150000"/>
              </a:lnSpc>
            </a:pPr>
            <a:r>
              <a:rPr lang="en-US" sz="2000" i="0" u="none" strike="noStrike" baseline="0" dirty="0">
                <a:solidFill>
                  <a:srgbClr val="000000"/>
                </a:solidFill>
                <a:latin typeface="Times New Roman" panose="02020603050405020304" pitchFamily="18" charset="0"/>
                <a:cs typeface="Times New Roman" panose="02020603050405020304" pitchFamily="18" charset="0"/>
              </a:rPr>
              <a:t>Git stores files in repository in some hash form, which saves space. </a:t>
            </a:r>
          </a:p>
          <a:p>
            <a:pPr>
              <a:lnSpc>
                <a:spcPct val="150000"/>
              </a:lnSpc>
            </a:pPr>
            <a:r>
              <a:rPr lang="en-US" sz="2000" i="0" u="none" strike="noStrike" baseline="0" dirty="0">
                <a:solidFill>
                  <a:srgbClr val="000000"/>
                </a:solidFill>
                <a:latin typeface="Times New Roman" panose="02020603050405020304" pitchFamily="18" charset="0"/>
                <a:cs typeface="Times New Roman" panose="02020603050405020304" pitchFamily="18" charset="0"/>
              </a:rPr>
              <a:t>GIT will uses internally snapshot mechanism for this. All these conversions and taking snapshots of our data will be happened in staging area before commit. </a:t>
            </a:r>
          </a:p>
          <a:p>
            <a:pPr>
              <a:lnSpc>
                <a:spcPct val="150000"/>
              </a:lnSpc>
            </a:pPr>
            <a:r>
              <a:rPr lang="en-US" sz="2000" i="0" u="none" strike="noStrike" baseline="0" dirty="0" err="1">
                <a:solidFill>
                  <a:srgbClr val="000000"/>
                </a:solidFill>
                <a:latin typeface="Times New Roman" panose="02020603050405020304" pitchFamily="18" charset="0"/>
                <a:cs typeface="Times New Roman" panose="02020603050405020304" pitchFamily="18" charset="0"/>
              </a:rPr>
              <a:t>Eg</a:t>
            </a:r>
            <a:r>
              <a:rPr lang="en-US" sz="2000" i="0" u="none" strike="noStrike" baseline="0" dirty="0">
                <a:solidFill>
                  <a:srgbClr val="000000"/>
                </a:solidFill>
                <a:latin typeface="Times New Roman" panose="02020603050405020304" pitchFamily="18" charset="0"/>
                <a:cs typeface="Times New Roman" panose="02020603050405020304" pitchFamily="18" charset="0"/>
              </a:rPr>
              <a:t>: If a sample repository takes around 12 GB space in SVN where as in GIT it takes hardly 420 MB. </a:t>
            </a:r>
          </a:p>
          <a:p>
            <a:pPr>
              <a:lnSpc>
                <a:spcPct val="150000"/>
              </a:lnSpc>
            </a:pPr>
            <a:r>
              <a:rPr lang="en-US" sz="2000" i="0" u="none" strike="noStrike" baseline="0" dirty="0">
                <a:solidFill>
                  <a:srgbClr val="000000"/>
                </a:solidFill>
                <a:latin typeface="Times New Roman" panose="02020603050405020304" pitchFamily="18" charset="0"/>
                <a:cs typeface="Times New Roman" panose="02020603050405020304" pitchFamily="18" charset="0"/>
              </a:rPr>
              <a:t>Hence Staging Area is the most important Strength of GIT.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109846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491056-EA36-4AF8-BCEB-7D4D30610B9A}"/>
              </a:ext>
            </a:extLst>
          </p:cNvPr>
          <p:cNvSpPr txBox="1"/>
          <p:nvPr/>
        </p:nvSpPr>
        <p:spPr>
          <a:xfrm>
            <a:off x="172277" y="119270"/>
            <a:ext cx="11648661" cy="3573414"/>
          </a:xfrm>
          <a:prstGeom prst="rect">
            <a:avLst/>
          </a:prstGeom>
          <a:noFill/>
        </p:spPr>
        <p:txBody>
          <a:bodyPr wrap="square">
            <a:spAutoFit/>
          </a:bodyPr>
          <a:lstStyle/>
          <a:p>
            <a:r>
              <a:rPr lang="en-IN" sz="4000" i="0" u="none" strike="noStrike" baseline="0" dirty="0">
                <a:solidFill>
                  <a:srgbClr val="000000"/>
                </a:solidFill>
                <a:latin typeface="Calibri" panose="020F0502020204030204" pitchFamily="34" charset="0"/>
              </a:rPr>
              <a:t>3) Branching and Merging: </a:t>
            </a:r>
          </a:p>
          <a:p>
            <a:pPr>
              <a:lnSpc>
                <a:spcPct val="150000"/>
              </a:lnSpc>
            </a:pPr>
            <a:r>
              <a:rPr lang="en-US" sz="1800" i="0" u="none" strike="noStrike" baseline="0" dirty="0">
                <a:solidFill>
                  <a:srgbClr val="000000"/>
                </a:solidFill>
                <a:latin typeface="Calibri" panose="020F0502020204030204" pitchFamily="34" charset="0"/>
              </a:rPr>
              <a:t>We can create and work on multiple branches simultaneously and all these are branches are isolated from each other. It enables multiple work flows. </a:t>
            </a:r>
          </a:p>
          <a:p>
            <a:pPr>
              <a:lnSpc>
                <a:spcPct val="150000"/>
              </a:lnSpc>
            </a:pPr>
            <a:r>
              <a:rPr lang="en-US" sz="1800" i="0" u="none" strike="noStrike" baseline="0" dirty="0">
                <a:solidFill>
                  <a:srgbClr val="000000"/>
                </a:solidFill>
                <a:latin typeface="Calibri" panose="020F0502020204030204" pitchFamily="34" charset="0"/>
              </a:rPr>
              <a:t>We can merge multiple branches into a single branch. We can commit branch wise also. </a:t>
            </a:r>
          </a:p>
          <a:p>
            <a:pPr>
              <a:lnSpc>
                <a:spcPct val="150000"/>
              </a:lnSpc>
            </a:pPr>
            <a:r>
              <a:rPr lang="en-US" sz="1800" i="0" u="none" strike="noStrike" baseline="0" dirty="0">
                <a:solidFill>
                  <a:srgbClr val="000000"/>
                </a:solidFill>
                <a:latin typeface="Calibri" panose="020F0502020204030204" pitchFamily="34" charset="0"/>
              </a:rPr>
              <a:t>4. Moving files in GIT is very easy as GIT automatically tracks the moves. Whereas in other VCS we need to create a new file &amp; then delete the old one. </a:t>
            </a:r>
          </a:p>
          <a:p>
            <a:pPr>
              <a:lnSpc>
                <a:spcPct val="150000"/>
              </a:lnSpc>
            </a:pPr>
            <a:r>
              <a:rPr lang="en-US" sz="1800" i="0" u="none" strike="noStrike" baseline="0" dirty="0">
                <a:solidFill>
                  <a:srgbClr val="000000"/>
                </a:solidFill>
                <a:latin typeface="Calibri" panose="020F0502020204030204" pitchFamily="34" charset="0"/>
              </a:rPr>
              <a:t>5. Freeware and Open Source </a:t>
            </a:r>
          </a:p>
          <a:p>
            <a:pPr>
              <a:lnSpc>
                <a:spcPct val="150000"/>
              </a:lnSpc>
            </a:pPr>
            <a:r>
              <a:rPr lang="en-US" sz="1800" i="0" u="none" strike="noStrike" baseline="0" dirty="0">
                <a:solidFill>
                  <a:srgbClr val="000000"/>
                </a:solidFill>
                <a:latin typeface="Calibri" panose="020F0502020204030204" pitchFamily="34" charset="0"/>
              </a:rPr>
              <a:t>6. It provides support for multiple platforms. </a:t>
            </a:r>
            <a:endParaRPr lang="en-IN" dirty="0"/>
          </a:p>
        </p:txBody>
      </p:sp>
    </p:spTree>
    <p:extLst>
      <p:ext uri="{BB962C8B-B14F-4D97-AF65-F5344CB8AC3E}">
        <p14:creationId xmlns:p14="http://schemas.microsoft.com/office/powerpoint/2010/main" val="7684173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D1E7156-4D83-4170-854C-56004C848255}"/>
              </a:ext>
            </a:extLst>
          </p:cNvPr>
          <p:cNvSpPr txBox="1"/>
          <p:nvPr/>
        </p:nvSpPr>
        <p:spPr>
          <a:xfrm>
            <a:off x="0" y="0"/>
            <a:ext cx="9144000" cy="369332"/>
          </a:xfrm>
          <a:prstGeom prst="rect">
            <a:avLst/>
          </a:prstGeom>
          <a:noFill/>
        </p:spPr>
        <p:txBody>
          <a:bodyPr wrap="square">
            <a:spAutoFit/>
          </a:bodyPr>
          <a:lstStyle/>
          <a:p>
            <a:r>
              <a:rPr lang="en-IN" sz="1800" b="1" i="0" u="none" strike="noStrike" baseline="0" dirty="0">
                <a:solidFill>
                  <a:srgbClr val="000000"/>
                </a:solidFill>
                <a:latin typeface="Calibri" panose="020F0502020204030204" pitchFamily="34" charset="0"/>
              </a:rPr>
              <a:t>GIT Architecture: </a:t>
            </a:r>
            <a:endParaRPr lang="en-IN" dirty="0"/>
          </a:p>
        </p:txBody>
      </p:sp>
      <p:pic>
        <p:nvPicPr>
          <p:cNvPr id="7" name="Picture 6">
            <a:extLst>
              <a:ext uri="{FF2B5EF4-FFF2-40B4-BE49-F238E27FC236}">
                <a16:creationId xmlns:a16="http://schemas.microsoft.com/office/drawing/2014/main" id="{83393C01-4BAA-405E-8941-261A67D51DE0}"/>
              </a:ext>
            </a:extLst>
          </p:cNvPr>
          <p:cNvPicPr>
            <a:picLocks noChangeAspect="1"/>
          </p:cNvPicPr>
          <p:nvPr/>
        </p:nvPicPr>
        <p:blipFill>
          <a:blip r:embed="rId2"/>
          <a:stretch>
            <a:fillRect/>
          </a:stretch>
        </p:blipFill>
        <p:spPr>
          <a:xfrm>
            <a:off x="238540" y="463826"/>
            <a:ext cx="11012556" cy="6228522"/>
          </a:xfrm>
          <a:prstGeom prst="rect">
            <a:avLst/>
          </a:prstGeom>
        </p:spPr>
      </p:pic>
    </p:spTree>
    <p:extLst>
      <p:ext uri="{BB962C8B-B14F-4D97-AF65-F5344CB8AC3E}">
        <p14:creationId xmlns:p14="http://schemas.microsoft.com/office/powerpoint/2010/main" val="14680272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11E81B7C-2C90-4F18-B47B-311E136D97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035" y="265044"/>
            <a:ext cx="11834191" cy="64140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69067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265DB5B-69AE-459E-A928-55C351DBB05D}"/>
              </a:ext>
            </a:extLst>
          </p:cNvPr>
          <p:cNvSpPr txBox="1"/>
          <p:nvPr/>
        </p:nvSpPr>
        <p:spPr>
          <a:xfrm>
            <a:off x="0" y="106018"/>
            <a:ext cx="12192000" cy="5355312"/>
          </a:xfrm>
          <a:prstGeom prst="rect">
            <a:avLst/>
          </a:prstGeom>
          <a:noFill/>
        </p:spPr>
        <p:txBody>
          <a:bodyPr wrap="square">
            <a:spAutoFit/>
          </a:bodyPr>
          <a:lstStyle/>
          <a:p>
            <a:pPr algn="l"/>
            <a:r>
              <a:rPr lang="en-US" b="0" i="0" dirty="0">
                <a:solidFill>
                  <a:srgbClr val="212529"/>
                </a:solidFill>
                <a:effectLst/>
                <a:latin typeface="Open Sans" panose="020B0606030504020204" pitchFamily="34" charset="0"/>
              </a:rPr>
              <a:t>Most of the version control systems have a two-tier architecture. However, Git has a layer more, making it a three-tier architecture. But, why are there three layers of Git? Let’s find out.</a:t>
            </a:r>
          </a:p>
          <a:p>
            <a:pPr algn="l"/>
            <a:endParaRPr lang="en-US" b="0" i="0" dirty="0">
              <a:solidFill>
                <a:srgbClr val="212529"/>
              </a:solidFill>
              <a:effectLst/>
              <a:latin typeface="Open Sans" panose="020B0606030504020204" pitchFamily="34" charset="0"/>
            </a:endParaRPr>
          </a:p>
          <a:p>
            <a:pPr algn="l"/>
            <a:r>
              <a:rPr lang="en-US" b="1" i="0" dirty="0">
                <a:solidFill>
                  <a:srgbClr val="212529"/>
                </a:solidFill>
                <a:effectLst/>
                <a:latin typeface="Open Sans" panose="020B0606030504020204" pitchFamily="34" charset="0"/>
              </a:rPr>
              <a:t>The three layers are:</a:t>
            </a:r>
          </a:p>
          <a:p>
            <a:pPr algn="l"/>
            <a:endParaRPr lang="en-US" b="0" i="0" dirty="0">
              <a:solidFill>
                <a:srgbClr val="212529"/>
              </a:solidFill>
              <a:effectLst/>
              <a:latin typeface="Open Sans" panose="020B0606030504020204" pitchFamily="34" charset="0"/>
            </a:endParaRPr>
          </a:p>
          <a:p>
            <a:pPr algn="l">
              <a:buFont typeface="Arial" panose="020B0604020202020204" pitchFamily="34" charset="0"/>
              <a:buChar char="•"/>
            </a:pPr>
            <a:r>
              <a:rPr lang="en-US" b="1" i="0" dirty="0">
                <a:solidFill>
                  <a:srgbClr val="212529"/>
                </a:solidFill>
                <a:effectLst/>
                <a:latin typeface="Open Sans" panose="020B0606030504020204" pitchFamily="34" charset="0"/>
              </a:rPr>
              <a:t>Working directory</a:t>
            </a:r>
            <a:r>
              <a:rPr lang="en-US" b="0" i="0" dirty="0">
                <a:solidFill>
                  <a:srgbClr val="212529"/>
                </a:solidFill>
                <a:effectLst/>
                <a:latin typeface="Open Sans" panose="020B0606030504020204" pitchFamily="34" charset="0"/>
              </a:rPr>
              <a:t>: This is created when a Git project is initialized onto your local machine and allows you to edit the source code copied.</a:t>
            </a:r>
          </a:p>
          <a:p>
            <a:pPr algn="l">
              <a:buFont typeface="Arial" panose="020B0604020202020204" pitchFamily="34" charset="0"/>
              <a:buChar char="•"/>
            </a:pPr>
            <a:endParaRPr lang="en-US" b="0" i="0" dirty="0">
              <a:solidFill>
                <a:srgbClr val="212529"/>
              </a:solidFill>
              <a:effectLst/>
              <a:latin typeface="Open Sans" panose="020B0606030504020204" pitchFamily="34" charset="0"/>
            </a:endParaRPr>
          </a:p>
          <a:p>
            <a:pPr algn="l">
              <a:buFont typeface="Arial" panose="020B0604020202020204" pitchFamily="34" charset="0"/>
              <a:buChar char="•"/>
            </a:pPr>
            <a:r>
              <a:rPr lang="en-US" b="1" i="0" dirty="0">
                <a:solidFill>
                  <a:srgbClr val="212529"/>
                </a:solidFill>
                <a:effectLst/>
                <a:latin typeface="Open Sans" panose="020B0606030504020204" pitchFamily="34" charset="0"/>
              </a:rPr>
              <a:t>Staging area</a:t>
            </a:r>
            <a:r>
              <a:rPr lang="en-US" b="0" i="0" dirty="0">
                <a:solidFill>
                  <a:srgbClr val="212529"/>
                </a:solidFill>
                <a:effectLst/>
                <a:latin typeface="Open Sans" panose="020B0606030504020204" pitchFamily="34" charset="0"/>
              </a:rPr>
              <a:t>: Post the edits, the code is staged in the staging area by applying the command, </a:t>
            </a:r>
            <a:r>
              <a:rPr lang="en-US" b="1" i="0" dirty="0">
                <a:solidFill>
                  <a:srgbClr val="212529"/>
                </a:solidFill>
                <a:effectLst/>
                <a:latin typeface="Open Sans" panose="020B0606030504020204" pitchFamily="34" charset="0"/>
              </a:rPr>
              <a:t>git add</a:t>
            </a:r>
            <a:r>
              <a:rPr lang="en-US" b="0" i="0" dirty="0">
                <a:solidFill>
                  <a:srgbClr val="212529"/>
                </a:solidFill>
                <a:effectLst/>
                <a:latin typeface="Open Sans" panose="020B0606030504020204" pitchFamily="34" charset="0"/>
              </a:rPr>
              <a:t>. This displays a preview for the next stage. In case further modifications are made in the working directory, the snapshots for these two layers will be different. However, these can be synced by using the same ‘git add’ command.</a:t>
            </a:r>
          </a:p>
          <a:p>
            <a:pPr algn="l">
              <a:buFont typeface="Arial" panose="020B0604020202020204" pitchFamily="34" charset="0"/>
              <a:buChar char="•"/>
            </a:pPr>
            <a:endParaRPr lang="en-US" b="0" i="0" dirty="0">
              <a:solidFill>
                <a:srgbClr val="212529"/>
              </a:solidFill>
              <a:effectLst/>
              <a:latin typeface="Open Sans" panose="020B0606030504020204" pitchFamily="34" charset="0"/>
            </a:endParaRPr>
          </a:p>
          <a:p>
            <a:pPr algn="l">
              <a:buFont typeface="Arial" panose="020B0604020202020204" pitchFamily="34" charset="0"/>
              <a:buChar char="•"/>
            </a:pPr>
            <a:r>
              <a:rPr lang="en-US" b="1" i="0" dirty="0">
                <a:solidFill>
                  <a:srgbClr val="212529"/>
                </a:solidFill>
                <a:effectLst/>
                <a:latin typeface="Open Sans" panose="020B0606030504020204" pitchFamily="34" charset="0"/>
              </a:rPr>
              <a:t>Local repository</a:t>
            </a:r>
            <a:r>
              <a:rPr lang="en-US" b="0" i="0" dirty="0">
                <a:solidFill>
                  <a:srgbClr val="212529"/>
                </a:solidFill>
                <a:effectLst/>
                <a:latin typeface="Open Sans" panose="020B0606030504020204" pitchFamily="34" charset="0"/>
              </a:rPr>
              <a:t>: If no further edits are required to be done, then you can go ahead and apply the </a:t>
            </a:r>
            <a:r>
              <a:rPr lang="en-US" b="1" i="0" dirty="0">
                <a:solidFill>
                  <a:srgbClr val="212529"/>
                </a:solidFill>
                <a:effectLst/>
                <a:latin typeface="Open Sans" panose="020B0606030504020204" pitchFamily="34" charset="0"/>
              </a:rPr>
              <a:t>git</a:t>
            </a:r>
          </a:p>
          <a:p>
            <a:pPr algn="l"/>
            <a:endParaRPr lang="en-US" b="1" i="0" dirty="0">
              <a:solidFill>
                <a:srgbClr val="212529"/>
              </a:solidFill>
              <a:effectLst/>
              <a:latin typeface="Open Sans" panose="020B0606030504020204" pitchFamily="34" charset="0"/>
            </a:endParaRPr>
          </a:p>
          <a:p>
            <a:pPr algn="l">
              <a:buFont typeface="Arial" panose="020B0604020202020204" pitchFamily="34" charset="0"/>
              <a:buChar char="•"/>
            </a:pPr>
            <a:r>
              <a:rPr lang="en-US" b="1" i="0" dirty="0">
                <a:solidFill>
                  <a:srgbClr val="212529"/>
                </a:solidFill>
                <a:effectLst/>
                <a:latin typeface="Open Sans" panose="020B0606030504020204" pitchFamily="34" charset="0"/>
              </a:rPr>
              <a:t> commit</a:t>
            </a:r>
            <a:r>
              <a:rPr lang="en-US" b="0" i="0" dirty="0">
                <a:solidFill>
                  <a:srgbClr val="212529"/>
                </a:solidFill>
                <a:effectLst/>
                <a:latin typeface="Open Sans" panose="020B0606030504020204" pitchFamily="34" charset="0"/>
              </a:rPr>
              <a:t> command. This replicates the latest snapshots in all three stages, making them in sync with each other.</a:t>
            </a:r>
          </a:p>
          <a:p>
            <a:pPr algn="l">
              <a:buFont typeface="Arial" panose="020B0604020202020204" pitchFamily="34" charset="0"/>
              <a:buChar char="•"/>
            </a:pPr>
            <a:endParaRPr lang="en-US" b="0" i="0" dirty="0">
              <a:solidFill>
                <a:srgbClr val="212529"/>
              </a:solidFill>
              <a:effectLst/>
              <a:latin typeface="Open Sans" panose="020B0606030504020204" pitchFamily="34" charset="0"/>
            </a:endParaRPr>
          </a:p>
          <a:p>
            <a:pPr algn="l"/>
            <a:r>
              <a:rPr lang="en-US" b="0" i="0" dirty="0">
                <a:solidFill>
                  <a:srgbClr val="212529"/>
                </a:solidFill>
                <a:effectLst/>
                <a:latin typeface="Open Sans" panose="020B0606030504020204" pitchFamily="34" charset="0"/>
              </a:rPr>
              <a:t>After reading about the architecture and getting a better knowledge of Git, this ‘What is Git?’ blog will help you understand how you can make use of Git.</a:t>
            </a:r>
          </a:p>
        </p:txBody>
      </p:sp>
    </p:spTree>
    <p:extLst>
      <p:ext uri="{BB962C8B-B14F-4D97-AF65-F5344CB8AC3E}">
        <p14:creationId xmlns:p14="http://schemas.microsoft.com/office/powerpoint/2010/main" val="2504669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36D670-67C7-43B5-AC4C-53D8EB7FAFF4}"/>
              </a:ext>
            </a:extLst>
          </p:cNvPr>
          <p:cNvSpPr txBox="1"/>
          <p:nvPr/>
        </p:nvSpPr>
        <p:spPr>
          <a:xfrm>
            <a:off x="172277" y="212036"/>
            <a:ext cx="11820939" cy="3416320"/>
          </a:xfrm>
          <a:prstGeom prst="rect">
            <a:avLst/>
          </a:prstGeom>
          <a:noFill/>
        </p:spPr>
        <p:txBody>
          <a:bodyPr wrap="square">
            <a:spAutoFit/>
          </a:bodyPr>
          <a:lstStyle/>
          <a:p>
            <a:pPr algn="l"/>
            <a:r>
              <a:rPr lang="en-US" b="1" i="0" dirty="0">
                <a:solidFill>
                  <a:srgbClr val="212529"/>
                </a:solidFill>
                <a:effectLst/>
                <a:latin typeface="Open Sans" panose="020B0606030504020204" pitchFamily="34" charset="0"/>
              </a:rPr>
              <a:t>How to use Git?</a:t>
            </a:r>
          </a:p>
          <a:p>
            <a:pPr algn="l"/>
            <a:endParaRPr lang="en-US" b="1" i="0" dirty="0">
              <a:solidFill>
                <a:srgbClr val="212529"/>
              </a:solidFill>
              <a:effectLst/>
              <a:latin typeface="Open Sans" panose="020B0606030504020204" pitchFamily="34" charset="0"/>
            </a:endParaRPr>
          </a:p>
          <a:p>
            <a:pPr algn="l"/>
            <a:r>
              <a:rPr lang="en-US" b="0" i="0" dirty="0">
                <a:solidFill>
                  <a:srgbClr val="212529"/>
                </a:solidFill>
                <a:effectLst/>
                <a:latin typeface="Open Sans" panose="020B0606030504020204" pitchFamily="34" charset="0"/>
              </a:rPr>
              <a:t>Much of Git’s popularity is attributed to its user-friendly nature. You can check out these simple concepts to perform certain basic operations and get acquainted with </a:t>
            </a:r>
            <a:r>
              <a:rPr lang="en-US" b="0" i="0" u="none" strike="noStrike" dirty="0">
                <a:solidFill>
                  <a:srgbClr val="007BFF"/>
                </a:solidFill>
                <a:effectLst/>
                <a:latin typeface="Open Sans" panose="020B0606030504020204" pitchFamily="34" charset="0"/>
                <a:hlinkClick r:id="rId2"/>
              </a:rPr>
              <a:t>Git basics</a:t>
            </a:r>
            <a:r>
              <a:rPr lang="en-US" b="0" i="0" dirty="0">
                <a:solidFill>
                  <a:srgbClr val="212529"/>
                </a:solidFill>
                <a:effectLst/>
                <a:latin typeface="Open Sans" panose="020B0606030504020204" pitchFamily="34" charset="0"/>
              </a:rPr>
              <a:t>.</a:t>
            </a:r>
          </a:p>
          <a:p>
            <a:pPr algn="l"/>
            <a:endParaRPr lang="en-US" b="0" i="0" dirty="0">
              <a:solidFill>
                <a:srgbClr val="212529"/>
              </a:solidFill>
              <a:effectLst/>
              <a:latin typeface="Open Sans" panose="020B0606030504020204" pitchFamily="34" charset="0"/>
            </a:endParaRPr>
          </a:p>
          <a:p>
            <a:pPr algn="l">
              <a:buFont typeface="Arial" panose="020B0604020202020204" pitchFamily="34" charset="0"/>
              <a:buChar char="•"/>
            </a:pPr>
            <a:r>
              <a:rPr lang="en-US" b="1" i="0" dirty="0">
                <a:solidFill>
                  <a:srgbClr val="212529"/>
                </a:solidFill>
                <a:effectLst/>
                <a:latin typeface="Open Sans" panose="020B0606030504020204" pitchFamily="34" charset="0"/>
              </a:rPr>
              <a:t>Commit</a:t>
            </a:r>
            <a:r>
              <a:rPr lang="en-US" b="0" i="0" dirty="0">
                <a:solidFill>
                  <a:srgbClr val="212529"/>
                </a:solidFill>
                <a:effectLst/>
                <a:latin typeface="Open Sans" panose="020B0606030504020204" pitchFamily="34" charset="0"/>
              </a:rPr>
              <a:t>: This is an object that takes the current state of the repository.</a:t>
            </a:r>
          </a:p>
          <a:p>
            <a:pPr algn="l"/>
            <a:endParaRPr lang="en-US" b="0" i="0" dirty="0">
              <a:solidFill>
                <a:srgbClr val="212529"/>
              </a:solidFill>
              <a:effectLst/>
              <a:latin typeface="Open Sans" panose="020B0606030504020204" pitchFamily="34" charset="0"/>
            </a:endParaRPr>
          </a:p>
          <a:p>
            <a:pPr algn="l">
              <a:buFont typeface="Arial" panose="020B0604020202020204" pitchFamily="34" charset="0"/>
              <a:buChar char="•"/>
            </a:pPr>
            <a:r>
              <a:rPr lang="en-US" b="1" i="0" dirty="0">
                <a:solidFill>
                  <a:srgbClr val="212529"/>
                </a:solidFill>
                <a:effectLst/>
                <a:latin typeface="Open Sans" panose="020B0606030504020204" pitchFamily="34" charset="0"/>
              </a:rPr>
              <a:t>Pull</a:t>
            </a:r>
            <a:r>
              <a:rPr lang="en-US" b="0" i="0" dirty="0">
                <a:solidFill>
                  <a:srgbClr val="212529"/>
                </a:solidFill>
                <a:effectLst/>
                <a:latin typeface="Open Sans" panose="020B0606030504020204" pitchFamily="34" charset="0"/>
              </a:rPr>
              <a:t>: This operation copies the changes made to a project to the local repository from the remote one.</a:t>
            </a:r>
          </a:p>
          <a:p>
            <a:pPr algn="l"/>
            <a:endParaRPr lang="en-US" b="0" i="0" dirty="0">
              <a:solidFill>
                <a:srgbClr val="212529"/>
              </a:solidFill>
              <a:effectLst/>
              <a:latin typeface="Open Sans" panose="020B0606030504020204" pitchFamily="34" charset="0"/>
            </a:endParaRPr>
          </a:p>
          <a:p>
            <a:pPr algn="l">
              <a:buFont typeface="Arial" panose="020B0604020202020204" pitchFamily="34" charset="0"/>
              <a:buChar char="•"/>
            </a:pPr>
            <a:r>
              <a:rPr lang="en-US" b="1" i="0" dirty="0">
                <a:solidFill>
                  <a:srgbClr val="212529"/>
                </a:solidFill>
                <a:effectLst/>
                <a:latin typeface="Open Sans" panose="020B0606030504020204" pitchFamily="34" charset="0"/>
              </a:rPr>
              <a:t>Push</a:t>
            </a:r>
            <a:r>
              <a:rPr lang="en-US" b="0" i="0" dirty="0">
                <a:solidFill>
                  <a:srgbClr val="212529"/>
                </a:solidFill>
                <a:effectLst/>
                <a:latin typeface="Open Sans" panose="020B0606030504020204" pitchFamily="34" charset="0"/>
              </a:rPr>
              <a:t>: This operation copies the changes made to a project to the remote repository from the local one.</a:t>
            </a:r>
          </a:p>
          <a:p>
            <a:pPr algn="l"/>
            <a:endParaRPr lang="en-US" b="0" i="0" dirty="0">
              <a:solidFill>
                <a:srgbClr val="212529"/>
              </a:solidFill>
              <a:effectLst/>
              <a:latin typeface="Open Sans" panose="020B0606030504020204" pitchFamily="34" charset="0"/>
            </a:endParaRPr>
          </a:p>
          <a:p>
            <a:pPr algn="l"/>
            <a:r>
              <a:rPr lang="en-US" b="0" i="0" dirty="0">
                <a:solidFill>
                  <a:srgbClr val="212529"/>
                </a:solidFill>
                <a:effectLst/>
                <a:latin typeface="Open Sans" panose="020B0606030504020204" pitchFamily="34" charset="0"/>
              </a:rPr>
              <a:t>Now, let’s take a look at some of the basic and commonly used commands in Git.</a:t>
            </a:r>
          </a:p>
        </p:txBody>
      </p:sp>
    </p:spTree>
    <p:extLst>
      <p:ext uri="{BB962C8B-B14F-4D97-AF65-F5344CB8AC3E}">
        <p14:creationId xmlns:p14="http://schemas.microsoft.com/office/powerpoint/2010/main" val="6814504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2D4544C5-9F05-4CD0-99A1-CFDD902692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67" y="-89340"/>
            <a:ext cx="12179933" cy="69473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8563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5B687A3-629A-44B6-895C-B8BF5A04B5D1}"/>
              </a:ext>
            </a:extLst>
          </p:cNvPr>
          <p:cNvSpPr txBox="1"/>
          <p:nvPr/>
        </p:nvSpPr>
        <p:spPr>
          <a:xfrm>
            <a:off x="0" y="0"/>
            <a:ext cx="12192000" cy="5909310"/>
          </a:xfrm>
          <a:prstGeom prst="rect">
            <a:avLst/>
          </a:prstGeom>
          <a:noFill/>
        </p:spPr>
        <p:txBody>
          <a:bodyPr wrap="square">
            <a:spAutoFit/>
          </a:bodyPr>
          <a:lstStyle/>
          <a:p>
            <a:pPr algn="l"/>
            <a:r>
              <a:rPr lang="en-US" b="0" i="0" dirty="0">
                <a:solidFill>
                  <a:srgbClr val="212529"/>
                </a:solidFill>
                <a:effectLst/>
                <a:latin typeface="Open Sans" panose="020B0606030504020204" pitchFamily="34" charset="0"/>
              </a:rPr>
              <a:t>Now, let’s take a look at some of the basic and commonly used commands in Git.</a:t>
            </a:r>
          </a:p>
          <a:p>
            <a:pPr algn="l"/>
            <a:endParaRPr lang="en-US" b="0" i="0" dirty="0">
              <a:solidFill>
                <a:srgbClr val="212529"/>
              </a:solidFill>
              <a:effectLst/>
              <a:latin typeface="Open Sans" panose="020B0606030504020204" pitchFamily="34" charset="0"/>
            </a:endParaRPr>
          </a:p>
          <a:p>
            <a:pPr algn="l"/>
            <a:r>
              <a:rPr lang="en-US" b="1" i="0" dirty="0">
                <a:solidFill>
                  <a:srgbClr val="212529"/>
                </a:solidFill>
                <a:effectLst/>
                <a:latin typeface="Open Sans" panose="020B0606030504020204" pitchFamily="34" charset="0"/>
              </a:rPr>
              <a:t>Git Commands</a:t>
            </a:r>
          </a:p>
          <a:p>
            <a:pPr algn="l"/>
            <a:endParaRPr lang="en-US" b="1" i="0" dirty="0">
              <a:solidFill>
                <a:srgbClr val="212529"/>
              </a:solidFill>
              <a:effectLst/>
              <a:latin typeface="Open Sans" panose="020B0606030504020204" pitchFamily="34" charset="0"/>
            </a:endParaRPr>
          </a:p>
          <a:p>
            <a:pPr algn="l"/>
            <a:r>
              <a:rPr lang="en-US" b="0" i="0" dirty="0">
                <a:solidFill>
                  <a:srgbClr val="212529"/>
                </a:solidFill>
                <a:effectLst/>
                <a:latin typeface="Open Sans" panose="020B0606030504020204" pitchFamily="34" charset="0"/>
              </a:rPr>
              <a:t>Based on what you work with, be it remote or local repositories, the Git commands change. Let’s take a look at the various </a:t>
            </a:r>
            <a:r>
              <a:rPr lang="en-US" b="0" i="0" u="none" strike="noStrike" dirty="0">
                <a:solidFill>
                  <a:srgbClr val="007BFF"/>
                </a:solidFill>
                <a:effectLst/>
                <a:latin typeface="Open Sans" panose="020B0606030504020204" pitchFamily="34" charset="0"/>
                <a:hlinkClick r:id="rId2"/>
              </a:rPr>
              <a:t>commands in Git</a:t>
            </a:r>
            <a:r>
              <a:rPr lang="en-US" b="0" i="0" dirty="0">
                <a:solidFill>
                  <a:srgbClr val="212529"/>
                </a:solidFill>
                <a:effectLst/>
                <a:latin typeface="Open Sans" panose="020B0606030504020204" pitchFamily="34" charset="0"/>
              </a:rPr>
              <a:t>.</a:t>
            </a:r>
          </a:p>
          <a:p>
            <a:pPr algn="l"/>
            <a:endParaRPr lang="en-US" b="0" i="0" dirty="0">
              <a:solidFill>
                <a:srgbClr val="212529"/>
              </a:solidFill>
              <a:effectLst/>
              <a:latin typeface="Open Sans" panose="020B0606030504020204" pitchFamily="34" charset="0"/>
            </a:endParaRPr>
          </a:p>
          <a:p>
            <a:pPr algn="l"/>
            <a:r>
              <a:rPr lang="en-US" b="1" i="0" dirty="0">
                <a:solidFill>
                  <a:srgbClr val="212529"/>
                </a:solidFill>
                <a:effectLst/>
                <a:latin typeface="Open Sans" panose="020B0606030504020204" pitchFamily="34" charset="0"/>
              </a:rPr>
              <a:t>Git Commands When Working with Local Repositories</a:t>
            </a:r>
          </a:p>
          <a:p>
            <a:pPr algn="l"/>
            <a:endParaRPr lang="en-US" b="0" i="0" dirty="0">
              <a:solidFill>
                <a:srgbClr val="212529"/>
              </a:solidFill>
              <a:effectLst/>
              <a:latin typeface="Open Sans" panose="020B0606030504020204" pitchFamily="34" charset="0"/>
            </a:endParaRPr>
          </a:p>
          <a:p>
            <a:pPr algn="l">
              <a:buFont typeface="Arial" panose="020B0604020202020204" pitchFamily="34" charset="0"/>
              <a:buChar char="•"/>
            </a:pPr>
            <a:r>
              <a:rPr lang="en-US" b="1" i="0" dirty="0">
                <a:solidFill>
                  <a:srgbClr val="212529"/>
                </a:solidFill>
                <a:effectLst/>
                <a:latin typeface="Open Sans" panose="020B0606030504020204" pitchFamily="34" charset="0"/>
              </a:rPr>
              <a:t>git </a:t>
            </a:r>
            <a:r>
              <a:rPr lang="en-US" b="1" i="0" dirty="0" err="1">
                <a:solidFill>
                  <a:srgbClr val="212529"/>
                </a:solidFill>
                <a:effectLst/>
                <a:latin typeface="Open Sans" panose="020B0606030504020204" pitchFamily="34" charset="0"/>
              </a:rPr>
              <a:t>init</a:t>
            </a:r>
            <a:r>
              <a:rPr lang="en-US" b="1" i="0" dirty="0">
                <a:solidFill>
                  <a:srgbClr val="212529"/>
                </a:solidFill>
                <a:effectLst/>
                <a:latin typeface="Open Sans" panose="020B0606030504020204" pitchFamily="34" charset="0"/>
              </a:rPr>
              <a:t>:</a:t>
            </a:r>
            <a:r>
              <a:rPr lang="en-US" b="0" i="0" dirty="0">
                <a:solidFill>
                  <a:srgbClr val="212529"/>
                </a:solidFill>
                <a:effectLst/>
                <a:latin typeface="Open Sans" panose="020B0606030504020204" pitchFamily="34" charset="0"/>
              </a:rPr>
              <a:t> This Git command converts a directory into an empty repository. This is the initial step you need to take to build a repository. Once you run git </a:t>
            </a:r>
            <a:r>
              <a:rPr lang="en-US" b="0" i="0" dirty="0" err="1">
                <a:solidFill>
                  <a:srgbClr val="212529"/>
                </a:solidFill>
                <a:effectLst/>
                <a:latin typeface="Open Sans" panose="020B0606030504020204" pitchFamily="34" charset="0"/>
              </a:rPr>
              <a:t>init</a:t>
            </a:r>
            <a:r>
              <a:rPr lang="en-US" b="0" i="0" dirty="0">
                <a:solidFill>
                  <a:srgbClr val="212529"/>
                </a:solidFill>
                <a:effectLst/>
                <a:latin typeface="Open Sans" panose="020B0606030504020204" pitchFamily="34" charset="0"/>
              </a:rPr>
              <a:t>, you will be able to add and commit files and directories.</a:t>
            </a:r>
          </a:p>
          <a:p>
            <a:pPr algn="l"/>
            <a:endParaRPr lang="en-US" b="0" i="0" dirty="0">
              <a:solidFill>
                <a:srgbClr val="212529"/>
              </a:solidFill>
              <a:effectLst/>
              <a:latin typeface="Open Sans" panose="020B0606030504020204" pitchFamily="34" charset="0"/>
            </a:endParaRPr>
          </a:p>
          <a:p>
            <a:pPr algn="l">
              <a:buFont typeface="Arial" panose="020B0604020202020204" pitchFamily="34" charset="0"/>
              <a:buChar char="•"/>
            </a:pPr>
            <a:r>
              <a:rPr lang="en-US" b="1" i="0" dirty="0">
                <a:solidFill>
                  <a:srgbClr val="212529"/>
                </a:solidFill>
                <a:effectLst/>
                <a:latin typeface="Open Sans" panose="020B0606030504020204" pitchFamily="34" charset="0"/>
              </a:rPr>
              <a:t>git add:</a:t>
            </a:r>
            <a:r>
              <a:rPr lang="en-US" b="0" i="0" dirty="0">
                <a:solidFill>
                  <a:srgbClr val="212529"/>
                </a:solidFill>
                <a:effectLst/>
                <a:latin typeface="Open Sans" panose="020B0606030504020204" pitchFamily="34" charset="0"/>
              </a:rPr>
              <a:t> This command allows you to add files in the Git staging area. The file must be added to the index of Git before being available to commit to any particular repository. You can use this command to add directories, files, etc.</a:t>
            </a:r>
          </a:p>
          <a:p>
            <a:pPr algn="l"/>
            <a:endParaRPr lang="en-US" b="0" i="0" dirty="0">
              <a:solidFill>
                <a:srgbClr val="212529"/>
              </a:solidFill>
              <a:effectLst/>
              <a:latin typeface="Open Sans" panose="020B0606030504020204" pitchFamily="34" charset="0"/>
            </a:endParaRPr>
          </a:p>
          <a:p>
            <a:pPr algn="l">
              <a:buFont typeface="Arial" panose="020B0604020202020204" pitchFamily="34" charset="0"/>
              <a:buChar char="•"/>
            </a:pPr>
            <a:r>
              <a:rPr lang="en-US" b="1" i="0" dirty="0">
                <a:solidFill>
                  <a:srgbClr val="212529"/>
                </a:solidFill>
                <a:effectLst/>
                <a:latin typeface="Open Sans" panose="020B0606030504020204" pitchFamily="34" charset="0"/>
              </a:rPr>
              <a:t>git commit:</a:t>
            </a:r>
            <a:r>
              <a:rPr lang="en-US" b="0" i="0" dirty="0">
                <a:solidFill>
                  <a:srgbClr val="212529"/>
                </a:solidFill>
                <a:effectLst/>
                <a:latin typeface="Open Sans" panose="020B0606030504020204" pitchFamily="34" charset="0"/>
              </a:rPr>
              <a:t> The commit command in Git allows you to track the changes in the files in a local repository. Each commit has its own unique ID for reference.</a:t>
            </a:r>
          </a:p>
          <a:p>
            <a:pPr algn="l"/>
            <a:endParaRPr lang="en-US" b="0" i="0" dirty="0">
              <a:solidFill>
                <a:srgbClr val="212529"/>
              </a:solidFill>
              <a:effectLst/>
              <a:latin typeface="Open Sans" panose="020B0606030504020204" pitchFamily="34" charset="0"/>
            </a:endParaRPr>
          </a:p>
          <a:p>
            <a:pPr algn="l">
              <a:buFont typeface="Arial" panose="020B0604020202020204" pitchFamily="34" charset="0"/>
              <a:buChar char="•"/>
            </a:pPr>
            <a:r>
              <a:rPr lang="en-US" b="1" i="0" dirty="0">
                <a:solidFill>
                  <a:srgbClr val="212529"/>
                </a:solidFill>
                <a:effectLst/>
                <a:latin typeface="Open Sans" panose="020B0606030504020204" pitchFamily="34" charset="0"/>
              </a:rPr>
              <a:t>git status:</a:t>
            </a:r>
            <a:r>
              <a:rPr lang="en-US" b="0" i="0" dirty="0">
                <a:solidFill>
                  <a:srgbClr val="212529"/>
                </a:solidFill>
                <a:effectLst/>
                <a:latin typeface="Open Sans" panose="020B0606030504020204" pitchFamily="34" charset="0"/>
              </a:rPr>
              <a:t> The git status command returns the present state of a repository, like if the file is in the staging area but has not been committed.</a:t>
            </a:r>
          </a:p>
        </p:txBody>
      </p:sp>
    </p:spTree>
    <p:extLst>
      <p:ext uri="{BB962C8B-B14F-4D97-AF65-F5344CB8AC3E}">
        <p14:creationId xmlns:p14="http://schemas.microsoft.com/office/powerpoint/2010/main" val="41073606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6C962A5-6DB3-4EE9-91A8-D157E29F774D}"/>
              </a:ext>
            </a:extLst>
          </p:cNvPr>
          <p:cNvSpPr txBox="1"/>
          <p:nvPr/>
        </p:nvSpPr>
        <p:spPr>
          <a:xfrm>
            <a:off x="106017" y="119270"/>
            <a:ext cx="11940209" cy="3139321"/>
          </a:xfrm>
          <a:prstGeom prst="rect">
            <a:avLst/>
          </a:prstGeom>
          <a:noFill/>
        </p:spPr>
        <p:txBody>
          <a:bodyPr wrap="square">
            <a:spAutoFit/>
          </a:bodyPr>
          <a:lstStyle/>
          <a:p>
            <a:pPr algn="l">
              <a:buFont typeface="Arial" panose="020B0604020202020204" pitchFamily="34" charset="0"/>
              <a:buChar char="•"/>
            </a:pPr>
            <a:r>
              <a:rPr lang="en-US" b="1" i="0" dirty="0">
                <a:solidFill>
                  <a:srgbClr val="212529"/>
                </a:solidFill>
                <a:effectLst/>
                <a:latin typeface="Open Sans" panose="020B0606030504020204" pitchFamily="34" charset="0"/>
              </a:rPr>
              <a:t>git config:</a:t>
            </a:r>
            <a:r>
              <a:rPr lang="en-US" b="0" i="0" dirty="0">
                <a:solidFill>
                  <a:srgbClr val="212529"/>
                </a:solidFill>
                <a:effectLst/>
                <a:latin typeface="Open Sans" panose="020B0606030504020204" pitchFamily="34" charset="0"/>
              </a:rPr>
              <a:t> There are numerous configurations and settings possible in Git, and this command allows you to assign these settings. User.name and user. Email are the two significant settings that set the name and email address of a user.</a:t>
            </a:r>
          </a:p>
          <a:p>
            <a:pPr algn="l">
              <a:buFont typeface="Arial" panose="020B0604020202020204" pitchFamily="34" charset="0"/>
              <a:buChar char="•"/>
            </a:pPr>
            <a:endParaRPr lang="en-US" b="0" i="0" dirty="0">
              <a:solidFill>
                <a:srgbClr val="212529"/>
              </a:solidFill>
              <a:effectLst/>
              <a:latin typeface="Open Sans" panose="020B0606030504020204" pitchFamily="34" charset="0"/>
            </a:endParaRPr>
          </a:p>
          <a:p>
            <a:pPr algn="l">
              <a:buFont typeface="Arial" panose="020B0604020202020204" pitchFamily="34" charset="0"/>
              <a:buChar char="•"/>
            </a:pPr>
            <a:r>
              <a:rPr lang="en-US" b="1" i="0" dirty="0">
                <a:solidFill>
                  <a:srgbClr val="212529"/>
                </a:solidFill>
                <a:effectLst/>
                <a:latin typeface="Open Sans" panose="020B0606030504020204" pitchFamily="34" charset="0"/>
              </a:rPr>
              <a:t>git branch:</a:t>
            </a:r>
            <a:r>
              <a:rPr lang="en-US" b="0" i="0" dirty="0">
                <a:solidFill>
                  <a:srgbClr val="212529"/>
                </a:solidFill>
                <a:effectLst/>
                <a:latin typeface="Open Sans" panose="020B0606030504020204" pitchFamily="34" charset="0"/>
              </a:rPr>
              <a:t> This command determines the branch of the local repository and allows you to add or delete a branch.</a:t>
            </a:r>
          </a:p>
          <a:p>
            <a:pPr algn="l">
              <a:buFont typeface="Arial" panose="020B0604020202020204" pitchFamily="34" charset="0"/>
              <a:buChar char="•"/>
            </a:pPr>
            <a:endParaRPr lang="en-US" b="0" i="0" dirty="0">
              <a:solidFill>
                <a:srgbClr val="212529"/>
              </a:solidFill>
              <a:effectLst/>
              <a:latin typeface="Open Sans" panose="020B0606030504020204" pitchFamily="34" charset="0"/>
            </a:endParaRPr>
          </a:p>
          <a:p>
            <a:pPr algn="l">
              <a:buFont typeface="Arial" panose="020B0604020202020204" pitchFamily="34" charset="0"/>
              <a:buChar char="•"/>
            </a:pPr>
            <a:r>
              <a:rPr lang="en-US" b="1" i="0" dirty="0">
                <a:solidFill>
                  <a:srgbClr val="212529"/>
                </a:solidFill>
                <a:effectLst/>
                <a:latin typeface="Open Sans" panose="020B0606030504020204" pitchFamily="34" charset="0"/>
              </a:rPr>
              <a:t>git checkout:</a:t>
            </a:r>
            <a:r>
              <a:rPr lang="en-US" b="0" i="0" dirty="0">
                <a:solidFill>
                  <a:srgbClr val="212529"/>
                </a:solidFill>
                <a:effectLst/>
                <a:latin typeface="Open Sans" panose="020B0606030504020204" pitchFamily="34" charset="0"/>
              </a:rPr>
              <a:t> You can use this command to switch to another branch.</a:t>
            </a:r>
          </a:p>
          <a:p>
            <a:pPr algn="l"/>
            <a:endParaRPr lang="en-US" b="0" i="0" dirty="0">
              <a:solidFill>
                <a:srgbClr val="212529"/>
              </a:solidFill>
              <a:effectLst/>
              <a:latin typeface="Open Sans" panose="020B0606030504020204" pitchFamily="34" charset="0"/>
            </a:endParaRPr>
          </a:p>
          <a:p>
            <a:pPr algn="l">
              <a:buFont typeface="Arial" panose="020B0604020202020204" pitchFamily="34" charset="0"/>
              <a:buChar char="•"/>
            </a:pPr>
            <a:r>
              <a:rPr lang="en-US" b="1" i="0" dirty="0">
                <a:solidFill>
                  <a:srgbClr val="212529"/>
                </a:solidFill>
                <a:effectLst/>
                <a:latin typeface="Open Sans" panose="020B0606030504020204" pitchFamily="34" charset="0"/>
              </a:rPr>
              <a:t>git merge:</a:t>
            </a:r>
            <a:r>
              <a:rPr lang="en-US" b="0" i="0" dirty="0">
                <a:solidFill>
                  <a:srgbClr val="212529"/>
                </a:solidFill>
                <a:effectLst/>
                <a:latin typeface="Open Sans" panose="020B0606030504020204" pitchFamily="34" charset="0"/>
              </a:rPr>
              <a:t> The merge command allows you to integrate two or more branches together. It combines the changes made in the branches.</a:t>
            </a:r>
          </a:p>
        </p:txBody>
      </p:sp>
    </p:spTree>
    <p:extLst>
      <p:ext uri="{BB962C8B-B14F-4D97-AF65-F5344CB8AC3E}">
        <p14:creationId xmlns:p14="http://schemas.microsoft.com/office/powerpoint/2010/main" val="21341532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925AC76-FA16-491F-9D94-C341DA713E85}"/>
              </a:ext>
            </a:extLst>
          </p:cNvPr>
          <p:cNvSpPr txBox="1"/>
          <p:nvPr/>
        </p:nvSpPr>
        <p:spPr>
          <a:xfrm>
            <a:off x="92765" y="106017"/>
            <a:ext cx="11993218" cy="4801314"/>
          </a:xfrm>
          <a:prstGeom prst="rect">
            <a:avLst/>
          </a:prstGeom>
          <a:noFill/>
        </p:spPr>
        <p:txBody>
          <a:bodyPr wrap="square">
            <a:spAutoFit/>
          </a:bodyPr>
          <a:lstStyle/>
          <a:p>
            <a:pPr algn="l"/>
            <a:r>
              <a:rPr lang="en-US" b="1" i="0" dirty="0">
                <a:solidFill>
                  <a:srgbClr val="212529"/>
                </a:solidFill>
                <a:effectLst/>
                <a:latin typeface="Open Sans" panose="020B0606030504020204" pitchFamily="34" charset="0"/>
              </a:rPr>
              <a:t>Git Commands When Working with Remote Repositories</a:t>
            </a:r>
          </a:p>
          <a:p>
            <a:pPr algn="l"/>
            <a:endParaRPr lang="en-US" b="0" i="0" dirty="0">
              <a:solidFill>
                <a:srgbClr val="212529"/>
              </a:solidFill>
              <a:effectLst/>
              <a:latin typeface="Open Sans" panose="020B0606030504020204" pitchFamily="34" charset="0"/>
            </a:endParaRPr>
          </a:p>
          <a:p>
            <a:pPr algn="l">
              <a:buFont typeface="+mj-lt"/>
              <a:buAutoNum type="arabicPeriod"/>
            </a:pPr>
            <a:r>
              <a:rPr lang="en-US" b="1" i="0" dirty="0">
                <a:solidFill>
                  <a:srgbClr val="212529"/>
                </a:solidFill>
                <a:effectLst/>
                <a:latin typeface="Open Sans" panose="020B0606030504020204" pitchFamily="34" charset="0"/>
              </a:rPr>
              <a:t>git remote:</a:t>
            </a:r>
            <a:r>
              <a:rPr lang="en-US" b="0" i="0" dirty="0">
                <a:solidFill>
                  <a:srgbClr val="212529"/>
                </a:solidFill>
                <a:effectLst/>
                <a:latin typeface="Open Sans" panose="020B0606030504020204" pitchFamily="34" charset="0"/>
              </a:rPr>
              <a:t> This Git command allows you to connect a remote repository to a local repository.</a:t>
            </a:r>
          </a:p>
          <a:p>
            <a:pPr algn="l">
              <a:buFont typeface="+mj-lt"/>
              <a:buAutoNum type="arabicPeriod"/>
            </a:pPr>
            <a:endParaRPr lang="en-US" b="0" i="0" dirty="0">
              <a:solidFill>
                <a:srgbClr val="212529"/>
              </a:solidFill>
              <a:effectLst/>
              <a:latin typeface="Open Sans" panose="020B0606030504020204" pitchFamily="34" charset="0"/>
            </a:endParaRPr>
          </a:p>
          <a:p>
            <a:pPr algn="l">
              <a:buFont typeface="+mj-lt"/>
              <a:buAutoNum type="arabicPeriod"/>
            </a:pPr>
            <a:r>
              <a:rPr lang="en-US" b="1" i="0" dirty="0">
                <a:solidFill>
                  <a:srgbClr val="212529"/>
                </a:solidFill>
                <a:effectLst/>
                <a:latin typeface="Open Sans" panose="020B0606030504020204" pitchFamily="34" charset="0"/>
              </a:rPr>
              <a:t>git clone:</a:t>
            </a:r>
            <a:r>
              <a:rPr lang="en-US" b="0" i="0" dirty="0">
                <a:solidFill>
                  <a:srgbClr val="212529"/>
                </a:solidFill>
                <a:effectLst/>
                <a:latin typeface="Open Sans" panose="020B0606030504020204" pitchFamily="34" charset="0"/>
              </a:rPr>
              <a:t> You can use the clone command to create a local copy of an already existing remote repository. This allows you to copy and download the required repository to the system. It is similar to the </a:t>
            </a:r>
            <a:r>
              <a:rPr lang="en-US" b="0" i="0" dirty="0" err="1">
                <a:solidFill>
                  <a:srgbClr val="212529"/>
                </a:solidFill>
                <a:effectLst/>
                <a:latin typeface="Open Sans" panose="020B0606030504020204" pitchFamily="34" charset="0"/>
              </a:rPr>
              <a:t>init</a:t>
            </a:r>
            <a:r>
              <a:rPr lang="en-US" b="0" i="0" dirty="0">
                <a:solidFill>
                  <a:srgbClr val="212529"/>
                </a:solidFill>
                <a:effectLst/>
                <a:latin typeface="Open Sans" panose="020B0606030504020204" pitchFamily="34" charset="0"/>
              </a:rPr>
              <a:t> command while working with remote repositories as it allows you to build a local directory, consisting of all the necessary files and history of the repository.</a:t>
            </a:r>
          </a:p>
          <a:p>
            <a:pPr algn="l"/>
            <a:endParaRPr lang="en-US" b="0" i="0" dirty="0">
              <a:solidFill>
                <a:srgbClr val="212529"/>
              </a:solidFill>
              <a:effectLst/>
              <a:latin typeface="Open Sans" panose="020B0606030504020204" pitchFamily="34" charset="0"/>
            </a:endParaRPr>
          </a:p>
          <a:p>
            <a:pPr algn="l"/>
            <a:r>
              <a:rPr lang="en-US" b="1" i="0" dirty="0">
                <a:solidFill>
                  <a:srgbClr val="212529"/>
                </a:solidFill>
                <a:effectLst/>
                <a:latin typeface="Open Sans" panose="020B0606030504020204" pitchFamily="34" charset="0"/>
              </a:rPr>
              <a:t>3.git pull:</a:t>
            </a:r>
            <a:r>
              <a:rPr lang="en-US" b="0" i="0" dirty="0">
                <a:solidFill>
                  <a:srgbClr val="212529"/>
                </a:solidFill>
                <a:effectLst/>
                <a:latin typeface="Open Sans" panose="020B0606030504020204" pitchFamily="34" charset="0"/>
              </a:rPr>
              <a:t> The pull command is used to run the latest version of any repository. This pulls all the changes made from the remote to the local repository.</a:t>
            </a:r>
          </a:p>
          <a:p>
            <a:pPr algn="l"/>
            <a:endParaRPr lang="en-US" b="0" i="0" dirty="0">
              <a:solidFill>
                <a:srgbClr val="212529"/>
              </a:solidFill>
              <a:effectLst/>
              <a:latin typeface="Open Sans" panose="020B0606030504020204" pitchFamily="34" charset="0"/>
            </a:endParaRPr>
          </a:p>
          <a:p>
            <a:pPr algn="l"/>
            <a:r>
              <a:rPr lang="en-US" b="1" i="0" dirty="0">
                <a:solidFill>
                  <a:srgbClr val="212529"/>
                </a:solidFill>
                <a:effectLst/>
                <a:latin typeface="Open Sans" panose="020B0606030504020204" pitchFamily="34" charset="0"/>
              </a:rPr>
              <a:t>4.git push:</a:t>
            </a:r>
            <a:r>
              <a:rPr lang="en-US" b="0" i="0" dirty="0">
                <a:solidFill>
                  <a:srgbClr val="212529"/>
                </a:solidFill>
                <a:effectLst/>
                <a:latin typeface="Open Sans" panose="020B0606030504020204" pitchFamily="34" charset="0"/>
              </a:rPr>
              <a:t> This command sends local commits to the respective remote repository. It needs two parameters, i.e., the remote repository and the specific branch where it needs to be pushed.</a:t>
            </a:r>
          </a:p>
          <a:p>
            <a:pPr algn="l"/>
            <a:endParaRPr lang="en-US" b="0" i="0" dirty="0">
              <a:solidFill>
                <a:srgbClr val="212529"/>
              </a:solidFill>
              <a:effectLst/>
              <a:latin typeface="Open Sans" panose="020B0606030504020204" pitchFamily="34" charset="0"/>
            </a:endParaRPr>
          </a:p>
          <a:p>
            <a:pPr algn="l"/>
            <a:r>
              <a:rPr lang="en-US" b="0" i="0" dirty="0">
                <a:solidFill>
                  <a:srgbClr val="212529"/>
                </a:solidFill>
                <a:effectLst/>
                <a:latin typeface="Open Sans" panose="020B0606030504020204" pitchFamily="34" charset="0"/>
              </a:rPr>
              <a:t>There are numerous other Git commands that are of more advanced level, such as git stash, git log, git rm, etc.</a:t>
            </a:r>
          </a:p>
          <a:p>
            <a:pPr algn="l"/>
            <a:r>
              <a:rPr lang="en-US" b="0" i="0" dirty="0">
                <a:solidFill>
                  <a:srgbClr val="212529"/>
                </a:solidFill>
                <a:effectLst/>
                <a:latin typeface="Open Sans" panose="020B0606030504020204" pitchFamily="34" charset="0"/>
              </a:rPr>
              <a:t>Now, you will learn about the use of Git in DevOps.</a:t>
            </a:r>
          </a:p>
        </p:txBody>
      </p:sp>
    </p:spTree>
    <p:extLst>
      <p:ext uri="{BB962C8B-B14F-4D97-AF65-F5344CB8AC3E}">
        <p14:creationId xmlns:p14="http://schemas.microsoft.com/office/powerpoint/2010/main" val="2959484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7B65544-76CF-4230-8F2B-B41EE4839B0F}"/>
              </a:ext>
            </a:extLst>
          </p:cNvPr>
          <p:cNvSpPr txBox="1"/>
          <p:nvPr/>
        </p:nvSpPr>
        <p:spPr>
          <a:xfrm>
            <a:off x="145774" y="145774"/>
            <a:ext cx="8998226" cy="369332"/>
          </a:xfrm>
          <a:prstGeom prst="rect">
            <a:avLst/>
          </a:prstGeom>
          <a:noFill/>
        </p:spPr>
        <p:txBody>
          <a:bodyPr wrap="square">
            <a:spAutoFit/>
          </a:bodyPr>
          <a:lstStyle/>
          <a:p>
            <a:r>
              <a:rPr lang="en-US" sz="1800" b="1" i="0" u="none" strike="noStrike" baseline="0" dirty="0">
                <a:solidFill>
                  <a:srgbClr val="000000"/>
                </a:solidFill>
                <a:latin typeface="Calibri" panose="020F0502020204030204" pitchFamily="34" charset="0"/>
              </a:rPr>
              <a:t>Life Cycle of File in GIT </a:t>
            </a:r>
            <a:endParaRPr lang="en-IN" dirty="0"/>
          </a:p>
        </p:txBody>
      </p:sp>
      <p:sp>
        <p:nvSpPr>
          <p:cNvPr id="5" name="TextBox 4">
            <a:extLst>
              <a:ext uri="{FF2B5EF4-FFF2-40B4-BE49-F238E27FC236}">
                <a16:creationId xmlns:a16="http://schemas.microsoft.com/office/drawing/2014/main" id="{705442C8-E2A1-435A-9EC2-0D096946C285}"/>
              </a:ext>
            </a:extLst>
          </p:cNvPr>
          <p:cNvSpPr txBox="1"/>
          <p:nvPr/>
        </p:nvSpPr>
        <p:spPr>
          <a:xfrm>
            <a:off x="145774" y="515106"/>
            <a:ext cx="11728174" cy="6114093"/>
          </a:xfrm>
          <a:prstGeom prst="rect">
            <a:avLst/>
          </a:prstGeom>
          <a:noFill/>
        </p:spPr>
        <p:txBody>
          <a:bodyPr wrap="square">
            <a:spAutoFit/>
          </a:bodyPr>
          <a:lstStyle/>
          <a:p>
            <a:r>
              <a:rPr lang="en-US" sz="2000" b="1" i="0" u="none" strike="noStrike" baseline="0" dirty="0">
                <a:solidFill>
                  <a:srgbClr val="000000"/>
                </a:solidFill>
                <a:latin typeface="Times New Roman" panose="02020603050405020304" pitchFamily="18" charset="0"/>
                <a:cs typeface="Times New Roman" panose="02020603050405020304" pitchFamily="18" charset="0"/>
              </a:rPr>
              <a:t>Every file in GIT is in one of the following states: </a:t>
            </a:r>
          </a:p>
          <a:p>
            <a:endParaRPr lang="en-US" sz="2000" b="1" i="0" u="none" strike="noStrike" baseline="0" dirty="0">
              <a:solidFill>
                <a:srgbClr val="000000"/>
              </a:solidFill>
              <a:latin typeface="Times New Roman" panose="02020603050405020304" pitchFamily="18" charset="0"/>
              <a:cs typeface="Times New Roman" panose="02020603050405020304" pitchFamily="18" charset="0"/>
            </a:endParaRPr>
          </a:p>
          <a:p>
            <a:r>
              <a:rPr lang="en-IN" sz="2000" b="1" i="0" u="none" strike="noStrike" baseline="0" dirty="0">
                <a:solidFill>
                  <a:srgbClr val="000000"/>
                </a:solidFill>
                <a:latin typeface="Times New Roman" panose="02020603050405020304" pitchFamily="18" charset="0"/>
                <a:cs typeface="Times New Roman" panose="02020603050405020304" pitchFamily="18" charset="0"/>
              </a:rPr>
              <a:t>1) Untracked: </a:t>
            </a:r>
          </a:p>
          <a:p>
            <a:endParaRPr lang="en-IN" sz="2000" i="0" u="none" strike="noStrike" baseline="0" dirty="0">
              <a:solidFill>
                <a:srgbClr val="000000"/>
              </a:solidFill>
              <a:latin typeface="Times New Roman" panose="02020603050405020304" pitchFamily="18" charset="0"/>
              <a:cs typeface="Times New Roman" panose="02020603050405020304" pitchFamily="18" charset="0"/>
            </a:endParaRPr>
          </a:p>
          <a:p>
            <a:r>
              <a:rPr lang="en-US" sz="2000" i="0" u="none" strike="noStrike" baseline="0" dirty="0">
                <a:solidFill>
                  <a:srgbClr val="000000"/>
                </a:solidFill>
                <a:latin typeface="Times New Roman" panose="02020603050405020304" pitchFamily="18" charset="0"/>
                <a:cs typeface="Times New Roman" panose="02020603050405020304" pitchFamily="18" charset="0"/>
              </a:rPr>
              <a:t>The files which are newly created in working directory and git does not aware of these files are said to be in untracked state. </a:t>
            </a:r>
          </a:p>
          <a:p>
            <a:endParaRPr lang="en-US" sz="2000" i="0" u="none" strike="noStrike" baseline="0" dirty="0">
              <a:solidFill>
                <a:srgbClr val="000000"/>
              </a:solidFill>
              <a:latin typeface="Times New Roman" panose="02020603050405020304" pitchFamily="18" charset="0"/>
              <a:cs typeface="Times New Roman" panose="02020603050405020304" pitchFamily="18" charset="0"/>
            </a:endParaRPr>
          </a:p>
          <a:p>
            <a:r>
              <a:rPr lang="en-IN" sz="2000" b="1" i="0" u="none" strike="noStrike" baseline="0" dirty="0">
                <a:solidFill>
                  <a:srgbClr val="000000"/>
                </a:solidFill>
                <a:latin typeface="Times New Roman" panose="02020603050405020304" pitchFamily="18" charset="0"/>
                <a:cs typeface="Times New Roman" panose="02020603050405020304" pitchFamily="18" charset="0"/>
              </a:rPr>
              <a:t>2) Staged:</a:t>
            </a:r>
          </a:p>
          <a:p>
            <a:r>
              <a:rPr lang="en-IN" sz="2000" b="1" i="0" u="none" strike="noStrike" baseline="0" dirty="0">
                <a:solidFill>
                  <a:srgbClr val="000000"/>
                </a:solidFill>
                <a:latin typeface="Times New Roman" panose="02020603050405020304" pitchFamily="18" charset="0"/>
                <a:cs typeface="Times New Roman" panose="02020603050405020304" pitchFamily="18" charset="0"/>
              </a:rPr>
              <a:t> </a:t>
            </a:r>
          </a:p>
          <a:p>
            <a:r>
              <a:rPr lang="en-US" sz="2000" i="0" u="none" strike="noStrike" baseline="0" dirty="0">
                <a:solidFill>
                  <a:srgbClr val="000000"/>
                </a:solidFill>
                <a:latin typeface="Times New Roman" panose="02020603050405020304" pitchFamily="18" charset="0"/>
                <a:cs typeface="Times New Roman" panose="02020603050405020304" pitchFamily="18" charset="0"/>
              </a:rPr>
              <a:t>✽ The files which are added to staging area are said to be in staged state. </a:t>
            </a:r>
          </a:p>
          <a:p>
            <a:r>
              <a:rPr lang="en-US" sz="2000" i="0" u="none" strike="noStrike" baseline="0" dirty="0">
                <a:solidFill>
                  <a:srgbClr val="000000"/>
                </a:solidFill>
                <a:latin typeface="Times New Roman" panose="02020603050405020304" pitchFamily="18" charset="0"/>
                <a:cs typeface="Times New Roman" panose="02020603050405020304" pitchFamily="18" charset="0"/>
              </a:rPr>
              <a:t>✽ These files are ready for commit. </a:t>
            </a:r>
          </a:p>
          <a:p>
            <a:endParaRPr lang="en-IN" sz="2000" i="0" u="none" strike="noStrike" baseline="0" dirty="0">
              <a:solidFill>
                <a:srgbClr val="000000"/>
              </a:solidFill>
              <a:latin typeface="Times New Roman" panose="02020603050405020304" pitchFamily="18" charset="0"/>
              <a:cs typeface="Times New Roman" panose="02020603050405020304" pitchFamily="18" charset="0"/>
            </a:endParaRPr>
          </a:p>
          <a:p>
            <a:r>
              <a:rPr lang="en-IN" sz="2000" b="1" i="0" u="none" strike="noStrike" baseline="0" dirty="0">
                <a:solidFill>
                  <a:srgbClr val="000000"/>
                </a:solidFill>
                <a:latin typeface="Times New Roman" panose="02020603050405020304" pitchFamily="18" charset="0"/>
                <a:cs typeface="Times New Roman" panose="02020603050405020304" pitchFamily="18" charset="0"/>
              </a:rPr>
              <a:t>3) In Repository/ Committed: </a:t>
            </a:r>
          </a:p>
          <a:p>
            <a:endParaRPr lang="en-IN" sz="2000" i="0" u="none" strike="noStrike" baseline="0" dirty="0">
              <a:solidFill>
                <a:srgbClr val="000000"/>
              </a:solidFill>
              <a:latin typeface="Times New Roman" panose="02020603050405020304" pitchFamily="18" charset="0"/>
              <a:cs typeface="Times New Roman" panose="02020603050405020304" pitchFamily="18" charset="0"/>
            </a:endParaRPr>
          </a:p>
          <a:p>
            <a:r>
              <a:rPr lang="en-US" sz="2000" i="0" u="none" strike="noStrike" baseline="0" dirty="0">
                <a:solidFill>
                  <a:srgbClr val="000000"/>
                </a:solidFill>
                <a:latin typeface="Times New Roman" panose="02020603050405020304" pitchFamily="18" charset="0"/>
                <a:cs typeface="Times New Roman" panose="02020603050405020304" pitchFamily="18" charset="0"/>
              </a:rPr>
              <a:t>Any file which is committed is said to be In Repository/Committed State. </a:t>
            </a:r>
          </a:p>
          <a:p>
            <a:endParaRPr lang="en-US" sz="2000" i="0" u="none" strike="noStrike" baseline="0" dirty="0">
              <a:solidFill>
                <a:srgbClr val="000000"/>
              </a:solidFill>
              <a:latin typeface="Times New Roman" panose="02020603050405020304" pitchFamily="18" charset="0"/>
              <a:cs typeface="Times New Roman" panose="02020603050405020304" pitchFamily="18" charset="0"/>
            </a:endParaRPr>
          </a:p>
          <a:p>
            <a:r>
              <a:rPr lang="en-IN" sz="2000" b="1" i="0" u="none" strike="noStrike" baseline="0" dirty="0">
                <a:solidFill>
                  <a:srgbClr val="000000"/>
                </a:solidFill>
                <a:latin typeface="Times New Roman" panose="02020603050405020304" pitchFamily="18" charset="0"/>
                <a:cs typeface="Times New Roman" panose="02020603050405020304" pitchFamily="18" charset="0"/>
              </a:rPr>
              <a:t>4) Modified: </a:t>
            </a:r>
          </a:p>
          <a:p>
            <a:endParaRPr lang="en-IN" sz="2000" i="0" u="none" strike="noStrike" baseline="0" dirty="0">
              <a:solidFill>
                <a:srgbClr val="000000"/>
              </a:solidFill>
              <a:latin typeface="Times New Roman" panose="02020603050405020304" pitchFamily="18" charset="0"/>
              <a:cs typeface="Times New Roman" panose="02020603050405020304" pitchFamily="18" charset="0"/>
            </a:endParaRPr>
          </a:p>
          <a:p>
            <a:r>
              <a:rPr lang="en-US" sz="2000" i="0" u="none" strike="noStrike" baseline="0" dirty="0">
                <a:solidFill>
                  <a:srgbClr val="000000"/>
                </a:solidFill>
                <a:latin typeface="Times New Roman" panose="02020603050405020304" pitchFamily="18" charset="0"/>
                <a:cs typeface="Times New Roman" panose="02020603050405020304" pitchFamily="18" charset="0"/>
              </a:rPr>
              <a:t>Any file which is already tracked by git, but it is modified in working directory is said to be in Modified State.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64121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3CCCA6B-2AA4-4D2B-A1D4-5CF94BE2D7D1}"/>
              </a:ext>
            </a:extLst>
          </p:cNvPr>
          <p:cNvPicPr>
            <a:picLocks noChangeAspect="1"/>
          </p:cNvPicPr>
          <p:nvPr/>
        </p:nvPicPr>
        <p:blipFill>
          <a:blip r:embed="rId2"/>
          <a:stretch>
            <a:fillRect/>
          </a:stretch>
        </p:blipFill>
        <p:spPr>
          <a:xfrm>
            <a:off x="516834" y="424070"/>
            <a:ext cx="11211339" cy="5565913"/>
          </a:xfrm>
          <a:prstGeom prst="rect">
            <a:avLst/>
          </a:prstGeom>
        </p:spPr>
      </p:pic>
    </p:spTree>
    <p:extLst>
      <p:ext uri="{BB962C8B-B14F-4D97-AF65-F5344CB8AC3E}">
        <p14:creationId xmlns:p14="http://schemas.microsoft.com/office/powerpoint/2010/main" val="101632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498B41-D12F-41E7-B70A-C99BCCA9F417}"/>
              </a:ext>
            </a:extLst>
          </p:cNvPr>
          <p:cNvSpPr txBox="1"/>
          <p:nvPr/>
        </p:nvSpPr>
        <p:spPr>
          <a:xfrm>
            <a:off x="172278" y="198783"/>
            <a:ext cx="11860696" cy="3416320"/>
          </a:xfrm>
          <a:prstGeom prst="rect">
            <a:avLst/>
          </a:prstGeom>
          <a:noFill/>
        </p:spPr>
        <p:txBody>
          <a:bodyPr wrap="square">
            <a:spAutoFit/>
          </a:bodyPr>
          <a:lstStyle/>
          <a:p>
            <a:pPr algn="l"/>
            <a:r>
              <a:rPr lang="en-US" b="1" i="0" dirty="0">
                <a:solidFill>
                  <a:srgbClr val="FF0000"/>
                </a:solidFill>
                <a:effectLst/>
                <a:latin typeface="Open Sans" panose="020B0606030504020204" pitchFamily="34" charset="0"/>
              </a:rPr>
              <a:t>Role of Git in DevOps</a:t>
            </a:r>
          </a:p>
          <a:p>
            <a:pPr algn="l"/>
            <a:endParaRPr lang="en-US" b="1" i="0" dirty="0">
              <a:solidFill>
                <a:srgbClr val="212529"/>
              </a:solidFill>
              <a:effectLst/>
              <a:latin typeface="Open Sans" panose="020B0606030504020204" pitchFamily="34" charset="0"/>
            </a:endParaRPr>
          </a:p>
          <a:p>
            <a:pPr algn="l"/>
            <a:r>
              <a:rPr lang="en-US" b="0" i="0" dirty="0">
                <a:solidFill>
                  <a:srgbClr val="212529"/>
                </a:solidFill>
                <a:effectLst/>
                <a:latin typeface="Open Sans" panose="020B0606030504020204" pitchFamily="34" charset="0"/>
              </a:rPr>
              <a:t>Git plays a vital role in DevOps. </a:t>
            </a:r>
            <a:r>
              <a:rPr lang="en-US" b="0" i="0" u="none" strike="noStrike" dirty="0">
                <a:solidFill>
                  <a:srgbClr val="007BFF"/>
                </a:solidFill>
                <a:effectLst/>
                <a:latin typeface="Open Sans" panose="020B0606030504020204" pitchFamily="34" charset="0"/>
                <a:hlinkClick r:id="rId2"/>
              </a:rPr>
              <a:t>DevOps</a:t>
            </a:r>
            <a:r>
              <a:rPr lang="en-US" b="0" i="0" dirty="0">
                <a:solidFill>
                  <a:srgbClr val="212529"/>
                </a:solidFill>
                <a:effectLst/>
                <a:latin typeface="Open Sans" panose="020B0606030504020204" pitchFamily="34" charset="0"/>
              </a:rPr>
              <a:t> is responsible for the development and operation processes of software. It allows non-linear workflows in a distributed manner by providing data assurance to create quality software. This tool offers a space for developers to work. All the users are notified when any of the developers make changes in the file.</a:t>
            </a:r>
          </a:p>
          <a:p>
            <a:pPr algn="l"/>
            <a:endParaRPr lang="en-US" b="0" i="0" dirty="0">
              <a:solidFill>
                <a:srgbClr val="212529"/>
              </a:solidFill>
              <a:effectLst/>
              <a:latin typeface="Open Sans" panose="020B0606030504020204" pitchFamily="34" charset="0"/>
            </a:endParaRPr>
          </a:p>
          <a:p>
            <a:pPr algn="l"/>
            <a:r>
              <a:rPr lang="en-US" b="0" i="0" dirty="0">
                <a:solidFill>
                  <a:srgbClr val="212529"/>
                </a:solidFill>
                <a:effectLst/>
                <a:latin typeface="Open Sans" panose="020B0606030504020204" pitchFamily="34" charset="0"/>
              </a:rPr>
              <a:t>Git allows developers to collaborate and makes it easy for them to visualize the work, saving a lot of time and effort. Further, Git helps in code management that can be pushed to the shared repository, making the code ready to be integrated, tested, and deployed. It eases the communications between the development department and the operations department, making it the best suitable tool in DevOps.</a:t>
            </a:r>
          </a:p>
          <a:p>
            <a:pPr algn="l"/>
            <a:endParaRPr lang="en-US" b="0" i="0" dirty="0">
              <a:solidFill>
                <a:srgbClr val="212529"/>
              </a:solidFill>
              <a:effectLst/>
              <a:latin typeface="Open Sans" panose="020B0606030504020204" pitchFamily="34" charset="0"/>
            </a:endParaRPr>
          </a:p>
        </p:txBody>
      </p:sp>
    </p:spTree>
    <p:extLst>
      <p:ext uri="{BB962C8B-B14F-4D97-AF65-F5344CB8AC3E}">
        <p14:creationId xmlns:p14="http://schemas.microsoft.com/office/powerpoint/2010/main" val="35451238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864151-28EB-4CAF-97F3-461C05BD2DE5}"/>
              </a:ext>
            </a:extLst>
          </p:cNvPr>
          <p:cNvSpPr txBox="1"/>
          <p:nvPr/>
        </p:nvSpPr>
        <p:spPr>
          <a:xfrm>
            <a:off x="0" y="0"/>
            <a:ext cx="12192000" cy="6186309"/>
          </a:xfrm>
          <a:prstGeom prst="rect">
            <a:avLst/>
          </a:prstGeom>
          <a:noFill/>
        </p:spPr>
        <p:txBody>
          <a:bodyPr wrap="square">
            <a:spAutoFit/>
          </a:bodyPr>
          <a:lstStyle/>
          <a:p>
            <a:pPr algn="l"/>
            <a:r>
              <a:rPr lang="en-US" b="1" i="0" dirty="0">
                <a:solidFill>
                  <a:srgbClr val="FF0000"/>
                </a:solidFill>
                <a:effectLst/>
                <a:latin typeface="Open Sans" panose="020B0606030504020204" pitchFamily="34" charset="0"/>
              </a:rPr>
              <a:t>Advantages of Git</a:t>
            </a:r>
          </a:p>
          <a:p>
            <a:pPr algn="l"/>
            <a:r>
              <a:rPr lang="en-US" b="0" i="0" dirty="0">
                <a:solidFill>
                  <a:srgbClr val="212529"/>
                </a:solidFill>
                <a:effectLst/>
                <a:latin typeface="Open Sans" panose="020B0606030504020204" pitchFamily="34" charset="0"/>
              </a:rPr>
              <a:t>There are numerous advantages of Git</a:t>
            </a:r>
            <a:r>
              <a:rPr lang="en-US" dirty="0">
                <a:solidFill>
                  <a:srgbClr val="212529"/>
                </a:solidFill>
                <a:latin typeface="Open Sans" panose="020B0606030504020204" pitchFamily="34" charset="0"/>
              </a:rPr>
              <a:t>.</a:t>
            </a:r>
            <a:endParaRPr lang="en-US" b="0" i="0" dirty="0">
              <a:solidFill>
                <a:srgbClr val="212529"/>
              </a:solidFill>
              <a:effectLst/>
              <a:latin typeface="Open Sans" panose="020B0606030504020204" pitchFamily="34" charset="0"/>
            </a:endParaRPr>
          </a:p>
          <a:p>
            <a:pPr algn="l"/>
            <a:r>
              <a:rPr lang="en-US" b="1" i="0" dirty="0">
                <a:solidFill>
                  <a:srgbClr val="212529"/>
                </a:solidFill>
                <a:effectLst/>
                <a:latin typeface="Open Sans" panose="020B0606030504020204" pitchFamily="34" charset="0"/>
              </a:rPr>
              <a:t>Performance</a:t>
            </a:r>
            <a:endParaRPr lang="en-US" b="0" i="0" dirty="0">
              <a:solidFill>
                <a:srgbClr val="212529"/>
              </a:solidFill>
              <a:effectLst/>
              <a:latin typeface="Open Sans" panose="020B0606030504020204" pitchFamily="34" charset="0"/>
            </a:endParaRPr>
          </a:p>
          <a:p>
            <a:pPr algn="l"/>
            <a:r>
              <a:rPr lang="en-US" b="0" i="0" dirty="0">
                <a:solidFill>
                  <a:srgbClr val="212529"/>
                </a:solidFill>
                <a:effectLst/>
                <a:latin typeface="Open Sans" panose="020B0606030504020204" pitchFamily="34" charset="0"/>
              </a:rPr>
              <a:t>Git is much stronger and reliable than other VCSs. Professionals can easily commit changes, compare version branches, and merge them. Besides, it allows for the better optimization of code for improved performance. The algorithms that are used to develop Git take complete advantage of the stored knowledge of attributes that help in developing source code files, types of file access patterns that help in recalling code files whenever required, and so on.</a:t>
            </a:r>
          </a:p>
          <a:p>
            <a:pPr algn="l"/>
            <a:r>
              <a:rPr lang="en-US" b="1" i="0" dirty="0">
                <a:solidFill>
                  <a:srgbClr val="212529"/>
                </a:solidFill>
                <a:effectLst/>
                <a:latin typeface="Open Sans" panose="020B0606030504020204" pitchFamily="34" charset="0"/>
              </a:rPr>
              <a:t>Security</a:t>
            </a:r>
            <a:endParaRPr lang="en-US" b="0" i="0" dirty="0">
              <a:solidFill>
                <a:srgbClr val="212529"/>
              </a:solidFill>
              <a:effectLst/>
              <a:latin typeface="Open Sans" panose="020B0606030504020204" pitchFamily="34" charset="0"/>
            </a:endParaRPr>
          </a:p>
          <a:p>
            <a:pPr algn="l"/>
            <a:r>
              <a:rPr lang="en-US" b="0" i="0" dirty="0">
                <a:solidFill>
                  <a:srgbClr val="212529"/>
                </a:solidFill>
                <a:effectLst/>
                <a:latin typeface="Open Sans" panose="020B0606030504020204" pitchFamily="34" charset="0"/>
              </a:rPr>
              <a:t>Git is mainly built to secure the source code and maintain its integrity. All the data in the file, the relationship between the directories and files, commits, tags, versions, etc. are guarded through cryptographic algorithms like SHA-1. This algorithm secures the code and changes history from accidental and malicious attacks. Git ensures that the files, data, and the change history of the source code are secure.</a:t>
            </a:r>
          </a:p>
          <a:p>
            <a:pPr algn="l"/>
            <a:r>
              <a:rPr lang="en-US" b="1" i="0" dirty="0">
                <a:solidFill>
                  <a:srgbClr val="212529"/>
                </a:solidFill>
                <a:effectLst/>
                <a:latin typeface="Open Sans" panose="020B0606030504020204" pitchFamily="34" charset="0"/>
              </a:rPr>
              <a:t>Flexibility</a:t>
            </a:r>
            <a:endParaRPr lang="en-US" b="0" i="0" dirty="0">
              <a:solidFill>
                <a:srgbClr val="212529"/>
              </a:solidFill>
              <a:effectLst/>
              <a:latin typeface="Open Sans" panose="020B0606030504020204" pitchFamily="34" charset="0"/>
            </a:endParaRPr>
          </a:p>
          <a:p>
            <a:pPr algn="l"/>
            <a:r>
              <a:rPr lang="en-US" b="0" i="0" dirty="0">
                <a:solidFill>
                  <a:srgbClr val="212529"/>
                </a:solidFill>
                <a:effectLst/>
                <a:latin typeface="Open Sans" panose="020B0606030504020204" pitchFamily="34" charset="0"/>
              </a:rPr>
              <a:t>Git is designed to be flexible, which allows it to support various types of non-linear workflows. It is also one of the most efficient tools in terms of dealing with small-scale and large-scale protocols and projects. Besides, its unique design makes it possible to support branching and tagging various business operations, storing all the user activities as an important part of the change history. Git is one of the very few VCSs that have this feature.</a:t>
            </a:r>
          </a:p>
          <a:p>
            <a:pPr algn="l"/>
            <a:r>
              <a:rPr lang="en-US" b="1" i="0" dirty="0">
                <a:solidFill>
                  <a:srgbClr val="212529"/>
                </a:solidFill>
                <a:effectLst/>
                <a:latin typeface="Open Sans" panose="020B0606030504020204" pitchFamily="34" charset="0"/>
              </a:rPr>
              <a:t>Wide Acceptance</a:t>
            </a:r>
            <a:endParaRPr lang="en-US" b="0" i="0" dirty="0">
              <a:solidFill>
                <a:srgbClr val="212529"/>
              </a:solidFill>
              <a:effectLst/>
              <a:latin typeface="Open Sans" panose="020B0606030504020204" pitchFamily="34" charset="0"/>
            </a:endParaRPr>
          </a:p>
          <a:p>
            <a:pPr algn="l"/>
            <a:r>
              <a:rPr lang="en-US" b="0" i="0" dirty="0">
                <a:solidFill>
                  <a:srgbClr val="212529"/>
                </a:solidFill>
                <a:effectLst/>
                <a:latin typeface="Open Sans" panose="020B0606030504020204" pitchFamily="34" charset="0"/>
              </a:rPr>
              <a:t>Most developers need the security, performance, flexibility, and functionality that Git offers to build their projects. It is the most widely accepted VCS comparatively, and it provides universally accepted performance standards and usability.</a:t>
            </a:r>
          </a:p>
        </p:txBody>
      </p:sp>
    </p:spTree>
    <p:extLst>
      <p:ext uri="{BB962C8B-B14F-4D97-AF65-F5344CB8AC3E}">
        <p14:creationId xmlns:p14="http://schemas.microsoft.com/office/powerpoint/2010/main" val="22157242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EE52F9B-CC9A-4AB6-BB56-7E1E987D41A7}"/>
              </a:ext>
            </a:extLst>
          </p:cNvPr>
          <p:cNvSpPr txBox="1"/>
          <p:nvPr/>
        </p:nvSpPr>
        <p:spPr>
          <a:xfrm>
            <a:off x="159026" y="0"/>
            <a:ext cx="11913704" cy="5355312"/>
          </a:xfrm>
          <a:prstGeom prst="rect">
            <a:avLst/>
          </a:prstGeom>
          <a:noFill/>
        </p:spPr>
        <p:txBody>
          <a:bodyPr wrap="square">
            <a:spAutoFit/>
          </a:bodyPr>
          <a:lstStyle/>
          <a:p>
            <a:pPr algn="l"/>
            <a:r>
              <a:rPr lang="en-US" b="1" i="0" dirty="0">
                <a:solidFill>
                  <a:srgbClr val="FF0000"/>
                </a:solidFill>
                <a:effectLst/>
                <a:latin typeface="Open Sans" panose="020B0606030504020204" pitchFamily="34" charset="0"/>
              </a:rPr>
              <a:t>Disadvantages of Git</a:t>
            </a:r>
          </a:p>
          <a:p>
            <a:pPr algn="l"/>
            <a:r>
              <a:rPr lang="en-US" b="0" i="0" dirty="0">
                <a:solidFill>
                  <a:srgbClr val="212529"/>
                </a:solidFill>
                <a:effectLst/>
                <a:latin typeface="Open Sans" panose="020B0606030504020204" pitchFamily="34" charset="0"/>
              </a:rPr>
              <a:t>Even though Git seems like the perfect solution for various problems related to the software development life cycle (SDLC), it has its shortcomings.</a:t>
            </a:r>
          </a:p>
          <a:p>
            <a:pPr algn="l"/>
            <a:endParaRPr lang="en-US" b="0" i="0" dirty="0">
              <a:solidFill>
                <a:srgbClr val="212529"/>
              </a:solidFill>
              <a:effectLst/>
              <a:latin typeface="Open Sans" panose="020B0606030504020204" pitchFamily="34" charset="0"/>
            </a:endParaRPr>
          </a:p>
          <a:p>
            <a:pPr algn="l">
              <a:buFont typeface="Arial" panose="020B0604020202020204" pitchFamily="34" charset="0"/>
              <a:buChar char="•"/>
            </a:pPr>
            <a:r>
              <a:rPr lang="en-US" b="0" i="0" dirty="0">
                <a:solidFill>
                  <a:srgbClr val="212529"/>
                </a:solidFill>
                <a:effectLst/>
                <a:latin typeface="Open Sans" panose="020B0606030504020204" pitchFamily="34" charset="0"/>
              </a:rPr>
              <a:t>Its steep learning curve itself is a disadvantage, which is due to the non-intuitive nature of its commands. You need a much deeper understanding of the internals of Git to avoid inconsistencies while executing.</a:t>
            </a:r>
          </a:p>
          <a:p>
            <a:pPr algn="l">
              <a:buFont typeface="Arial" panose="020B0604020202020204" pitchFamily="34" charset="0"/>
              <a:buChar char="•"/>
            </a:pPr>
            <a:r>
              <a:rPr lang="en-US" b="0" i="0" dirty="0">
                <a:solidFill>
                  <a:srgbClr val="212529"/>
                </a:solidFill>
                <a:effectLst/>
                <a:latin typeface="Open Sans" panose="020B0606030504020204" pitchFamily="34" charset="0"/>
              </a:rPr>
              <a:t>Binary files are not Git’s forte. Whenever files containing non-text content are updated or used frequently, Git gets dragged and slowed down.</a:t>
            </a:r>
          </a:p>
          <a:p>
            <a:pPr algn="l">
              <a:buFont typeface="Arial" panose="020B0604020202020204" pitchFamily="34" charset="0"/>
              <a:buChar char="•"/>
            </a:pPr>
            <a:endParaRPr lang="en-US" b="0" i="0" dirty="0">
              <a:solidFill>
                <a:srgbClr val="212529"/>
              </a:solidFill>
              <a:effectLst/>
              <a:latin typeface="Open Sans" panose="020B0606030504020204" pitchFamily="34" charset="0"/>
            </a:endParaRPr>
          </a:p>
          <a:p>
            <a:pPr algn="l">
              <a:buFont typeface="Arial" panose="020B0604020202020204" pitchFamily="34" charset="0"/>
              <a:buChar char="•"/>
            </a:pPr>
            <a:r>
              <a:rPr lang="en-US" b="0" i="0" dirty="0">
                <a:solidFill>
                  <a:srgbClr val="212529"/>
                </a:solidFill>
                <a:effectLst/>
                <a:latin typeface="Open Sans" panose="020B0606030504020204" pitchFamily="34" charset="0"/>
              </a:rPr>
              <a:t>It does create a conducive environment for a large number of developers distributed over a large geographical area but, at the same time, creates a lot of conflict and confusion while merging codes. To solve this problem, developers can establish an open communication channel before merging their bits of changes with the project.</a:t>
            </a:r>
          </a:p>
          <a:p>
            <a:pPr algn="l">
              <a:buFont typeface="Arial" panose="020B0604020202020204" pitchFamily="34" charset="0"/>
              <a:buChar char="•"/>
            </a:pPr>
            <a:endParaRPr lang="en-US" b="0" i="0" dirty="0">
              <a:solidFill>
                <a:srgbClr val="212529"/>
              </a:solidFill>
              <a:effectLst/>
              <a:latin typeface="Open Sans" panose="020B0606030504020204" pitchFamily="34" charset="0"/>
            </a:endParaRPr>
          </a:p>
          <a:p>
            <a:pPr algn="l"/>
            <a:r>
              <a:rPr lang="en-US" b="0" i="0" dirty="0">
                <a:solidFill>
                  <a:srgbClr val="212529"/>
                </a:solidFill>
                <a:effectLst/>
                <a:latin typeface="Open Sans" panose="020B0606030504020204" pitchFamily="34" charset="0"/>
              </a:rPr>
              <a:t>Git is being used by large companies to achieve their benchmark goals. As products are developed all around the world, it is increasingly becoming the platform of integration. The introduction to Git has contributed to the building of a large community by following the mantra of developing ecosystems for SDLC. With a long way ahead for more technological advancements, Git has definitely found its place at the top. Hopefully, this ‘What is Git?’ blog helped you understand the basics of Git and inspired you to start the coding journey with it.</a:t>
            </a:r>
          </a:p>
        </p:txBody>
      </p:sp>
    </p:spTree>
    <p:extLst>
      <p:ext uri="{BB962C8B-B14F-4D97-AF65-F5344CB8AC3E}">
        <p14:creationId xmlns:p14="http://schemas.microsoft.com/office/powerpoint/2010/main" val="15639697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2181</Words>
  <Application>Microsoft Office PowerPoint</Application>
  <PresentationFormat>Widescreen</PresentationFormat>
  <Paragraphs>152</Paragraphs>
  <Slides>21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Calibri</vt:lpstr>
      <vt:lpstr>Calibri Light</vt:lpstr>
      <vt:lpstr>Open Sans</vt:lpstr>
      <vt:lpstr>Roboto</vt:lpstr>
      <vt:lpstr>Segoe UI Emoji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SAI CHARAN THOTA</dc:creator>
  <cp:lastModifiedBy>SAI CHARAN THOTA</cp:lastModifiedBy>
  <cp:revision>1</cp:revision>
  <dcterms:created xsi:type="dcterms:W3CDTF">2021-11-08T04:55:17Z</dcterms:created>
  <dcterms:modified xsi:type="dcterms:W3CDTF">2021-11-08T04:55:47Z</dcterms:modified>
</cp:coreProperties>
</file>