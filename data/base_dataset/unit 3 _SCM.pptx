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6" r:id="rId3"/>
    <p:sldId id="265" r:id="rId4"/>
    <p:sldId id="257" r:id="rId5"/>
    <p:sldId id="258" r:id="rId6"/>
    <p:sldId id="266" r:id="rId7"/>
    <p:sldId id="270" r:id="rId8"/>
    <p:sldId id="271" r:id="rId9"/>
    <p:sldId id="259" r:id="rId10"/>
    <p:sldId id="260" r:id="rId11"/>
    <p:sldId id="267" r:id="rId12"/>
    <p:sldId id="269" r:id="rId13"/>
    <p:sldId id="272" r:id="rId14"/>
    <p:sldId id="288" r:id="rId15"/>
    <p:sldId id="296" r:id="rId16"/>
    <p:sldId id="263" r:id="rId17"/>
    <p:sldId id="273" r:id="rId18"/>
    <p:sldId id="291" r:id="rId19"/>
    <p:sldId id="297" r:id="rId20"/>
    <p:sldId id="274" r:id="rId21"/>
    <p:sldId id="298" r:id="rId22"/>
    <p:sldId id="28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D3949C4-3D12-456D-A094-7E494E824781}">
          <p14:sldIdLst>
            <p14:sldId id="256"/>
            <p14:sldId id="276"/>
            <p14:sldId id="265"/>
            <p14:sldId id="257"/>
            <p14:sldId id="258"/>
            <p14:sldId id="266"/>
            <p14:sldId id="270"/>
            <p14:sldId id="271"/>
            <p14:sldId id="259"/>
            <p14:sldId id="260"/>
            <p14:sldId id="267"/>
            <p14:sldId id="269"/>
            <p14:sldId id="272"/>
            <p14:sldId id="288"/>
            <p14:sldId id="296"/>
            <p14:sldId id="263"/>
            <p14:sldId id="273"/>
            <p14:sldId id="291"/>
            <p14:sldId id="297"/>
            <p14:sldId id="274"/>
            <p14:sldId id="29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09CD2-59A8-4BD2-85F1-BEDFCFA8AC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D246FAE-6FA2-46D8-B147-03E567C413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CC18DFD-18B7-46B6-8613-79C9FEB51885}"/>
              </a:ext>
            </a:extLst>
          </p:cNvPr>
          <p:cNvSpPr>
            <a:spLocks noGrp="1"/>
          </p:cNvSpPr>
          <p:nvPr>
            <p:ph type="dt" sz="half" idx="10"/>
          </p:nvPr>
        </p:nvSpPr>
        <p:spPr/>
        <p:txBody>
          <a:bodyPr/>
          <a:lstStyle/>
          <a:p>
            <a:fld id="{73CF7E60-C722-4C65-BC8F-DCFE8D303FB4}" type="datetimeFigureOut">
              <a:rPr lang="en-IN" smtClean="0"/>
              <a:t>08-11-2021</a:t>
            </a:fld>
            <a:endParaRPr lang="en-IN"/>
          </a:p>
        </p:txBody>
      </p:sp>
      <p:sp>
        <p:nvSpPr>
          <p:cNvPr id="5" name="Footer Placeholder 4">
            <a:extLst>
              <a:ext uri="{FF2B5EF4-FFF2-40B4-BE49-F238E27FC236}">
                <a16:creationId xmlns:a16="http://schemas.microsoft.com/office/drawing/2014/main" id="{FCF0D73A-338B-4633-873A-48D0490408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4C0DE8-2C4E-4B6F-987B-F3084DAB760C}"/>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4144277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4E294-03C1-4764-B5C5-F2E2D616673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35A9975-4C4D-4D71-84A4-918A39CE8F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6767C9-D2D0-48FE-9414-1B90CD81E6BD}"/>
              </a:ext>
            </a:extLst>
          </p:cNvPr>
          <p:cNvSpPr>
            <a:spLocks noGrp="1"/>
          </p:cNvSpPr>
          <p:nvPr>
            <p:ph type="dt" sz="half" idx="10"/>
          </p:nvPr>
        </p:nvSpPr>
        <p:spPr/>
        <p:txBody>
          <a:bodyPr/>
          <a:lstStyle/>
          <a:p>
            <a:fld id="{73CF7E60-C722-4C65-BC8F-DCFE8D303FB4}" type="datetimeFigureOut">
              <a:rPr lang="en-IN" smtClean="0"/>
              <a:t>08-11-2021</a:t>
            </a:fld>
            <a:endParaRPr lang="en-IN"/>
          </a:p>
        </p:txBody>
      </p:sp>
      <p:sp>
        <p:nvSpPr>
          <p:cNvPr id="5" name="Footer Placeholder 4">
            <a:extLst>
              <a:ext uri="{FF2B5EF4-FFF2-40B4-BE49-F238E27FC236}">
                <a16:creationId xmlns:a16="http://schemas.microsoft.com/office/drawing/2014/main" id="{5B059251-B219-4E63-967B-135DF856F5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E289ADF-59ED-464A-94E4-3DD8BAF5141B}"/>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2781761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0CF78-2350-4AB2-86C2-506BADF5B6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2C694F5-1D20-4C99-B694-9C2BB40654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6AD440-1894-4E19-8590-6078272D6940}"/>
              </a:ext>
            </a:extLst>
          </p:cNvPr>
          <p:cNvSpPr>
            <a:spLocks noGrp="1"/>
          </p:cNvSpPr>
          <p:nvPr>
            <p:ph type="dt" sz="half" idx="10"/>
          </p:nvPr>
        </p:nvSpPr>
        <p:spPr/>
        <p:txBody>
          <a:bodyPr/>
          <a:lstStyle/>
          <a:p>
            <a:fld id="{73CF7E60-C722-4C65-BC8F-DCFE8D303FB4}" type="datetimeFigureOut">
              <a:rPr lang="en-IN" smtClean="0"/>
              <a:t>08-11-2021</a:t>
            </a:fld>
            <a:endParaRPr lang="en-IN"/>
          </a:p>
        </p:txBody>
      </p:sp>
      <p:sp>
        <p:nvSpPr>
          <p:cNvPr id="5" name="Footer Placeholder 4">
            <a:extLst>
              <a:ext uri="{FF2B5EF4-FFF2-40B4-BE49-F238E27FC236}">
                <a16:creationId xmlns:a16="http://schemas.microsoft.com/office/drawing/2014/main" id="{86459700-4EBD-4003-9E03-A926EAD73D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732750-5165-4E00-A7E0-B60F1F0F98CA}"/>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31908910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E499B-BD55-42B5-961E-DC9C3EAE4F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94F20A3-B59C-4EB8-8BCE-3073BED40C4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E5A65BF-4354-4FAC-8BA3-046D35FE573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7B29D3-B668-4A50-BF1F-98F43667912A}"/>
              </a:ext>
            </a:extLst>
          </p:cNvPr>
          <p:cNvSpPr>
            <a:spLocks noGrp="1"/>
          </p:cNvSpPr>
          <p:nvPr>
            <p:ph type="dt" sz="half" idx="10"/>
          </p:nvPr>
        </p:nvSpPr>
        <p:spPr/>
        <p:txBody>
          <a:bodyPr/>
          <a:lstStyle/>
          <a:p>
            <a:fld id="{73CF7E60-C722-4C65-BC8F-DCFE8D303FB4}" type="datetimeFigureOut">
              <a:rPr lang="en-IN" smtClean="0"/>
              <a:t>08-11-2021</a:t>
            </a:fld>
            <a:endParaRPr lang="en-IN"/>
          </a:p>
        </p:txBody>
      </p:sp>
      <p:sp>
        <p:nvSpPr>
          <p:cNvPr id="6" name="Footer Placeholder 5">
            <a:extLst>
              <a:ext uri="{FF2B5EF4-FFF2-40B4-BE49-F238E27FC236}">
                <a16:creationId xmlns:a16="http://schemas.microsoft.com/office/drawing/2014/main" id="{605CC5B9-B60A-4E3E-BB2D-F4166E44AA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4BE6E6-7E02-431F-B69A-8D411B0917F2}"/>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740810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6CFB-70CE-4458-92A8-25C6D718D9C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624DE6D-70E9-49B9-AFA2-2393C20C98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C3ACDB-71E5-4B7B-9B25-5A0A1E09AC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A2BE07-8E3B-4749-A3A8-CBD158D154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CE3D41-D2B5-4F68-AF77-E4194DFBFE9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37060E8-E174-43B5-BFFD-44D2FC08A8BC}"/>
              </a:ext>
            </a:extLst>
          </p:cNvPr>
          <p:cNvSpPr>
            <a:spLocks noGrp="1"/>
          </p:cNvSpPr>
          <p:nvPr>
            <p:ph type="dt" sz="half" idx="10"/>
          </p:nvPr>
        </p:nvSpPr>
        <p:spPr/>
        <p:txBody>
          <a:bodyPr/>
          <a:lstStyle/>
          <a:p>
            <a:fld id="{73CF7E60-C722-4C65-BC8F-DCFE8D303FB4}" type="datetimeFigureOut">
              <a:rPr lang="en-IN" smtClean="0"/>
              <a:t>08-11-2021</a:t>
            </a:fld>
            <a:endParaRPr lang="en-IN"/>
          </a:p>
        </p:txBody>
      </p:sp>
      <p:sp>
        <p:nvSpPr>
          <p:cNvPr id="8" name="Footer Placeholder 7">
            <a:extLst>
              <a:ext uri="{FF2B5EF4-FFF2-40B4-BE49-F238E27FC236}">
                <a16:creationId xmlns:a16="http://schemas.microsoft.com/office/drawing/2014/main" id="{74906AC3-1442-423B-BF38-976DE8C95CA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6F104F-81EF-44C7-8940-CE274A4A0F8F}"/>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4292553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4F35C-87ED-40BD-9B33-FB376CC7F0B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448758D-0D18-409B-8D38-256D7FF6DE9D}"/>
              </a:ext>
            </a:extLst>
          </p:cNvPr>
          <p:cNvSpPr>
            <a:spLocks noGrp="1"/>
          </p:cNvSpPr>
          <p:nvPr>
            <p:ph type="dt" sz="half" idx="10"/>
          </p:nvPr>
        </p:nvSpPr>
        <p:spPr/>
        <p:txBody>
          <a:bodyPr/>
          <a:lstStyle/>
          <a:p>
            <a:fld id="{73CF7E60-C722-4C65-BC8F-DCFE8D303FB4}" type="datetimeFigureOut">
              <a:rPr lang="en-IN" smtClean="0"/>
              <a:t>08-11-2021</a:t>
            </a:fld>
            <a:endParaRPr lang="en-IN"/>
          </a:p>
        </p:txBody>
      </p:sp>
      <p:sp>
        <p:nvSpPr>
          <p:cNvPr id="4" name="Footer Placeholder 3">
            <a:extLst>
              <a:ext uri="{FF2B5EF4-FFF2-40B4-BE49-F238E27FC236}">
                <a16:creationId xmlns:a16="http://schemas.microsoft.com/office/drawing/2014/main" id="{E7091D04-914B-493A-BC25-DD9F1C53B08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EB9543B-2A6A-4BDF-8063-74AF1F43657F}"/>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1879942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F66594-EAE8-4BF0-8360-B6D83BAB5F00}"/>
              </a:ext>
            </a:extLst>
          </p:cNvPr>
          <p:cNvSpPr>
            <a:spLocks noGrp="1"/>
          </p:cNvSpPr>
          <p:nvPr>
            <p:ph type="dt" sz="half" idx="10"/>
          </p:nvPr>
        </p:nvSpPr>
        <p:spPr/>
        <p:txBody>
          <a:bodyPr/>
          <a:lstStyle/>
          <a:p>
            <a:fld id="{73CF7E60-C722-4C65-BC8F-DCFE8D303FB4}" type="datetimeFigureOut">
              <a:rPr lang="en-IN" smtClean="0"/>
              <a:t>08-11-2021</a:t>
            </a:fld>
            <a:endParaRPr lang="en-IN"/>
          </a:p>
        </p:txBody>
      </p:sp>
      <p:sp>
        <p:nvSpPr>
          <p:cNvPr id="3" name="Footer Placeholder 2">
            <a:extLst>
              <a:ext uri="{FF2B5EF4-FFF2-40B4-BE49-F238E27FC236}">
                <a16:creationId xmlns:a16="http://schemas.microsoft.com/office/drawing/2014/main" id="{307EA635-80EA-480E-82CC-8E65258C4E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48F5321-6B51-41A8-AA3E-BAF76EED05EE}"/>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2743529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5C4E6-93D6-4F5E-89B3-1B5A3C46F3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B34AE5F-3816-43AF-A28B-DEFB814B06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7A9F2EF-67AC-4451-8F3B-41F5A992D3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C8C4DD-B3CB-4EB9-8188-5F1BFC669DC6}"/>
              </a:ext>
            </a:extLst>
          </p:cNvPr>
          <p:cNvSpPr>
            <a:spLocks noGrp="1"/>
          </p:cNvSpPr>
          <p:nvPr>
            <p:ph type="dt" sz="half" idx="10"/>
          </p:nvPr>
        </p:nvSpPr>
        <p:spPr/>
        <p:txBody>
          <a:bodyPr/>
          <a:lstStyle/>
          <a:p>
            <a:fld id="{73CF7E60-C722-4C65-BC8F-DCFE8D303FB4}" type="datetimeFigureOut">
              <a:rPr lang="en-IN" smtClean="0"/>
              <a:t>08-11-2021</a:t>
            </a:fld>
            <a:endParaRPr lang="en-IN"/>
          </a:p>
        </p:txBody>
      </p:sp>
      <p:sp>
        <p:nvSpPr>
          <p:cNvPr id="6" name="Footer Placeholder 5">
            <a:extLst>
              <a:ext uri="{FF2B5EF4-FFF2-40B4-BE49-F238E27FC236}">
                <a16:creationId xmlns:a16="http://schemas.microsoft.com/office/drawing/2014/main" id="{7E8E8480-0C4A-435B-9660-54AC5FA1F5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941DE8-9889-4193-8D20-4F0E6A96BEFA}"/>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574518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193BC-931F-4A6B-ABB8-C7D08113E8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C0F0C11-5C0A-4BE5-88B1-E3656E0AB1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E5D6981-1EAF-4EFA-B34A-3C087BCBAE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112EF4-619F-4256-9F2A-13492CD4D162}"/>
              </a:ext>
            </a:extLst>
          </p:cNvPr>
          <p:cNvSpPr>
            <a:spLocks noGrp="1"/>
          </p:cNvSpPr>
          <p:nvPr>
            <p:ph type="dt" sz="half" idx="10"/>
          </p:nvPr>
        </p:nvSpPr>
        <p:spPr/>
        <p:txBody>
          <a:bodyPr/>
          <a:lstStyle/>
          <a:p>
            <a:fld id="{73CF7E60-C722-4C65-BC8F-DCFE8D303FB4}" type="datetimeFigureOut">
              <a:rPr lang="en-IN" smtClean="0"/>
              <a:t>08-11-2021</a:t>
            </a:fld>
            <a:endParaRPr lang="en-IN"/>
          </a:p>
        </p:txBody>
      </p:sp>
      <p:sp>
        <p:nvSpPr>
          <p:cNvPr id="6" name="Footer Placeholder 5">
            <a:extLst>
              <a:ext uri="{FF2B5EF4-FFF2-40B4-BE49-F238E27FC236}">
                <a16:creationId xmlns:a16="http://schemas.microsoft.com/office/drawing/2014/main" id="{76C80C93-A5B3-41D0-A3BE-E1F852CB30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4B9D4A-7516-40A7-8BE5-8FC9AA011F32}"/>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2349762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738B0-768C-4D81-BA21-79F21ED8FF9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580A4E-9778-41D9-A272-8BB1A0BDC2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7E5E6D-0618-4380-9F20-34CACFE0B4AF}"/>
              </a:ext>
            </a:extLst>
          </p:cNvPr>
          <p:cNvSpPr>
            <a:spLocks noGrp="1"/>
          </p:cNvSpPr>
          <p:nvPr>
            <p:ph type="dt" sz="half" idx="10"/>
          </p:nvPr>
        </p:nvSpPr>
        <p:spPr/>
        <p:txBody>
          <a:bodyPr/>
          <a:lstStyle/>
          <a:p>
            <a:fld id="{73CF7E60-C722-4C65-BC8F-DCFE8D303FB4}" type="datetimeFigureOut">
              <a:rPr lang="en-IN" smtClean="0"/>
              <a:t>08-11-2021</a:t>
            </a:fld>
            <a:endParaRPr lang="en-IN"/>
          </a:p>
        </p:txBody>
      </p:sp>
      <p:sp>
        <p:nvSpPr>
          <p:cNvPr id="5" name="Footer Placeholder 4">
            <a:extLst>
              <a:ext uri="{FF2B5EF4-FFF2-40B4-BE49-F238E27FC236}">
                <a16:creationId xmlns:a16="http://schemas.microsoft.com/office/drawing/2014/main" id="{1919B3D6-8121-4FEF-B7E4-FF849BA8EF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B12AC6-6442-4B6A-BA86-B1BFC2F81A29}"/>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4231417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549135-037E-4DD4-A34E-87A9D0D05C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C48AD7-59D0-4889-B6B0-6667D650BF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E45CB8-5330-4797-A097-D6BD963770C8}"/>
              </a:ext>
            </a:extLst>
          </p:cNvPr>
          <p:cNvSpPr>
            <a:spLocks noGrp="1"/>
          </p:cNvSpPr>
          <p:nvPr>
            <p:ph type="dt" sz="half" idx="10"/>
          </p:nvPr>
        </p:nvSpPr>
        <p:spPr/>
        <p:txBody>
          <a:bodyPr/>
          <a:lstStyle/>
          <a:p>
            <a:fld id="{73CF7E60-C722-4C65-BC8F-DCFE8D303FB4}" type="datetimeFigureOut">
              <a:rPr lang="en-IN" smtClean="0"/>
              <a:t>08-11-2021</a:t>
            </a:fld>
            <a:endParaRPr lang="en-IN"/>
          </a:p>
        </p:txBody>
      </p:sp>
      <p:sp>
        <p:nvSpPr>
          <p:cNvPr id="5" name="Footer Placeholder 4">
            <a:extLst>
              <a:ext uri="{FF2B5EF4-FFF2-40B4-BE49-F238E27FC236}">
                <a16:creationId xmlns:a16="http://schemas.microsoft.com/office/drawing/2014/main" id="{DD474E79-F1C5-40E8-AE16-B4F672BCF4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101380-A8D3-4CE3-8434-8E0157517C8D}"/>
              </a:ext>
            </a:extLst>
          </p:cNvPr>
          <p:cNvSpPr>
            <a:spLocks noGrp="1"/>
          </p:cNvSpPr>
          <p:nvPr>
            <p:ph type="sldNum" sz="quarter" idx="12"/>
          </p:nvPr>
        </p:nvSpPr>
        <p:spPr/>
        <p:txBody>
          <a:bodyPr/>
          <a:lstStyle/>
          <a:p>
            <a:fld id="{62ED2E9F-5E26-45E1-8A6D-0BD2BEF0E554}" type="slidenum">
              <a:rPr lang="en-IN" smtClean="0"/>
              <a:t>‹#›</a:t>
            </a:fld>
            <a:endParaRPr lang="en-IN"/>
          </a:p>
        </p:txBody>
      </p:sp>
    </p:spTree>
    <p:extLst>
      <p:ext uri="{BB962C8B-B14F-4D97-AF65-F5344CB8AC3E}">
        <p14:creationId xmlns:p14="http://schemas.microsoft.com/office/powerpoint/2010/main" val="683203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79C7FB-17E6-4D52-954C-B6DA2C8398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0673E6-1BBF-4180-B908-892C33988F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540E2C-1C40-4AAC-82F8-83A7B7039E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CF7E60-C722-4C65-BC8F-DCFE8D303FB4}" type="datetimeFigureOut">
              <a:rPr lang="en-IN" smtClean="0"/>
              <a:t>08-11-2021</a:t>
            </a:fld>
            <a:endParaRPr lang="en-IN"/>
          </a:p>
        </p:txBody>
      </p:sp>
      <p:sp>
        <p:nvSpPr>
          <p:cNvPr id="5" name="Footer Placeholder 4">
            <a:extLst>
              <a:ext uri="{FF2B5EF4-FFF2-40B4-BE49-F238E27FC236}">
                <a16:creationId xmlns:a16="http://schemas.microsoft.com/office/drawing/2014/main" id="{51F0D34F-961E-490A-84E0-8846EE1B53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6B3AA93-0A82-4D05-B970-7A2E950615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ED2E9F-5E26-45E1-8A6D-0BD2BEF0E554}" type="slidenum">
              <a:rPr lang="en-IN" smtClean="0"/>
              <a:t>‹#›</a:t>
            </a:fld>
            <a:endParaRPr lang="en-IN"/>
          </a:p>
        </p:txBody>
      </p:sp>
    </p:spTree>
    <p:extLst>
      <p:ext uri="{BB962C8B-B14F-4D97-AF65-F5344CB8AC3E}">
        <p14:creationId xmlns:p14="http://schemas.microsoft.com/office/powerpoint/2010/main" val="4536404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hyperlink" Target="https://www.w3docs.com/learn-git/source-code-management.html#importance-of-source-code-management-6"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B282E-35C3-4616-B514-AB6613217F70}"/>
              </a:ext>
            </a:extLst>
          </p:cNvPr>
          <p:cNvSpPr>
            <a:spLocks noGrp="1"/>
          </p:cNvSpPr>
          <p:nvPr>
            <p:ph type="ctrTitle"/>
          </p:nvPr>
        </p:nvSpPr>
        <p:spPr/>
        <p:txBody>
          <a:bodyPr>
            <a:normAutofit/>
          </a:bodyPr>
          <a:lstStyle/>
          <a:p>
            <a:r>
              <a:rPr lang="en-SG" sz="3600" b="1" dirty="0">
                <a:effectLst/>
                <a:latin typeface="Times New Roman" panose="02020603050405020304" pitchFamily="18" charset="0"/>
                <a:ea typeface="Calibri" panose="020F0502020204030204" pitchFamily="34" charset="0"/>
                <a:cs typeface="Times New Roman" panose="02020603050405020304" pitchFamily="18" charset="0"/>
              </a:rPr>
              <a:t>UNIT – 3 Introduction to project management</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614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A7043-6A1F-4F9C-8701-AA7E031B05E4}"/>
              </a:ext>
            </a:extLst>
          </p:cNvPr>
          <p:cNvSpPr>
            <a:spLocks noGrp="1"/>
          </p:cNvSpPr>
          <p:nvPr>
            <p:ph type="title"/>
          </p:nvPr>
        </p:nvSpPr>
        <p:spPr/>
        <p:txBody>
          <a:bodyPr/>
          <a:lstStyle/>
          <a:p>
            <a:endParaRPr lang="en-IN"/>
          </a:p>
        </p:txBody>
      </p:sp>
      <p:pic>
        <p:nvPicPr>
          <p:cNvPr id="1026" name="Picture 2" descr="Everything You Need To Know About Source Code Management">
            <a:extLst>
              <a:ext uri="{FF2B5EF4-FFF2-40B4-BE49-F238E27FC236}">
                <a16:creationId xmlns:a16="http://schemas.microsoft.com/office/drawing/2014/main" id="{0B23E4C8-B2C7-4773-BD31-230B7D318FB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57809" y="182217"/>
            <a:ext cx="11953460" cy="6493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8374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228593-E638-48B2-8378-8D4794509C74}"/>
              </a:ext>
            </a:extLst>
          </p:cNvPr>
          <p:cNvSpPr>
            <a:spLocks noGrp="1"/>
          </p:cNvSpPr>
          <p:nvPr>
            <p:ph idx="1"/>
          </p:nvPr>
        </p:nvSpPr>
        <p:spPr>
          <a:xfrm>
            <a:off x="318655" y="166255"/>
            <a:ext cx="11035145" cy="6010708"/>
          </a:xfrm>
        </p:spPr>
        <p:txBody>
          <a:bodyPr/>
          <a:lstStyle/>
          <a:p>
            <a:r>
              <a:rPr lang="en-IN" b="0" i="0" dirty="0">
                <a:solidFill>
                  <a:srgbClr val="212121"/>
                </a:solidFill>
                <a:effectLst/>
                <a:latin typeface="Agrandir-Medium"/>
              </a:rPr>
              <a:t>What is Project Management?</a:t>
            </a:r>
          </a:p>
          <a:p>
            <a:r>
              <a:rPr lang="en-US" b="0" i="0" dirty="0">
                <a:solidFill>
                  <a:srgbClr val="212121"/>
                </a:solidFill>
                <a:effectLst/>
                <a:latin typeface="Helvetica Neue"/>
              </a:rPr>
              <a:t>Project management is the use of specific knowledge, skills, tools and techniques to deliver something of value to people.</a:t>
            </a:r>
            <a:endParaRPr lang="en-IN" dirty="0"/>
          </a:p>
        </p:txBody>
      </p:sp>
      <p:pic>
        <p:nvPicPr>
          <p:cNvPr id="1026" name="Picture 2" descr="5 Phases of Project Management | Project Phases (PMP)">
            <a:extLst>
              <a:ext uri="{FF2B5EF4-FFF2-40B4-BE49-F238E27FC236}">
                <a16:creationId xmlns:a16="http://schemas.microsoft.com/office/drawing/2014/main" id="{579A3D61-22A9-4227-8EB3-717C16512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5391" y="1639210"/>
            <a:ext cx="7089913" cy="52187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3447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2A5661B-F10B-46C6-955A-4897D3B7598E}"/>
              </a:ext>
            </a:extLst>
          </p:cNvPr>
          <p:cNvSpPr txBox="1"/>
          <p:nvPr/>
        </p:nvSpPr>
        <p:spPr>
          <a:xfrm>
            <a:off x="265043" y="291548"/>
            <a:ext cx="11383618" cy="5632311"/>
          </a:xfrm>
          <a:prstGeom prst="rect">
            <a:avLst/>
          </a:prstGeom>
          <a:noFill/>
        </p:spPr>
        <p:txBody>
          <a:bodyPr wrap="square">
            <a:spAutoFit/>
          </a:bodyPr>
          <a:lstStyle/>
          <a:p>
            <a:pPr algn="l" fontAlgn="base"/>
            <a:r>
              <a:rPr lang="en-US" sz="2400" b="1" i="0" dirty="0">
                <a:solidFill>
                  <a:srgbClr val="FF0000"/>
                </a:solidFill>
                <a:effectLst/>
                <a:latin typeface="Times New Roman" panose="02020603050405020304" pitchFamily="18" charset="0"/>
                <a:cs typeface="Times New Roman" panose="02020603050405020304" pitchFamily="18" charset="0"/>
              </a:rPr>
              <a:t>What Is Source Code Management?</a:t>
            </a:r>
          </a:p>
          <a:p>
            <a:pPr algn="l" fontAlgn="base"/>
            <a:endParaRPr lang="en-US" sz="2400" b="0" i="0" dirty="0">
              <a:solidFill>
                <a:srgbClr val="47515A"/>
              </a:solidFill>
              <a:effectLst/>
              <a:latin typeface="Times New Roman" panose="02020603050405020304" pitchFamily="18" charset="0"/>
              <a:cs typeface="Times New Roman" panose="02020603050405020304" pitchFamily="18" charset="0"/>
            </a:endParaRPr>
          </a:p>
          <a:p>
            <a:pPr marL="342900" indent="-342900" algn="l" fontAlgn="base">
              <a:buFont typeface="Wingdings" panose="05000000000000000000" pitchFamily="2" charset="2"/>
              <a:buChar char="v"/>
            </a:pPr>
            <a:r>
              <a:rPr lang="en-US" sz="2400" b="0" i="0" dirty="0">
                <a:solidFill>
                  <a:srgbClr val="333333"/>
                </a:solidFill>
                <a:effectLst/>
                <a:latin typeface="Times New Roman" panose="02020603050405020304" pitchFamily="18" charset="0"/>
                <a:cs typeface="Times New Roman" panose="02020603050405020304" pitchFamily="18" charset="0"/>
              </a:rPr>
              <a:t>Source code management is the concept of storing the source code for your software applications in a centralized, managed place. It’s used by software development teams, who are the ones that gain the most benefit from it due to the multiple developers they have. </a:t>
            </a:r>
          </a:p>
          <a:p>
            <a:pPr marL="342900" indent="-342900" algn="l" fontAlgn="base">
              <a:buFont typeface="Wingdings" panose="05000000000000000000" pitchFamily="2" charset="2"/>
              <a:buChar char="v"/>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marL="342900" indent="-342900" algn="l" fontAlgn="base">
              <a:buFont typeface="Wingdings" panose="05000000000000000000" pitchFamily="2" charset="2"/>
              <a:buChar char="v"/>
            </a:pPr>
            <a:r>
              <a:rPr lang="en-US" sz="2400" b="0" i="0" dirty="0">
                <a:solidFill>
                  <a:srgbClr val="333333"/>
                </a:solidFill>
                <a:effectLst/>
                <a:latin typeface="Times New Roman" panose="02020603050405020304" pitchFamily="18" charset="0"/>
                <a:cs typeface="Times New Roman" panose="02020603050405020304" pitchFamily="18" charset="0"/>
              </a:rPr>
              <a:t>The main people involved in source code management are the developers or programmers. They are the ones that are working on the code, making changes, adding features and requirements. The source code is a product of their work and it needs to be managed in some way.</a:t>
            </a:r>
          </a:p>
          <a:p>
            <a:pPr marL="342900" indent="-342900" algn="l" fontAlgn="base">
              <a:buFont typeface="Wingdings" panose="05000000000000000000" pitchFamily="2" charset="2"/>
              <a:buChar char="v"/>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marL="342900" indent="-342900" algn="l" fontAlgn="base">
              <a:buFont typeface="Wingdings" panose="05000000000000000000" pitchFamily="2" charset="2"/>
              <a:buChar char="v"/>
            </a:pPr>
            <a:r>
              <a:rPr lang="en-US" sz="2400" b="0" i="0" dirty="0">
                <a:solidFill>
                  <a:srgbClr val="333333"/>
                </a:solidFill>
                <a:effectLst/>
                <a:latin typeface="Times New Roman" panose="02020603050405020304" pitchFamily="18" charset="0"/>
                <a:cs typeface="Times New Roman" panose="02020603050405020304" pitchFamily="18" charset="0"/>
              </a:rPr>
              <a:t>Testers are also main users of source code. When they are required to test applications or features, they benefit from a source code management system and process, as it ensures they are working with accurate code and helps the team run better.</a:t>
            </a:r>
          </a:p>
        </p:txBody>
      </p:sp>
    </p:spTree>
    <p:extLst>
      <p:ext uri="{BB962C8B-B14F-4D97-AF65-F5344CB8AC3E}">
        <p14:creationId xmlns:p14="http://schemas.microsoft.com/office/powerpoint/2010/main" val="222963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1B5BD0-3B90-4C05-988F-3222345981FC}"/>
              </a:ext>
            </a:extLst>
          </p:cNvPr>
          <p:cNvSpPr txBox="1"/>
          <p:nvPr/>
        </p:nvSpPr>
        <p:spPr>
          <a:xfrm>
            <a:off x="159027" y="212035"/>
            <a:ext cx="11873948" cy="6370975"/>
          </a:xfrm>
          <a:prstGeom prst="rect">
            <a:avLst/>
          </a:prstGeom>
          <a:noFill/>
        </p:spPr>
        <p:txBody>
          <a:bodyPr wrap="square">
            <a:spAutoFit/>
          </a:bodyPr>
          <a:lstStyle/>
          <a:p>
            <a:pPr algn="l" fontAlgn="base"/>
            <a:r>
              <a:rPr lang="en-US" sz="2400" b="1" i="0" dirty="0">
                <a:solidFill>
                  <a:srgbClr val="FF0000"/>
                </a:solidFill>
                <a:effectLst/>
                <a:latin typeface="Times New Roman" panose="02020603050405020304" pitchFamily="18" charset="0"/>
                <a:cs typeface="Times New Roman" panose="02020603050405020304" pitchFamily="18" charset="0"/>
              </a:rPr>
              <a:t>What Are The Benefits Of Source Code Management?</a:t>
            </a:r>
            <a:endParaRPr lang="en-US" sz="2400" b="0" i="0" dirty="0">
              <a:solidFill>
                <a:srgbClr val="FF0000"/>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333333"/>
                </a:solidFill>
                <a:effectLst/>
                <a:latin typeface="Times New Roman" panose="02020603050405020304" pitchFamily="18" charset="0"/>
                <a:cs typeface="Times New Roman" panose="02020603050405020304" pitchFamily="18" charset="0"/>
              </a:rPr>
              <a:t>There are several reasons why we should manage the source code that we write:</a:t>
            </a:r>
          </a:p>
          <a:p>
            <a:pPr algn="l" fontAlgn="base"/>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1" i="0" dirty="0">
                <a:solidFill>
                  <a:srgbClr val="333333"/>
                </a:solidFill>
                <a:effectLst/>
                <a:latin typeface="Times New Roman" panose="02020603050405020304" pitchFamily="18" charset="0"/>
                <a:cs typeface="Times New Roman" panose="02020603050405020304" pitchFamily="18" charset="0"/>
              </a:rPr>
              <a:t>Work together in teams</a:t>
            </a:r>
            <a:r>
              <a:rPr lang="en-US" sz="2400" b="0" i="0" dirty="0">
                <a:solidFill>
                  <a:srgbClr val="333333"/>
                </a:solidFill>
                <a:effectLst/>
                <a:latin typeface="Times New Roman" panose="02020603050405020304" pitchFamily="18" charset="0"/>
                <a:cs typeface="Times New Roman" panose="02020603050405020304" pitchFamily="18" charset="0"/>
              </a:rPr>
              <a:t>. A source code management system allows multiple developers to access and change different areas of the code, without interfering with each other’s work. This is a big benefit for large teams of developers.</a:t>
            </a:r>
          </a:p>
          <a:p>
            <a:pPr algn="l" fontAlgn="base">
              <a:buFont typeface="Arial" panose="020B0604020202020204" pitchFamily="34" charset="0"/>
              <a:buChar char="•"/>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1" i="0" dirty="0">
                <a:solidFill>
                  <a:srgbClr val="333333"/>
                </a:solidFill>
                <a:effectLst/>
                <a:latin typeface="Times New Roman" panose="02020603050405020304" pitchFamily="18" charset="0"/>
                <a:cs typeface="Times New Roman" panose="02020603050405020304" pitchFamily="18" charset="0"/>
              </a:rPr>
              <a:t>Version history</a:t>
            </a:r>
            <a:r>
              <a:rPr lang="en-US" sz="2400" b="0" i="0" dirty="0">
                <a:solidFill>
                  <a:srgbClr val="333333"/>
                </a:solidFill>
                <a:effectLst/>
                <a:latin typeface="Times New Roman" panose="02020603050405020304" pitchFamily="18" charset="0"/>
                <a:cs typeface="Times New Roman" panose="02020603050405020304" pitchFamily="18" charset="0"/>
              </a:rPr>
              <a:t>. The system will keep a history of all saved changes to the code. This not only allows you to see what has changed in a file, but allows you to go back to a previous version if needed.</a:t>
            </a:r>
          </a:p>
          <a:p>
            <a:pPr algn="l" fontAlgn="base">
              <a:buFont typeface="Arial" panose="020B0604020202020204" pitchFamily="34" charset="0"/>
              <a:buChar char="•"/>
            </a:pPr>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1" i="0" dirty="0">
                <a:solidFill>
                  <a:srgbClr val="333333"/>
                </a:solidFill>
                <a:effectLst/>
                <a:latin typeface="Times New Roman" panose="02020603050405020304" pitchFamily="18" charset="0"/>
                <a:cs typeface="Times New Roman" panose="02020603050405020304" pitchFamily="18" charset="0"/>
              </a:rPr>
              <a:t>Generate release notes</a:t>
            </a:r>
            <a:r>
              <a:rPr lang="en-US" sz="2400" b="0" i="0" dirty="0">
                <a:solidFill>
                  <a:srgbClr val="333333"/>
                </a:solidFill>
                <a:effectLst/>
                <a:latin typeface="Times New Roman" panose="02020603050405020304" pitchFamily="18" charset="0"/>
                <a:cs typeface="Times New Roman" panose="02020603050405020304" pitchFamily="18" charset="0"/>
              </a:rPr>
              <a:t>. Code can be linked to a release, and as a result, release notes can be generated. This means time is saved in generating it manually and searching for the changes.</a:t>
            </a:r>
          </a:p>
          <a:p>
            <a:pPr algn="l" fontAlgn="base"/>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1" i="0" dirty="0">
                <a:solidFill>
                  <a:srgbClr val="333333"/>
                </a:solidFill>
                <a:effectLst/>
                <a:latin typeface="Times New Roman" panose="02020603050405020304" pitchFamily="18" charset="0"/>
                <a:cs typeface="Times New Roman" panose="02020603050405020304" pitchFamily="18" charset="0"/>
              </a:rPr>
              <a:t>Backup of code</a:t>
            </a:r>
            <a:r>
              <a:rPr lang="en-US" sz="2400" b="0" i="0" dirty="0">
                <a:solidFill>
                  <a:srgbClr val="333333"/>
                </a:solidFill>
                <a:effectLst/>
                <a:latin typeface="Times New Roman" panose="02020603050405020304" pitchFamily="18" charset="0"/>
                <a:cs typeface="Times New Roman" panose="02020603050405020304" pitchFamily="18" charset="0"/>
              </a:rPr>
              <a:t>. A centralized place on a server where the source code is stored ensures there is a main location for the code (other than the developer’s machine). It also allows for easy backup of the code, depending on your server setup.</a:t>
            </a:r>
          </a:p>
        </p:txBody>
      </p:sp>
    </p:spTree>
    <p:extLst>
      <p:ext uri="{BB962C8B-B14F-4D97-AF65-F5344CB8AC3E}">
        <p14:creationId xmlns:p14="http://schemas.microsoft.com/office/powerpoint/2010/main" val="569071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FD0ADE6-A361-4C4D-BBFC-6D339995A0EA}"/>
              </a:ext>
            </a:extLst>
          </p:cNvPr>
          <p:cNvPicPr>
            <a:picLocks noChangeAspect="1"/>
          </p:cNvPicPr>
          <p:nvPr/>
        </p:nvPicPr>
        <p:blipFill>
          <a:blip r:embed="rId2"/>
          <a:stretch>
            <a:fillRect/>
          </a:stretch>
        </p:blipFill>
        <p:spPr>
          <a:xfrm>
            <a:off x="-516834" y="-405272"/>
            <a:ext cx="12337774" cy="7255948"/>
          </a:xfrm>
          <a:prstGeom prst="rect">
            <a:avLst/>
          </a:prstGeom>
        </p:spPr>
      </p:pic>
    </p:spTree>
    <p:extLst>
      <p:ext uri="{BB962C8B-B14F-4D97-AF65-F5344CB8AC3E}">
        <p14:creationId xmlns:p14="http://schemas.microsoft.com/office/powerpoint/2010/main" val="1973028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DE2E69-666C-4922-874A-21DC0DE350E7}"/>
              </a:ext>
            </a:extLst>
          </p:cNvPr>
          <p:cNvPicPr>
            <a:picLocks noChangeAspect="1"/>
          </p:cNvPicPr>
          <p:nvPr/>
        </p:nvPicPr>
        <p:blipFill>
          <a:blip r:embed="rId2"/>
          <a:stretch>
            <a:fillRect/>
          </a:stretch>
        </p:blipFill>
        <p:spPr>
          <a:xfrm>
            <a:off x="203720" y="0"/>
            <a:ext cx="11988280" cy="6738729"/>
          </a:xfrm>
          <a:prstGeom prst="rect">
            <a:avLst/>
          </a:prstGeom>
        </p:spPr>
      </p:pic>
    </p:spTree>
    <p:extLst>
      <p:ext uri="{BB962C8B-B14F-4D97-AF65-F5344CB8AC3E}">
        <p14:creationId xmlns:p14="http://schemas.microsoft.com/office/powerpoint/2010/main" val="4111060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AF77EE-F213-48FE-B1FC-55ED21116A7D}"/>
              </a:ext>
            </a:extLst>
          </p:cNvPr>
          <p:cNvPicPr>
            <a:picLocks noChangeAspect="1"/>
          </p:cNvPicPr>
          <p:nvPr/>
        </p:nvPicPr>
        <p:blipFill>
          <a:blip r:embed="rId2"/>
          <a:stretch>
            <a:fillRect/>
          </a:stretch>
        </p:blipFill>
        <p:spPr>
          <a:xfrm>
            <a:off x="0" y="176066"/>
            <a:ext cx="12284765" cy="6542785"/>
          </a:xfrm>
          <a:prstGeom prst="rect">
            <a:avLst/>
          </a:prstGeom>
        </p:spPr>
      </p:pic>
    </p:spTree>
    <p:extLst>
      <p:ext uri="{BB962C8B-B14F-4D97-AF65-F5344CB8AC3E}">
        <p14:creationId xmlns:p14="http://schemas.microsoft.com/office/powerpoint/2010/main" val="10917486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0E3807-A96C-4C4F-8124-89E55DE798D8}"/>
              </a:ext>
            </a:extLst>
          </p:cNvPr>
          <p:cNvSpPr txBox="1"/>
          <p:nvPr/>
        </p:nvSpPr>
        <p:spPr>
          <a:xfrm>
            <a:off x="132522" y="0"/>
            <a:ext cx="11728174" cy="7109639"/>
          </a:xfrm>
          <a:prstGeom prst="rect">
            <a:avLst/>
          </a:prstGeom>
          <a:noFill/>
        </p:spPr>
        <p:txBody>
          <a:bodyPr wrap="square">
            <a:spAutoFit/>
          </a:bodyPr>
          <a:lstStyle/>
          <a:p>
            <a:pPr algn="l" fontAlgn="base"/>
            <a:r>
              <a:rPr lang="en-US" sz="2400" b="1" i="0" dirty="0">
                <a:solidFill>
                  <a:srgbClr val="47515A"/>
                </a:solidFill>
                <a:effectLst/>
                <a:latin typeface="Times New Roman" panose="02020603050405020304" pitchFamily="18" charset="0"/>
                <a:cs typeface="Times New Roman" panose="02020603050405020304" pitchFamily="18" charset="0"/>
              </a:rPr>
              <a:t>How Does Source Code Management Work?</a:t>
            </a:r>
            <a:endParaRPr lang="en-US" sz="2400" b="0" i="0" dirty="0">
              <a:solidFill>
                <a:srgbClr val="47515A"/>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333333"/>
                </a:solidFill>
                <a:effectLst/>
                <a:latin typeface="Times New Roman" panose="02020603050405020304" pitchFamily="18" charset="0"/>
                <a:cs typeface="Times New Roman" panose="02020603050405020304" pitchFamily="18" charset="0"/>
              </a:rPr>
              <a:t>The process works by a development team or company having a centralized server that stores all of the required code. This server is called the </a:t>
            </a:r>
            <a:r>
              <a:rPr lang="en-US" sz="2400" b="1" i="0" dirty="0">
                <a:solidFill>
                  <a:srgbClr val="333333"/>
                </a:solidFill>
                <a:effectLst/>
                <a:latin typeface="Times New Roman" panose="02020603050405020304" pitchFamily="18" charset="0"/>
                <a:cs typeface="Times New Roman" panose="02020603050405020304" pitchFamily="18" charset="0"/>
              </a:rPr>
              <a:t>repository</a:t>
            </a:r>
            <a:r>
              <a:rPr lang="en-US" sz="2400" b="0" i="0" dirty="0">
                <a:solidFill>
                  <a:srgbClr val="333333"/>
                </a:solidFill>
                <a:effectLst/>
                <a:latin typeface="Times New Roman" panose="02020603050405020304" pitchFamily="18" charset="0"/>
                <a:cs typeface="Times New Roman" panose="02020603050405020304" pitchFamily="18" charset="0"/>
              </a:rPr>
              <a:t> – the storage place for code. It can run various source code management systems, which are used to manage changes and different projects.</a:t>
            </a:r>
          </a:p>
          <a:p>
            <a:pPr algn="l" fontAlgn="base"/>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333333"/>
                </a:solidFill>
                <a:effectLst/>
                <a:latin typeface="Times New Roman" panose="02020603050405020304" pitchFamily="18" charset="0"/>
                <a:cs typeface="Times New Roman" panose="02020603050405020304" pitchFamily="18" charset="0"/>
              </a:rPr>
              <a:t>The system stores a copy of the source code as individual files, just like the developers have written it. When you want to make changes to some code, you perform what’s called a “check out” on the file. You get your own copy of the file in your environment. It also creates a “lock” on the file on the server, which means others can’t check out the same piece of code. This is to </a:t>
            </a:r>
            <a:r>
              <a:rPr lang="en-US" sz="2400" b="0" i="0" dirty="0" err="1">
                <a:solidFill>
                  <a:srgbClr val="333333"/>
                </a:solidFill>
                <a:effectLst/>
                <a:latin typeface="Times New Roman" panose="02020603050405020304" pitchFamily="18" charset="0"/>
                <a:cs typeface="Times New Roman" panose="02020603050405020304" pitchFamily="18" charset="0"/>
              </a:rPr>
              <a:t>minimise</a:t>
            </a:r>
            <a:r>
              <a:rPr lang="en-US" sz="2400" b="0" i="0" dirty="0">
                <a:solidFill>
                  <a:srgbClr val="333333"/>
                </a:solidFill>
                <a:effectLst/>
                <a:latin typeface="Times New Roman" panose="02020603050405020304" pitchFamily="18" charset="0"/>
                <a:cs typeface="Times New Roman" panose="02020603050405020304" pitchFamily="18" charset="0"/>
              </a:rPr>
              <a:t> the chances of someone overwriting your work.</a:t>
            </a:r>
          </a:p>
          <a:p>
            <a:pPr algn="l" fontAlgn="base"/>
            <a:endParaRPr lang="en-US" sz="2400" b="0" i="0" dirty="0">
              <a:solidFill>
                <a:srgbClr val="333333"/>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333333"/>
                </a:solidFill>
                <a:effectLst/>
                <a:latin typeface="Times New Roman" panose="02020603050405020304" pitchFamily="18" charset="0"/>
                <a:cs typeface="Times New Roman" panose="02020603050405020304" pitchFamily="18" charset="0"/>
              </a:rPr>
              <a:t>Once you’ve made the changes, and tested them, you can save them onto the server using a process called “commit” or “check in”. This saves your code onto the server, replacing the existing file, and incrementing the version. It also removes the lock that was placed previously. You can usually add comments to this process, which allows you to specify what was changed.</a:t>
            </a:r>
          </a:p>
          <a:p>
            <a:pPr algn="l" fontAlgn="base"/>
            <a:r>
              <a:rPr lang="en-US" sz="2400" b="0" i="0" dirty="0">
                <a:solidFill>
                  <a:srgbClr val="333333"/>
                </a:solidFill>
                <a:effectLst/>
                <a:latin typeface="Times New Roman" panose="02020603050405020304" pitchFamily="18" charset="0"/>
                <a:cs typeface="Times New Roman" panose="02020603050405020304" pitchFamily="18" charset="0"/>
              </a:rPr>
              <a:t>This can all be done by different developers on different files. The source code management system will store this code and manage the changes that have been made.</a:t>
            </a:r>
          </a:p>
        </p:txBody>
      </p:sp>
    </p:spTree>
    <p:extLst>
      <p:ext uri="{BB962C8B-B14F-4D97-AF65-F5344CB8AC3E}">
        <p14:creationId xmlns:p14="http://schemas.microsoft.com/office/powerpoint/2010/main" val="3007992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198B23-3D95-458A-8B34-CB115D8EDDE4}"/>
              </a:ext>
            </a:extLst>
          </p:cNvPr>
          <p:cNvSpPr txBox="1"/>
          <p:nvPr/>
        </p:nvSpPr>
        <p:spPr>
          <a:xfrm>
            <a:off x="132521" y="225287"/>
            <a:ext cx="11966713" cy="4191981"/>
          </a:xfrm>
          <a:prstGeom prst="rect">
            <a:avLst/>
          </a:prstGeom>
          <a:noFill/>
        </p:spPr>
        <p:txBody>
          <a:bodyPr wrap="square">
            <a:spAutoFit/>
          </a:bodyPr>
          <a:lstStyle/>
          <a:p>
            <a:pPr algn="l">
              <a:lnSpc>
                <a:spcPct val="150000"/>
              </a:lnSpc>
            </a:pPr>
            <a:r>
              <a:rPr lang="en-US" sz="2000" b="1" i="0" dirty="0">
                <a:solidFill>
                  <a:srgbClr val="202131"/>
                </a:solidFill>
                <a:effectLst/>
                <a:latin typeface="Times New Roman" panose="02020603050405020304" pitchFamily="18" charset="0"/>
                <a:cs typeface="Times New Roman" panose="02020603050405020304" pitchFamily="18" charset="0"/>
              </a:rPr>
              <a:t>Importance of Source Code Management</a:t>
            </a:r>
            <a:r>
              <a:rPr lang="en-US" sz="2000" b="0" i="0" u="none" strike="noStrike" dirty="0">
                <a:solidFill>
                  <a:srgbClr val="D9D9D9"/>
                </a:solidFill>
                <a:effectLst/>
                <a:latin typeface="Times New Roman" panose="02020603050405020304" pitchFamily="18" charset="0"/>
                <a:cs typeface="Times New Roman" panose="02020603050405020304" pitchFamily="18" charset="0"/>
                <a:hlinkClick r:id="rId2" tooltip="Importance of Source Code Management"/>
              </a:rPr>
              <a:t>¶</a:t>
            </a:r>
            <a:endParaRPr lang="en-US" sz="2000" b="1" i="0" dirty="0">
              <a:solidFill>
                <a:srgbClr val="202131"/>
              </a:solidFill>
              <a:effectLst/>
              <a:latin typeface="Times New Roman" panose="02020603050405020304" pitchFamily="18" charset="0"/>
              <a:cs typeface="Times New Roman" panose="02020603050405020304" pitchFamily="18" charset="0"/>
            </a:endParaRPr>
          </a:p>
          <a:p>
            <a:pPr algn="l">
              <a:lnSpc>
                <a:spcPct val="150000"/>
              </a:lnSpc>
              <a:buFont typeface="Arial" panose="020B0604020202020204" pitchFamily="34" charset="0"/>
              <a:buChar char="•"/>
            </a:pPr>
            <a:r>
              <a:rPr lang="en-US" sz="2000" b="1" i="0" dirty="0">
                <a:solidFill>
                  <a:srgbClr val="202131"/>
                </a:solidFill>
                <a:effectLst/>
                <a:latin typeface="Times New Roman" panose="02020603050405020304" pitchFamily="18" charset="0"/>
                <a:cs typeface="Times New Roman" panose="02020603050405020304" pitchFamily="18" charset="0"/>
              </a:rPr>
              <a:t>Track Changes</a:t>
            </a:r>
            <a:r>
              <a:rPr lang="en-US" sz="2000" b="0" i="0" dirty="0">
                <a:solidFill>
                  <a:srgbClr val="202131"/>
                </a:solidFill>
                <a:effectLst/>
                <a:latin typeface="Times New Roman" panose="02020603050405020304" pitchFamily="18" charset="0"/>
                <a:cs typeface="Times New Roman" panose="02020603050405020304" pitchFamily="18" charset="0"/>
              </a:rPr>
              <a:t> – Changes can be tracked as someone making a change leaves a commit message about it.</a:t>
            </a:r>
          </a:p>
          <a:p>
            <a:pPr algn="l">
              <a:lnSpc>
                <a:spcPct val="150000"/>
              </a:lnSpc>
              <a:buFont typeface="Arial" panose="020B0604020202020204" pitchFamily="34" charset="0"/>
              <a:buChar char="•"/>
            </a:pPr>
            <a:r>
              <a:rPr lang="en-US" sz="2000" b="1" i="0" dirty="0">
                <a:solidFill>
                  <a:srgbClr val="202131"/>
                </a:solidFill>
                <a:effectLst/>
                <a:latin typeface="Times New Roman" panose="02020603050405020304" pitchFamily="18" charset="0"/>
                <a:cs typeface="Times New Roman" panose="02020603050405020304" pitchFamily="18" charset="0"/>
              </a:rPr>
              <a:t>Synchronization</a:t>
            </a:r>
            <a:r>
              <a:rPr lang="en-US" sz="2000" b="0" i="0" dirty="0">
                <a:solidFill>
                  <a:srgbClr val="202131"/>
                </a:solidFill>
                <a:effectLst/>
                <a:latin typeface="Times New Roman" panose="02020603050405020304" pitchFamily="18" charset="0"/>
                <a:cs typeface="Times New Roman" panose="02020603050405020304" pitchFamily="18" charset="0"/>
              </a:rPr>
              <a:t> – The up-to-date codes can be fetched from the repository.</a:t>
            </a:r>
          </a:p>
          <a:p>
            <a:pPr algn="l">
              <a:lnSpc>
                <a:spcPct val="150000"/>
              </a:lnSpc>
              <a:buFont typeface="Arial" panose="020B0604020202020204" pitchFamily="34" charset="0"/>
              <a:buChar char="•"/>
            </a:pPr>
            <a:r>
              <a:rPr lang="en-US" sz="2000" b="1" i="0" dirty="0">
                <a:solidFill>
                  <a:srgbClr val="202131"/>
                </a:solidFill>
                <a:effectLst/>
                <a:latin typeface="Times New Roman" panose="02020603050405020304" pitchFamily="18" charset="0"/>
                <a:cs typeface="Times New Roman" panose="02020603050405020304" pitchFamily="18" charset="0"/>
              </a:rPr>
              <a:t>Backup and Restore</a:t>
            </a:r>
            <a:r>
              <a:rPr lang="en-US" sz="2000" b="0" i="0" dirty="0">
                <a:solidFill>
                  <a:srgbClr val="202131"/>
                </a:solidFill>
                <a:effectLst/>
                <a:latin typeface="Times New Roman" panose="02020603050405020304" pitchFamily="18" charset="0"/>
                <a:cs typeface="Times New Roman" panose="02020603050405020304" pitchFamily="18" charset="0"/>
              </a:rPr>
              <a:t> – Files are saved at any time and restored from the last saved one.</a:t>
            </a:r>
          </a:p>
          <a:p>
            <a:pPr algn="l">
              <a:lnSpc>
                <a:spcPct val="150000"/>
              </a:lnSpc>
              <a:buFont typeface="Arial" panose="020B0604020202020204" pitchFamily="34" charset="0"/>
              <a:buChar char="•"/>
            </a:pPr>
            <a:r>
              <a:rPr lang="en-US" sz="2000" b="1" i="0" dirty="0">
                <a:solidFill>
                  <a:srgbClr val="202131"/>
                </a:solidFill>
                <a:effectLst/>
                <a:latin typeface="Times New Roman" panose="02020603050405020304" pitchFamily="18" charset="0"/>
                <a:cs typeface="Times New Roman" panose="02020603050405020304" pitchFamily="18" charset="0"/>
              </a:rPr>
              <a:t>Undoing</a:t>
            </a:r>
            <a:r>
              <a:rPr lang="en-US" sz="2000" b="0" i="0" dirty="0">
                <a:solidFill>
                  <a:srgbClr val="202131"/>
                </a:solidFill>
                <a:effectLst/>
                <a:latin typeface="Times New Roman" panose="02020603050405020304" pitchFamily="18" charset="0"/>
                <a:cs typeface="Times New Roman" panose="02020603050405020304" pitchFamily="18" charset="0"/>
              </a:rPr>
              <a:t> – You can undo both the last known version and the last one created a long time ago.</a:t>
            </a:r>
          </a:p>
          <a:p>
            <a:pPr algn="l">
              <a:lnSpc>
                <a:spcPct val="150000"/>
              </a:lnSpc>
              <a:buFont typeface="Arial" panose="020B0604020202020204" pitchFamily="34" charset="0"/>
              <a:buChar char="•"/>
            </a:pPr>
            <a:r>
              <a:rPr lang="en-US" sz="2000" b="1" i="0" dirty="0">
                <a:solidFill>
                  <a:srgbClr val="202131"/>
                </a:solidFill>
                <a:effectLst/>
                <a:latin typeface="Times New Roman" panose="02020603050405020304" pitchFamily="18" charset="0"/>
                <a:cs typeface="Times New Roman" panose="02020603050405020304" pitchFamily="18" charset="0"/>
              </a:rPr>
              <a:t>Branching and Merging</a:t>
            </a:r>
            <a:r>
              <a:rPr lang="en-US" sz="2000" b="0" i="0" dirty="0">
                <a:solidFill>
                  <a:srgbClr val="202131"/>
                </a:solidFill>
                <a:effectLst/>
                <a:latin typeface="Times New Roman" panose="02020603050405020304" pitchFamily="18" charset="0"/>
                <a:cs typeface="Times New Roman" panose="02020603050405020304" pitchFamily="18" charset="0"/>
              </a:rPr>
              <a:t> – Changes are made on a branch and after being approved, they can be merged with the master branch.</a:t>
            </a:r>
          </a:p>
          <a:p>
            <a:pPr algn="l">
              <a:lnSpc>
                <a:spcPct val="150000"/>
              </a:lnSpc>
              <a:buFont typeface="Arial" panose="020B0604020202020204" pitchFamily="34" charset="0"/>
              <a:buChar char="•"/>
            </a:pPr>
            <a:r>
              <a:rPr lang="en-US" sz="2000" b="1" i="0" dirty="0">
                <a:solidFill>
                  <a:srgbClr val="202131"/>
                </a:solidFill>
                <a:effectLst/>
                <a:latin typeface="Times New Roman" panose="02020603050405020304" pitchFamily="18" charset="0"/>
                <a:cs typeface="Times New Roman" panose="02020603050405020304" pitchFamily="18" charset="0"/>
              </a:rPr>
              <a:t>Identifying Conflicts and Preventing Overwrites</a:t>
            </a:r>
            <a:r>
              <a:rPr lang="en-US" sz="2000" b="0" i="0" dirty="0">
                <a:solidFill>
                  <a:srgbClr val="202131"/>
                </a:solidFill>
                <a:effectLst/>
                <a:latin typeface="Times New Roman" panose="02020603050405020304" pitchFamily="18" charset="0"/>
                <a:cs typeface="Times New Roman" panose="02020603050405020304" pitchFamily="18" charset="0"/>
              </a:rPr>
              <a:t> – Overwrites are prevented and in case of conflicts, they are identified. SCM notifies the developers so that they can review these conflicts and resolve them.</a:t>
            </a:r>
          </a:p>
        </p:txBody>
      </p:sp>
    </p:spTree>
    <p:extLst>
      <p:ext uri="{BB962C8B-B14F-4D97-AF65-F5344CB8AC3E}">
        <p14:creationId xmlns:p14="http://schemas.microsoft.com/office/powerpoint/2010/main" val="631058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FC3D69-0BF2-49F0-A59F-E1080F5E3DAD}"/>
              </a:ext>
            </a:extLst>
          </p:cNvPr>
          <p:cNvSpPr txBox="1"/>
          <p:nvPr/>
        </p:nvSpPr>
        <p:spPr>
          <a:xfrm>
            <a:off x="1" y="0"/>
            <a:ext cx="12099234" cy="9406007"/>
          </a:xfrm>
          <a:prstGeom prst="rect">
            <a:avLst/>
          </a:prstGeom>
          <a:noFill/>
        </p:spPr>
        <p:txBody>
          <a:bodyPr wrap="square">
            <a:spAutoFit/>
          </a:bodyPr>
          <a:lstStyle/>
          <a:p>
            <a:pPr algn="l" fontAlgn="base"/>
            <a:r>
              <a:rPr lang="en-US" sz="2400" b="1" i="0" dirty="0">
                <a:solidFill>
                  <a:srgbClr val="273239"/>
                </a:solidFill>
                <a:effectLst/>
                <a:latin typeface="Times New Roman" panose="02020603050405020304" pitchFamily="18" charset="0"/>
                <a:cs typeface="Times New Roman" panose="02020603050405020304" pitchFamily="18" charset="0"/>
              </a:rPr>
              <a:t>What is a “version control system”?</a:t>
            </a:r>
            <a:r>
              <a:rPr lang="en-US" sz="2400" b="0" i="0" dirty="0">
                <a:solidFill>
                  <a:srgbClr val="273239"/>
                </a:solidFill>
                <a:effectLst/>
                <a:latin typeface="Times New Roman" panose="02020603050405020304" pitchFamily="18" charset="0"/>
                <a:cs typeface="Times New Roman" panose="02020603050405020304" pitchFamily="18" charset="0"/>
              </a:rPr>
              <a:t> (OR SCM)</a:t>
            </a:r>
          </a:p>
          <a:p>
            <a:pPr algn="l" fontAlgn="base"/>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Version control systems are a category of software tools that helps in recording changes made to files by keeping a track of modifications done to the code. </a:t>
            </a:r>
          </a:p>
          <a:p>
            <a:pPr algn="l" fontAlgn="base"/>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sz="2400" b="1" i="0" dirty="0">
                <a:solidFill>
                  <a:srgbClr val="273239"/>
                </a:solidFill>
                <a:effectLst/>
                <a:latin typeface="Times New Roman" panose="02020603050405020304" pitchFamily="18" charset="0"/>
                <a:cs typeface="Times New Roman" panose="02020603050405020304" pitchFamily="18" charset="0"/>
              </a:rPr>
              <a:t>Why Version Control system is so Important?</a:t>
            </a:r>
          </a:p>
          <a:p>
            <a:pPr algn="l" fontAlgn="base"/>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As we know that a software product is developed in collaboration by a group of developers they might be located at different locations and each one of them contributes in some specific kind of functionality/features. </a:t>
            </a:r>
          </a:p>
          <a:p>
            <a:pPr algn="l" fontAlgn="base"/>
            <a:endParaRPr lang="en-US" sz="2400" dirty="0">
              <a:solidFill>
                <a:srgbClr val="273239"/>
              </a:solidFill>
              <a:latin typeface="Times New Roman" panose="02020603050405020304" pitchFamily="18" charset="0"/>
              <a:cs typeface="Times New Roman" panose="02020603050405020304" pitchFamily="18" charset="0"/>
            </a:endParaRP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So in order to contribute to the product, they made modifications in the source code(either by adding or removing). A version control system is a kind of software that helps the developer team to efficiently communicate and manage(track) all the changes that have been made to the source code along with the information like who made and what change has been made. A separate branch is created for every contributor who made the changes and the changes aren’t merged into the original source code unless all are analyzed as soon as the changes are green signaled they merged to the main source code. It not only keeps source code organized but also improves productivity by making the development process smooth.</a:t>
            </a:r>
          </a:p>
          <a:p>
            <a:pPr algn="l" fontAlgn="base"/>
            <a:endParaRPr lang="en-US" sz="2400" dirty="0">
              <a:solidFill>
                <a:srgbClr val="273239"/>
              </a:solidFill>
              <a:latin typeface="Times New Roman" panose="02020603050405020304" pitchFamily="18" charset="0"/>
              <a:cs typeface="Times New Roman" panose="02020603050405020304" pitchFamily="18" charset="0"/>
            </a:endParaRPr>
          </a:p>
          <a:p>
            <a:pPr algn="l" fontAlgn="base"/>
            <a:endParaRPr lang="en-US" b="1" i="0" dirty="0">
              <a:solidFill>
                <a:srgbClr val="273239"/>
              </a:solidFill>
              <a:effectLst/>
              <a:latin typeface="urw-din"/>
            </a:endParaRPr>
          </a:p>
          <a:p>
            <a:pPr algn="l" fontAlgn="base"/>
            <a:endParaRPr lang="en-US" b="1" dirty="0">
              <a:solidFill>
                <a:srgbClr val="273239"/>
              </a:solidFill>
              <a:latin typeface="urw-din"/>
            </a:endParaRPr>
          </a:p>
          <a:p>
            <a:pPr algn="l" fontAlgn="base"/>
            <a:endParaRPr lang="en-US" b="1" i="0" dirty="0">
              <a:solidFill>
                <a:srgbClr val="273239"/>
              </a:solidFill>
              <a:effectLst/>
              <a:latin typeface="urw-din"/>
            </a:endParaRPr>
          </a:p>
          <a:p>
            <a:pPr algn="l" fontAlgn="base"/>
            <a:endParaRPr lang="en-US" b="1" dirty="0">
              <a:solidFill>
                <a:srgbClr val="273239"/>
              </a:solidFill>
              <a:latin typeface="urw-din"/>
            </a:endParaRPr>
          </a:p>
          <a:p>
            <a:pPr algn="l" fontAlgn="base"/>
            <a:endParaRPr lang="en-US" b="1" i="0" dirty="0">
              <a:solidFill>
                <a:srgbClr val="273239"/>
              </a:solidFill>
              <a:effectLst/>
              <a:latin typeface="urw-din"/>
            </a:endParaRPr>
          </a:p>
          <a:p>
            <a:pPr algn="l" fontAlgn="base"/>
            <a:endParaRPr lang="en-US" b="1" dirty="0">
              <a:solidFill>
                <a:srgbClr val="273239"/>
              </a:solidFill>
              <a:latin typeface="urw-din"/>
            </a:endParaRPr>
          </a:p>
        </p:txBody>
      </p:sp>
    </p:spTree>
    <p:extLst>
      <p:ext uri="{BB962C8B-B14F-4D97-AF65-F5344CB8AC3E}">
        <p14:creationId xmlns:p14="http://schemas.microsoft.com/office/powerpoint/2010/main" val="21962033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CE1A82-090E-4782-A841-11049A726EDB}"/>
              </a:ext>
            </a:extLst>
          </p:cNvPr>
          <p:cNvSpPr txBox="1"/>
          <p:nvPr/>
        </p:nvSpPr>
        <p:spPr>
          <a:xfrm>
            <a:off x="463826" y="251791"/>
            <a:ext cx="11330608" cy="6001643"/>
          </a:xfrm>
          <a:prstGeom prst="rect">
            <a:avLst/>
          </a:prstGeom>
          <a:noFill/>
        </p:spPr>
        <p:txBody>
          <a:bodyPr wrap="square">
            <a:spAutoFit/>
          </a:bodyPr>
          <a:lstStyle/>
          <a:p>
            <a:pPr algn="l" fontAlgn="base"/>
            <a:r>
              <a:rPr lang="en-US" sz="2400" b="1" i="0" dirty="0">
                <a:solidFill>
                  <a:srgbClr val="273239"/>
                </a:solidFill>
                <a:effectLst/>
                <a:latin typeface="Times New Roman" panose="02020603050405020304" pitchFamily="18" charset="0"/>
                <a:cs typeface="Times New Roman" panose="02020603050405020304" pitchFamily="18" charset="0"/>
              </a:rPr>
              <a:t>Use of Version Control System:</a:t>
            </a:r>
            <a:r>
              <a:rPr lang="en-US" sz="2400" b="0" i="0" dirty="0">
                <a:solidFill>
                  <a:srgbClr val="273239"/>
                </a:solidFill>
                <a:effectLst/>
                <a:latin typeface="Times New Roman" panose="02020603050405020304" pitchFamily="18" charset="0"/>
                <a:cs typeface="Times New Roman" panose="02020603050405020304" pitchFamily="18" charset="0"/>
              </a:rPr>
              <a:t>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 </a:t>
            </a:r>
          </a:p>
          <a:p>
            <a:pPr algn="l" fontAlgn="base">
              <a:buFont typeface="Arial" panose="020B0604020202020204" pitchFamily="34" charset="0"/>
              <a:buChar char="•"/>
            </a:pPr>
            <a:r>
              <a:rPr lang="en-US" sz="2400" b="1" i="0" dirty="0">
                <a:solidFill>
                  <a:srgbClr val="273239"/>
                </a:solidFill>
                <a:effectLst/>
                <a:latin typeface="Times New Roman" panose="02020603050405020304" pitchFamily="18" charset="0"/>
                <a:cs typeface="Times New Roman" panose="02020603050405020304" pitchFamily="18" charset="0"/>
              </a:rPr>
              <a:t>A repository:</a:t>
            </a:r>
            <a:r>
              <a:rPr lang="en-US" sz="2400" b="0" i="0" dirty="0">
                <a:solidFill>
                  <a:srgbClr val="273239"/>
                </a:solidFill>
                <a:effectLst/>
                <a:latin typeface="Times New Roman" panose="02020603050405020304" pitchFamily="18" charset="0"/>
                <a:cs typeface="Times New Roman" panose="02020603050405020304" pitchFamily="18" charset="0"/>
              </a:rPr>
              <a:t> It can be thought of as a database of changes. It contains all the edits and historical versions (snapshots) of the project.</a:t>
            </a:r>
          </a:p>
          <a:p>
            <a:pPr algn="l" fontAlgn="base">
              <a:buFont typeface="Arial" panose="020B0604020202020204" pitchFamily="34" charset="0"/>
              <a:buChar char="•"/>
            </a:pPr>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1" i="0" dirty="0">
                <a:solidFill>
                  <a:srgbClr val="273239"/>
                </a:solidFill>
                <a:effectLst/>
                <a:latin typeface="Times New Roman" panose="02020603050405020304" pitchFamily="18" charset="0"/>
                <a:cs typeface="Times New Roman" panose="02020603050405020304" pitchFamily="18" charset="0"/>
              </a:rPr>
              <a:t>Copy of Work (sometimes called as checkout):</a:t>
            </a:r>
            <a:r>
              <a:rPr lang="en-US" sz="2400" b="0" i="0" dirty="0">
                <a:solidFill>
                  <a:srgbClr val="273239"/>
                </a:solidFill>
                <a:effectLst/>
                <a:latin typeface="Times New Roman" panose="02020603050405020304" pitchFamily="18" charset="0"/>
                <a:cs typeface="Times New Roman" panose="02020603050405020304" pitchFamily="18" charset="0"/>
              </a:rPr>
              <a:t> It is the personal copy of all the files in a project. You can edit to this copy, without affecting the work of others and you can finally commit your changes to a repository when you are done making your changes.</a:t>
            </a:r>
          </a:p>
          <a:p>
            <a:pPr algn="l" fontAlgn="base">
              <a:buFont typeface="Arial" panose="020B0604020202020204" pitchFamily="34" charset="0"/>
              <a:buChar char="•"/>
            </a:pPr>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1" i="0" dirty="0">
                <a:solidFill>
                  <a:srgbClr val="273239"/>
                </a:solidFill>
                <a:effectLst/>
                <a:latin typeface="Times New Roman" panose="02020603050405020304" pitchFamily="18" charset="0"/>
                <a:cs typeface="Times New Roman" panose="02020603050405020304" pitchFamily="18" charset="0"/>
              </a:rPr>
              <a:t>Types of Version Control Systems:</a:t>
            </a:r>
            <a:r>
              <a:rPr lang="en-US" sz="2400" b="0" i="0" dirty="0">
                <a:solidFill>
                  <a:srgbClr val="273239"/>
                </a:solidFill>
                <a:effectLst/>
                <a:latin typeface="Times New Roman" panose="02020603050405020304" pitchFamily="18" charset="0"/>
                <a:cs typeface="Times New Roman" panose="02020603050405020304" pitchFamily="18" charset="0"/>
              </a:rPr>
              <a:t> </a:t>
            </a:r>
            <a:endParaRPr lang="en-US" sz="2400" dirty="0">
              <a:solidFill>
                <a:srgbClr val="273239"/>
              </a:solidFill>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Local Version Control Systems</a:t>
            </a:r>
          </a:p>
          <a:p>
            <a:pPr algn="l"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Centralized Version Control Systems</a:t>
            </a:r>
          </a:p>
          <a:p>
            <a:pPr algn="l"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Distributed Version Control Systems</a:t>
            </a:r>
          </a:p>
          <a:p>
            <a:pPr algn="l" fontAlgn="base">
              <a:buFont typeface="Arial" panose="020B0604020202020204" pitchFamily="34" charset="0"/>
              <a:buChar char="•"/>
            </a:pPr>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endParaRPr lang="en-US" sz="2400" dirty="0">
              <a:solidFill>
                <a:srgbClr val="27323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83580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36CE7D-3462-4FAE-95BE-1CC1DD812D70}"/>
              </a:ext>
            </a:extLst>
          </p:cNvPr>
          <p:cNvSpPr txBox="1"/>
          <p:nvPr/>
        </p:nvSpPr>
        <p:spPr>
          <a:xfrm>
            <a:off x="0" y="0"/>
            <a:ext cx="12191999" cy="2492990"/>
          </a:xfrm>
          <a:prstGeom prst="rect">
            <a:avLst/>
          </a:prstGeom>
          <a:noFill/>
        </p:spPr>
        <p:txBody>
          <a:bodyPr wrap="square">
            <a:spAutoFit/>
          </a:bodyPr>
          <a:lstStyle/>
          <a:p>
            <a:pPr algn="l" fontAlgn="base"/>
            <a:r>
              <a:rPr lang="en-US" sz="2400" b="1" i="0" dirty="0">
                <a:solidFill>
                  <a:srgbClr val="273239"/>
                </a:solidFill>
                <a:effectLst/>
                <a:latin typeface="Times New Roman" panose="02020603050405020304" pitchFamily="18" charset="0"/>
                <a:cs typeface="Times New Roman" panose="02020603050405020304" pitchFamily="18" charset="0"/>
              </a:rPr>
              <a:t>Local Version Control Systems:</a:t>
            </a:r>
            <a:r>
              <a:rPr lang="en-US" sz="2400" b="0" i="0" dirty="0">
                <a:solidFill>
                  <a:srgbClr val="273239"/>
                </a:solidFill>
                <a:effectLst/>
                <a:latin typeface="Times New Roman" panose="02020603050405020304" pitchFamily="18" charset="0"/>
                <a:cs typeface="Times New Roman" panose="02020603050405020304" pitchFamily="18" charset="0"/>
              </a:rPr>
              <a:t> It is one of the simplest forms and has a database that kept all the changes to files under revision control. RCS is one of the most common VCS tools.</a:t>
            </a:r>
          </a:p>
          <a:p>
            <a:pPr algn="l" fontAlgn="base"/>
            <a:endParaRPr lang="en-US" sz="2400" dirty="0">
              <a:solidFill>
                <a:srgbClr val="273239"/>
              </a:solidFill>
              <a:latin typeface="Times New Roman" panose="02020603050405020304" pitchFamily="18" charset="0"/>
              <a:cs typeface="Times New Roman" panose="02020603050405020304" pitchFamily="18" charset="0"/>
            </a:endParaRP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 It keeps patch sets (differences between files) in a special format on disk. By adding up all the patches it can then re-create what any file looked like at any point in time. </a:t>
            </a:r>
          </a:p>
          <a:p>
            <a:pPr algn="l" fontAlgn="base"/>
            <a:endParaRPr lang="en-US" b="0" i="0" dirty="0">
              <a:solidFill>
                <a:srgbClr val="273239"/>
              </a:solidFill>
              <a:effectLst/>
              <a:latin typeface="urw-din"/>
            </a:endParaRPr>
          </a:p>
          <a:p>
            <a:pPr algn="l" fontAlgn="base"/>
            <a:endParaRPr lang="en-US" b="0" i="0" dirty="0">
              <a:solidFill>
                <a:srgbClr val="273239"/>
              </a:solidFill>
              <a:effectLst/>
              <a:latin typeface="urw-din"/>
            </a:endParaRPr>
          </a:p>
        </p:txBody>
      </p:sp>
    </p:spTree>
    <p:extLst>
      <p:ext uri="{BB962C8B-B14F-4D97-AF65-F5344CB8AC3E}">
        <p14:creationId xmlns:p14="http://schemas.microsoft.com/office/powerpoint/2010/main" val="717995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99431C-5945-4A73-B1F1-BF62EDF0E946}"/>
              </a:ext>
            </a:extLst>
          </p:cNvPr>
          <p:cNvSpPr txBox="1"/>
          <p:nvPr/>
        </p:nvSpPr>
        <p:spPr>
          <a:xfrm>
            <a:off x="0" y="159026"/>
            <a:ext cx="12046226" cy="6001643"/>
          </a:xfrm>
          <a:prstGeom prst="rect">
            <a:avLst/>
          </a:prstGeom>
          <a:noFill/>
        </p:spPr>
        <p:txBody>
          <a:bodyPr wrap="square">
            <a:spAutoFit/>
          </a:bodyPr>
          <a:lstStyle/>
          <a:p>
            <a:r>
              <a:rPr lang="en-US" sz="2400" b="1" i="0" u="none" strike="noStrike" baseline="0" dirty="0">
                <a:solidFill>
                  <a:srgbClr val="000000"/>
                </a:solidFill>
                <a:latin typeface="Times New Roman" panose="02020603050405020304" pitchFamily="18" charset="0"/>
                <a:cs typeface="Times New Roman" panose="02020603050405020304" pitchFamily="18" charset="0"/>
              </a:rPr>
              <a:t>The Basic Terminology of Version Control System: </a:t>
            </a:r>
          </a:p>
          <a:p>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400" b="1" i="0" u="none" strike="noStrike" baseline="0" dirty="0">
                <a:solidFill>
                  <a:srgbClr val="000000"/>
                </a:solidFill>
                <a:latin typeface="Times New Roman" panose="02020603050405020304" pitchFamily="18" charset="0"/>
                <a:cs typeface="Times New Roman" panose="02020603050405020304" pitchFamily="18" charset="0"/>
              </a:rPr>
              <a:t>Working Directory: </a:t>
            </a: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Where developers are required to create/modify files. </a:t>
            </a: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Here version control is not applicable. Here we won't use the work like version-1, version-2 </a:t>
            </a:r>
            <a:r>
              <a:rPr lang="en-US" sz="2400" i="0" u="none" strike="noStrike" baseline="0" dirty="0" err="1">
                <a:solidFill>
                  <a:srgbClr val="000000"/>
                </a:solidFill>
                <a:latin typeface="Times New Roman" panose="02020603050405020304" pitchFamily="18" charset="0"/>
                <a:cs typeface="Times New Roman" panose="02020603050405020304" pitchFamily="18" charset="0"/>
              </a:rPr>
              <a:t>etc</a:t>
            </a:r>
            <a:r>
              <a:rPr lang="en-US" sz="2400" i="0" u="none" strike="noStrike" baseline="0" dirty="0">
                <a:solidFill>
                  <a:srgbClr val="000000"/>
                </a:solidFill>
                <a:latin typeface="Times New Roman" panose="02020603050405020304" pitchFamily="18" charset="0"/>
                <a:cs typeface="Times New Roman" panose="02020603050405020304" pitchFamily="18" charset="0"/>
              </a:rPr>
              <a:t> </a:t>
            </a:r>
          </a:p>
          <a:p>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400" b="1" i="0" u="none" strike="noStrike" baseline="0" dirty="0">
                <a:solidFill>
                  <a:srgbClr val="000000"/>
                </a:solidFill>
                <a:latin typeface="Times New Roman" panose="02020603050405020304" pitchFamily="18" charset="0"/>
                <a:cs typeface="Times New Roman" panose="02020603050405020304" pitchFamily="18" charset="0"/>
              </a:rPr>
              <a:t>Repository: </a:t>
            </a: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Where we have to store files and metadata. </a:t>
            </a: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Here version control is applicable. </a:t>
            </a: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Here we can talk about versions like version-1, version-2 </a:t>
            </a:r>
            <a:r>
              <a:rPr lang="en-US" sz="2400" i="0" u="none" strike="noStrike" baseline="0" dirty="0" err="1">
                <a:solidFill>
                  <a:srgbClr val="000000"/>
                </a:solidFill>
                <a:latin typeface="Times New Roman" panose="02020603050405020304" pitchFamily="18" charset="0"/>
                <a:cs typeface="Times New Roman" panose="02020603050405020304" pitchFamily="18" charset="0"/>
              </a:rPr>
              <a:t>etc</a:t>
            </a:r>
            <a:r>
              <a:rPr lang="en-US" sz="2400" i="0" u="none" strike="noStrike" baseline="0" dirty="0">
                <a:solidFill>
                  <a:srgbClr val="000000"/>
                </a:solidFill>
                <a:latin typeface="Times New Roman" panose="02020603050405020304" pitchFamily="18" charset="0"/>
                <a:cs typeface="Times New Roman" panose="02020603050405020304" pitchFamily="18" charset="0"/>
              </a:rPr>
              <a:t> </a:t>
            </a:r>
          </a:p>
          <a:p>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400" b="1" i="0" u="none" strike="noStrike" baseline="0" dirty="0">
                <a:solidFill>
                  <a:srgbClr val="000000"/>
                </a:solidFill>
                <a:latin typeface="Times New Roman" panose="02020603050405020304" pitchFamily="18" charset="0"/>
                <a:cs typeface="Times New Roman" panose="02020603050405020304" pitchFamily="18" charset="0"/>
              </a:rPr>
              <a:t>Commit: </a:t>
            </a: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The process of sending files from working directory to the repository. </a:t>
            </a:r>
          </a:p>
          <a:p>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400" b="1" i="0" u="none" strike="noStrike" baseline="0" dirty="0">
                <a:solidFill>
                  <a:srgbClr val="000000"/>
                </a:solidFill>
                <a:latin typeface="Times New Roman" panose="02020603050405020304" pitchFamily="18" charset="0"/>
                <a:cs typeface="Times New Roman" panose="02020603050405020304" pitchFamily="18" charset="0"/>
              </a:rPr>
              <a:t>Checkout: </a:t>
            </a: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The process of sending files from repository to working directory.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8378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B08C28-3B03-4467-B601-F6480ED58BB4}"/>
              </a:ext>
            </a:extLst>
          </p:cNvPr>
          <p:cNvSpPr txBox="1"/>
          <p:nvPr/>
        </p:nvSpPr>
        <p:spPr>
          <a:xfrm>
            <a:off x="-1" y="1"/>
            <a:ext cx="12457043" cy="3416320"/>
          </a:xfrm>
          <a:prstGeom prst="rect">
            <a:avLst/>
          </a:prstGeom>
          <a:noFill/>
        </p:spPr>
        <p:txBody>
          <a:bodyPr wrap="square">
            <a:spAutoFit/>
          </a:bodyPr>
          <a:lstStyle/>
          <a:p>
            <a:pPr algn="l" fontAlgn="base"/>
            <a:r>
              <a:rPr lang="en-US" sz="2400" b="1" i="0" dirty="0">
                <a:solidFill>
                  <a:srgbClr val="273239"/>
                </a:solidFill>
                <a:effectLst/>
                <a:latin typeface="Times New Roman" panose="02020603050405020304" pitchFamily="18" charset="0"/>
                <a:cs typeface="Times New Roman" panose="02020603050405020304" pitchFamily="18" charset="0"/>
              </a:rPr>
              <a:t>Centralized Version Control Systems:</a:t>
            </a:r>
            <a:r>
              <a:rPr lang="en-US" sz="2400" b="0" i="0" dirty="0">
                <a:solidFill>
                  <a:srgbClr val="273239"/>
                </a:solidFill>
                <a:effectLst/>
                <a:latin typeface="Times New Roman" panose="02020603050405020304" pitchFamily="18" charset="0"/>
                <a:cs typeface="Times New Roman" panose="02020603050405020304" pitchFamily="18" charset="0"/>
              </a:rPr>
              <a:t> Centralized version control systems contain just one repository and each user gets their own working copy. You need to commit to reflecting your changes in the repository.</a:t>
            </a:r>
          </a:p>
          <a:p>
            <a:pPr algn="l" fontAlgn="base"/>
            <a:endParaRPr lang="en-US" sz="2400" dirty="0">
              <a:solidFill>
                <a:srgbClr val="273239"/>
              </a:solidFill>
              <a:latin typeface="Times New Roman" panose="02020603050405020304" pitchFamily="18" charset="0"/>
              <a:cs typeface="Times New Roman" panose="02020603050405020304" pitchFamily="18" charset="0"/>
            </a:endParaRP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 It is possible for others to see your changes by updating. </a:t>
            </a: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Two things are required to make your changes visible to others which are: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 </a:t>
            </a:r>
          </a:p>
          <a:p>
            <a:pPr algn="l"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You commit</a:t>
            </a:r>
          </a:p>
          <a:p>
            <a:pPr algn="l"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They update</a:t>
            </a:r>
            <a:endParaRPr lang="en-IN" sz="2400" dirty="0">
              <a:latin typeface="Times New Roman" panose="02020603050405020304" pitchFamily="18" charset="0"/>
              <a:cs typeface="Times New Roman" panose="02020603050405020304" pitchFamily="18" charset="0"/>
            </a:endParaRPr>
          </a:p>
        </p:txBody>
      </p:sp>
      <p:pic>
        <p:nvPicPr>
          <p:cNvPr id="4" name="Picture 2" descr="cvcs">
            <a:extLst>
              <a:ext uri="{FF2B5EF4-FFF2-40B4-BE49-F238E27FC236}">
                <a16:creationId xmlns:a16="http://schemas.microsoft.com/office/drawing/2014/main" id="{264484AD-D078-42B2-87C8-56EB6C190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4833" y="3167270"/>
            <a:ext cx="7794228" cy="35118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5267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cm">
            <a:extLst>
              <a:ext uri="{FF2B5EF4-FFF2-40B4-BE49-F238E27FC236}">
                <a16:creationId xmlns:a16="http://schemas.microsoft.com/office/drawing/2014/main" id="{33D38CA3-6779-4100-99F3-F12D27D636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55980"/>
            <a:ext cx="11635409" cy="6294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1551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D3F1C42-701A-47B7-9064-C1B3655399F3}"/>
              </a:ext>
            </a:extLst>
          </p:cNvPr>
          <p:cNvSpPr txBox="1"/>
          <p:nvPr/>
        </p:nvSpPr>
        <p:spPr>
          <a:xfrm>
            <a:off x="0" y="0"/>
            <a:ext cx="12192000" cy="5078313"/>
          </a:xfrm>
          <a:prstGeom prst="rect">
            <a:avLst/>
          </a:prstGeom>
          <a:noFill/>
        </p:spPr>
        <p:txBody>
          <a:bodyPr wrap="square">
            <a:spAutoFit/>
          </a:bodyPr>
          <a:lstStyle/>
          <a:p>
            <a:pPr algn="l" fontAlgn="base"/>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The </a:t>
            </a:r>
            <a:r>
              <a:rPr lang="en-US" sz="2400" b="1" i="0" dirty="0">
                <a:solidFill>
                  <a:srgbClr val="273239"/>
                </a:solidFill>
                <a:effectLst/>
                <a:latin typeface="Times New Roman" panose="02020603050405020304" pitchFamily="18" charset="0"/>
                <a:cs typeface="Times New Roman" panose="02020603050405020304" pitchFamily="18" charset="0"/>
              </a:rPr>
              <a:t>benefit</a:t>
            </a:r>
            <a:r>
              <a:rPr lang="en-US" sz="2400" b="0" i="0" dirty="0">
                <a:solidFill>
                  <a:srgbClr val="273239"/>
                </a:solidFill>
                <a:effectLst/>
                <a:latin typeface="Times New Roman" panose="02020603050405020304" pitchFamily="18" charset="0"/>
                <a:cs typeface="Times New Roman" panose="02020603050405020304" pitchFamily="18" charset="0"/>
              </a:rPr>
              <a:t> of CVCS (Centralized Version Control Systems) makes collaboration amongst developers along with providing an insight to a certain extent on what everyone else is doing on the project. It allows administrators to fine-grained control over who can do what. </a:t>
            </a:r>
          </a:p>
          <a:p>
            <a:pPr algn="l" fontAlgn="base"/>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It has some </a:t>
            </a:r>
            <a:r>
              <a:rPr lang="en-US" sz="2400" b="1" i="0" dirty="0">
                <a:solidFill>
                  <a:srgbClr val="273239"/>
                </a:solidFill>
                <a:effectLst/>
                <a:latin typeface="Times New Roman" panose="02020603050405020304" pitchFamily="18" charset="0"/>
                <a:cs typeface="Times New Roman" panose="02020603050405020304" pitchFamily="18" charset="0"/>
              </a:rPr>
              <a:t>downsides</a:t>
            </a:r>
            <a:r>
              <a:rPr lang="en-US" sz="2400" b="0" i="0" dirty="0">
                <a:solidFill>
                  <a:srgbClr val="273239"/>
                </a:solidFill>
                <a:effectLst/>
                <a:latin typeface="Times New Roman" panose="02020603050405020304" pitchFamily="18" charset="0"/>
                <a:cs typeface="Times New Roman" panose="02020603050405020304" pitchFamily="18" charset="0"/>
              </a:rPr>
              <a:t> as well which led to the development of DVS. The most obvious is the single point of failure that the centralized repository represents if it goes down during that period collaboration and saving versioned changes is not possible. </a:t>
            </a:r>
          </a:p>
          <a:p>
            <a:pPr algn="l" fontAlgn="base"/>
            <a:endParaRPr lang="en-US" sz="2400" dirty="0">
              <a:solidFill>
                <a:srgbClr val="273239"/>
              </a:solidFill>
              <a:latin typeface="Times New Roman" panose="02020603050405020304" pitchFamily="18" charset="0"/>
              <a:cs typeface="Times New Roman" panose="02020603050405020304" pitchFamily="18" charset="0"/>
            </a:endParaRPr>
          </a:p>
          <a:p>
            <a:pPr algn="l" fontAlgn="base"/>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What if the hard disk of the central database becomes corrupted, and proper backups haven’t been kept? You lose absolutely everything. </a:t>
            </a:r>
          </a:p>
          <a:p>
            <a:pPr algn="l" fontAlgn="base"/>
            <a:endParaRPr lang="en-US" b="0" i="0" dirty="0">
              <a:solidFill>
                <a:srgbClr val="273239"/>
              </a:solidFill>
              <a:effectLst/>
              <a:latin typeface="urw-din"/>
            </a:endParaRPr>
          </a:p>
          <a:p>
            <a:pPr algn="l" fontAlgn="base"/>
            <a:endParaRPr lang="en-US" b="0" i="0" dirty="0">
              <a:solidFill>
                <a:srgbClr val="273239"/>
              </a:solidFill>
              <a:effectLst/>
              <a:latin typeface="urw-din"/>
            </a:endParaRPr>
          </a:p>
        </p:txBody>
      </p:sp>
    </p:spTree>
    <p:extLst>
      <p:ext uri="{BB962C8B-B14F-4D97-AF65-F5344CB8AC3E}">
        <p14:creationId xmlns:p14="http://schemas.microsoft.com/office/powerpoint/2010/main" val="3098340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C49D3F-8771-48F5-9B1D-CB32C5CD1895}"/>
              </a:ext>
            </a:extLst>
          </p:cNvPr>
          <p:cNvSpPr txBox="1"/>
          <p:nvPr/>
        </p:nvSpPr>
        <p:spPr>
          <a:xfrm>
            <a:off x="0" y="0"/>
            <a:ext cx="12191999" cy="5909310"/>
          </a:xfrm>
          <a:prstGeom prst="rect">
            <a:avLst/>
          </a:prstGeom>
          <a:noFill/>
        </p:spPr>
        <p:txBody>
          <a:bodyPr wrap="square">
            <a:spAutoFit/>
          </a:bodyPr>
          <a:lstStyle/>
          <a:p>
            <a:r>
              <a:rPr lang="en-IN" sz="2400" b="1" i="0" u="none" strike="noStrike" baseline="0" dirty="0">
                <a:solidFill>
                  <a:srgbClr val="000000"/>
                </a:solidFill>
                <a:latin typeface="Times New Roman" panose="02020603050405020304" pitchFamily="18" charset="0"/>
                <a:cs typeface="Times New Roman" panose="02020603050405020304" pitchFamily="18" charset="0"/>
              </a:rPr>
              <a:t>Problems with Centralized VCSs: </a:t>
            </a:r>
          </a:p>
          <a:p>
            <a:endParaRPr lang="en-IN" sz="2400" b="1"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1) Central Repository is the only place where everything is stored, which causes single point of failure. If something goes wrong to the central repository then recovery is very difficult. </a:t>
            </a:r>
          </a:p>
          <a:p>
            <a:endParaRPr lang="en-IN"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2) All commit and checkout operations should be performed by connecting to the central repository via network. If network outage, then no version control to the developer. </a:t>
            </a:r>
            <a:r>
              <a:rPr lang="en-US" sz="2400" i="0" u="none" strike="noStrike" baseline="0" dirty="0" err="1">
                <a:solidFill>
                  <a:srgbClr val="000000"/>
                </a:solidFill>
                <a:latin typeface="Times New Roman" panose="02020603050405020304" pitchFamily="18" charset="0"/>
                <a:cs typeface="Times New Roman" panose="02020603050405020304" pitchFamily="18" charset="0"/>
              </a:rPr>
              <a:t>i.e</a:t>
            </a:r>
            <a:r>
              <a:rPr lang="en-US" sz="2400" i="0" u="none" strike="noStrike" baseline="0" dirty="0">
                <a:solidFill>
                  <a:srgbClr val="000000"/>
                </a:solidFill>
                <a:latin typeface="Times New Roman" panose="02020603050405020304" pitchFamily="18" charset="0"/>
                <a:cs typeface="Times New Roman" panose="02020603050405020304" pitchFamily="18" charset="0"/>
              </a:rPr>
              <a:t> in this type, developer work space and remote repository server should be connected always. </a:t>
            </a:r>
          </a:p>
          <a:p>
            <a:endParaRPr lang="en-US" sz="2400" dirty="0">
              <a:solidFill>
                <a:srgbClr val="000000"/>
              </a:solidFill>
              <a:latin typeface="Times New Roman" panose="02020603050405020304" pitchFamily="18" charset="0"/>
              <a:cs typeface="Times New Roman" panose="02020603050405020304" pitchFamily="18" charset="0"/>
            </a:endParaRPr>
          </a:p>
          <a:p>
            <a:pPr algn="l"/>
            <a:endParaRPr lang="en-IN"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3) All commit and checkout operations should be performed by connecting to the central repository via network and hence these operations will become slow, which causes performance issues. No local operations and every version control operation should be remote operation. </a:t>
            </a:r>
          </a:p>
          <a:p>
            <a:endParaRPr lang="en-IN"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4) Organization of central repository is very complex if number of developers and files increases. </a:t>
            </a:r>
          </a:p>
          <a:p>
            <a:r>
              <a:rPr lang="en-IN" sz="1800" i="0" u="none" strike="noStrike" baseline="0" dirty="0">
                <a:solidFill>
                  <a:srgbClr val="000000"/>
                </a:solidFill>
                <a:latin typeface="Calibri" panose="020F0502020204030204" pitchFamily="34" charset="0"/>
              </a:rPr>
              <a:t>etc </a:t>
            </a:r>
            <a:endParaRPr lang="en-US" sz="1800" i="0" u="none" strike="noStrike" baseline="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1934920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D3D971-AD28-42FE-862A-11DFFE2E1BB7}"/>
              </a:ext>
            </a:extLst>
          </p:cNvPr>
          <p:cNvSpPr txBox="1"/>
          <p:nvPr/>
        </p:nvSpPr>
        <p:spPr>
          <a:xfrm>
            <a:off x="0" y="0"/>
            <a:ext cx="12192000" cy="6370975"/>
          </a:xfrm>
          <a:prstGeom prst="rect">
            <a:avLst/>
          </a:prstGeom>
          <a:noFill/>
        </p:spPr>
        <p:txBody>
          <a:bodyPr wrap="square">
            <a:spAutoFit/>
          </a:bodyPr>
          <a:lstStyle/>
          <a:p>
            <a:pPr algn="l" fontAlgn="base"/>
            <a:r>
              <a:rPr lang="en-US" sz="2400" b="1" i="0" dirty="0">
                <a:solidFill>
                  <a:srgbClr val="273239"/>
                </a:solidFill>
                <a:effectLst/>
                <a:latin typeface="Times New Roman" panose="02020603050405020304" pitchFamily="18" charset="0"/>
                <a:cs typeface="Times New Roman" panose="02020603050405020304" pitchFamily="18" charset="0"/>
              </a:rPr>
              <a:t>Distributed Version Control Systems:</a:t>
            </a:r>
            <a:r>
              <a:rPr lang="en-US" sz="2400" b="0" i="0" dirty="0">
                <a:solidFill>
                  <a:srgbClr val="273239"/>
                </a:solidFill>
                <a:effectLst/>
                <a:latin typeface="Times New Roman" panose="02020603050405020304" pitchFamily="18" charset="0"/>
                <a:cs typeface="Times New Roman" panose="02020603050405020304" pitchFamily="18" charset="0"/>
              </a:rPr>
              <a:t> Distributed version control systems contain multiple repositories. Each user has their own repository and working copy. Just committing your changes will not give others access to your changes. </a:t>
            </a:r>
          </a:p>
          <a:p>
            <a:pPr algn="l" fontAlgn="base"/>
            <a:endParaRPr lang="en-US" sz="2400" dirty="0">
              <a:solidFill>
                <a:srgbClr val="273239"/>
              </a:solidFill>
              <a:latin typeface="Times New Roman" panose="02020603050405020304" pitchFamily="18" charset="0"/>
              <a:cs typeface="Times New Roman" panose="02020603050405020304" pitchFamily="18" charset="0"/>
            </a:endParaRP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This is because commit will reflect those changes in your local repository and you need to push them in order to make them visible on the central repository. Similarly, When you update, you do not get other’s changes unless you have first pulled those changes into your repository. </a:t>
            </a:r>
          </a:p>
          <a:p>
            <a:pPr algn="l" fontAlgn="base"/>
            <a:endParaRPr lang="en-US" sz="2400" dirty="0">
              <a:solidFill>
                <a:srgbClr val="273239"/>
              </a:solidFill>
              <a:latin typeface="Times New Roman" panose="02020603050405020304" pitchFamily="18" charset="0"/>
              <a:cs typeface="Times New Roman" panose="02020603050405020304" pitchFamily="18" charset="0"/>
            </a:endParaRP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To make your changes visible to others, 4 things are required: </a:t>
            </a:r>
            <a:br>
              <a:rPr lang="en-US" sz="2400" b="0" i="0" dirty="0">
                <a:solidFill>
                  <a:srgbClr val="273239"/>
                </a:solidFill>
                <a:effectLst/>
                <a:latin typeface="Times New Roman" panose="02020603050405020304" pitchFamily="18" charset="0"/>
                <a:cs typeface="Times New Roman" panose="02020603050405020304" pitchFamily="18" charset="0"/>
              </a:rPr>
            </a:br>
            <a:r>
              <a:rPr lang="en-US" sz="2400" b="0" i="0" dirty="0">
                <a:solidFill>
                  <a:srgbClr val="273239"/>
                </a:solidFill>
                <a:effectLst/>
                <a:latin typeface="Times New Roman" panose="02020603050405020304" pitchFamily="18" charset="0"/>
                <a:cs typeface="Times New Roman" panose="02020603050405020304" pitchFamily="18" charset="0"/>
              </a:rPr>
              <a:t> </a:t>
            </a:r>
          </a:p>
          <a:p>
            <a:pPr algn="l"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You commit</a:t>
            </a:r>
          </a:p>
          <a:p>
            <a:pPr algn="l"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You push</a:t>
            </a:r>
          </a:p>
          <a:p>
            <a:pPr algn="l"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They pull</a:t>
            </a:r>
          </a:p>
          <a:p>
            <a:pPr algn="l" fontAlgn="base">
              <a:buFont typeface="Arial" panose="020B0604020202020204" pitchFamily="34" charset="0"/>
              <a:buChar char="•"/>
            </a:pPr>
            <a:r>
              <a:rPr lang="en-US" sz="2400" b="0" i="0" dirty="0">
                <a:solidFill>
                  <a:srgbClr val="273239"/>
                </a:solidFill>
                <a:effectLst/>
                <a:latin typeface="Times New Roman" panose="02020603050405020304" pitchFamily="18" charset="0"/>
                <a:cs typeface="Times New Roman" panose="02020603050405020304" pitchFamily="18" charset="0"/>
              </a:rPr>
              <a:t>They update</a:t>
            </a:r>
          </a:p>
          <a:p>
            <a:pPr algn="l" fontAlgn="base">
              <a:buFont typeface="Arial" panose="020B0604020202020204" pitchFamily="34" charset="0"/>
              <a:buChar char="•"/>
            </a:pPr>
            <a:endParaRPr lang="en-US" sz="2400" b="0" i="0" dirty="0">
              <a:solidFill>
                <a:srgbClr val="273239"/>
              </a:solidFill>
              <a:effectLst/>
              <a:latin typeface="Times New Roman" panose="02020603050405020304" pitchFamily="18" charset="0"/>
              <a:cs typeface="Times New Roman" panose="02020603050405020304" pitchFamily="18" charset="0"/>
            </a:endParaRPr>
          </a:p>
          <a:p>
            <a:pPr algn="l" fontAlgn="base"/>
            <a:r>
              <a:rPr lang="en-US" sz="2400" b="0" i="0" dirty="0">
                <a:solidFill>
                  <a:srgbClr val="273239"/>
                </a:solidFill>
                <a:effectLst/>
                <a:latin typeface="Times New Roman" panose="02020603050405020304" pitchFamily="18" charset="0"/>
                <a:cs typeface="Times New Roman" panose="02020603050405020304" pitchFamily="18" charset="0"/>
              </a:rPr>
              <a:t>The most popular distributed version control systems are Git, Mercurial. They help us overcome the problem of single point of failure. </a:t>
            </a:r>
          </a:p>
        </p:txBody>
      </p:sp>
    </p:spTree>
    <p:extLst>
      <p:ext uri="{BB962C8B-B14F-4D97-AF65-F5344CB8AC3E}">
        <p14:creationId xmlns:p14="http://schemas.microsoft.com/office/powerpoint/2010/main" val="729557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dvcs">
            <a:extLst>
              <a:ext uri="{FF2B5EF4-FFF2-40B4-BE49-F238E27FC236}">
                <a16:creationId xmlns:a16="http://schemas.microsoft.com/office/drawing/2014/main" id="{B7386394-4782-4CCC-B60A-916312A398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98280"/>
            <a:ext cx="12019722" cy="6856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0782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BF6BC78-3EB4-44D9-B14D-636AABA17997}"/>
              </a:ext>
            </a:extLst>
          </p:cNvPr>
          <p:cNvSpPr txBox="1"/>
          <p:nvPr/>
        </p:nvSpPr>
        <p:spPr>
          <a:xfrm>
            <a:off x="119271" y="0"/>
            <a:ext cx="11304104" cy="4154984"/>
          </a:xfrm>
          <a:prstGeom prst="rect">
            <a:avLst/>
          </a:prstGeom>
          <a:noFill/>
        </p:spPr>
        <p:txBody>
          <a:bodyPr wrap="square">
            <a:spAutoFit/>
          </a:bodyPr>
          <a:lstStyle/>
          <a:p>
            <a:r>
              <a:rPr lang="en-IN" sz="2400" b="1" i="0" u="none" strike="noStrike" baseline="0" dirty="0">
                <a:solidFill>
                  <a:srgbClr val="000000"/>
                </a:solidFill>
                <a:latin typeface="Times New Roman" panose="02020603050405020304" pitchFamily="18" charset="0"/>
                <a:cs typeface="Times New Roman" panose="02020603050405020304" pitchFamily="18" charset="0"/>
              </a:rPr>
              <a:t>Note: </a:t>
            </a:r>
          </a:p>
          <a:p>
            <a:endParaRPr lang="en-IN"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1) commit and checkout operations will be performed between workspace and repository. </a:t>
            </a:r>
          </a:p>
          <a:p>
            <a:endParaRPr lang="en-IN"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400" i="0" u="none" strike="noStrike" baseline="0" dirty="0">
                <a:solidFill>
                  <a:srgbClr val="000000"/>
                </a:solidFill>
                <a:latin typeface="Times New Roman" panose="02020603050405020304" pitchFamily="18" charset="0"/>
                <a:cs typeface="Times New Roman" panose="02020603050405020304" pitchFamily="18" charset="0"/>
              </a:rPr>
              <a:t>work space – commit - Repository </a:t>
            </a:r>
          </a:p>
          <a:p>
            <a:r>
              <a:rPr lang="en-IN" sz="2400" i="0" u="none" strike="noStrike" baseline="0" dirty="0">
                <a:solidFill>
                  <a:srgbClr val="000000"/>
                </a:solidFill>
                <a:latin typeface="Times New Roman" panose="02020603050405020304" pitchFamily="18" charset="0"/>
                <a:cs typeface="Times New Roman" panose="02020603050405020304" pitchFamily="18" charset="0"/>
              </a:rPr>
              <a:t>Repository – checkout - workspace </a:t>
            </a:r>
          </a:p>
          <a:p>
            <a:endParaRPr lang="en-IN"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2) push and pull operations will be performed between repositories. </a:t>
            </a:r>
          </a:p>
          <a:p>
            <a:endParaRPr lang="en-IN"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one repository ---push - other repository </a:t>
            </a: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one repository - pull----other repository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669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782EF7-DA75-47BA-AD6C-32EE7629A451}"/>
              </a:ext>
            </a:extLst>
          </p:cNvPr>
          <p:cNvSpPr txBox="1"/>
          <p:nvPr/>
        </p:nvSpPr>
        <p:spPr>
          <a:xfrm>
            <a:off x="0" y="1"/>
            <a:ext cx="12192000" cy="6833072"/>
          </a:xfrm>
          <a:prstGeom prst="rect">
            <a:avLst/>
          </a:prstGeom>
          <a:noFill/>
        </p:spPr>
        <p:txBody>
          <a:bodyPr wrap="square">
            <a:spAutoFit/>
          </a:bodyPr>
          <a:lstStyle/>
          <a:p>
            <a:r>
              <a:rPr lang="en-US" sz="2400" b="1" i="0" u="none" strike="noStrike" baseline="0" dirty="0">
                <a:solidFill>
                  <a:srgbClr val="000000"/>
                </a:solidFill>
                <a:latin typeface="Times New Roman" panose="02020603050405020304" pitchFamily="18" charset="0"/>
                <a:cs typeface="Times New Roman" panose="02020603050405020304" pitchFamily="18" charset="0"/>
              </a:rPr>
              <a:t>Benefits of Version Control System:</a:t>
            </a:r>
          </a:p>
          <a:p>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We can maintain different versions and we can choose any version based on client requirement. </a:t>
            </a:r>
          </a:p>
          <a:p>
            <a:endParaRPr lang="en-US"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With every version/commit we can maintain metadata like </a:t>
            </a:r>
          </a:p>
          <a:p>
            <a:endParaRPr lang="en-IN"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400" i="0" u="none" strike="noStrike" baseline="0" dirty="0">
                <a:solidFill>
                  <a:srgbClr val="000000"/>
                </a:solidFill>
                <a:latin typeface="Times New Roman" panose="02020603050405020304" pitchFamily="18" charset="0"/>
                <a:cs typeface="Times New Roman" panose="02020603050405020304" pitchFamily="18" charset="0"/>
              </a:rPr>
              <a:t>commit message </a:t>
            </a:r>
          </a:p>
          <a:p>
            <a:r>
              <a:rPr lang="en-IN" sz="2400" i="0" u="none" strike="noStrike" baseline="0" dirty="0">
                <a:solidFill>
                  <a:srgbClr val="000000"/>
                </a:solidFill>
                <a:latin typeface="Times New Roman" panose="02020603050405020304" pitchFamily="18" charset="0"/>
                <a:cs typeface="Times New Roman" panose="02020603050405020304" pitchFamily="18" charset="0"/>
              </a:rPr>
              <a:t>who did changes </a:t>
            </a: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when he did the change </a:t>
            </a:r>
          </a:p>
          <a:p>
            <a:r>
              <a:rPr lang="en-IN" sz="2400" i="0" u="none" strike="noStrike" baseline="0" dirty="0">
                <a:solidFill>
                  <a:srgbClr val="000000"/>
                </a:solidFill>
                <a:latin typeface="Times New Roman" panose="02020603050405020304" pitchFamily="18" charset="0"/>
                <a:cs typeface="Times New Roman" panose="02020603050405020304" pitchFamily="18" charset="0"/>
              </a:rPr>
              <a:t>what changes he did </a:t>
            </a:r>
          </a:p>
          <a:p>
            <a:endParaRPr lang="en-IN"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3) Developers can share the code to the peer developers in very easy way. </a:t>
            </a: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4) Multiple developers can work in collaborative way </a:t>
            </a:r>
          </a:p>
          <a:p>
            <a:r>
              <a:rPr lang="en-IN" sz="2400" i="0" u="none" strike="noStrike" baseline="0" dirty="0">
                <a:solidFill>
                  <a:srgbClr val="000000"/>
                </a:solidFill>
                <a:latin typeface="Times New Roman" panose="02020603050405020304" pitchFamily="18" charset="0"/>
                <a:cs typeface="Times New Roman" panose="02020603050405020304" pitchFamily="18" charset="0"/>
              </a:rPr>
              <a:t>5) Parallel development. </a:t>
            </a:r>
          </a:p>
          <a:p>
            <a:r>
              <a:rPr lang="en-US" sz="2400" i="0" u="none" strike="noStrike" baseline="0" dirty="0">
                <a:solidFill>
                  <a:srgbClr val="000000"/>
                </a:solidFill>
                <a:latin typeface="Times New Roman" panose="02020603050405020304" pitchFamily="18" charset="0"/>
                <a:cs typeface="Times New Roman" panose="02020603050405020304" pitchFamily="18" charset="0"/>
              </a:rPr>
              <a:t>6) We can provide access control like </a:t>
            </a:r>
          </a:p>
          <a:p>
            <a:endParaRPr lang="en-IN" sz="2400" i="0" u="none" strike="noStrike" baseline="0" dirty="0">
              <a:solidFill>
                <a:srgbClr val="000000"/>
              </a:solidFill>
              <a:latin typeface="Times New Roman" panose="02020603050405020304" pitchFamily="18" charset="0"/>
              <a:cs typeface="Times New Roman" panose="02020603050405020304" pitchFamily="18" charset="0"/>
            </a:endParaRPr>
          </a:p>
          <a:p>
            <a:r>
              <a:rPr lang="en-IN" sz="2400" i="0" u="none" strike="noStrike" baseline="0" dirty="0">
                <a:solidFill>
                  <a:srgbClr val="000000"/>
                </a:solidFill>
                <a:latin typeface="Times New Roman" panose="02020603050405020304" pitchFamily="18" charset="0"/>
                <a:cs typeface="Times New Roman" panose="02020603050405020304" pitchFamily="18" charset="0"/>
              </a:rPr>
              <a:t>who can read code </a:t>
            </a:r>
          </a:p>
          <a:p>
            <a:r>
              <a:rPr lang="en-IN" sz="2400" i="0" u="none" strike="noStrike" baseline="0" dirty="0">
                <a:solidFill>
                  <a:srgbClr val="000000"/>
                </a:solidFill>
                <a:latin typeface="Times New Roman" panose="02020603050405020304" pitchFamily="18" charset="0"/>
                <a:cs typeface="Times New Roman" panose="02020603050405020304" pitchFamily="18" charset="0"/>
              </a:rPr>
              <a:t>who can modify code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92642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612</TotalTime>
  <Words>1877</Words>
  <Application>Microsoft Office PowerPoint</Application>
  <PresentationFormat>Widescreen</PresentationFormat>
  <Paragraphs>141</Paragraphs>
  <Slides>22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Agrandir-Medium</vt:lpstr>
      <vt:lpstr>Arial</vt:lpstr>
      <vt:lpstr>Calibri</vt:lpstr>
      <vt:lpstr>Calibri Light</vt:lpstr>
      <vt:lpstr>Helvetica Neue</vt:lpstr>
      <vt:lpstr>Times New Roman</vt:lpstr>
      <vt:lpstr>urw-din</vt:lpstr>
      <vt:lpstr>Wingdings</vt:lpstr>
      <vt:lpstr>Office Theme</vt:lpstr>
      <vt:lpstr>UNIT – 3 Introduction to project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SAI CHARAN THOTA</dc:creator>
  <cp:lastModifiedBy>SAI CHARAN THOTA</cp:lastModifiedBy>
  <cp:revision>24</cp:revision>
  <dcterms:created xsi:type="dcterms:W3CDTF">2021-09-11T04:36:02Z</dcterms:created>
  <dcterms:modified xsi:type="dcterms:W3CDTF">2021-11-08T04:55:02Z</dcterms:modified>
</cp:coreProperties>
</file>