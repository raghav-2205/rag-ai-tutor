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6" r:id="rId3"/>
    <p:sldId id="265" r:id="rId4"/>
    <p:sldId id="257" r:id="rId5"/>
    <p:sldId id="258" r:id="rId6"/>
    <p:sldId id="266" r:id="rId7"/>
    <p:sldId id="270" r:id="rId8"/>
    <p:sldId id="271" r:id="rId9"/>
    <p:sldId id="259" r:id="rId10"/>
    <p:sldId id="260" r:id="rId11"/>
    <p:sldId id="263" r:id="rId12"/>
    <p:sldId id="267" r:id="rId13"/>
    <p:sldId id="268" r:id="rId14"/>
    <p:sldId id="269" r:id="rId15"/>
    <p:sldId id="272" r:id="rId16"/>
    <p:sldId id="273" r:id="rId17"/>
    <p:sldId id="274" r:id="rId18"/>
    <p:sldId id="275" r:id="rId19"/>
    <p:sldId id="279" r:id="rId20"/>
    <p:sldId id="280" r:id="rId21"/>
    <p:sldId id="281" r:id="rId22"/>
    <p:sldId id="282" r:id="rId23"/>
    <p:sldId id="283" r:id="rId24"/>
    <p:sldId id="28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09CD2-59A8-4BD2-85F1-BEDFCFA8AC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D246FAE-6FA2-46D8-B147-03E567C413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CC18DFD-18B7-46B6-8613-79C9FEB51885}"/>
              </a:ext>
            </a:extLst>
          </p:cNvPr>
          <p:cNvSpPr>
            <a:spLocks noGrp="1"/>
          </p:cNvSpPr>
          <p:nvPr>
            <p:ph type="dt" sz="half" idx="10"/>
          </p:nvPr>
        </p:nvSpPr>
        <p:spPr/>
        <p:txBody>
          <a:bodyPr/>
          <a:lstStyle/>
          <a:p>
            <a:fld id="{73CF7E60-C722-4C65-BC8F-DCFE8D303FB4}" type="datetimeFigureOut">
              <a:rPr lang="en-IN" smtClean="0"/>
              <a:t>21-09-2021</a:t>
            </a:fld>
            <a:endParaRPr lang="en-IN"/>
          </a:p>
        </p:txBody>
      </p:sp>
      <p:sp>
        <p:nvSpPr>
          <p:cNvPr id="5" name="Footer Placeholder 4">
            <a:extLst>
              <a:ext uri="{FF2B5EF4-FFF2-40B4-BE49-F238E27FC236}">
                <a16:creationId xmlns:a16="http://schemas.microsoft.com/office/drawing/2014/main" id="{FCF0D73A-338B-4633-873A-48D0490408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4C0DE8-2C4E-4B6F-987B-F3084DAB760C}"/>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4144277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4E294-03C1-4764-B5C5-F2E2D61667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5A9975-4C4D-4D71-84A4-918A39CE8F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6767C9-D2D0-48FE-9414-1B90CD81E6BD}"/>
              </a:ext>
            </a:extLst>
          </p:cNvPr>
          <p:cNvSpPr>
            <a:spLocks noGrp="1"/>
          </p:cNvSpPr>
          <p:nvPr>
            <p:ph type="dt" sz="half" idx="10"/>
          </p:nvPr>
        </p:nvSpPr>
        <p:spPr/>
        <p:txBody>
          <a:bodyPr/>
          <a:lstStyle/>
          <a:p>
            <a:fld id="{73CF7E60-C722-4C65-BC8F-DCFE8D303FB4}" type="datetimeFigureOut">
              <a:rPr lang="en-IN" smtClean="0"/>
              <a:t>21-09-2021</a:t>
            </a:fld>
            <a:endParaRPr lang="en-IN"/>
          </a:p>
        </p:txBody>
      </p:sp>
      <p:sp>
        <p:nvSpPr>
          <p:cNvPr id="5" name="Footer Placeholder 4">
            <a:extLst>
              <a:ext uri="{FF2B5EF4-FFF2-40B4-BE49-F238E27FC236}">
                <a16:creationId xmlns:a16="http://schemas.microsoft.com/office/drawing/2014/main" id="{5B059251-B219-4E63-967B-135DF856F5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289ADF-59ED-464A-94E4-3DD8BAF5141B}"/>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2781761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0CF78-2350-4AB2-86C2-506BADF5B6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2C694F5-1D20-4C99-B694-9C2BB40654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6AD440-1894-4E19-8590-6078272D6940}"/>
              </a:ext>
            </a:extLst>
          </p:cNvPr>
          <p:cNvSpPr>
            <a:spLocks noGrp="1"/>
          </p:cNvSpPr>
          <p:nvPr>
            <p:ph type="dt" sz="half" idx="10"/>
          </p:nvPr>
        </p:nvSpPr>
        <p:spPr/>
        <p:txBody>
          <a:bodyPr/>
          <a:lstStyle/>
          <a:p>
            <a:fld id="{73CF7E60-C722-4C65-BC8F-DCFE8D303FB4}" type="datetimeFigureOut">
              <a:rPr lang="en-IN" smtClean="0"/>
              <a:t>21-09-2021</a:t>
            </a:fld>
            <a:endParaRPr lang="en-IN"/>
          </a:p>
        </p:txBody>
      </p:sp>
      <p:sp>
        <p:nvSpPr>
          <p:cNvPr id="5" name="Footer Placeholder 4">
            <a:extLst>
              <a:ext uri="{FF2B5EF4-FFF2-40B4-BE49-F238E27FC236}">
                <a16:creationId xmlns:a16="http://schemas.microsoft.com/office/drawing/2014/main" id="{86459700-4EBD-4003-9E03-A926EAD73D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732750-5165-4E00-A7E0-B60F1F0F98CA}"/>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3190891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E499B-BD55-42B5-961E-DC9C3EAE4F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4F20A3-B59C-4EB8-8BCE-3073BED40C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E5A65BF-4354-4FAC-8BA3-046D35FE57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E7B29D3-B668-4A50-BF1F-98F43667912A}"/>
              </a:ext>
            </a:extLst>
          </p:cNvPr>
          <p:cNvSpPr>
            <a:spLocks noGrp="1"/>
          </p:cNvSpPr>
          <p:nvPr>
            <p:ph type="dt" sz="half" idx="10"/>
          </p:nvPr>
        </p:nvSpPr>
        <p:spPr/>
        <p:txBody>
          <a:bodyPr/>
          <a:lstStyle/>
          <a:p>
            <a:fld id="{73CF7E60-C722-4C65-BC8F-DCFE8D303FB4}" type="datetimeFigureOut">
              <a:rPr lang="en-IN" smtClean="0"/>
              <a:t>21-09-2021</a:t>
            </a:fld>
            <a:endParaRPr lang="en-IN"/>
          </a:p>
        </p:txBody>
      </p:sp>
      <p:sp>
        <p:nvSpPr>
          <p:cNvPr id="6" name="Footer Placeholder 5">
            <a:extLst>
              <a:ext uri="{FF2B5EF4-FFF2-40B4-BE49-F238E27FC236}">
                <a16:creationId xmlns:a16="http://schemas.microsoft.com/office/drawing/2014/main" id="{605CC5B9-B60A-4E3E-BB2D-F4166E44AA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4BE6E6-7E02-431F-B69A-8D411B0917F2}"/>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740810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6CFB-70CE-4458-92A8-25C6D718D9C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624DE6D-70E9-49B9-AFA2-2393C20C98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C3ACDB-71E5-4B7B-9B25-5A0A1E09AC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A2BE07-8E3B-4749-A3A8-CBD158D154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CE3D41-D2B5-4F68-AF77-E4194DFBFE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37060E8-E174-43B5-BFFD-44D2FC08A8BC}"/>
              </a:ext>
            </a:extLst>
          </p:cNvPr>
          <p:cNvSpPr>
            <a:spLocks noGrp="1"/>
          </p:cNvSpPr>
          <p:nvPr>
            <p:ph type="dt" sz="half" idx="10"/>
          </p:nvPr>
        </p:nvSpPr>
        <p:spPr/>
        <p:txBody>
          <a:bodyPr/>
          <a:lstStyle/>
          <a:p>
            <a:fld id="{73CF7E60-C722-4C65-BC8F-DCFE8D303FB4}" type="datetimeFigureOut">
              <a:rPr lang="en-IN" smtClean="0"/>
              <a:t>21-09-2021</a:t>
            </a:fld>
            <a:endParaRPr lang="en-IN"/>
          </a:p>
        </p:txBody>
      </p:sp>
      <p:sp>
        <p:nvSpPr>
          <p:cNvPr id="8" name="Footer Placeholder 7">
            <a:extLst>
              <a:ext uri="{FF2B5EF4-FFF2-40B4-BE49-F238E27FC236}">
                <a16:creationId xmlns:a16="http://schemas.microsoft.com/office/drawing/2014/main" id="{74906AC3-1442-423B-BF38-976DE8C95CA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26F104F-81EF-44C7-8940-CE274A4A0F8F}"/>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4292553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4F35C-87ED-40BD-9B33-FB376CC7F0B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48758D-0D18-409B-8D38-256D7FF6DE9D}"/>
              </a:ext>
            </a:extLst>
          </p:cNvPr>
          <p:cNvSpPr>
            <a:spLocks noGrp="1"/>
          </p:cNvSpPr>
          <p:nvPr>
            <p:ph type="dt" sz="half" idx="10"/>
          </p:nvPr>
        </p:nvSpPr>
        <p:spPr/>
        <p:txBody>
          <a:bodyPr/>
          <a:lstStyle/>
          <a:p>
            <a:fld id="{73CF7E60-C722-4C65-BC8F-DCFE8D303FB4}" type="datetimeFigureOut">
              <a:rPr lang="en-IN" smtClean="0"/>
              <a:t>21-09-2021</a:t>
            </a:fld>
            <a:endParaRPr lang="en-IN"/>
          </a:p>
        </p:txBody>
      </p:sp>
      <p:sp>
        <p:nvSpPr>
          <p:cNvPr id="4" name="Footer Placeholder 3">
            <a:extLst>
              <a:ext uri="{FF2B5EF4-FFF2-40B4-BE49-F238E27FC236}">
                <a16:creationId xmlns:a16="http://schemas.microsoft.com/office/drawing/2014/main" id="{E7091D04-914B-493A-BC25-DD9F1C53B0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EB9543B-2A6A-4BDF-8063-74AF1F43657F}"/>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1879942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F66594-EAE8-4BF0-8360-B6D83BAB5F00}"/>
              </a:ext>
            </a:extLst>
          </p:cNvPr>
          <p:cNvSpPr>
            <a:spLocks noGrp="1"/>
          </p:cNvSpPr>
          <p:nvPr>
            <p:ph type="dt" sz="half" idx="10"/>
          </p:nvPr>
        </p:nvSpPr>
        <p:spPr/>
        <p:txBody>
          <a:bodyPr/>
          <a:lstStyle/>
          <a:p>
            <a:fld id="{73CF7E60-C722-4C65-BC8F-DCFE8D303FB4}" type="datetimeFigureOut">
              <a:rPr lang="en-IN" smtClean="0"/>
              <a:t>21-09-2021</a:t>
            </a:fld>
            <a:endParaRPr lang="en-IN"/>
          </a:p>
        </p:txBody>
      </p:sp>
      <p:sp>
        <p:nvSpPr>
          <p:cNvPr id="3" name="Footer Placeholder 2">
            <a:extLst>
              <a:ext uri="{FF2B5EF4-FFF2-40B4-BE49-F238E27FC236}">
                <a16:creationId xmlns:a16="http://schemas.microsoft.com/office/drawing/2014/main" id="{307EA635-80EA-480E-82CC-8E65258C4E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48F5321-6B51-41A8-AA3E-BAF76EED05EE}"/>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2743529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5C4E6-93D6-4F5E-89B3-1B5A3C46F3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B34AE5F-3816-43AF-A28B-DEFB814B06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7A9F2EF-67AC-4451-8F3B-41F5A992D3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C8C4DD-B3CB-4EB9-8188-5F1BFC669DC6}"/>
              </a:ext>
            </a:extLst>
          </p:cNvPr>
          <p:cNvSpPr>
            <a:spLocks noGrp="1"/>
          </p:cNvSpPr>
          <p:nvPr>
            <p:ph type="dt" sz="half" idx="10"/>
          </p:nvPr>
        </p:nvSpPr>
        <p:spPr/>
        <p:txBody>
          <a:bodyPr/>
          <a:lstStyle/>
          <a:p>
            <a:fld id="{73CF7E60-C722-4C65-BC8F-DCFE8D303FB4}" type="datetimeFigureOut">
              <a:rPr lang="en-IN" smtClean="0"/>
              <a:t>21-09-2021</a:t>
            </a:fld>
            <a:endParaRPr lang="en-IN"/>
          </a:p>
        </p:txBody>
      </p:sp>
      <p:sp>
        <p:nvSpPr>
          <p:cNvPr id="6" name="Footer Placeholder 5">
            <a:extLst>
              <a:ext uri="{FF2B5EF4-FFF2-40B4-BE49-F238E27FC236}">
                <a16:creationId xmlns:a16="http://schemas.microsoft.com/office/drawing/2014/main" id="{7E8E8480-0C4A-435B-9660-54AC5FA1F5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941DE8-9889-4193-8D20-4F0E6A96BEFA}"/>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574518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193BC-931F-4A6B-ABB8-C7D08113E8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C0F0C11-5C0A-4BE5-88B1-E3656E0AB1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E5D6981-1EAF-4EFA-B34A-3C087BCBAE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112EF4-619F-4256-9F2A-13492CD4D162}"/>
              </a:ext>
            </a:extLst>
          </p:cNvPr>
          <p:cNvSpPr>
            <a:spLocks noGrp="1"/>
          </p:cNvSpPr>
          <p:nvPr>
            <p:ph type="dt" sz="half" idx="10"/>
          </p:nvPr>
        </p:nvSpPr>
        <p:spPr/>
        <p:txBody>
          <a:bodyPr/>
          <a:lstStyle/>
          <a:p>
            <a:fld id="{73CF7E60-C722-4C65-BC8F-DCFE8D303FB4}" type="datetimeFigureOut">
              <a:rPr lang="en-IN" smtClean="0"/>
              <a:t>21-09-2021</a:t>
            </a:fld>
            <a:endParaRPr lang="en-IN"/>
          </a:p>
        </p:txBody>
      </p:sp>
      <p:sp>
        <p:nvSpPr>
          <p:cNvPr id="6" name="Footer Placeholder 5">
            <a:extLst>
              <a:ext uri="{FF2B5EF4-FFF2-40B4-BE49-F238E27FC236}">
                <a16:creationId xmlns:a16="http://schemas.microsoft.com/office/drawing/2014/main" id="{76C80C93-A5B3-41D0-A3BE-E1F852CB30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4B9D4A-7516-40A7-8BE5-8FC9AA011F32}"/>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2349762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738B0-768C-4D81-BA21-79F21ED8FF9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580A4E-9778-41D9-A272-8BB1A0BDC2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7E5E6D-0618-4380-9F20-34CACFE0B4AF}"/>
              </a:ext>
            </a:extLst>
          </p:cNvPr>
          <p:cNvSpPr>
            <a:spLocks noGrp="1"/>
          </p:cNvSpPr>
          <p:nvPr>
            <p:ph type="dt" sz="half" idx="10"/>
          </p:nvPr>
        </p:nvSpPr>
        <p:spPr/>
        <p:txBody>
          <a:bodyPr/>
          <a:lstStyle/>
          <a:p>
            <a:fld id="{73CF7E60-C722-4C65-BC8F-DCFE8D303FB4}" type="datetimeFigureOut">
              <a:rPr lang="en-IN" smtClean="0"/>
              <a:t>21-09-2021</a:t>
            </a:fld>
            <a:endParaRPr lang="en-IN"/>
          </a:p>
        </p:txBody>
      </p:sp>
      <p:sp>
        <p:nvSpPr>
          <p:cNvPr id="5" name="Footer Placeholder 4">
            <a:extLst>
              <a:ext uri="{FF2B5EF4-FFF2-40B4-BE49-F238E27FC236}">
                <a16:creationId xmlns:a16="http://schemas.microsoft.com/office/drawing/2014/main" id="{1919B3D6-8121-4FEF-B7E4-FF849BA8EF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B12AC6-6442-4B6A-BA86-B1BFC2F81A29}"/>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4231417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549135-037E-4DD4-A34E-87A9D0D05C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C48AD7-59D0-4889-B6B0-6667D650BF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E45CB8-5330-4797-A097-D6BD963770C8}"/>
              </a:ext>
            </a:extLst>
          </p:cNvPr>
          <p:cNvSpPr>
            <a:spLocks noGrp="1"/>
          </p:cNvSpPr>
          <p:nvPr>
            <p:ph type="dt" sz="half" idx="10"/>
          </p:nvPr>
        </p:nvSpPr>
        <p:spPr/>
        <p:txBody>
          <a:bodyPr/>
          <a:lstStyle/>
          <a:p>
            <a:fld id="{73CF7E60-C722-4C65-BC8F-DCFE8D303FB4}" type="datetimeFigureOut">
              <a:rPr lang="en-IN" smtClean="0"/>
              <a:t>21-09-2021</a:t>
            </a:fld>
            <a:endParaRPr lang="en-IN"/>
          </a:p>
        </p:txBody>
      </p:sp>
      <p:sp>
        <p:nvSpPr>
          <p:cNvPr id="5" name="Footer Placeholder 4">
            <a:extLst>
              <a:ext uri="{FF2B5EF4-FFF2-40B4-BE49-F238E27FC236}">
                <a16:creationId xmlns:a16="http://schemas.microsoft.com/office/drawing/2014/main" id="{DD474E79-F1C5-40E8-AE16-B4F672BCF4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101380-A8D3-4CE3-8434-8E0157517C8D}"/>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683203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79C7FB-17E6-4D52-954C-B6DA2C8398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0673E6-1BBF-4180-B908-892C33988F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540E2C-1C40-4AAC-82F8-83A7B7039E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CF7E60-C722-4C65-BC8F-DCFE8D303FB4}" type="datetimeFigureOut">
              <a:rPr lang="en-IN" smtClean="0"/>
              <a:t>21-09-2021</a:t>
            </a:fld>
            <a:endParaRPr lang="en-IN"/>
          </a:p>
        </p:txBody>
      </p:sp>
      <p:sp>
        <p:nvSpPr>
          <p:cNvPr id="5" name="Footer Placeholder 4">
            <a:extLst>
              <a:ext uri="{FF2B5EF4-FFF2-40B4-BE49-F238E27FC236}">
                <a16:creationId xmlns:a16="http://schemas.microsoft.com/office/drawing/2014/main" id="{51F0D34F-961E-490A-84E0-8846EE1B53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6B3AA93-0A82-4D05-B970-7A2E950615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ED2E9F-5E26-45E1-8A6D-0BD2BEF0E554}" type="slidenum">
              <a:rPr lang="en-IN" smtClean="0"/>
              <a:t>‹#›</a:t>
            </a:fld>
            <a:endParaRPr lang="en-IN"/>
          </a:p>
        </p:txBody>
      </p:sp>
    </p:spTree>
    <p:extLst>
      <p:ext uri="{BB962C8B-B14F-4D97-AF65-F5344CB8AC3E}">
        <p14:creationId xmlns:p14="http://schemas.microsoft.com/office/powerpoint/2010/main" val="4536404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www.w3docs.com/learn-git/source-code-management.html#importance-of-source-code-management-6"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B282E-35C3-4616-B514-AB6613217F70}"/>
              </a:ext>
            </a:extLst>
          </p:cNvPr>
          <p:cNvSpPr>
            <a:spLocks noGrp="1"/>
          </p:cNvSpPr>
          <p:nvPr>
            <p:ph type="ctrTitle"/>
          </p:nvPr>
        </p:nvSpPr>
        <p:spPr/>
        <p:txBody>
          <a:bodyPr>
            <a:normAutofit/>
          </a:bodyPr>
          <a:lstStyle/>
          <a:p>
            <a:r>
              <a:rPr lang="en-SG" sz="3600" b="1" dirty="0">
                <a:effectLst/>
                <a:latin typeface="Times New Roman" panose="02020603050405020304" pitchFamily="18" charset="0"/>
                <a:ea typeface="Calibri" panose="020F0502020204030204" pitchFamily="34" charset="0"/>
                <a:cs typeface="Times New Roman" panose="02020603050405020304" pitchFamily="18" charset="0"/>
              </a:rPr>
              <a:t>UNIT – 3 Introduction to project management</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614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A7043-6A1F-4F9C-8701-AA7E031B05E4}"/>
              </a:ext>
            </a:extLst>
          </p:cNvPr>
          <p:cNvSpPr>
            <a:spLocks noGrp="1"/>
          </p:cNvSpPr>
          <p:nvPr>
            <p:ph type="title"/>
          </p:nvPr>
        </p:nvSpPr>
        <p:spPr/>
        <p:txBody>
          <a:bodyPr/>
          <a:lstStyle/>
          <a:p>
            <a:endParaRPr lang="en-IN"/>
          </a:p>
        </p:txBody>
      </p:sp>
      <p:pic>
        <p:nvPicPr>
          <p:cNvPr id="1026" name="Picture 2" descr="Everything You Need To Know About Source Code Management">
            <a:extLst>
              <a:ext uri="{FF2B5EF4-FFF2-40B4-BE49-F238E27FC236}">
                <a16:creationId xmlns:a16="http://schemas.microsoft.com/office/drawing/2014/main" id="{0B23E4C8-B2C7-4773-BD31-230B7D318FB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7809" y="182217"/>
            <a:ext cx="11953460" cy="6493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8837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228593-E638-48B2-8378-8D4794509C74}"/>
              </a:ext>
            </a:extLst>
          </p:cNvPr>
          <p:cNvSpPr>
            <a:spLocks noGrp="1"/>
          </p:cNvSpPr>
          <p:nvPr>
            <p:ph idx="1"/>
          </p:nvPr>
        </p:nvSpPr>
        <p:spPr>
          <a:xfrm>
            <a:off x="318655" y="166255"/>
            <a:ext cx="11035145" cy="6010708"/>
          </a:xfrm>
        </p:spPr>
        <p:txBody>
          <a:bodyPr/>
          <a:lstStyle/>
          <a:p>
            <a:r>
              <a:rPr lang="en-IN" b="0" i="0" dirty="0">
                <a:solidFill>
                  <a:srgbClr val="212121"/>
                </a:solidFill>
                <a:effectLst/>
                <a:latin typeface="Agrandir-Medium"/>
              </a:rPr>
              <a:t>What is Project Management?</a:t>
            </a:r>
          </a:p>
          <a:p>
            <a:r>
              <a:rPr lang="en-US" b="0" i="0" dirty="0">
                <a:solidFill>
                  <a:srgbClr val="212121"/>
                </a:solidFill>
                <a:effectLst/>
                <a:latin typeface="Helvetica Neue"/>
              </a:rPr>
              <a:t>Project management is the use of specific knowledge, skills, tools and techniques to deliver something of value to people.</a:t>
            </a:r>
            <a:endParaRPr lang="en-IN" dirty="0"/>
          </a:p>
        </p:txBody>
      </p:sp>
      <p:pic>
        <p:nvPicPr>
          <p:cNvPr id="1026" name="Picture 2" descr="5 Phases of Project Management | Project Phases (PMP)">
            <a:extLst>
              <a:ext uri="{FF2B5EF4-FFF2-40B4-BE49-F238E27FC236}">
                <a16:creationId xmlns:a16="http://schemas.microsoft.com/office/drawing/2014/main" id="{579A3D61-22A9-4227-8EB3-717C16512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5391" y="1639210"/>
            <a:ext cx="7089913" cy="52187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3447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A5661B-F10B-46C6-955A-4897D3B7598E}"/>
              </a:ext>
            </a:extLst>
          </p:cNvPr>
          <p:cNvSpPr txBox="1"/>
          <p:nvPr/>
        </p:nvSpPr>
        <p:spPr>
          <a:xfrm>
            <a:off x="265043" y="291548"/>
            <a:ext cx="11383618" cy="5632311"/>
          </a:xfrm>
          <a:prstGeom prst="rect">
            <a:avLst/>
          </a:prstGeom>
          <a:noFill/>
        </p:spPr>
        <p:txBody>
          <a:bodyPr wrap="square">
            <a:spAutoFit/>
          </a:bodyPr>
          <a:lstStyle/>
          <a:p>
            <a:pPr algn="l" fontAlgn="base"/>
            <a:r>
              <a:rPr lang="en-US" sz="2400" b="1" i="0" dirty="0">
                <a:solidFill>
                  <a:srgbClr val="47515A"/>
                </a:solidFill>
                <a:effectLst/>
                <a:latin typeface="Times New Roman" panose="02020603050405020304" pitchFamily="18" charset="0"/>
                <a:cs typeface="Times New Roman" panose="02020603050405020304" pitchFamily="18" charset="0"/>
              </a:rPr>
              <a:t>What Is Source Code Management?</a:t>
            </a:r>
          </a:p>
          <a:p>
            <a:pPr algn="l" fontAlgn="base"/>
            <a:endParaRPr lang="en-US" sz="2400" b="0" i="0" dirty="0">
              <a:solidFill>
                <a:srgbClr val="47515A"/>
              </a:solidFill>
              <a:effectLst/>
              <a:latin typeface="Times New Roman" panose="02020603050405020304" pitchFamily="18" charset="0"/>
              <a:cs typeface="Times New Roman" panose="02020603050405020304" pitchFamily="18" charset="0"/>
            </a:endParaRPr>
          </a:p>
          <a:p>
            <a:pPr marL="342900" indent="-342900" algn="l" fontAlgn="base">
              <a:buFont typeface="Wingdings" panose="05000000000000000000" pitchFamily="2" charset="2"/>
              <a:buChar char="v"/>
            </a:pPr>
            <a:r>
              <a:rPr lang="en-US" sz="2400" b="0" i="0" dirty="0">
                <a:solidFill>
                  <a:srgbClr val="333333"/>
                </a:solidFill>
                <a:effectLst/>
                <a:latin typeface="Times New Roman" panose="02020603050405020304" pitchFamily="18" charset="0"/>
                <a:cs typeface="Times New Roman" panose="02020603050405020304" pitchFamily="18" charset="0"/>
              </a:rPr>
              <a:t>Source code management is the concept of storing the source code for your software applications in a centralized, managed place. It’s used by software development teams, who are the ones that gain the most benefit from it due to the multiple developers they have. </a:t>
            </a:r>
          </a:p>
          <a:p>
            <a:pPr marL="342900" indent="-342900" algn="l" fontAlgn="base">
              <a:buFont typeface="Wingdings" panose="05000000000000000000" pitchFamily="2" charset="2"/>
              <a:buChar char="v"/>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marL="342900" indent="-342900" algn="l" fontAlgn="base">
              <a:buFont typeface="Wingdings" panose="05000000000000000000" pitchFamily="2" charset="2"/>
              <a:buChar char="v"/>
            </a:pPr>
            <a:r>
              <a:rPr lang="en-US" sz="2400" b="0" i="0" dirty="0">
                <a:solidFill>
                  <a:srgbClr val="333333"/>
                </a:solidFill>
                <a:effectLst/>
                <a:latin typeface="Times New Roman" panose="02020603050405020304" pitchFamily="18" charset="0"/>
                <a:cs typeface="Times New Roman" panose="02020603050405020304" pitchFamily="18" charset="0"/>
              </a:rPr>
              <a:t>The main people involved in source code management are the developers or programmers. They are the ones that are working on the code, making changes, adding features and requirements. The source code is a product of their work and it needs to be managed in some way.</a:t>
            </a:r>
          </a:p>
          <a:p>
            <a:pPr marL="342900" indent="-342900" algn="l" fontAlgn="base">
              <a:buFont typeface="Wingdings" panose="05000000000000000000" pitchFamily="2" charset="2"/>
              <a:buChar char="v"/>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marL="342900" indent="-342900" algn="l" fontAlgn="base">
              <a:buFont typeface="Wingdings" panose="05000000000000000000" pitchFamily="2" charset="2"/>
              <a:buChar char="v"/>
            </a:pPr>
            <a:r>
              <a:rPr lang="en-US" sz="2400" b="0" i="0" dirty="0">
                <a:solidFill>
                  <a:srgbClr val="333333"/>
                </a:solidFill>
                <a:effectLst/>
                <a:latin typeface="Times New Roman" panose="02020603050405020304" pitchFamily="18" charset="0"/>
                <a:cs typeface="Times New Roman" panose="02020603050405020304" pitchFamily="18" charset="0"/>
              </a:rPr>
              <a:t>Testers are also main users of source code. When they are required to test applications or features, they benefit from a source code management system and process, as it ensures they are working with accurate code and helps the team run better.</a:t>
            </a:r>
          </a:p>
        </p:txBody>
      </p:sp>
    </p:spTree>
    <p:extLst>
      <p:ext uri="{BB962C8B-B14F-4D97-AF65-F5344CB8AC3E}">
        <p14:creationId xmlns:p14="http://schemas.microsoft.com/office/powerpoint/2010/main" val="222963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1B5BD0-3B90-4C05-988F-3222345981FC}"/>
              </a:ext>
            </a:extLst>
          </p:cNvPr>
          <p:cNvSpPr txBox="1"/>
          <p:nvPr/>
        </p:nvSpPr>
        <p:spPr>
          <a:xfrm>
            <a:off x="159027" y="212035"/>
            <a:ext cx="11873948" cy="6370975"/>
          </a:xfrm>
          <a:prstGeom prst="rect">
            <a:avLst/>
          </a:prstGeom>
          <a:noFill/>
        </p:spPr>
        <p:txBody>
          <a:bodyPr wrap="square">
            <a:spAutoFit/>
          </a:bodyPr>
          <a:lstStyle/>
          <a:p>
            <a:pPr algn="l" fontAlgn="base"/>
            <a:r>
              <a:rPr lang="en-US" sz="2400" b="1" i="0" dirty="0">
                <a:solidFill>
                  <a:srgbClr val="47515A"/>
                </a:solidFill>
                <a:effectLst/>
                <a:latin typeface="Times New Roman" panose="02020603050405020304" pitchFamily="18" charset="0"/>
                <a:cs typeface="Times New Roman" panose="02020603050405020304" pitchFamily="18" charset="0"/>
              </a:rPr>
              <a:t>What Are The Benefits Of Source Code Management?</a:t>
            </a:r>
            <a:endParaRPr lang="en-US" sz="2400" b="0" i="0" dirty="0">
              <a:solidFill>
                <a:srgbClr val="47515A"/>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333333"/>
                </a:solidFill>
                <a:effectLst/>
                <a:latin typeface="Times New Roman" panose="02020603050405020304" pitchFamily="18" charset="0"/>
                <a:cs typeface="Times New Roman" panose="02020603050405020304" pitchFamily="18" charset="0"/>
              </a:rPr>
              <a:t>There are several reasons why we should manage the source code that we write:</a:t>
            </a:r>
          </a:p>
          <a:p>
            <a:pPr algn="l" fontAlgn="base"/>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400" b="1" i="0" dirty="0">
                <a:solidFill>
                  <a:srgbClr val="333333"/>
                </a:solidFill>
                <a:effectLst/>
                <a:latin typeface="Times New Roman" panose="02020603050405020304" pitchFamily="18" charset="0"/>
                <a:cs typeface="Times New Roman" panose="02020603050405020304" pitchFamily="18" charset="0"/>
              </a:rPr>
              <a:t>Work together in teams</a:t>
            </a:r>
            <a:r>
              <a:rPr lang="en-US" sz="2400" b="0" i="0" dirty="0">
                <a:solidFill>
                  <a:srgbClr val="333333"/>
                </a:solidFill>
                <a:effectLst/>
                <a:latin typeface="Times New Roman" panose="02020603050405020304" pitchFamily="18" charset="0"/>
                <a:cs typeface="Times New Roman" panose="02020603050405020304" pitchFamily="18" charset="0"/>
              </a:rPr>
              <a:t>. A source code management system allows multiple developers to access and change different areas of the code, without interfering with each other’s work. This is a big benefit for large teams of developers.</a:t>
            </a:r>
          </a:p>
          <a:p>
            <a:pPr algn="l" fontAlgn="base">
              <a:buFont typeface="Arial" panose="020B0604020202020204" pitchFamily="34" charset="0"/>
              <a:buChar char="•"/>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400" b="1" i="0" dirty="0">
                <a:solidFill>
                  <a:srgbClr val="333333"/>
                </a:solidFill>
                <a:effectLst/>
                <a:latin typeface="Times New Roman" panose="02020603050405020304" pitchFamily="18" charset="0"/>
                <a:cs typeface="Times New Roman" panose="02020603050405020304" pitchFamily="18" charset="0"/>
              </a:rPr>
              <a:t>Version history</a:t>
            </a:r>
            <a:r>
              <a:rPr lang="en-US" sz="2400" b="0" i="0" dirty="0">
                <a:solidFill>
                  <a:srgbClr val="333333"/>
                </a:solidFill>
                <a:effectLst/>
                <a:latin typeface="Times New Roman" panose="02020603050405020304" pitchFamily="18" charset="0"/>
                <a:cs typeface="Times New Roman" panose="02020603050405020304" pitchFamily="18" charset="0"/>
              </a:rPr>
              <a:t>. The system will keep a history of all saved changes to the code. This not only allows you to see what has changed in a file, but allows you to go back to a previous version if needed.</a:t>
            </a:r>
          </a:p>
          <a:p>
            <a:pPr algn="l" fontAlgn="base">
              <a:buFont typeface="Arial" panose="020B0604020202020204" pitchFamily="34" charset="0"/>
              <a:buChar char="•"/>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400" b="1" i="0" dirty="0">
                <a:solidFill>
                  <a:srgbClr val="333333"/>
                </a:solidFill>
                <a:effectLst/>
                <a:latin typeface="Times New Roman" panose="02020603050405020304" pitchFamily="18" charset="0"/>
                <a:cs typeface="Times New Roman" panose="02020603050405020304" pitchFamily="18" charset="0"/>
              </a:rPr>
              <a:t>Generate release notes</a:t>
            </a:r>
            <a:r>
              <a:rPr lang="en-US" sz="2400" b="0" i="0" dirty="0">
                <a:solidFill>
                  <a:srgbClr val="333333"/>
                </a:solidFill>
                <a:effectLst/>
                <a:latin typeface="Times New Roman" panose="02020603050405020304" pitchFamily="18" charset="0"/>
                <a:cs typeface="Times New Roman" panose="02020603050405020304" pitchFamily="18" charset="0"/>
              </a:rPr>
              <a:t>. Code can be linked to a release, and as a result, release notes can be generated. This means time is saved in generating it manually and searching for the changes.</a:t>
            </a:r>
          </a:p>
          <a:p>
            <a:pPr algn="l" fontAlgn="base"/>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400" b="1" i="0" dirty="0">
                <a:solidFill>
                  <a:srgbClr val="333333"/>
                </a:solidFill>
                <a:effectLst/>
                <a:latin typeface="Times New Roman" panose="02020603050405020304" pitchFamily="18" charset="0"/>
                <a:cs typeface="Times New Roman" panose="02020603050405020304" pitchFamily="18" charset="0"/>
              </a:rPr>
              <a:t>Backup of code</a:t>
            </a:r>
            <a:r>
              <a:rPr lang="en-US" sz="2400" b="0" i="0" dirty="0">
                <a:solidFill>
                  <a:srgbClr val="333333"/>
                </a:solidFill>
                <a:effectLst/>
                <a:latin typeface="Times New Roman" panose="02020603050405020304" pitchFamily="18" charset="0"/>
                <a:cs typeface="Times New Roman" panose="02020603050405020304" pitchFamily="18" charset="0"/>
              </a:rPr>
              <a:t>. A centralized place on a server where the source code is stored ensures there is a main location for the code (other than the developer’s machine). It also allows for easy backup of the code, depending on your server setup.</a:t>
            </a:r>
          </a:p>
        </p:txBody>
      </p:sp>
    </p:spTree>
    <p:extLst>
      <p:ext uri="{BB962C8B-B14F-4D97-AF65-F5344CB8AC3E}">
        <p14:creationId xmlns:p14="http://schemas.microsoft.com/office/powerpoint/2010/main" val="569071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D0ADE6-A361-4C4D-BBFC-6D339995A0EA}"/>
              </a:ext>
            </a:extLst>
          </p:cNvPr>
          <p:cNvPicPr>
            <a:picLocks noChangeAspect="1"/>
          </p:cNvPicPr>
          <p:nvPr/>
        </p:nvPicPr>
        <p:blipFill>
          <a:blip r:embed="rId2"/>
          <a:stretch>
            <a:fillRect/>
          </a:stretch>
        </p:blipFill>
        <p:spPr>
          <a:xfrm>
            <a:off x="-516834" y="-405272"/>
            <a:ext cx="12337774" cy="7255948"/>
          </a:xfrm>
          <a:prstGeom prst="rect">
            <a:avLst/>
          </a:prstGeom>
        </p:spPr>
      </p:pic>
    </p:spTree>
    <p:extLst>
      <p:ext uri="{BB962C8B-B14F-4D97-AF65-F5344CB8AC3E}">
        <p14:creationId xmlns:p14="http://schemas.microsoft.com/office/powerpoint/2010/main" val="1973028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DE2E69-666C-4922-874A-21DC0DE350E7}"/>
              </a:ext>
            </a:extLst>
          </p:cNvPr>
          <p:cNvPicPr>
            <a:picLocks noChangeAspect="1"/>
          </p:cNvPicPr>
          <p:nvPr/>
        </p:nvPicPr>
        <p:blipFill>
          <a:blip r:embed="rId2"/>
          <a:stretch>
            <a:fillRect/>
          </a:stretch>
        </p:blipFill>
        <p:spPr>
          <a:xfrm>
            <a:off x="203720" y="0"/>
            <a:ext cx="11988280" cy="6738729"/>
          </a:xfrm>
          <a:prstGeom prst="rect">
            <a:avLst/>
          </a:prstGeom>
        </p:spPr>
      </p:pic>
    </p:spTree>
    <p:extLst>
      <p:ext uri="{BB962C8B-B14F-4D97-AF65-F5344CB8AC3E}">
        <p14:creationId xmlns:p14="http://schemas.microsoft.com/office/powerpoint/2010/main" val="4111060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AF77EE-F213-48FE-B1FC-55ED21116A7D}"/>
              </a:ext>
            </a:extLst>
          </p:cNvPr>
          <p:cNvPicPr>
            <a:picLocks noChangeAspect="1"/>
          </p:cNvPicPr>
          <p:nvPr/>
        </p:nvPicPr>
        <p:blipFill>
          <a:blip r:embed="rId2"/>
          <a:stretch>
            <a:fillRect/>
          </a:stretch>
        </p:blipFill>
        <p:spPr>
          <a:xfrm>
            <a:off x="437322" y="-180812"/>
            <a:ext cx="11529391" cy="6899664"/>
          </a:xfrm>
          <a:prstGeom prst="rect">
            <a:avLst/>
          </a:prstGeom>
        </p:spPr>
      </p:pic>
    </p:spTree>
    <p:extLst>
      <p:ext uri="{BB962C8B-B14F-4D97-AF65-F5344CB8AC3E}">
        <p14:creationId xmlns:p14="http://schemas.microsoft.com/office/powerpoint/2010/main" val="1091748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0E3807-A96C-4C4F-8124-89E55DE798D8}"/>
              </a:ext>
            </a:extLst>
          </p:cNvPr>
          <p:cNvSpPr txBox="1"/>
          <p:nvPr/>
        </p:nvSpPr>
        <p:spPr>
          <a:xfrm>
            <a:off x="132522" y="0"/>
            <a:ext cx="11728174" cy="7109639"/>
          </a:xfrm>
          <a:prstGeom prst="rect">
            <a:avLst/>
          </a:prstGeom>
          <a:noFill/>
        </p:spPr>
        <p:txBody>
          <a:bodyPr wrap="square">
            <a:spAutoFit/>
          </a:bodyPr>
          <a:lstStyle/>
          <a:p>
            <a:pPr algn="l" fontAlgn="base"/>
            <a:r>
              <a:rPr lang="en-US" sz="2400" b="1" i="0" dirty="0">
                <a:solidFill>
                  <a:srgbClr val="47515A"/>
                </a:solidFill>
                <a:effectLst/>
                <a:latin typeface="Times New Roman" panose="02020603050405020304" pitchFamily="18" charset="0"/>
                <a:cs typeface="Times New Roman" panose="02020603050405020304" pitchFamily="18" charset="0"/>
              </a:rPr>
              <a:t>How Does Source Code Management Work?</a:t>
            </a:r>
            <a:endParaRPr lang="en-US" sz="2400" b="0" i="0" dirty="0">
              <a:solidFill>
                <a:srgbClr val="47515A"/>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333333"/>
                </a:solidFill>
                <a:effectLst/>
                <a:latin typeface="Times New Roman" panose="02020603050405020304" pitchFamily="18" charset="0"/>
                <a:cs typeface="Times New Roman" panose="02020603050405020304" pitchFamily="18" charset="0"/>
              </a:rPr>
              <a:t>The process works by a development team or company having a centralized server that stores all of the required code. This server is called the </a:t>
            </a:r>
            <a:r>
              <a:rPr lang="en-US" sz="2400" b="1" i="0" dirty="0">
                <a:solidFill>
                  <a:srgbClr val="333333"/>
                </a:solidFill>
                <a:effectLst/>
                <a:latin typeface="Times New Roman" panose="02020603050405020304" pitchFamily="18" charset="0"/>
                <a:cs typeface="Times New Roman" panose="02020603050405020304" pitchFamily="18" charset="0"/>
              </a:rPr>
              <a:t>repository</a:t>
            </a:r>
            <a:r>
              <a:rPr lang="en-US" sz="2400" b="0" i="0" dirty="0">
                <a:solidFill>
                  <a:srgbClr val="333333"/>
                </a:solidFill>
                <a:effectLst/>
                <a:latin typeface="Times New Roman" panose="02020603050405020304" pitchFamily="18" charset="0"/>
                <a:cs typeface="Times New Roman" panose="02020603050405020304" pitchFamily="18" charset="0"/>
              </a:rPr>
              <a:t> – the storage place for code. It can run various source code management systems, which are used to manage changes and different projects.</a:t>
            </a:r>
          </a:p>
          <a:p>
            <a:pPr algn="l" fontAlgn="base"/>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333333"/>
                </a:solidFill>
                <a:effectLst/>
                <a:latin typeface="Times New Roman" panose="02020603050405020304" pitchFamily="18" charset="0"/>
                <a:cs typeface="Times New Roman" panose="02020603050405020304" pitchFamily="18" charset="0"/>
              </a:rPr>
              <a:t>The system stores a copy of the source code as individual files, just like the developers have written it. When you want to make changes to some code, you perform what’s called a “check out” on the file. You get your own copy of the file in your environment. It also creates a “lock” on the file on the server, which means others can’t check out the same piece of code. This is to </a:t>
            </a:r>
            <a:r>
              <a:rPr lang="en-US" sz="2400" b="0" i="0" dirty="0" err="1">
                <a:solidFill>
                  <a:srgbClr val="333333"/>
                </a:solidFill>
                <a:effectLst/>
                <a:latin typeface="Times New Roman" panose="02020603050405020304" pitchFamily="18" charset="0"/>
                <a:cs typeface="Times New Roman" panose="02020603050405020304" pitchFamily="18" charset="0"/>
              </a:rPr>
              <a:t>minimise</a:t>
            </a:r>
            <a:r>
              <a:rPr lang="en-US" sz="2400" b="0" i="0" dirty="0">
                <a:solidFill>
                  <a:srgbClr val="333333"/>
                </a:solidFill>
                <a:effectLst/>
                <a:latin typeface="Times New Roman" panose="02020603050405020304" pitchFamily="18" charset="0"/>
                <a:cs typeface="Times New Roman" panose="02020603050405020304" pitchFamily="18" charset="0"/>
              </a:rPr>
              <a:t> the chances of someone overwriting your work.</a:t>
            </a:r>
          </a:p>
          <a:p>
            <a:pPr algn="l" fontAlgn="base"/>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333333"/>
                </a:solidFill>
                <a:effectLst/>
                <a:latin typeface="Times New Roman" panose="02020603050405020304" pitchFamily="18" charset="0"/>
                <a:cs typeface="Times New Roman" panose="02020603050405020304" pitchFamily="18" charset="0"/>
              </a:rPr>
              <a:t>Once you’ve made the changes, and tested them, you can save them onto the server using a process called “commit” or “check in”. This saves your code onto the server, replacing the existing file, and incrementing the version. It also removes the lock that was placed previously. You can usually add comments to this process, which allows you to specify what was changed.</a:t>
            </a:r>
          </a:p>
          <a:p>
            <a:pPr algn="l" fontAlgn="base"/>
            <a:r>
              <a:rPr lang="en-US" sz="2400" b="0" i="0" dirty="0">
                <a:solidFill>
                  <a:srgbClr val="333333"/>
                </a:solidFill>
                <a:effectLst/>
                <a:latin typeface="Times New Roman" panose="02020603050405020304" pitchFamily="18" charset="0"/>
                <a:cs typeface="Times New Roman" panose="02020603050405020304" pitchFamily="18" charset="0"/>
              </a:rPr>
              <a:t>This can all be done by different developers on different files. The source code management system will store this code and manage the changes that have been made.</a:t>
            </a:r>
          </a:p>
        </p:txBody>
      </p:sp>
    </p:spTree>
    <p:extLst>
      <p:ext uri="{BB962C8B-B14F-4D97-AF65-F5344CB8AC3E}">
        <p14:creationId xmlns:p14="http://schemas.microsoft.com/office/powerpoint/2010/main" val="3007992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198B23-3D95-458A-8B34-CB115D8EDDE4}"/>
              </a:ext>
            </a:extLst>
          </p:cNvPr>
          <p:cNvSpPr txBox="1"/>
          <p:nvPr/>
        </p:nvSpPr>
        <p:spPr>
          <a:xfrm>
            <a:off x="132521" y="225287"/>
            <a:ext cx="11966713" cy="4191981"/>
          </a:xfrm>
          <a:prstGeom prst="rect">
            <a:avLst/>
          </a:prstGeom>
          <a:noFill/>
        </p:spPr>
        <p:txBody>
          <a:bodyPr wrap="square">
            <a:spAutoFit/>
          </a:bodyPr>
          <a:lstStyle/>
          <a:p>
            <a:pPr algn="l">
              <a:lnSpc>
                <a:spcPct val="150000"/>
              </a:lnSpc>
            </a:pPr>
            <a:r>
              <a:rPr lang="en-US" sz="2000" b="1" i="0" dirty="0">
                <a:solidFill>
                  <a:srgbClr val="202131"/>
                </a:solidFill>
                <a:effectLst/>
                <a:latin typeface="Times New Roman" panose="02020603050405020304" pitchFamily="18" charset="0"/>
                <a:cs typeface="Times New Roman" panose="02020603050405020304" pitchFamily="18" charset="0"/>
              </a:rPr>
              <a:t>Importance of Source Code Management</a:t>
            </a:r>
            <a:r>
              <a:rPr lang="en-US" sz="2000" b="0" i="0" u="none" strike="noStrike" dirty="0">
                <a:solidFill>
                  <a:srgbClr val="D9D9D9"/>
                </a:solidFill>
                <a:effectLst/>
                <a:latin typeface="Times New Roman" panose="02020603050405020304" pitchFamily="18" charset="0"/>
                <a:cs typeface="Times New Roman" panose="02020603050405020304" pitchFamily="18" charset="0"/>
                <a:hlinkClick r:id="rId2" tooltip="Importance of Source Code Management"/>
              </a:rPr>
              <a:t>¶</a:t>
            </a:r>
            <a:endParaRPr lang="en-US" sz="2000" b="1" i="0" dirty="0">
              <a:solidFill>
                <a:srgbClr val="202131"/>
              </a:solidFill>
              <a:effectLst/>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US" sz="2000" b="1" i="0" dirty="0">
                <a:solidFill>
                  <a:srgbClr val="202131"/>
                </a:solidFill>
                <a:effectLst/>
                <a:latin typeface="Times New Roman" panose="02020603050405020304" pitchFamily="18" charset="0"/>
                <a:cs typeface="Times New Roman" panose="02020603050405020304" pitchFamily="18" charset="0"/>
              </a:rPr>
              <a:t>Track Changes</a:t>
            </a:r>
            <a:r>
              <a:rPr lang="en-US" sz="2000" b="0" i="0" dirty="0">
                <a:solidFill>
                  <a:srgbClr val="202131"/>
                </a:solidFill>
                <a:effectLst/>
                <a:latin typeface="Times New Roman" panose="02020603050405020304" pitchFamily="18" charset="0"/>
                <a:cs typeface="Times New Roman" panose="02020603050405020304" pitchFamily="18" charset="0"/>
              </a:rPr>
              <a:t> – Changes can be tracked as someone making a change leaves a commit message about it.</a:t>
            </a:r>
          </a:p>
          <a:p>
            <a:pPr algn="l">
              <a:lnSpc>
                <a:spcPct val="150000"/>
              </a:lnSpc>
              <a:buFont typeface="Arial" panose="020B0604020202020204" pitchFamily="34" charset="0"/>
              <a:buChar char="•"/>
            </a:pPr>
            <a:r>
              <a:rPr lang="en-US" sz="2000" b="1" i="0" dirty="0">
                <a:solidFill>
                  <a:srgbClr val="202131"/>
                </a:solidFill>
                <a:effectLst/>
                <a:latin typeface="Times New Roman" panose="02020603050405020304" pitchFamily="18" charset="0"/>
                <a:cs typeface="Times New Roman" panose="02020603050405020304" pitchFamily="18" charset="0"/>
              </a:rPr>
              <a:t>Synchronization</a:t>
            </a:r>
            <a:r>
              <a:rPr lang="en-US" sz="2000" b="0" i="0" dirty="0">
                <a:solidFill>
                  <a:srgbClr val="202131"/>
                </a:solidFill>
                <a:effectLst/>
                <a:latin typeface="Times New Roman" panose="02020603050405020304" pitchFamily="18" charset="0"/>
                <a:cs typeface="Times New Roman" panose="02020603050405020304" pitchFamily="18" charset="0"/>
              </a:rPr>
              <a:t> – The up-to-date codes can be fetched from the repository.</a:t>
            </a:r>
          </a:p>
          <a:p>
            <a:pPr algn="l">
              <a:lnSpc>
                <a:spcPct val="150000"/>
              </a:lnSpc>
              <a:buFont typeface="Arial" panose="020B0604020202020204" pitchFamily="34" charset="0"/>
              <a:buChar char="•"/>
            </a:pPr>
            <a:r>
              <a:rPr lang="en-US" sz="2000" b="1" i="0" dirty="0">
                <a:solidFill>
                  <a:srgbClr val="202131"/>
                </a:solidFill>
                <a:effectLst/>
                <a:latin typeface="Times New Roman" panose="02020603050405020304" pitchFamily="18" charset="0"/>
                <a:cs typeface="Times New Roman" panose="02020603050405020304" pitchFamily="18" charset="0"/>
              </a:rPr>
              <a:t>Backup and Restore</a:t>
            </a:r>
            <a:r>
              <a:rPr lang="en-US" sz="2000" b="0" i="0" dirty="0">
                <a:solidFill>
                  <a:srgbClr val="202131"/>
                </a:solidFill>
                <a:effectLst/>
                <a:latin typeface="Times New Roman" panose="02020603050405020304" pitchFamily="18" charset="0"/>
                <a:cs typeface="Times New Roman" panose="02020603050405020304" pitchFamily="18" charset="0"/>
              </a:rPr>
              <a:t> – Files are saved at any time and restored from the last saved one.</a:t>
            </a:r>
          </a:p>
          <a:p>
            <a:pPr algn="l">
              <a:lnSpc>
                <a:spcPct val="150000"/>
              </a:lnSpc>
              <a:buFont typeface="Arial" panose="020B0604020202020204" pitchFamily="34" charset="0"/>
              <a:buChar char="•"/>
            </a:pPr>
            <a:r>
              <a:rPr lang="en-US" sz="2000" b="1" i="0" dirty="0">
                <a:solidFill>
                  <a:srgbClr val="202131"/>
                </a:solidFill>
                <a:effectLst/>
                <a:latin typeface="Times New Roman" panose="02020603050405020304" pitchFamily="18" charset="0"/>
                <a:cs typeface="Times New Roman" panose="02020603050405020304" pitchFamily="18" charset="0"/>
              </a:rPr>
              <a:t>Undoing</a:t>
            </a:r>
            <a:r>
              <a:rPr lang="en-US" sz="2000" b="0" i="0" dirty="0">
                <a:solidFill>
                  <a:srgbClr val="202131"/>
                </a:solidFill>
                <a:effectLst/>
                <a:latin typeface="Times New Roman" panose="02020603050405020304" pitchFamily="18" charset="0"/>
                <a:cs typeface="Times New Roman" panose="02020603050405020304" pitchFamily="18" charset="0"/>
              </a:rPr>
              <a:t> – You can undo both the last known version and the last one created a long time ago.</a:t>
            </a:r>
          </a:p>
          <a:p>
            <a:pPr algn="l">
              <a:lnSpc>
                <a:spcPct val="150000"/>
              </a:lnSpc>
              <a:buFont typeface="Arial" panose="020B0604020202020204" pitchFamily="34" charset="0"/>
              <a:buChar char="•"/>
            </a:pPr>
            <a:r>
              <a:rPr lang="en-US" sz="2000" b="1" i="0" dirty="0">
                <a:solidFill>
                  <a:srgbClr val="202131"/>
                </a:solidFill>
                <a:effectLst/>
                <a:latin typeface="Times New Roman" panose="02020603050405020304" pitchFamily="18" charset="0"/>
                <a:cs typeface="Times New Roman" panose="02020603050405020304" pitchFamily="18" charset="0"/>
              </a:rPr>
              <a:t>Branching and Merging</a:t>
            </a:r>
            <a:r>
              <a:rPr lang="en-US" sz="2000" b="0" i="0" dirty="0">
                <a:solidFill>
                  <a:srgbClr val="202131"/>
                </a:solidFill>
                <a:effectLst/>
                <a:latin typeface="Times New Roman" panose="02020603050405020304" pitchFamily="18" charset="0"/>
                <a:cs typeface="Times New Roman" panose="02020603050405020304" pitchFamily="18" charset="0"/>
              </a:rPr>
              <a:t> – Changes are made on a branch and after being approved, they can be merged with the master branch.</a:t>
            </a:r>
          </a:p>
          <a:p>
            <a:pPr algn="l">
              <a:lnSpc>
                <a:spcPct val="150000"/>
              </a:lnSpc>
              <a:buFont typeface="Arial" panose="020B0604020202020204" pitchFamily="34" charset="0"/>
              <a:buChar char="•"/>
            </a:pPr>
            <a:r>
              <a:rPr lang="en-US" sz="2000" b="1" i="0" dirty="0">
                <a:solidFill>
                  <a:srgbClr val="202131"/>
                </a:solidFill>
                <a:effectLst/>
                <a:latin typeface="Times New Roman" panose="02020603050405020304" pitchFamily="18" charset="0"/>
                <a:cs typeface="Times New Roman" panose="02020603050405020304" pitchFamily="18" charset="0"/>
              </a:rPr>
              <a:t>Identifying Conflicts and Preventing Overwrites</a:t>
            </a:r>
            <a:r>
              <a:rPr lang="en-US" sz="2000" b="0" i="0" dirty="0">
                <a:solidFill>
                  <a:srgbClr val="202131"/>
                </a:solidFill>
                <a:effectLst/>
                <a:latin typeface="Times New Roman" panose="02020603050405020304" pitchFamily="18" charset="0"/>
                <a:cs typeface="Times New Roman" panose="02020603050405020304" pitchFamily="18" charset="0"/>
              </a:rPr>
              <a:t> – Overwrites are prevented and in case of conflicts, they are identified. SCM notifies the developers so that they can review these conflicts and resolve them.</a:t>
            </a:r>
          </a:p>
        </p:txBody>
      </p:sp>
    </p:spTree>
    <p:extLst>
      <p:ext uri="{BB962C8B-B14F-4D97-AF65-F5344CB8AC3E}">
        <p14:creationId xmlns:p14="http://schemas.microsoft.com/office/powerpoint/2010/main" val="63105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cm">
            <a:extLst>
              <a:ext uri="{FF2B5EF4-FFF2-40B4-BE49-F238E27FC236}">
                <a16:creationId xmlns:a16="http://schemas.microsoft.com/office/drawing/2014/main" id="{33D38CA3-6779-4100-99F3-F12D27D636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55980"/>
            <a:ext cx="11635409" cy="6294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155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FC3D69-0BF2-49F0-A59F-E1080F5E3DAD}"/>
              </a:ext>
            </a:extLst>
          </p:cNvPr>
          <p:cNvSpPr txBox="1"/>
          <p:nvPr/>
        </p:nvSpPr>
        <p:spPr>
          <a:xfrm>
            <a:off x="238539" y="265043"/>
            <a:ext cx="11860695" cy="6595830"/>
          </a:xfrm>
          <a:prstGeom prst="rect">
            <a:avLst/>
          </a:prstGeom>
          <a:noFill/>
        </p:spPr>
        <p:txBody>
          <a:bodyPr wrap="square">
            <a:spAutoFit/>
          </a:bodyPr>
          <a:lstStyle/>
          <a:p>
            <a:pPr algn="l" fontAlgn="base"/>
            <a:r>
              <a:rPr lang="en-US" b="1" i="0" dirty="0">
                <a:solidFill>
                  <a:srgbClr val="273239"/>
                </a:solidFill>
                <a:effectLst/>
                <a:latin typeface="urw-din"/>
              </a:rPr>
              <a:t>What is a “version control system”?</a:t>
            </a:r>
            <a:r>
              <a:rPr lang="en-US" b="0" i="0" dirty="0">
                <a:solidFill>
                  <a:srgbClr val="273239"/>
                </a:solidFill>
                <a:effectLst/>
                <a:latin typeface="urw-din"/>
              </a:rPr>
              <a:t> (OR SCM)</a:t>
            </a:r>
          </a:p>
          <a:p>
            <a:pPr algn="l" fontAlgn="base"/>
            <a:endParaRPr lang="en-US" b="0" i="0" dirty="0">
              <a:solidFill>
                <a:srgbClr val="273239"/>
              </a:solidFill>
              <a:effectLst/>
              <a:latin typeface="urw-din"/>
            </a:endParaRPr>
          </a:p>
          <a:p>
            <a:pPr algn="l" fontAlgn="base"/>
            <a:r>
              <a:rPr lang="en-US" b="0" i="0" dirty="0">
                <a:solidFill>
                  <a:srgbClr val="273239"/>
                </a:solidFill>
                <a:effectLst/>
                <a:latin typeface="urw-din"/>
              </a:rPr>
              <a:t>Version control systems are a category of software tools that helps in recording changes made to files by keeping a track of modifications done to the code. </a:t>
            </a:r>
          </a:p>
          <a:p>
            <a:pPr algn="l" fontAlgn="base"/>
            <a:endParaRPr lang="en-US" b="0" i="0" dirty="0">
              <a:solidFill>
                <a:srgbClr val="273239"/>
              </a:solidFill>
              <a:effectLst/>
              <a:latin typeface="urw-din"/>
            </a:endParaRPr>
          </a:p>
          <a:p>
            <a:pPr algn="l" fontAlgn="base"/>
            <a:r>
              <a:rPr lang="en-US" b="1" i="0" dirty="0">
                <a:solidFill>
                  <a:srgbClr val="273239"/>
                </a:solidFill>
                <a:effectLst/>
                <a:latin typeface="urw-din"/>
              </a:rPr>
              <a:t>Why Version Control system is so Important?</a:t>
            </a:r>
          </a:p>
          <a:p>
            <a:pPr algn="l" fontAlgn="base"/>
            <a:endParaRPr lang="en-US" b="0" i="0" dirty="0">
              <a:solidFill>
                <a:srgbClr val="273239"/>
              </a:solidFill>
              <a:effectLst/>
              <a:latin typeface="urw-din"/>
            </a:endParaRPr>
          </a:p>
          <a:p>
            <a:pPr algn="l" fontAlgn="base"/>
            <a:r>
              <a:rPr lang="en-US" b="0" i="0" dirty="0">
                <a:solidFill>
                  <a:srgbClr val="273239"/>
                </a:solidFill>
                <a:effectLst/>
                <a:latin typeface="urw-din"/>
              </a:rPr>
              <a:t>As we know that a software product is developed in collaboration by a group of developers they might be located at different locations and each one of them contributes in some specific kind of functionality/features. </a:t>
            </a:r>
          </a:p>
          <a:p>
            <a:pPr algn="l" fontAlgn="base"/>
            <a:endParaRPr lang="en-US" dirty="0">
              <a:solidFill>
                <a:srgbClr val="273239"/>
              </a:solidFill>
              <a:latin typeface="urw-din"/>
            </a:endParaRPr>
          </a:p>
          <a:p>
            <a:pPr algn="l" fontAlgn="base"/>
            <a:r>
              <a:rPr lang="en-US" b="0" i="0" dirty="0">
                <a:solidFill>
                  <a:srgbClr val="273239"/>
                </a:solidFill>
                <a:effectLst/>
                <a:latin typeface="urw-din"/>
              </a:rPr>
              <a:t>So in order to contribute to the product, they made modifications in the source code(either by adding or removing). A version control system is a kind of software that helps the developer team to efficiently communicate and manage(track) all the changes that have been made to the source code along with the information like who made and what change has been made. A separate branch is created for every contributor who made the changes and the changes aren’t merged into the original source code unless all are analyzed as soon as the changes are green signaled they merged to the main source code. It not only keeps source code organized but also improves productivity by making the development process smooth.</a:t>
            </a:r>
          </a:p>
          <a:p>
            <a:pPr algn="l" fontAlgn="base"/>
            <a:endParaRPr lang="en-US" dirty="0">
              <a:solidFill>
                <a:srgbClr val="273239"/>
              </a:solidFill>
              <a:latin typeface="urw-din"/>
            </a:endParaRPr>
          </a:p>
          <a:p>
            <a:pPr algn="l" fontAlgn="base"/>
            <a:endParaRPr lang="en-US" b="1" i="0" dirty="0">
              <a:solidFill>
                <a:srgbClr val="273239"/>
              </a:solidFill>
              <a:effectLst/>
              <a:latin typeface="urw-din"/>
            </a:endParaRPr>
          </a:p>
          <a:p>
            <a:pPr algn="l" fontAlgn="base"/>
            <a:endParaRPr lang="en-US" b="1" dirty="0">
              <a:solidFill>
                <a:srgbClr val="273239"/>
              </a:solidFill>
              <a:latin typeface="urw-din"/>
            </a:endParaRPr>
          </a:p>
          <a:p>
            <a:pPr algn="l" fontAlgn="base"/>
            <a:endParaRPr lang="en-US" b="1" i="0" dirty="0">
              <a:solidFill>
                <a:srgbClr val="273239"/>
              </a:solidFill>
              <a:effectLst/>
              <a:latin typeface="urw-din"/>
            </a:endParaRPr>
          </a:p>
          <a:p>
            <a:pPr algn="l" fontAlgn="base"/>
            <a:endParaRPr lang="en-US" b="1" dirty="0">
              <a:solidFill>
                <a:srgbClr val="273239"/>
              </a:solidFill>
              <a:latin typeface="urw-din"/>
            </a:endParaRPr>
          </a:p>
          <a:p>
            <a:pPr algn="l" fontAlgn="base"/>
            <a:endParaRPr lang="en-US" b="1" i="0" dirty="0">
              <a:solidFill>
                <a:srgbClr val="273239"/>
              </a:solidFill>
              <a:effectLst/>
              <a:latin typeface="urw-din"/>
            </a:endParaRPr>
          </a:p>
          <a:p>
            <a:pPr algn="l" fontAlgn="base"/>
            <a:endParaRPr lang="en-US" b="1" dirty="0">
              <a:solidFill>
                <a:srgbClr val="273239"/>
              </a:solidFill>
              <a:latin typeface="urw-din"/>
            </a:endParaRPr>
          </a:p>
        </p:txBody>
      </p:sp>
    </p:spTree>
    <p:extLst>
      <p:ext uri="{BB962C8B-B14F-4D97-AF65-F5344CB8AC3E}">
        <p14:creationId xmlns:p14="http://schemas.microsoft.com/office/powerpoint/2010/main" val="2196203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286D94-9E66-42C7-A23E-A8B62FFFC443}"/>
              </a:ext>
            </a:extLst>
          </p:cNvPr>
          <p:cNvSpPr txBox="1"/>
          <p:nvPr/>
        </p:nvSpPr>
        <p:spPr>
          <a:xfrm>
            <a:off x="384313" y="808383"/>
            <a:ext cx="11304104" cy="4619854"/>
          </a:xfrm>
          <a:prstGeom prst="rect">
            <a:avLst/>
          </a:prstGeom>
          <a:noFill/>
        </p:spPr>
        <p:txBody>
          <a:bodyPr wrap="square">
            <a:spAutoFit/>
          </a:bodyPr>
          <a:lstStyle/>
          <a:p>
            <a:pPr algn="l" fontAlgn="base">
              <a:lnSpc>
                <a:spcPct val="150000"/>
              </a:lnSpc>
            </a:pPr>
            <a:r>
              <a:rPr lang="en-US" b="1" i="0" dirty="0">
                <a:solidFill>
                  <a:srgbClr val="273239"/>
                </a:solidFill>
                <a:effectLst/>
                <a:latin typeface="urw-din"/>
              </a:rPr>
              <a:t>a) </a:t>
            </a:r>
            <a:r>
              <a:rPr lang="en-US" b="0" i="0" dirty="0">
                <a:solidFill>
                  <a:srgbClr val="273239"/>
                </a:solidFill>
                <a:effectLst/>
                <a:latin typeface="urw-din"/>
              </a:rPr>
              <a:t>Enhances the project development speed by providing efficient collaboration,</a:t>
            </a:r>
          </a:p>
          <a:p>
            <a:pPr algn="l" fontAlgn="base">
              <a:lnSpc>
                <a:spcPct val="150000"/>
              </a:lnSpc>
            </a:pPr>
            <a:r>
              <a:rPr lang="en-US" b="1" i="0" dirty="0">
                <a:solidFill>
                  <a:srgbClr val="273239"/>
                </a:solidFill>
                <a:effectLst/>
                <a:latin typeface="urw-din"/>
              </a:rPr>
              <a:t>b)</a:t>
            </a:r>
            <a:r>
              <a:rPr lang="en-US" b="0" i="0" dirty="0">
                <a:solidFill>
                  <a:srgbClr val="273239"/>
                </a:solidFill>
                <a:effectLst/>
                <a:latin typeface="urw-din"/>
              </a:rPr>
              <a:t> Leverages the productivity, expedite product delivery, and skills of the employees through better communication and assistance,</a:t>
            </a:r>
          </a:p>
          <a:p>
            <a:pPr algn="l" fontAlgn="base">
              <a:lnSpc>
                <a:spcPct val="150000"/>
              </a:lnSpc>
            </a:pPr>
            <a:r>
              <a:rPr lang="en-US" b="1" i="0" dirty="0">
                <a:solidFill>
                  <a:srgbClr val="273239"/>
                </a:solidFill>
                <a:effectLst/>
                <a:latin typeface="urw-din"/>
              </a:rPr>
              <a:t>c) </a:t>
            </a:r>
            <a:r>
              <a:rPr lang="en-US" b="0" i="0" dirty="0">
                <a:solidFill>
                  <a:srgbClr val="273239"/>
                </a:solidFill>
                <a:effectLst/>
                <a:latin typeface="urw-din"/>
              </a:rPr>
              <a:t>Reduce possibilities of errors and conflicts meanwhile project development through traceability to every small change,</a:t>
            </a:r>
          </a:p>
          <a:p>
            <a:pPr algn="l" fontAlgn="base">
              <a:lnSpc>
                <a:spcPct val="150000"/>
              </a:lnSpc>
            </a:pPr>
            <a:r>
              <a:rPr lang="en-US" b="1" i="0" dirty="0">
                <a:solidFill>
                  <a:srgbClr val="273239"/>
                </a:solidFill>
                <a:effectLst/>
                <a:latin typeface="urw-din"/>
              </a:rPr>
              <a:t>d) </a:t>
            </a:r>
            <a:r>
              <a:rPr lang="en-US" b="0" i="0" dirty="0">
                <a:solidFill>
                  <a:srgbClr val="273239"/>
                </a:solidFill>
                <a:effectLst/>
                <a:latin typeface="urw-din"/>
              </a:rPr>
              <a:t>Employees or contributor of the project can contribute from anywhere irrespective of the different geographical locations through this </a:t>
            </a:r>
            <a:r>
              <a:rPr lang="en-US" b="1" i="0" dirty="0">
                <a:solidFill>
                  <a:srgbClr val="273239"/>
                </a:solidFill>
                <a:effectLst/>
                <a:latin typeface="urw-din"/>
              </a:rPr>
              <a:t>VCS,</a:t>
            </a:r>
            <a:br>
              <a:rPr lang="en-US" b="0" i="0" dirty="0">
                <a:solidFill>
                  <a:srgbClr val="273239"/>
                </a:solidFill>
                <a:effectLst/>
                <a:latin typeface="urw-din"/>
              </a:rPr>
            </a:br>
            <a:r>
              <a:rPr lang="en-US" b="1" i="0" dirty="0">
                <a:solidFill>
                  <a:srgbClr val="273239"/>
                </a:solidFill>
                <a:effectLst/>
                <a:latin typeface="urw-din"/>
              </a:rPr>
              <a:t>e)</a:t>
            </a:r>
            <a:r>
              <a:rPr lang="en-US" b="0" i="0" dirty="0">
                <a:solidFill>
                  <a:srgbClr val="273239"/>
                </a:solidFill>
                <a:effectLst/>
                <a:latin typeface="urw-din"/>
              </a:rPr>
              <a:t> For each different contributor of the project a different working copy is maintained and not merged to the main file unless the working copy is validated. A most popular example is </a:t>
            </a:r>
            <a:r>
              <a:rPr lang="en-US" b="1" i="0" dirty="0">
                <a:solidFill>
                  <a:srgbClr val="273239"/>
                </a:solidFill>
                <a:effectLst/>
                <a:latin typeface="urw-din"/>
              </a:rPr>
              <a:t>Git, Helix core, Microsoft TFS,</a:t>
            </a:r>
            <a:endParaRPr lang="en-US" b="0" i="0" dirty="0">
              <a:solidFill>
                <a:srgbClr val="273239"/>
              </a:solidFill>
              <a:effectLst/>
              <a:latin typeface="urw-din"/>
            </a:endParaRPr>
          </a:p>
          <a:p>
            <a:pPr algn="l" fontAlgn="base">
              <a:lnSpc>
                <a:spcPct val="150000"/>
              </a:lnSpc>
            </a:pPr>
            <a:r>
              <a:rPr lang="en-US" b="1" i="0" dirty="0">
                <a:solidFill>
                  <a:srgbClr val="273239"/>
                </a:solidFill>
                <a:effectLst/>
                <a:latin typeface="urw-din"/>
              </a:rPr>
              <a:t>f) </a:t>
            </a:r>
            <a:r>
              <a:rPr lang="en-US" b="0" i="0" dirty="0">
                <a:solidFill>
                  <a:srgbClr val="273239"/>
                </a:solidFill>
                <a:effectLst/>
                <a:latin typeface="urw-din"/>
              </a:rPr>
              <a:t>Helps in recovery in case of any disaster or contingent situation,</a:t>
            </a:r>
          </a:p>
          <a:p>
            <a:pPr algn="l" fontAlgn="base">
              <a:lnSpc>
                <a:spcPct val="150000"/>
              </a:lnSpc>
            </a:pPr>
            <a:r>
              <a:rPr lang="en-US" b="1" i="0" dirty="0">
                <a:solidFill>
                  <a:srgbClr val="273239"/>
                </a:solidFill>
                <a:effectLst/>
                <a:latin typeface="urw-din"/>
              </a:rPr>
              <a:t>g) </a:t>
            </a:r>
            <a:r>
              <a:rPr lang="en-US" b="0" i="0" dirty="0">
                <a:solidFill>
                  <a:srgbClr val="273239"/>
                </a:solidFill>
                <a:effectLst/>
                <a:latin typeface="urw-din"/>
              </a:rPr>
              <a:t>Informs us about Who, What, When, Why changes have been made.</a:t>
            </a:r>
          </a:p>
        </p:txBody>
      </p:sp>
      <p:sp>
        <p:nvSpPr>
          <p:cNvPr id="5" name="TextBox 4">
            <a:extLst>
              <a:ext uri="{FF2B5EF4-FFF2-40B4-BE49-F238E27FC236}">
                <a16:creationId xmlns:a16="http://schemas.microsoft.com/office/drawing/2014/main" id="{9EE86A24-7ED5-48B8-BB80-779EEC7AD616}"/>
              </a:ext>
            </a:extLst>
          </p:cNvPr>
          <p:cNvSpPr txBox="1"/>
          <p:nvPr/>
        </p:nvSpPr>
        <p:spPr>
          <a:xfrm>
            <a:off x="238539" y="198783"/>
            <a:ext cx="8905461" cy="369332"/>
          </a:xfrm>
          <a:prstGeom prst="rect">
            <a:avLst/>
          </a:prstGeom>
          <a:noFill/>
        </p:spPr>
        <p:txBody>
          <a:bodyPr wrap="square">
            <a:spAutoFit/>
          </a:bodyPr>
          <a:lstStyle/>
          <a:p>
            <a:r>
              <a:rPr lang="en-US" b="1" i="0" dirty="0">
                <a:solidFill>
                  <a:srgbClr val="273239"/>
                </a:solidFill>
                <a:effectLst/>
                <a:latin typeface="urw-din"/>
              </a:rPr>
              <a:t>Benefits of the version control system:</a:t>
            </a:r>
            <a:endParaRPr lang="en-IN" dirty="0"/>
          </a:p>
        </p:txBody>
      </p:sp>
    </p:spTree>
    <p:extLst>
      <p:ext uri="{BB962C8B-B14F-4D97-AF65-F5344CB8AC3E}">
        <p14:creationId xmlns:p14="http://schemas.microsoft.com/office/powerpoint/2010/main" val="1246119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CE1A82-090E-4782-A841-11049A726EDB}"/>
              </a:ext>
            </a:extLst>
          </p:cNvPr>
          <p:cNvSpPr txBox="1"/>
          <p:nvPr/>
        </p:nvSpPr>
        <p:spPr>
          <a:xfrm>
            <a:off x="463826" y="251791"/>
            <a:ext cx="11330608" cy="4524315"/>
          </a:xfrm>
          <a:prstGeom prst="rect">
            <a:avLst/>
          </a:prstGeom>
          <a:noFill/>
        </p:spPr>
        <p:txBody>
          <a:bodyPr wrap="square">
            <a:spAutoFit/>
          </a:bodyPr>
          <a:lstStyle/>
          <a:p>
            <a:pPr algn="l" fontAlgn="base"/>
            <a:r>
              <a:rPr lang="en-US" b="1" i="0" dirty="0">
                <a:solidFill>
                  <a:srgbClr val="273239"/>
                </a:solidFill>
                <a:effectLst/>
                <a:latin typeface="urw-din"/>
              </a:rPr>
              <a:t>Use of Version Control System:</a:t>
            </a:r>
            <a:r>
              <a:rPr lang="en-US" b="0" i="0" dirty="0">
                <a:solidFill>
                  <a:srgbClr val="273239"/>
                </a:solidFill>
                <a:effectLst/>
                <a:latin typeface="urw-din"/>
              </a:rPr>
              <a:t> </a:t>
            </a:r>
            <a:br>
              <a:rPr lang="en-US" b="0" i="0" dirty="0">
                <a:solidFill>
                  <a:srgbClr val="273239"/>
                </a:solidFill>
                <a:effectLst/>
                <a:latin typeface="urw-din"/>
              </a:rPr>
            </a:br>
            <a:r>
              <a:rPr lang="en-US" b="0" i="0" dirty="0">
                <a:solidFill>
                  <a:srgbClr val="273239"/>
                </a:solidFill>
                <a:effectLst/>
                <a:latin typeface="urw-din"/>
              </a:rPr>
              <a:t> </a:t>
            </a:r>
          </a:p>
          <a:p>
            <a:pPr algn="l" fontAlgn="base">
              <a:buFont typeface="Arial" panose="020B0604020202020204" pitchFamily="34" charset="0"/>
              <a:buChar char="•"/>
            </a:pPr>
            <a:r>
              <a:rPr lang="en-US" b="1" i="0" dirty="0">
                <a:solidFill>
                  <a:srgbClr val="273239"/>
                </a:solidFill>
                <a:effectLst/>
                <a:latin typeface="urw-din"/>
              </a:rPr>
              <a:t>A repository:</a:t>
            </a:r>
            <a:r>
              <a:rPr lang="en-US" b="0" i="0" dirty="0">
                <a:solidFill>
                  <a:srgbClr val="273239"/>
                </a:solidFill>
                <a:effectLst/>
                <a:latin typeface="urw-din"/>
              </a:rPr>
              <a:t> It can be thought of as a database of changes. It contains all the edits and historical versions (snapshots) of the project.</a:t>
            </a:r>
          </a:p>
          <a:p>
            <a:pPr algn="l" fontAlgn="base">
              <a:buFont typeface="Arial" panose="020B0604020202020204" pitchFamily="34" charset="0"/>
              <a:buChar char="•"/>
            </a:pPr>
            <a:endParaRPr lang="en-US" b="0" i="0" dirty="0">
              <a:solidFill>
                <a:srgbClr val="273239"/>
              </a:solidFill>
              <a:effectLst/>
              <a:latin typeface="urw-din"/>
            </a:endParaRPr>
          </a:p>
          <a:p>
            <a:pPr algn="l" fontAlgn="base">
              <a:buFont typeface="Arial" panose="020B0604020202020204" pitchFamily="34" charset="0"/>
              <a:buChar char="•"/>
            </a:pPr>
            <a:r>
              <a:rPr lang="en-US" b="1" i="0" dirty="0">
                <a:solidFill>
                  <a:srgbClr val="273239"/>
                </a:solidFill>
                <a:effectLst/>
                <a:latin typeface="urw-din"/>
              </a:rPr>
              <a:t>Copy of Work (sometimes called as checkout):</a:t>
            </a:r>
            <a:r>
              <a:rPr lang="en-US" b="0" i="0" dirty="0">
                <a:solidFill>
                  <a:srgbClr val="273239"/>
                </a:solidFill>
                <a:effectLst/>
                <a:latin typeface="urw-din"/>
              </a:rPr>
              <a:t> It is the personal copy of all the files in a project. You can edit to this copy, without affecting the work of others and you can finally commit your changes to a repository when you are done making your changes.</a:t>
            </a:r>
          </a:p>
          <a:p>
            <a:pPr algn="l" fontAlgn="base">
              <a:buFont typeface="Arial" panose="020B0604020202020204" pitchFamily="34" charset="0"/>
              <a:buChar char="•"/>
            </a:pPr>
            <a:endParaRPr lang="en-US" b="0" i="0" dirty="0">
              <a:solidFill>
                <a:srgbClr val="273239"/>
              </a:solidFill>
              <a:effectLst/>
              <a:latin typeface="urw-din"/>
            </a:endParaRPr>
          </a:p>
          <a:p>
            <a:pPr algn="l" fontAlgn="base">
              <a:buFont typeface="Arial" panose="020B0604020202020204" pitchFamily="34" charset="0"/>
              <a:buChar char="•"/>
            </a:pPr>
            <a:r>
              <a:rPr lang="en-US" b="1" i="0" dirty="0">
                <a:solidFill>
                  <a:srgbClr val="273239"/>
                </a:solidFill>
                <a:effectLst/>
                <a:latin typeface="urw-din"/>
              </a:rPr>
              <a:t>Types of Version Control Systems:</a:t>
            </a:r>
            <a:r>
              <a:rPr lang="en-US" b="0" i="0" dirty="0">
                <a:solidFill>
                  <a:srgbClr val="273239"/>
                </a:solidFill>
                <a:effectLst/>
                <a:latin typeface="urw-din"/>
              </a:rPr>
              <a:t> </a:t>
            </a:r>
            <a:endParaRPr lang="en-US" dirty="0">
              <a:solidFill>
                <a:srgbClr val="273239"/>
              </a:solidFill>
              <a:latin typeface="urw-din"/>
            </a:endParaRPr>
          </a:p>
          <a:p>
            <a:pPr algn="l" fontAlgn="base">
              <a:buFont typeface="Arial" panose="020B0604020202020204" pitchFamily="34" charset="0"/>
              <a:buChar char="•"/>
            </a:pPr>
            <a:endParaRPr lang="en-US" b="0" i="0" dirty="0">
              <a:solidFill>
                <a:srgbClr val="273239"/>
              </a:solidFill>
              <a:effectLst/>
              <a:latin typeface="urw-din"/>
            </a:endParaRPr>
          </a:p>
          <a:p>
            <a:pPr algn="l" fontAlgn="base">
              <a:buFont typeface="Arial" panose="020B0604020202020204" pitchFamily="34" charset="0"/>
              <a:buChar char="•"/>
            </a:pPr>
            <a:r>
              <a:rPr lang="en-US" b="0" i="0" dirty="0">
                <a:solidFill>
                  <a:srgbClr val="273239"/>
                </a:solidFill>
                <a:effectLst/>
                <a:latin typeface="urw-din"/>
              </a:rPr>
              <a:t>Local Version Control Systems</a:t>
            </a:r>
          </a:p>
          <a:p>
            <a:pPr algn="l" fontAlgn="base">
              <a:buFont typeface="Arial" panose="020B0604020202020204" pitchFamily="34" charset="0"/>
              <a:buChar char="•"/>
            </a:pPr>
            <a:r>
              <a:rPr lang="en-US" b="0" i="0" dirty="0">
                <a:solidFill>
                  <a:srgbClr val="273239"/>
                </a:solidFill>
                <a:effectLst/>
                <a:latin typeface="urw-din"/>
              </a:rPr>
              <a:t>Centralized Version Control Systems</a:t>
            </a:r>
          </a:p>
          <a:p>
            <a:pPr algn="l" fontAlgn="base">
              <a:buFont typeface="Arial" panose="020B0604020202020204" pitchFamily="34" charset="0"/>
              <a:buChar char="•"/>
            </a:pPr>
            <a:r>
              <a:rPr lang="en-US" b="0" i="0" dirty="0">
                <a:solidFill>
                  <a:srgbClr val="273239"/>
                </a:solidFill>
                <a:effectLst/>
                <a:latin typeface="urw-din"/>
              </a:rPr>
              <a:t>Distributed Version Control Systems</a:t>
            </a:r>
          </a:p>
          <a:p>
            <a:pPr algn="l" fontAlgn="base">
              <a:buFont typeface="Arial" panose="020B0604020202020204" pitchFamily="34" charset="0"/>
              <a:buChar char="•"/>
            </a:pPr>
            <a:endParaRPr lang="en-US" b="0" i="0" dirty="0">
              <a:solidFill>
                <a:srgbClr val="273239"/>
              </a:solidFill>
              <a:effectLst/>
              <a:latin typeface="urw-din"/>
            </a:endParaRPr>
          </a:p>
          <a:p>
            <a:pPr algn="l" fontAlgn="base">
              <a:buFont typeface="Arial" panose="020B0604020202020204" pitchFamily="34" charset="0"/>
              <a:buChar char="•"/>
            </a:pPr>
            <a:endParaRPr lang="en-US" dirty="0">
              <a:solidFill>
                <a:srgbClr val="273239"/>
              </a:solidFill>
              <a:latin typeface="urw-din"/>
            </a:endParaRPr>
          </a:p>
        </p:txBody>
      </p:sp>
    </p:spTree>
    <p:extLst>
      <p:ext uri="{BB962C8B-B14F-4D97-AF65-F5344CB8AC3E}">
        <p14:creationId xmlns:p14="http://schemas.microsoft.com/office/powerpoint/2010/main" val="3818358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36CE7D-3462-4FAE-95BE-1CC1DD812D70}"/>
              </a:ext>
            </a:extLst>
          </p:cNvPr>
          <p:cNvSpPr txBox="1"/>
          <p:nvPr/>
        </p:nvSpPr>
        <p:spPr>
          <a:xfrm>
            <a:off x="742121" y="477078"/>
            <a:ext cx="10601739" cy="3139321"/>
          </a:xfrm>
          <a:prstGeom prst="rect">
            <a:avLst/>
          </a:prstGeom>
          <a:noFill/>
        </p:spPr>
        <p:txBody>
          <a:bodyPr wrap="square">
            <a:spAutoFit/>
          </a:bodyPr>
          <a:lstStyle/>
          <a:p>
            <a:pPr algn="l" fontAlgn="base"/>
            <a:r>
              <a:rPr lang="en-US" b="1" i="0" dirty="0">
                <a:solidFill>
                  <a:srgbClr val="273239"/>
                </a:solidFill>
                <a:effectLst/>
                <a:latin typeface="urw-din"/>
              </a:rPr>
              <a:t>Local Version Control Systems:</a:t>
            </a:r>
            <a:r>
              <a:rPr lang="en-US" b="0" i="0" dirty="0">
                <a:solidFill>
                  <a:srgbClr val="273239"/>
                </a:solidFill>
                <a:effectLst/>
                <a:latin typeface="urw-din"/>
              </a:rPr>
              <a:t> It is one of the simplest forms and has a database that kept all the changes to files under revision control. RCS is one of the most common VCS tools. It keeps patch sets (differences between files) in a special format on disk. By adding up all the patches it can then re-create what any file looked like at any point in time. </a:t>
            </a:r>
          </a:p>
          <a:p>
            <a:pPr algn="l" fontAlgn="base"/>
            <a:r>
              <a:rPr lang="en-US" b="1" i="0" dirty="0">
                <a:solidFill>
                  <a:srgbClr val="273239"/>
                </a:solidFill>
                <a:effectLst/>
                <a:latin typeface="urw-din"/>
              </a:rPr>
              <a:t>Centralized Version Control Systems:</a:t>
            </a:r>
            <a:r>
              <a:rPr lang="en-US" b="0" i="0" dirty="0">
                <a:solidFill>
                  <a:srgbClr val="273239"/>
                </a:solidFill>
                <a:effectLst/>
                <a:latin typeface="urw-din"/>
              </a:rPr>
              <a:t> Centralized version control systems contain just one repository and each user gets their own working copy. You need to commit to reflecting your changes in the repository. It is possible for others to see your changes by updating. </a:t>
            </a:r>
          </a:p>
          <a:p>
            <a:pPr algn="l" fontAlgn="base"/>
            <a:r>
              <a:rPr lang="en-US" b="0" i="0" dirty="0">
                <a:solidFill>
                  <a:srgbClr val="273239"/>
                </a:solidFill>
                <a:effectLst/>
                <a:latin typeface="urw-din"/>
              </a:rPr>
              <a:t>Two things are required to make your changes visible to others which are: </a:t>
            </a:r>
            <a:br>
              <a:rPr lang="en-US" b="0" i="0" dirty="0">
                <a:solidFill>
                  <a:srgbClr val="273239"/>
                </a:solidFill>
                <a:effectLst/>
                <a:latin typeface="urw-din"/>
              </a:rPr>
            </a:br>
            <a:r>
              <a:rPr lang="en-US" b="0" i="0" dirty="0">
                <a:solidFill>
                  <a:srgbClr val="273239"/>
                </a:solidFill>
                <a:effectLst/>
                <a:latin typeface="urw-din"/>
              </a:rPr>
              <a:t> </a:t>
            </a:r>
          </a:p>
          <a:p>
            <a:pPr algn="l" fontAlgn="base">
              <a:buFont typeface="Arial" panose="020B0604020202020204" pitchFamily="34" charset="0"/>
              <a:buChar char="•"/>
            </a:pPr>
            <a:r>
              <a:rPr lang="en-US" b="0" i="0" dirty="0">
                <a:solidFill>
                  <a:srgbClr val="273239"/>
                </a:solidFill>
                <a:effectLst/>
                <a:latin typeface="urw-din"/>
              </a:rPr>
              <a:t>You commit</a:t>
            </a:r>
          </a:p>
          <a:p>
            <a:pPr algn="l" fontAlgn="base">
              <a:buFont typeface="Arial" panose="020B0604020202020204" pitchFamily="34" charset="0"/>
              <a:buChar char="•"/>
            </a:pPr>
            <a:r>
              <a:rPr lang="en-US" b="0" i="0" dirty="0">
                <a:solidFill>
                  <a:srgbClr val="273239"/>
                </a:solidFill>
                <a:effectLst/>
                <a:latin typeface="urw-din"/>
              </a:rPr>
              <a:t>They update</a:t>
            </a:r>
          </a:p>
        </p:txBody>
      </p:sp>
      <p:pic>
        <p:nvPicPr>
          <p:cNvPr id="2050" name="Picture 2" descr="cvcs">
            <a:extLst>
              <a:ext uri="{FF2B5EF4-FFF2-40B4-BE49-F238E27FC236}">
                <a16:creationId xmlns:a16="http://schemas.microsoft.com/office/drawing/2014/main" id="{6FC7D3E4-786F-489B-988C-7A03B8DD1B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8661" y="2992409"/>
            <a:ext cx="5300869" cy="3425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995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3F1C42-701A-47B7-9064-C1B3655399F3}"/>
              </a:ext>
            </a:extLst>
          </p:cNvPr>
          <p:cNvSpPr txBox="1"/>
          <p:nvPr/>
        </p:nvSpPr>
        <p:spPr>
          <a:xfrm>
            <a:off x="0" y="424070"/>
            <a:ext cx="11900452" cy="6740307"/>
          </a:xfrm>
          <a:prstGeom prst="rect">
            <a:avLst/>
          </a:prstGeom>
          <a:noFill/>
        </p:spPr>
        <p:txBody>
          <a:bodyPr wrap="square">
            <a:spAutoFit/>
          </a:bodyPr>
          <a:lstStyle/>
          <a:p>
            <a:pPr algn="l" fontAlgn="base"/>
            <a:r>
              <a:rPr lang="en-US" b="0" i="0" dirty="0">
                <a:solidFill>
                  <a:srgbClr val="273239"/>
                </a:solidFill>
                <a:effectLst/>
                <a:latin typeface="urw-din"/>
              </a:rPr>
              <a:t>The </a:t>
            </a:r>
            <a:r>
              <a:rPr lang="en-US" b="1" i="0" dirty="0">
                <a:solidFill>
                  <a:srgbClr val="273239"/>
                </a:solidFill>
                <a:effectLst/>
                <a:latin typeface="urw-din"/>
              </a:rPr>
              <a:t>benefit</a:t>
            </a:r>
            <a:r>
              <a:rPr lang="en-US" b="0" i="0" dirty="0">
                <a:solidFill>
                  <a:srgbClr val="273239"/>
                </a:solidFill>
                <a:effectLst/>
                <a:latin typeface="urw-din"/>
              </a:rPr>
              <a:t> of CVCS (Centralized Version Control Systems) makes collaboration amongst developers along with providing an insight to a certain extent on what everyone else is doing on the project. It allows administrators to fine-grained control over who can do what. </a:t>
            </a:r>
          </a:p>
          <a:p>
            <a:pPr algn="l" fontAlgn="base"/>
            <a:endParaRPr lang="en-US" b="0" i="0" dirty="0">
              <a:solidFill>
                <a:srgbClr val="273239"/>
              </a:solidFill>
              <a:effectLst/>
              <a:latin typeface="urw-din"/>
            </a:endParaRPr>
          </a:p>
          <a:p>
            <a:pPr algn="l" fontAlgn="base"/>
            <a:r>
              <a:rPr lang="en-US" b="0" i="0" dirty="0">
                <a:solidFill>
                  <a:srgbClr val="273239"/>
                </a:solidFill>
                <a:effectLst/>
                <a:latin typeface="urw-din"/>
              </a:rPr>
              <a:t>It has some </a:t>
            </a:r>
            <a:r>
              <a:rPr lang="en-US" b="1" i="0" dirty="0">
                <a:solidFill>
                  <a:srgbClr val="273239"/>
                </a:solidFill>
                <a:effectLst/>
                <a:latin typeface="urw-din"/>
              </a:rPr>
              <a:t>downsides</a:t>
            </a:r>
            <a:r>
              <a:rPr lang="en-US" b="0" i="0" dirty="0">
                <a:solidFill>
                  <a:srgbClr val="273239"/>
                </a:solidFill>
                <a:effectLst/>
                <a:latin typeface="urw-din"/>
              </a:rPr>
              <a:t> as well which led to the development of DVS. The most obvious is the single point of failure that the centralized repository represents if it goes down during that period collaboration and saving versioned changes is not possible. What if the hard disk of the central database becomes corrupted, and proper backups haven’t been kept? You lose absolutely everything. </a:t>
            </a:r>
          </a:p>
          <a:p>
            <a:pPr algn="l" fontAlgn="base"/>
            <a:endParaRPr lang="en-US" b="0" i="0" dirty="0">
              <a:solidFill>
                <a:srgbClr val="273239"/>
              </a:solidFill>
              <a:effectLst/>
              <a:latin typeface="urw-din"/>
            </a:endParaRPr>
          </a:p>
          <a:p>
            <a:pPr algn="l" fontAlgn="base"/>
            <a:r>
              <a:rPr lang="en-US" b="1" i="0" dirty="0">
                <a:solidFill>
                  <a:srgbClr val="273239"/>
                </a:solidFill>
                <a:effectLst/>
                <a:latin typeface="urw-din"/>
              </a:rPr>
              <a:t>Distributed Version Control Systems:</a:t>
            </a:r>
            <a:r>
              <a:rPr lang="en-US" b="0" i="0" dirty="0">
                <a:solidFill>
                  <a:srgbClr val="273239"/>
                </a:solidFill>
                <a:effectLst/>
                <a:latin typeface="urw-din"/>
              </a:rPr>
              <a:t> Distributed version control systems contain multiple repositories. Each user has their own repository and working copy. Just committing your changes will not give others access to your changes. This is because commit will reflect those changes in your local repository and you need to push them in order to make them visible on the central repository. Similarly, When you update, you do not get other’s changes unless you have first pulled those changes into your repository. </a:t>
            </a:r>
          </a:p>
          <a:p>
            <a:pPr algn="l" fontAlgn="base"/>
            <a:endParaRPr lang="en-US" dirty="0">
              <a:solidFill>
                <a:srgbClr val="273239"/>
              </a:solidFill>
              <a:latin typeface="urw-din"/>
            </a:endParaRPr>
          </a:p>
          <a:p>
            <a:pPr algn="l" fontAlgn="base"/>
            <a:r>
              <a:rPr lang="en-US" b="0" i="0" dirty="0">
                <a:solidFill>
                  <a:srgbClr val="273239"/>
                </a:solidFill>
                <a:effectLst/>
                <a:latin typeface="urw-din"/>
              </a:rPr>
              <a:t>To make your changes visible to others, 4 things are required: </a:t>
            </a:r>
            <a:br>
              <a:rPr lang="en-US" b="0" i="0" dirty="0">
                <a:solidFill>
                  <a:srgbClr val="273239"/>
                </a:solidFill>
                <a:effectLst/>
                <a:latin typeface="urw-din"/>
              </a:rPr>
            </a:br>
            <a:r>
              <a:rPr lang="en-US" b="0" i="0" dirty="0">
                <a:solidFill>
                  <a:srgbClr val="273239"/>
                </a:solidFill>
                <a:effectLst/>
                <a:latin typeface="urw-din"/>
              </a:rPr>
              <a:t> </a:t>
            </a:r>
          </a:p>
          <a:p>
            <a:pPr algn="l" fontAlgn="base">
              <a:buFont typeface="Arial" panose="020B0604020202020204" pitchFamily="34" charset="0"/>
              <a:buChar char="•"/>
            </a:pPr>
            <a:r>
              <a:rPr lang="en-US" b="0" i="0" dirty="0">
                <a:solidFill>
                  <a:srgbClr val="273239"/>
                </a:solidFill>
                <a:effectLst/>
                <a:latin typeface="urw-din"/>
              </a:rPr>
              <a:t>You commit</a:t>
            </a:r>
          </a:p>
          <a:p>
            <a:pPr algn="l" fontAlgn="base">
              <a:buFont typeface="Arial" panose="020B0604020202020204" pitchFamily="34" charset="0"/>
              <a:buChar char="•"/>
            </a:pPr>
            <a:r>
              <a:rPr lang="en-US" b="0" i="0" dirty="0">
                <a:solidFill>
                  <a:srgbClr val="273239"/>
                </a:solidFill>
                <a:effectLst/>
                <a:latin typeface="urw-din"/>
              </a:rPr>
              <a:t>You push</a:t>
            </a:r>
          </a:p>
          <a:p>
            <a:pPr algn="l" fontAlgn="base">
              <a:buFont typeface="Arial" panose="020B0604020202020204" pitchFamily="34" charset="0"/>
              <a:buChar char="•"/>
            </a:pPr>
            <a:r>
              <a:rPr lang="en-US" b="0" i="0" dirty="0">
                <a:solidFill>
                  <a:srgbClr val="273239"/>
                </a:solidFill>
                <a:effectLst/>
                <a:latin typeface="urw-din"/>
              </a:rPr>
              <a:t>They pull</a:t>
            </a:r>
          </a:p>
          <a:p>
            <a:pPr algn="l" fontAlgn="base">
              <a:buFont typeface="Arial" panose="020B0604020202020204" pitchFamily="34" charset="0"/>
              <a:buChar char="•"/>
            </a:pPr>
            <a:r>
              <a:rPr lang="en-US" b="0" i="0" dirty="0">
                <a:solidFill>
                  <a:srgbClr val="273239"/>
                </a:solidFill>
                <a:effectLst/>
                <a:latin typeface="urw-din"/>
              </a:rPr>
              <a:t>They update</a:t>
            </a:r>
          </a:p>
          <a:p>
            <a:pPr algn="l" fontAlgn="base"/>
            <a:r>
              <a:rPr lang="en-US" b="0" i="0" dirty="0">
                <a:solidFill>
                  <a:srgbClr val="273239"/>
                </a:solidFill>
                <a:effectLst/>
                <a:latin typeface="urw-din"/>
              </a:rPr>
              <a:t>The most popular distributed version control systems are Git, Mercurial. They help us overcome the problem of single point of failure. </a:t>
            </a:r>
          </a:p>
          <a:p>
            <a:pPr algn="l" fontAlgn="base"/>
            <a:endParaRPr lang="en-US" b="0" i="0" dirty="0">
              <a:solidFill>
                <a:srgbClr val="273239"/>
              </a:solidFill>
              <a:effectLst/>
              <a:latin typeface="urw-din"/>
            </a:endParaRPr>
          </a:p>
        </p:txBody>
      </p:sp>
    </p:spTree>
    <p:extLst>
      <p:ext uri="{BB962C8B-B14F-4D97-AF65-F5344CB8AC3E}">
        <p14:creationId xmlns:p14="http://schemas.microsoft.com/office/powerpoint/2010/main" val="3098340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vcs">
            <a:extLst>
              <a:ext uri="{FF2B5EF4-FFF2-40B4-BE49-F238E27FC236}">
                <a16:creationId xmlns:a16="http://schemas.microsoft.com/office/drawing/2014/main" id="{B7386394-4782-4CCC-B60A-916312A398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028700"/>
            <a:ext cx="6248400"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0782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FDFF45-48E0-45B4-B8AD-EC2D4297FFD0}"/>
              </a:ext>
            </a:extLst>
          </p:cNvPr>
          <p:cNvSpPr txBox="1"/>
          <p:nvPr/>
        </p:nvSpPr>
        <p:spPr>
          <a:xfrm>
            <a:off x="463826" y="304800"/>
            <a:ext cx="10508974" cy="4801314"/>
          </a:xfrm>
          <a:prstGeom prst="rect">
            <a:avLst/>
          </a:prstGeom>
          <a:noFill/>
        </p:spPr>
        <p:txBody>
          <a:bodyPr wrap="square">
            <a:spAutoFit/>
          </a:bodyPr>
          <a:lstStyle/>
          <a:p>
            <a:pPr algn="l" fontAlgn="base"/>
            <a:r>
              <a:rPr lang="en-US" b="1" i="0" dirty="0">
                <a:solidFill>
                  <a:srgbClr val="273239"/>
                </a:solidFill>
                <a:effectLst/>
                <a:latin typeface="urw-din"/>
              </a:rPr>
              <a:t>Purpose of Version Control:</a:t>
            </a:r>
            <a:r>
              <a:rPr lang="en-US" b="0" i="0" dirty="0">
                <a:solidFill>
                  <a:srgbClr val="273239"/>
                </a:solidFill>
                <a:effectLst/>
                <a:latin typeface="urw-din"/>
              </a:rPr>
              <a:t> </a:t>
            </a:r>
            <a:br>
              <a:rPr lang="en-US" b="0" i="0" dirty="0">
                <a:solidFill>
                  <a:srgbClr val="273239"/>
                </a:solidFill>
                <a:effectLst/>
                <a:latin typeface="urw-din"/>
              </a:rPr>
            </a:br>
            <a:r>
              <a:rPr lang="en-US" b="0" i="0" dirty="0">
                <a:solidFill>
                  <a:srgbClr val="273239"/>
                </a:solidFill>
                <a:effectLst/>
                <a:latin typeface="urw-din"/>
              </a:rPr>
              <a:t> </a:t>
            </a:r>
          </a:p>
          <a:p>
            <a:pPr algn="l" fontAlgn="base">
              <a:buFont typeface="Arial" panose="020B0604020202020204" pitchFamily="34" charset="0"/>
              <a:buChar char="•"/>
            </a:pPr>
            <a:r>
              <a:rPr lang="en-US" b="0" i="0" dirty="0">
                <a:solidFill>
                  <a:srgbClr val="273239"/>
                </a:solidFill>
                <a:effectLst/>
                <a:latin typeface="urw-din"/>
              </a:rPr>
              <a:t>Multiple people can work simultaneously on a single project. Everyone works on and edits their own copy of the files and it is up to them when they wish to share the changes made by them with the rest of the team.</a:t>
            </a:r>
          </a:p>
          <a:p>
            <a:pPr algn="l" fontAlgn="base">
              <a:buFont typeface="Arial" panose="020B0604020202020204" pitchFamily="34" charset="0"/>
              <a:buChar char="•"/>
            </a:pPr>
            <a:endParaRPr lang="en-US" b="0" i="0" dirty="0">
              <a:solidFill>
                <a:srgbClr val="273239"/>
              </a:solidFill>
              <a:effectLst/>
              <a:latin typeface="urw-din"/>
            </a:endParaRPr>
          </a:p>
          <a:p>
            <a:pPr algn="l" fontAlgn="base">
              <a:buFont typeface="Arial" panose="020B0604020202020204" pitchFamily="34" charset="0"/>
              <a:buChar char="•"/>
            </a:pPr>
            <a:r>
              <a:rPr lang="en-US" b="0" i="0" dirty="0">
                <a:solidFill>
                  <a:srgbClr val="273239"/>
                </a:solidFill>
                <a:effectLst/>
                <a:latin typeface="urw-din"/>
              </a:rPr>
              <a:t>It also enables one person to use multiple computers to work on a project, so it is valuable even if you are working by yourself.</a:t>
            </a:r>
          </a:p>
          <a:p>
            <a:pPr algn="l" fontAlgn="base">
              <a:buFont typeface="Arial" panose="020B0604020202020204" pitchFamily="34" charset="0"/>
              <a:buChar char="•"/>
            </a:pPr>
            <a:endParaRPr lang="en-US" b="0" i="0" dirty="0">
              <a:solidFill>
                <a:srgbClr val="273239"/>
              </a:solidFill>
              <a:effectLst/>
              <a:latin typeface="urw-din"/>
            </a:endParaRPr>
          </a:p>
          <a:p>
            <a:pPr algn="l" fontAlgn="base">
              <a:buFont typeface="Arial" panose="020B0604020202020204" pitchFamily="34" charset="0"/>
              <a:buChar char="•"/>
            </a:pPr>
            <a:r>
              <a:rPr lang="en-US" b="0" i="0" dirty="0">
                <a:solidFill>
                  <a:srgbClr val="273239"/>
                </a:solidFill>
                <a:effectLst/>
                <a:latin typeface="urw-din"/>
              </a:rPr>
              <a:t>It integrates the work that is done simultaneously by different members of the team. In some rare case, when conflicting edits are made by two people to the same line of a file, then human assistance is requested by the version control system in deciding what should be done.</a:t>
            </a:r>
          </a:p>
          <a:p>
            <a:pPr algn="l" fontAlgn="base">
              <a:buFont typeface="Arial" panose="020B0604020202020204" pitchFamily="34" charset="0"/>
              <a:buChar char="•"/>
            </a:pPr>
            <a:endParaRPr lang="en-US" b="0" i="0" dirty="0">
              <a:solidFill>
                <a:srgbClr val="273239"/>
              </a:solidFill>
              <a:effectLst/>
              <a:latin typeface="urw-din"/>
            </a:endParaRPr>
          </a:p>
          <a:p>
            <a:pPr algn="l" fontAlgn="base">
              <a:buFont typeface="Arial" panose="020B0604020202020204" pitchFamily="34" charset="0"/>
              <a:buChar char="•"/>
            </a:pPr>
            <a:r>
              <a:rPr lang="en-US" b="0" i="0" dirty="0">
                <a:solidFill>
                  <a:srgbClr val="273239"/>
                </a:solidFill>
                <a:effectLst/>
                <a:latin typeface="urw-din"/>
              </a:rPr>
              <a:t>Version control provides access to the historical versions of a project. This is insurance against computer crashes or data loss. If any mistake is made, you can easily roll back to a previous version. It is also possible to undo specific edits that too without losing the work done in the meanwhile. It can be easily known when, why, and by whom any part of a file was edited.</a:t>
            </a:r>
          </a:p>
          <a:p>
            <a:pPr algn="l" fontAlgn="base"/>
            <a:r>
              <a:rPr lang="en-US" b="0" i="0" dirty="0">
                <a:solidFill>
                  <a:srgbClr val="273239"/>
                </a:solidFill>
                <a:effectLst/>
                <a:latin typeface="urw-din"/>
              </a:rPr>
              <a:t> </a:t>
            </a:r>
          </a:p>
        </p:txBody>
      </p:sp>
    </p:spTree>
    <p:extLst>
      <p:ext uri="{BB962C8B-B14F-4D97-AF65-F5344CB8AC3E}">
        <p14:creationId xmlns:p14="http://schemas.microsoft.com/office/powerpoint/2010/main" val="7779396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77357B-07F0-40AB-AB92-3A5F643B1FA1}"/>
              </a:ext>
            </a:extLst>
          </p:cNvPr>
          <p:cNvSpPr txBox="1"/>
          <p:nvPr/>
        </p:nvSpPr>
        <p:spPr>
          <a:xfrm>
            <a:off x="225287" y="119270"/>
            <a:ext cx="11516139" cy="6186309"/>
          </a:xfrm>
          <a:prstGeom prst="rect">
            <a:avLst/>
          </a:prstGeom>
          <a:noFill/>
        </p:spPr>
        <p:txBody>
          <a:bodyPr wrap="square">
            <a:spAutoFit/>
          </a:bodyPr>
          <a:lstStyle/>
          <a:p>
            <a:endParaRPr lang="en-SG" dirty="0">
              <a:latin typeface="Calibri" panose="020F0502020204030204" pitchFamily="34" charset="0"/>
              <a:cs typeface="Times New Roman" panose="02020603050405020304" pitchFamily="18" charset="0"/>
            </a:endParaRPr>
          </a:p>
          <a:p>
            <a:pPr algn="l" fontAlgn="base"/>
            <a:r>
              <a:rPr lang="en-US" b="1" i="0" dirty="0">
                <a:solidFill>
                  <a:srgbClr val="47515A"/>
                </a:solidFill>
                <a:effectLst/>
                <a:latin typeface="inherit"/>
              </a:rPr>
              <a:t>What Are The Benefits Of Source Code Management?</a:t>
            </a:r>
            <a:endParaRPr lang="en-US" b="0" i="0" dirty="0">
              <a:solidFill>
                <a:srgbClr val="47515A"/>
              </a:solidFill>
              <a:effectLst/>
              <a:latin typeface="Poppins" panose="00000500000000000000" pitchFamily="2" charset="0"/>
            </a:endParaRPr>
          </a:p>
          <a:p>
            <a:pPr algn="l" fontAlgn="base"/>
            <a:r>
              <a:rPr lang="en-US" b="0" i="0" dirty="0">
                <a:solidFill>
                  <a:srgbClr val="333333"/>
                </a:solidFill>
                <a:effectLst/>
                <a:latin typeface="Open Sans" panose="020B0606030504020204" pitchFamily="34" charset="0"/>
              </a:rPr>
              <a:t>There are several reasons why we should manage the source code that we write:</a:t>
            </a:r>
          </a:p>
          <a:p>
            <a:pPr algn="l" fontAlgn="base"/>
            <a:endParaRPr lang="en-US" b="0" i="0" dirty="0">
              <a:solidFill>
                <a:srgbClr val="333333"/>
              </a:solidFill>
              <a:effectLst/>
              <a:latin typeface="Open Sans" panose="020B0606030504020204" pitchFamily="34" charset="0"/>
            </a:endParaRPr>
          </a:p>
          <a:p>
            <a:pPr algn="l" fontAlgn="base"/>
            <a:endParaRPr lang="en-US" b="0" i="0" dirty="0">
              <a:solidFill>
                <a:srgbClr val="333333"/>
              </a:solidFill>
              <a:effectLst/>
              <a:latin typeface="Open Sans" panose="020B0606030504020204" pitchFamily="34" charset="0"/>
            </a:endParaRPr>
          </a:p>
          <a:p>
            <a:pPr algn="l" fontAlgn="base">
              <a:buFont typeface="Arial" panose="020B0604020202020204" pitchFamily="34" charset="0"/>
              <a:buChar char="•"/>
            </a:pPr>
            <a:r>
              <a:rPr lang="en-US" b="1" i="0" dirty="0">
                <a:solidFill>
                  <a:srgbClr val="333333"/>
                </a:solidFill>
                <a:effectLst/>
                <a:latin typeface="inherit"/>
              </a:rPr>
              <a:t>Work together in teams</a:t>
            </a:r>
            <a:r>
              <a:rPr lang="en-US" b="0" i="0" dirty="0">
                <a:solidFill>
                  <a:srgbClr val="333333"/>
                </a:solidFill>
                <a:effectLst/>
                <a:latin typeface="Poppins" panose="00000500000000000000" pitchFamily="2" charset="0"/>
              </a:rPr>
              <a:t>. A source code management system allows multiple developers to access and change different areas of the code, without interfering with each other’s work. This is a big benefit for large teams of developers.</a:t>
            </a:r>
          </a:p>
          <a:p>
            <a:pPr algn="l" fontAlgn="base">
              <a:buFont typeface="Arial" panose="020B0604020202020204" pitchFamily="34" charset="0"/>
              <a:buChar char="•"/>
            </a:pPr>
            <a:endParaRPr lang="en-US" b="0" i="0" dirty="0">
              <a:solidFill>
                <a:srgbClr val="333333"/>
              </a:solidFill>
              <a:effectLst/>
              <a:latin typeface="Poppins" panose="00000500000000000000" pitchFamily="2" charset="0"/>
            </a:endParaRPr>
          </a:p>
          <a:p>
            <a:pPr algn="l" fontAlgn="base">
              <a:buFont typeface="Arial" panose="020B0604020202020204" pitchFamily="34" charset="0"/>
              <a:buChar char="•"/>
            </a:pPr>
            <a:endParaRPr lang="en-US" b="0" i="0" dirty="0">
              <a:solidFill>
                <a:srgbClr val="333333"/>
              </a:solidFill>
              <a:effectLst/>
              <a:latin typeface="Poppins" panose="00000500000000000000" pitchFamily="2" charset="0"/>
            </a:endParaRPr>
          </a:p>
          <a:p>
            <a:pPr algn="l" fontAlgn="base">
              <a:buFont typeface="Arial" panose="020B0604020202020204" pitchFamily="34" charset="0"/>
              <a:buChar char="•"/>
            </a:pPr>
            <a:r>
              <a:rPr lang="en-US" b="1" i="0" dirty="0">
                <a:solidFill>
                  <a:srgbClr val="333333"/>
                </a:solidFill>
                <a:effectLst/>
                <a:latin typeface="inherit"/>
              </a:rPr>
              <a:t>Version history</a:t>
            </a:r>
            <a:r>
              <a:rPr lang="en-US" b="0" i="0" dirty="0">
                <a:solidFill>
                  <a:srgbClr val="333333"/>
                </a:solidFill>
                <a:effectLst/>
                <a:latin typeface="Poppins" panose="00000500000000000000" pitchFamily="2" charset="0"/>
              </a:rPr>
              <a:t>. The system will keep a history of all saved changes to the code. This not only allows you to see what has changed in a file, but allows you to go back to a previous version if needed.</a:t>
            </a:r>
          </a:p>
          <a:p>
            <a:pPr algn="l" fontAlgn="base">
              <a:buFont typeface="Arial" panose="020B0604020202020204" pitchFamily="34" charset="0"/>
              <a:buChar char="•"/>
            </a:pPr>
            <a:endParaRPr lang="en-US" b="0" i="0" dirty="0">
              <a:solidFill>
                <a:srgbClr val="333333"/>
              </a:solidFill>
              <a:effectLst/>
              <a:latin typeface="Poppins" panose="00000500000000000000" pitchFamily="2" charset="0"/>
            </a:endParaRPr>
          </a:p>
          <a:p>
            <a:pPr algn="l" fontAlgn="base">
              <a:buFont typeface="Arial" panose="020B0604020202020204" pitchFamily="34" charset="0"/>
              <a:buChar char="•"/>
            </a:pPr>
            <a:endParaRPr lang="en-US" b="0" i="0" dirty="0">
              <a:solidFill>
                <a:srgbClr val="333333"/>
              </a:solidFill>
              <a:effectLst/>
              <a:latin typeface="Poppins" panose="00000500000000000000" pitchFamily="2" charset="0"/>
            </a:endParaRPr>
          </a:p>
          <a:p>
            <a:pPr algn="l" fontAlgn="base">
              <a:buFont typeface="Arial" panose="020B0604020202020204" pitchFamily="34" charset="0"/>
              <a:buChar char="•"/>
            </a:pPr>
            <a:r>
              <a:rPr lang="en-US" b="1" i="0" dirty="0">
                <a:solidFill>
                  <a:srgbClr val="333333"/>
                </a:solidFill>
                <a:effectLst/>
                <a:latin typeface="inherit"/>
              </a:rPr>
              <a:t>Generate release notes</a:t>
            </a:r>
            <a:r>
              <a:rPr lang="en-US" b="0" i="0" dirty="0">
                <a:solidFill>
                  <a:srgbClr val="333333"/>
                </a:solidFill>
                <a:effectLst/>
                <a:latin typeface="Poppins" panose="00000500000000000000" pitchFamily="2" charset="0"/>
              </a:rPr>
              <a:t>. Code can be linked to a release, and as a result, release notes can be generated. This means time is saved in generating it manually and searching for the changes.</a:t>
            </a:r>
          </a:p>
          <a:p>
            <a:pPr algn="l" fontAlgn="base"/>
            <a:endParaRPr lang="en-US" b="0" i="0" dirty="0">
              <a:solidFill>
                <a:srgbClr val="333333"/>
              </a:solidFill>
              <a:effectLst/>
              <a:latin typeface="Poppins" panose="00000500000000000000" pitchFamily="2" charset="0"/>
            </a:endParaRPr>
          </a:p>
          <a:p>
            <a:pPr algn="l" fontAlgn="base"/>
            <a:endParaRPr lang="en-US" b="0" i="0" dirty="0">
              <a:solidFill>
                <a:srgbClr val="333333"/>
              </a:solidFill>
              <a:effectLst/>
              <a:latin typeface="Poppins" panose="00000500000000000000" pitchFamily="2" charset="0"/>
            </a:endParaRPr>
          </a:p>
          <a:p>
            <a:pPr algn="l" fontAlgn="base">
              <a:buFont typeface="Arial" panose="020B0604020202020204" pitchFamily="34" charset="0"/>
              <a:buChar char="•"/>
            </a:pPr>
            <a:r>
              <a:rPr lang="en-US" b="1" i="0" dirty="0">
                <a:solidFill>
                  <a:srgbClr val="333333"/>
                </a:solidFill>
                <a:effectLst/>
                <a:latin typeface="inherit"/>
              </a:rPr>
              <a:t>Backup of code</a:t>
            </a:r>
            <a:r>
              <a:rPr lang="en-US" b="0" i="0" dirty="0">
                <a:solidFill>
                  <a:srgbClr val="333333"/>
                </a:solidFill>
                <a:effectLst/>
                <a:latin typeface="Poppins" panose="00000500000000000000" pitchFamily="2" charset="0"/>
              </a:rPr>
              <a:t>. A </a:t>
            </a:r>
            <a:r>
              <a:rPr lang="en-US" b="0" i="0" dirty="0" err="1">
                <a:solidFill>
                  <a:srgbClr val="333333"/>
                </a:solidFill>
                <a:effectLst/>
                <a:latin typeface="Poppins" panose="00000500000000000000" pitchFamily="2" charset="0"/>
              </a:rPr>
              <a:t>centralised</a:t>
            </a:r>
            <a:r>
              <a:rPr lang="en-US" b="0" i="0" dirty="0">
                <a:solidFill>
                  <a:srgbClr val="333333"/>
                </a:solidFill>
                <a:effectLst/>
                <a:latin typeface="Poppins" panose="00000500000000000000" pitchFamily="2" charset="0"/>
              </a:rPr>
              <a:t> place on a server where the source code is stored ensures there is a main location for the code (other than the developer’s machine). It also allows for easy backup of the code, depending on your server setup.</a:t>
            </a:r>
          </a:p>
          <a:p>
            <a:endParaRPr lang="en-IN" dirty="0"/>
          </a:p>
        </p:txBody>
      </p:sp>
    </p:spTree>
    <p:extLst>
      <p:ext uri="{BB962C8B-B14F-4D97-AF65-F5344CB8AC3E}">
        <p14:creationId xmlns:p14="http://schemas.microsoft.com/office/powerpoint/2010/main" val="3121663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296C71-6E88-41F3-B14D-1E915BB495CB}"/>
              </a:ext>
            </a:extLst>
          </p:cNvPr>
          <p:cNvSpPr txBox="1"/>
          <p:nvPr/>
        </p:nvSpPr>
        <p:spPr>
          <a:xfrm>
            <a:off x="3048000" y="1308655"/>
            <a:ext cx="6096000" cy="4247317"/>
          </a:xfrm>
          <a:prstGeom prst="rect">
            <a:avLst/>
          </a:prstGeom>
          <a:noFill/>
        </p:spPr>
        <p:txBody>
          <a:bodyPr wrap="square">
            <a:spAutoFit/>
          </a:bodyPr>
          <a:lstStyle/>
          <a:p>
            <a:pPr algn="l"/>
            <a:r>
              <a:rPr lang="en-US" b="0" i="0" dirty="0">
                <a:solidFill>
                  <a:srgbClr val="43453A"/>
                </a:solidFill>
                <a:effectLst/>
                <a:latin typeface="raleway" pitchFamily="2" charset="0"/>
              </a:rPr>
              <a:t>Almost all source code contains some format of delicate information, whether it be configuration-related information such as database credentials or information on how the web application functions, such as a web template.</a:t>
            </a:r>
          </a:p>
          <a:p>
            <a:pPr algn="l"/>
            <a:r>
              <a:rPr lang="en-US" b="0" i="0" dirty="0">
                <a:solidFill>
                  <a:srgbClr val="43453A"/>
                </a:solidFill>
                <a:effectLst/>
                <a:latin typeface="raleway" pitchFamily="2" charset="0"/>
              </a:rPr>
              <a:t>If such information is disclosed, this information potentially could be used by an attacker to discover logical flaws and escalate into a successive chain of attacks. These include attacks such as SQL injection, database takeovers, cross-site scripting, remote code execution and, sometimes distributed denial of service.</a:t>
            </a:r>
          </a:p>
          <a:p>
            <a:pPr algn="l"/>
            <a:r>
              <a:rPr lang="en-US" b="0" i="0" dirty="0">
                <a:solidFill>
                  <a:srgbClr val="43453A"/>
                </a:solidFill>
                <a:effectLst/>
                <a:latin typeface="raleway" pitchFamily="2" charset="0"/>
              </a:rPr>
              <a:t>To achieve solution for conducting a risk-free and systemic migration, we need to plan three stages for the code migration process: pre-migration, migration and post-migration.</a:t>
            </a:r>
          </a:p>
        </p:txBody>
      </p:sp>
    </p:spTree>
    <p:extLst>
      <p:ext uri="{BB962C8B-B14F-4D97-AF65-F5344CB8AC3E}">
        <p14:creationId xmlns:p14="http://schemas.microsoft.com/office/powerpoint/2010/main" val="3655841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FA15A6-1F49-4DB3-8FD1-92CF111ABF60}"/>
              </a:ext>
            </a:extLst>
          </p:cNvPr>
          <p:cNvSpPr txBox="1"/>
          <p:nvPr/>
        </p:nvSpPr>
        <p:spPr>
          <a:xfrm>
            <a:off x="3048000" y="1170156"/>
            <a:ext cx="6096000" cy="4524315"/>
          </a:xfrm>
          <a:prstGeom prst="rect">
            <a:avLst/>
          </a:prstGeom>
          <a:noFill/>
        </p:spPr>
        <p:txBody>
          <a:bodyPr wrap="square">
            <a:spAutoFit/>
          </a:bodyPr>
          <a:lstStyle/>
          <a:p>
            <a:pPr algn="l"/>
            <a:r>
              <a:rPr lang="en-US" b="1" i="0" dirty="0">
                <a:solidFill>
                  <a:srgbClr val="000000"/>
                </a:solidFill>
                <a:effectLst/>
                <a:latin typeface="raleway" pitchFamily="2" charset="0"/>
              </a:rPr>
              <a:t>Key Considerations During Pre-Migration</a:t>
            </a:r>
          </a:p>
          <a:p>
            <a:pPr algn="l">
              <a:buFont typeface="Arial" panose="020B0604020202020204" pitchFamily="34" charset="0"/>
              <a:buChar char="•"/>
            </a:pPr>
            <a:r>
              <a:rPr lang="en-US" b="0" i="0" dirty="0">
                <a:solidFill>
                  <a:srgbClr val="43453A"/>
                </a:solidFill>
                <a:effectLst/>
                <a:latin typeface="raleway" pitchFamily="2" charset="0"/>
              </a:rPr>
              <a:t>License cost</a:t>
            </a:r>
          </a:p>
          <a:p>
            <a:pPr algn="l">
              <a:buFont typeface="Arial" panose="020B0604020202020204" pitchFamily="34" charset="0"/>
              <a:buChar char="•"/>
            </a:pPr>
            <a:r>
              <a:rPr lang="en-US" b="0" i="0" dirty="0">
                <a:solidFill>
                  <a:srgbClr val="43453A"/>
                </a:solidFill>
                <a:effectLst/>
                <a:latin typeface="raleway" pitchFamily="2" charset="0"/>
              </a:rPr>
              <a:t>Administration cost</a:t>
            </a:r>
          </a:p>
          <a:p>
            <a:pPr algn="l">
              <a:buFont typeface="Arial" panose="020B0604020202020204" pitchFamily="34" charset="0"/>
              <a:buChar char="•"/>
            </a:pPr>
            <a:r>
              <a:rPr lang="en-US" b="0" i="0" dirty="0">
                <a:solidFill>
                  <a:srgbClr val="43453A"/>
                </a:solidFill>
                <a:effectLst/>
                <a:latin typeface="raleway" pitchFamily="2" charset="0"/>
              </a:rPr>
              <a:t>Developer productivity</a:t>
            </a:r>
          </a:p>
          <a:p>
            <a:pPr algn="l">
              <a:buFont typeface="Arial" panose="020B0604020202020204" pitchFamily="34" charset="0"/>
              <a:buChar char="•"/>
            </a:pPr>
            <a:r>
              <a:rPr lang="en-US" b="0" i="0" dirty="0">
                <a:solidFill>
                  <a:srgbClr val="43453A"/>
                </a:solidFill>
                <a:effectLst/>
                <a:latin typeface="raleway" pitchFamily="2" charset="0"/>
              </a:rPr>
              <a:t>Security of data</a:t>
            </a:r>
          </a:p>
          <a:p>
            <a:pPr algn="l">
              <a:buFont typeface="Arial" panose="020B0604020202020204" pitchFamily="34" charset="0"/>
              <a:buChar char="•"/>
            </a:pPr>
            <a:r>
              <a:rPr lang="en-US" b="0" i="0" dirty="0">
                <a:solidFill>
                  <a:srgbClr val="43453A"/>
                </a:solidFill>
                <a:effectLst/>
                <a:latin typeface="raleway" pitchFamily="2" charset="0"/>
              </a:rPr>
              <a:t>Training of team</a:t>
            </a:r>
          </a:p>
          <a:p>
            <a:pPr algn="l">
              <a:buFont typeface="Arial" panose="020B0604020202020204" pitchFamily="34" charset="0"/>
              <a:buChar char="•"/>
            </a:pPr>
            <a:r>
              <a:rPr lang="en-US" b="0" i="0" dirty="0">
                <a:solidFill>
                  <a:srgbClr val="43453A"/>
                </a:solidFill>
                <a:effectLst/>
                <a:latin typeface="raleway" pitchFamily="2" charset="0"/>
              </a:rPr>
              <a:t>Total cost of ownership</a:t>
            </a:r>
          </a:p>
          <a:p>
            <a:pPr algn="l">
              <a:buFont typeface="Arial" panose="020B0604020202020204" pitchFamily="34" charset="0"/>
              <a:buChar char="•"/>
            </a:pPr>
            <a:r>
              <a:rPr lang="en-US" b="0" i="0" dirty="0">
                <a:solidFill>
                  <a:srgbClr val="43453A"/>
                </a:solidFill>
                <a:effectLst/>
                <a:latin typeface="raleway" pitchFamily="2" charset="0"/>
              </a:rPr>
              <a:t>Knowledge on all connected tools with application lifecycle management</a:t>
            </a:r>
          </a:p>
          <a:p>
            <a:pPr algn="l">
              <a:buFont typeface="Arial" panose="020B0604020202020204" pitchFamily="34" charset="0"/>
              <a:buChar char="•"/>
            </a:pPr>
            <a:r>
              <a:rPr lang="en-US" b="0" i="0" dirty="0">
                <a:solidFill>
                  <a:srgbClr val="43453A"/>
                </a:solidFill>
                <a:effectLst/>
                <a:latin typeface="raleway" pitchFamily="2" charset="0"/>
              </a:rPr>
              <a:t>Agile adoption policies and CI practices</a:t>
            </a:r>
          </a:p>
          <a:p>
            <a:pPr algn="l">
              <a:buFont typeface="Arial" panose="020B0604020202020204" pitchFamily="34" charset="0"/>
              <a:buChar char="•"/>
            </a:pPr>
            <a:r>
              <a:rPr lang="en-US" b="0" i="0" dirty="0">
                <a:solidFill>
                  <a:srgbClr val="43453A"/>
                </a:solidFill>
                <a:effectLst/>
                <a:latin typeface="raleway" pitchFamily="2" charset="0"/>
              </a:rPr>
              <a:t>Team structure – distributed or co-located?</a:t>
            </a:r>
          </a:p>
          <a:p>
            <a:pPr algn="l">
              <a:buFont typeface="Arial" panose="020B0604020202020204" pitchFamily="34" charset="0"/>
              <a:buChar char="•"/>
            </a:pPr>
            <a:r>
              <a:rPr lang="en-US" b="0" i="0" dirty="0">
                <a:solidFill>
                  <a:srgbClr val="43453A"/>
                </a:solidFill>
                <a:effectLst/>
                <a:latin typeface="raleway" pitchFamily="2" charset="0"/>
              </a:rPr>
              <a:t>File types – Do you have large binary files?</a:t>
            </a:r>
          </a:p>
          <a:p>
            <a:pPr algn="l">
              <a:buFont typeface="Arial" panose="020B0604020202020204" pitchFamily="34" charset="0"/>
              <a:buChar char="•"/>
            </a:pPr>
            <a:r>
              <a:rPr lang="en-US" b="0" i="0" dirty="0">
                <a:solidFill>
                  <a:srgbClr val="43453A"/>
                </a:solidFill>
                <a:effectLst/>
                <a:latin typeface="raleway" pitchFamily="2" charset="0"/>
              </a:rPr>
              <a:t>Need file locks?</a:t>
            </a:r>
          </a:p>
          <a:p>
            <a:pPr algn="l">
              <a:buFont typeface="Arial" panose="020B0604020202020204" pitchFamily="34" charset="0"/>
              <a:buChar char="•"/>
            </a:pPr>
            <a:r>
              <a:rPr lang="en-US" b="0" i="0" dirty="0">
                <a:solidFill>
                  <a:srgbClr val="43453A"/>
                </a:solidFill>
                <a:effectLst/>
                <a:latin typeface="raleway" pitchFamily="2" charset="0"/>
              </a:rPr>
              <a:t>Users have the appropriate permissions to fetch and push</a:t>
            </a:r>
          </a:p>
          <a:p>
            <a:pPr algn="l">
              <a:buFont typeface="Arial" panose="020B0604020202020204" pitchFamily="34" charset="0"/>
              <a:buChar char="•"/>
            </a:pPr>
            <a:r>
              <a:rPr lang="en-US" b="0" i="0" dirty="0">
                <a:solidFill>
                  <a:srgbClr val="43453A"/>
                </a:solidFill>
                <a:effectLst/>
                <a:latin typeface="raleway" pitchFamily="2" charset="0"/>
              </a:rPr>
              <a:t>Builds are successful, and all your tests are passing</a:t>
            </a:r>
          </a:p>
        </p:txBody>
      </p:sp>
    </p:spTree>
    <p:extLst>
      <p:ext uri="{BB962C8B-B14F-4D97-AF65-F5344CB8AC3E}">
        <p14:creationId xmlns:p14="http://schemas.microsoft.com/office/powerpoint/2010/main" val="3768803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0BC2D2-FFAB-4087-B7B8-67BAC851C668}"/>
              </a:ext>
            </a:extLst>
          </p:cNvPr>
          <p:cNvSpPr txBox="1"/>
          <p:nvPr/>
        </p:nvSpPr>
        <p:spPr>
          <a:xfrm>
            <a:off x="3048000" y="616158"/>
            <a:ext cx="6096000" cy="5632311"/>
          </a:xfrm>
          <a:prstGeom prst="rect">
            <a:avLst/>
          </a:prstGeom>
          <a:noFill/>
        </p:spPr>
        <p:txBody>
          <a:bodyPr wrap="square">
            <a:spAutoFit/>
          </a:bodyPr>
          <a:lstStyle/>
          <a:p>
            <a:pPr algn="l"/>
            <a:r>
              <a:rPr lang="en-US" b="1" i="0" dirty="0">
                <a:solidFill>
                  <a:srgbClr val="000000"/>
                </a:solidFill>
                <a:effectLst/>
                <a:latin typeface="raleway" pitchFamily="2" charset="0"/>
              </a:rPr>
              <a:t>Key Considerations or Challenges During Migration</a:t>
            </a:r>
          </a:p>
          <a:p>
            <a:pPr algn="l">
              <a:buFont typeface="Arial" panose="020B0604020202020204" pitchFamily="34" charset="0"/>
              <a:buChar char="•"/>
            </a:pPr>
            <a:r>
              <a:rPr lang="en-US" b="0" i="0" dirty="0">
                <a:solidFill>
                  <a:srgbClr val="43453A"/>
                </a:solidFill>
                <a:effectLst/>
                <a:latin typeface="raleway" pitchFamily="2" charset="0"/>
              </a:rPr>
              <a:t>Test environment</a:t>
            </a:r>
          </a:p>
          <a:p>
            <a:pPr algn="l">
              <a:buFont typeface="Arial" panose="020B0604020202020204" pitchFamily="34" charset="0"/>
              <a:buChar char="•"/>
            </a:pPr>
            <a:r>
              <a:rPr lang="en-US" b="0" i="0" dirty="0">
                <a:solidFill>
                  <a:srgbClr val="43453A"/>
                </a:solidFill>
                <a:effectLst/>
                <a:latin typeface="raleway" pitchFamily="2" charset="0"/>
              </a:rPr>
              <a:t>Capacity planning</a:t>
            </a:r>
          </a:p>
          <a:p>
            <a:pPr algn="l">
              <a:buFont typeface="Arial" panose="020B0604020202020204" pitchFamily="34" charset="0"/>
              <a:buChar char="•"/>
            </a:pPr>
            <a:r>
              <a:rPr lang="en-US" b="0" i="0" dirty="0">
                <a:solidFill>
                  <a:srgbClr val="43453A"/>
                </a:solidFill>
                <a:effectLst/>
                <a:latin typeface="raleway" pitchFamily="2" charset="0"/>
              </a:rPr>
              <a:t>Compute capacity</a:t>
            </a:r>
          </a:p>
          <a:p>
            <a:pPr algn="l">
              <a:buFont typeface="Arial" panose="020B0604020202020204" pitchFamily="34" charset="0"/>
              <a:buChar char="•"/>
            </a:pPr>
            <a:r>
              <a:rPr lang="en-US" b="0" i="0" dirty="0">
                <a:solidFill>
                  <a:srgbClr val="43453A"/>
                </a:solidFill>
                <a:effectLst/>
                <a:latin typeface="raleway" pitchFamily="2" charset="0"/>
              </a:rPr>
              <a:t>Benchmark the current version control system</a:t>
            </a:r>
          </a:p>
          <a:p>
            <a:pPr algn="l">
              <a:buFont typeface="Arial" panose="020B0604020202020204" pitchFamily="34" charset="0"/>
              <a:buChar char="•"/>
            </a:pPr>
            <a:r>
              <a:rPr lang="en-US" b="0" i="0" dirty="0">
                <a:solidFill>
                  <a:srgbClr val="43453A"/>
                </a:solidFill>
                <a:effectLst/>
                <a:latin typeface="raleway" pitchFamily="2" charset="0"/>
              </a:rPr>
              <a:t>Network connectivity</a:t>
            </a:r>
          </a:p>
          <a:p>
            <a:pPr algn="l">
              <a:buFont typeface="Arial" panose="020B0604020202020204" pitchFamily="34" charset="0"/>
              <a:buChar char="•"/>
            </a:pPr>
            <a:r>
              <a:rPr lang="en-US" b="0" i="0" dirty="0">
                <a:solidFill>
                  <a:srgbClr val="43453A"/>
                </a:solidFill>
                <a:effectLst/>
                <a:latin typeface="raleway" pitchFamily="2" charset="0"/>
              </a:rPr>
              <a:t>Access between source and target servers</a:t>
            </a:r>
          </a:p>
          <a:p>
            <a:pPr algn="l">
              <a:buFont typeface="Arial" panose="020B0604020202020204" pitchFamily="34" charset="0"/>
              <a:buChar char="•"/>
            </a:pPr>
            <a:r>
              <a:rPr lang="en-US" b="0" i="0" dirty="0">
                <a:solidFill>
                  <a:srgbClr val="43453A"/>
                </a:solidFill>
                <a:effectLst/>
                <a:latin typeface="raleway" pitchFamily="2" charset="0"/>
              </a:rPr>
              <a:t>Load testing</a:t>
            </a:r>
          </a:p>
          <a:p>
            <a:pPr algn="l">
              <a:buFont typeface="Arial" panose="020B0604020202020204" pitchFamily="34" charset="0"/>
              <a:buChar char="•"/>
            </a:pPr>
            <a:r>
              <a:rPr lang="en-US" b="0" i="0" dirty="0">
                <a:solidFill>
                  <a:srgbClr val="43453A"/>
                </a:solidFill>
                <a:effectLst/>
                <a:latin typeface="raleway" pitchFamily="2" charset="0"/>
              </a:rPr>
              <a:t>Access control</a:t>
            </a:r>
          </a:p>
          <a:p>
            <a:pPr algn="l">
              <a:buFont typeface="Arial" panose="020B0604020202020204" pitchFamily="34" charset="0"/>
              <a:buChar char="•"/>
            </a:pPr>
            <a:r>
              <a:rPr lang="en-US" b="0" i="0" dirty="0">
                <a:solidFill>
                  <a:srgbClr val="43453A"/>
                </a:solidFill>
                <a:effectLst/>
                <a:latin typeface="raleway" pitchFamily="2" charset="0"/>
              </a:rPr>
              <a:t>Aim to migrate over a weekend when nobody needs to check-in</a:t>
            </a:r>
          </a:p>
          <a:p>
            <a:pPr algn="l"/>
            <a:r>
              <a:rPr lang="en-US" b="1" i="0" dirty="0">
                <a:solidFill>
                  <a:srgbClr val="000000"/>
                </a:solidFill>
                <a:effectLst/>
                <a:latin typeface="raleway" pitchFamily="2" charset="0"/>
              </a:rPr>
              <a:t>Key Considerations During Post-Migration</a:t>
            </a:r>
            <a:br>
              <a:rPr lang="en-US" b="1" i="0" dirty="0">
                <a:solidFill>
                  <a:srgbClr val="000000"/>
                </a:solidFill>
                <a:effectLst/>
                <a:latin typeface="raleway" pitchFamily="2" charset="0"/>
              </a:rPr>
            </a:br>
            <a:endParaRPr lang="en-US" b="1" i="0" dirty="0">
              <a:solidFill>
                <a:srgbClr val="000000"/>
              </a:solidFill>
              <a:effectLst/>
              <a:latin typeface="raleway" pitchFamily="2" charset="0"/>
            </a:endParaRPr>
          </a:p>
          <a:p>
            <a:pPr algn="l">
              <a:buFont typeface="Arial" panose="020B0604020202020204" pitchFamily="34" charset="0"/>
              <a:buChar char="•"/>
            </a:pPr>
            <a:r>
              <a:rPr lang="en-US" b="0" i="0" dirty="0">
                <a:solidFill>
                  <a:srgbClr val="43453A"/>
                </a:solidFill>
                <a:effectLst/>
                <a:latin typeface="raleway" pitchFamily="2" charset="0"/>
              </a:rPr>
              <a:t>Data integrity verification</a:t>
            </a:r>
          </a:p>
          <a:p>
            <a:pPr algn="l">
              <a:buFont typeface="Arial" panose="020B0604020202020204" pitchFamily="34" charset="0"/>
              <a:buChar char="•"/>
            </a:pPr>
            <a:r>
              <a:rPr lang="en-US" b="0" i="0" dirty="0">
                <a:solidFill>
                  <a:srgbClr val="43453A"/>
                </a:solidFill>
                <a:effectLst/>
                <a:latin typeface="raleway" pitchFamily="2" charset="0"/>
              </a:rPr>
              <a:t>Data size check</a:t>
            </a:r>
          </a:p>
          <a:p>
            <a:pPr algn="l">
              <a:buFont typeface="Arial" panose="020B0604020202020204" pitchFamily="34" charset="0"/>
              <a:buChar char="•"/>
            </a:pPr>
            <a:r>
              <a:rPr lang="en-US" b="0" i="0" dirty="0">
                <a:solidFill>
                  <a:srgbClr val="43453A"/>
                </a:solidFill>
                <a:effectLst/>
                <a:latin typeface="raleway" pitchFamily="2" charset="0"/>
              </a:rPr>
              <a:t>Automated acceptance testing and reporting</a:t>
            </a:r>
          </a:p>
          <a:p>
            <a:pPr algn="l">
              <a:buFont typeface="Arial" panose="020B0604020202020204" pitchFamily="34" charset="0"/>
              <a:buChar char="•"/>
            </a:pPr>
            <a:r>
              <a:rPr lang="en-US" b="0" i="0" dirty="0">
                <a:solidFill>
                  <a:srgbClr val="43453A"/>
                </a:solidFill>
                <a:effectLst/>
                <a:latin typeface="raleway" pitchFamily="2" charset="0"/>
              </a:rPr>
              <a:t>Dependencies are intact and build doesn’t break</a:t>
            </a:r>
          </a:p>
          <a:p>
            <a:pPr algn="l">
              <a:buFont typeface="Arial" panose="020B0604020202020204" pitchFamily="34" charset="0"/>
              <a:buChar char="•"/>
            </a:pPr>
            <a:r>
              <a:rPr lang="en-US" b="0" i="0" dirty="0">
                <a:solidFill>
                  <a:srgbClr val="43453A"/>
                </a:solidFill>
                <a:effectLst/>
                <a:latin typeface="raleway" pitchFamily="2" charset="0"/>
              </a:rPr>
              <a:t>Link between files and folders is not broken</a:t>
            </a:r>
          </a:p>
          <a:p>
            <a:pPr algn="l">
              <a:buFont typeface="Arial" panose="020B0604020202020204" pitchFamily="34" charset="0"/>
              <a:buChar char="•"/>
            </a:pPr>
            <a:r>
              <a:rPr lang="en-US" b="0" i="0" dirty="0">
                <a:solidFill>
                  <a:srgbClr val="43453A"/>
                </a:solidFill>
                <a:effectLst/>
                <a:latin typeface="raleway" pitchFamily="2" charset="0"/>
              </a:rPr>
              <a:t>Load testing</a:t>
            </a:r>
          </a:p>
          <a:p>
            <a:pPr algn="l">
              <a:buFont typeface="Arial" panose="020B0604020202020204" pitchFamily="34" charset="0"/>
              <a:buChar char="•"/>
            </a:pPr>
            <a:r>
              <a:rPr lang="en-US" b="0" i="0" dirty="0">
                <a:solidFill>
                  <a:srgbClr val="43453A"/>
                </a:solidFill>
                <a:effectLst/>
                <a:latin typeface="raleway" pitchFamily="2" charset="0"/>
              </a:rPr>
              <a:t>Backup and sync jobs</a:t>
            </a:r>
          </a:p>
        </p:txBody>
      </p:sp>
    </p:spTree>
    <p:extLst>
      <p:ext uri="{BB962C8B-B14F-4D97-AF65-F5344CB8AC3E}">
        <p14:creationId xmlns:p14="http://schemas.microsoft.com/office/powerpoint/2010/main" val="27358461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BD70CA-8AF5-48AE-B114-5687E22D9AFD}"/>
              </a:ext>
            </a:extLst>
          </p:cNvPr>
          <p:cNvSpPr txBox="1"/>
          <p:nvPr/>
        </p:nvSpPr>
        <p:spPr>
          <a:xfrm>
            <a:off x="3048000" y="1170156"/>
            <a:ext cx="6096000" cy="4524315"/>
          </a:xfrm>
          <a:prstGeom prst="rect">
            <a:avLst/>
          </a:prstGeom>
          <a:noFill/>
        </p:spPr>
        <p:txBody>
          <a:bodyPr wrap="square">
            <a:spAutoFit/>
          </a:bodyPr>
          <a:lstStyle/>
          <a:p>
            <a:pPr algn="l"/>
            <a:r>
              <a:rPr lang="en-US" b="0" i="0" dirty="0">
                <a:solidFill>
                  <a:srgbClr val="000000"/>
                </a:solidFill>
                <a:effectLst/>
                <a:latin typeface="raleway" pitchFamily="2" charset="0"/>
              </a:rPr>
              <a:t>Moving to Distributed Version Control from Centralized Version Control</a:t>
            </a:r>
          </a:p>
          <a:p>
            <a:pPr algn="l"/>
            <a:r>
              <a:rPr lang="en-US" b="0" i="0" dirty="0">
                <a:solidFill>
                  <a:srgbClr val="43453A"/>
                </a:solidFill>
                <a:effectLst/>
                <a:latin typeface="raleway" pitchFamily="2" charset="0"/>
              </a:rPr>
              <a:t>When migrating code from a centralized version control system such as Apache Subversion (SVN) to a distributed version control such as GIT, here are the steps to take:</a:t>
            </a:r>
          </a:p>
          <a:p>
            <a:pPr algn="l">
              <a:buFont typeface="Arial" panose="020B0604020202020204" pitchFamily="34" charset="0"/>
              <a:buChar char="•"/>
            </a:pPr>
            <a:r>
              <a:rPr lang="en-US" b="0" i="0" dirty="0">
                <a:solidFill>
                  <a:srgbClr val="43453A"/>
                </a:solidFill>
                <a:effectLst/>
                <a:latin typeface="raleway" pitchFamily="2" charset="0"/>
              </a:rPr>
              <a:t>Evaluate the tools and methods you’re planning to utilize</a:t>
            </a:r>
          </a:p>
          <a:p>
            <a:pPr marL="742950" lvl="1" indent="-285750" algn="l">
              <a:buFont typeface="Arial" panose="020B0604020202020204" pitchFamily="34" charset="0"/>
              <a:buChar char="•"/>
            </a:pPr>
            <a:r>
              <a:rPr lang="en-US" b="0" i="0" dirty="0">
                <a:solidFill>
                  <a:srgbClr val="43453A"/>
                </a:solidFill>
                <a:effectLst/>
                <a:latin typeface="raleway" pitchFamily="2" charset="0"/>
              </a:rPr>
              <a:t>Build and test</a:t>
            </a:r>
          </a:p>
          <a:p>
            <a:pPr marL="742950" lvl="1" indent="-285750" algn="l">
              <a:buFont typeface="Arial" panose="020B0604020202020204" pitchFamily="34" charset="0"/>
              <a:buChar char="•"/>
            </a:pPr>
            <a:r>
              <a:rPr lang="en-US" b="0" i="0" dirty="0">
                <a:solidFill>
                  <a:srgbClr val="43453A"/>
                </a:solidFill>
                <a:effectLst/>
                <a:latin typeface="raleway" pitchFamily="2" charset="0"/>
              </a:rPr>
              <a:t>Code reviews</a:t>
            </a:r>
          </a:p>
          <a:p>
            <a:pPr marL="742950" lvl="1" indent="-285750" algn="l">
              <a:buFont typeface="Arial" panose="020B0604020202020204" pitchFamily="34" charset="0"/>
              <a:buChar char="•"/>
            </a:pPr>
            <a:r>
              <a:rPr lang="en-US" b="0" i="0" dirty="0">
                <a:solidFill>
                  <a:srgbClr val="43453A"/>
                </a:solidFill>
                <a:effectLst/>
                <a:latin typeface="raleway" pitchFamily="2" charset="0"/>
              </a:rPr>
              <a:t>Release management</a:t>
            </a:r>
          </a:p>
          <a:p>
            <a:pPr algn="l">
              <a:buFont typeface="Arial" panose="020B0604020202020204" pitchFamily="34" charset="0"/>
              <a:buChar char="•"/>
            </a:pPr>
            <a:r>
              <a:rPr lang="en-US" b="0" i="0" dirty="0">
                <a:solidFill>
                  <a:srgbClr val="43453A"/>
                </a:solidFill>
                <a:effectLst/>
                <a:latin typeface="raleway" pitchFamily="2" charset="0"/>
              </a:rPr>
              <a:t>Select a branching strategy for GIT</a:t>
            </a:r>
          </a:p>
          <a:p>
            <a:pPr marL="742950" lvl="1" indent="-285750" algn="l">
              <a:buFont typeface="Arial" panose="020B0604020202020204" pitchFamily="34" charset="0"/>
              <a:buChar char="•"/>
            </a:pPr>
            <a:r>
              <a:rPr lang="en-US" b="0" i="0" dirty="0">
                <a:solidFill>
                  <a:srgbClr val="43453A"/>
                </a:solidFill>
                <a:effectLst/>
                <a:latin typeface="raleway" pitchFamily="2" charset="0"/>
              </a:rPr>
              <a:t>long-lived feature branch</a:t>
            </a:r>
          </a:p>
          <a:p>
            <a:pPr marL="742950" lvl="1" indent="-285750" algn="l">
              <a:buFont typeface="Arial" panose="020B0604020202020204" pitchFamily="34" charset="0"/>
              <a:buChar char="•"/>
            </a:pPr>
            <a:r>
              <a:rPr lang="en-US" b="0" i="0" dirty="0">
                <a:solidFill>
                  <a:srgbClr val="43453A"/>
                </a:solidFill>
                <a:effectLst/>
                <a:latin typeface="raleway" pitchFamily="2" charset="0"/>
              </a:rPr>
              <a:t>Short-lived feature branch</a:t>
            </a:r>
          </a:p>
          <a:p>
            <a:pPr marL="742950" lvl="1" indent="-285750" algn="l">
              <a:buFont typeface="Arial" panose="020B0604020202020204" pitchFamily="34" charset="0"/>
              <a:buChar char="•"/>
            </a:pPr>
            <a:r>
              <a:rPr lang="en-US" b="0" i="0" dirty="0">
                <a:solidFill>
                  <a:srgbClr val="43453A"/>
                </a:solidFill>
                <a:effectLst/>
                <a:latin typeface="raleway" pitchFamily="2" charset="0"/>
              </a:rPr>
              <a:t>Bug fix branch</a:t>
            </a:r>
          </a:p>
          <a:p>
            <a:pPr marL="742950" lvl="1" indent="-285750" algn="l">
              <a:buFont typeface="Arial" panose="020B0604020202020204" pitchFamily="34" charset="0"/>
              <a:buChar char="•"/>
            </a:pPr>
            <a:r>
              <a:rPr lang="en-US" b="0" i="0" dirty="0">
                <a:solidFill>
                  <a:srgbClr val="43453A"/>
                </a:solidFill>
                <a:effectLst/>
                <a:latin typeface="raleway" pitchFamily="2" charset="0"/>
              </a:rPr>
              <a:t>Dev branch</a:t>
            </a:r>
          </a:p>
        </p:txBody>
      </p:sp>
    </p:spTree>
    <p:extLst>
      <p:ext uri="{BB962C8B-B14F-4D97-AF65-F5344CB8AC3E}">
        <p14:creationId xmlns:p14="http://schemas.microsoft.com/office/powerpoint/2010/main" val="24811206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8069F4-BFC6-43EB-9740-6B73E308209F}"/>
              </a:ext>
            </a:extLst>
          </p:cNvPr>
          <p:cNvSpPr txBox="1"/>
          <p:nvPr/>
        </p:nvSpPr>
        <p:spPr>
          <a:xfrm>
            <a:off x="450574" y="172278"/>
            <a:ext cx="11582400" cy="5909310"/>
          </a:xfrm>
          <a:prstGeom prst="rect">
            <a:avLst/>
          </a:prstGeom>
          <a:noFill/>
        </p:spPr>
        <p:txBody>
          <a:bodyPr wrap="square">
            <a:spAutoFit/>
          </a:bodyPr>
          <a:lstStyle/>
          <a:p>
            <a:pPr algn="l">
              <a:buFont typeface="Arial" panose="020B0604020202020204" pitchFamily="34" charset="0"/>
              <a:buChar char="•"/>
            </a:pPr>
            <a:r>
              <a:rPr lang="en-US" b="0" i="0" dirty="0">
                <a:solidFill>
                  <a:srgbClr val="43453A"/>
                </a:solidFill>
                <a:effectLst/>
                <a:latin typeface="raleway" pitchFamily="2" charset="0"/>
              </a:rPr>
              <a:t>Decide whether you want to migrate history; if yes, then determine how you will achieve this—you may need another third-party tool to resolve your task.</a:t>
            </a:r>
          </a:p>
          <a:p>
            <a:pPr marL="742950" lvl="1" indent="-285750" algn="l">
              <a:buFont typeface="Arial" panose="020B0604020202020204" pitchFamily="34" charset="0"/>
              <a:buChar char="•"/>
            </a:pPr>
            <a:r>
              <a:rPr lang="en-US" b="0" i="0" dirty="0">
                <a:solidFill>
                  <a:srgbClr val="43453A"/>
                </a:solidFill>
                <a:effectLst/>
                <a:latin typeface="raleway" pitchFamily="2" charset="0"/>
              </a:rPr>
              <a:t>There are many tools available in market that can migrate a whole history of all branches from a centralized tool to GIT.</a:t>
            </a:r>
          </a:p>
          <a:p>
            <a:pPr marL="742950" lvl="1" indent="-285750" algn="l">
              <a:buFont typeface="Arial" panose="020B0604020202020204" pitchFamily="34" charset="0"/>
              <a:buChar char="•"/>
            </a:pPr>
            <a:r>
              <a:rPr lang="en-US" b="0" i="0" dirty="0">
                <a:solidFill>
                  <a:srgbClr val="43453A"/>
                </a:solidFill>
                <a:effectLst/>
                <a:latin typeface="raleway" pitchFamily="2" charset="0"/>
              </a:rPr>
              <a:t>Almost all version control systems collect how files change between versions, including rename, merge and rollback. GIT version control tool stores versions as a snapshot of the entire repository.</a:t>
            </a:r>
          </a:p>
          <a:p>
            <a:pPr algn="l">
              <a:buFont typeface="Arial" panose="020B0604020202020204" pitchFamily="34" charset="0"/>
              <a:buChar char="•"/>
            </a:pPr>
            <a:r>
              <a:rPr lang="en-US" b="0" i="0" dirty="0">
                <a:solidFill>
                  <a:srgbClr val="43453A"/>
                </a:solidFill>
                <a:effectLst/>
                <a:latin typeface="raleway" pitchFamily="2" charset="0"/>
              </a:rPr>
              <a:t>Retain your old version control system for a set time after migration.</a:t>
            </a:r>
          </a:p>
          <a:p>
            <a:pPr marL="742950" lvl="1" indent="-285750" algn="l">
              <a:buFont typeface="Arial" panose="020B0604020202020204" pitchFamily="34" charset="0"/>
              <a:buChar char="•"/>
            </a:pPr>
            <a:r>
              <a:rPr lang="en-US" b="0" i="0" dirty="0">
                <a:solidFill>
                  <a:srgbClr val="43453A"/>
                </a:solidFill>
                <a:effectLst/>
                <a:latin typeface="raleway" pitchFamily="2" charset="0"/>
              </a:rPr>
              <a:t>During and after a migration, developers sometimes need access to the history in the old version control system, so you can’t just shut the old system down once you’ve migrated.</a:t>
            </a:r>
          </a:p>
          <a:p>
            <a:pPr marL="742950" lvl="1" indent="-285750" algn="l">
              <a:buFont typeface="Arial" panose="020B0604020202020204" pitchFamily="34" charset="0"/>
              <a:buChar char="•"/>
            </a:pPr>
            <a:r>
              <a:rPr lang="en-US" b="0" i="0" dirty="0">
                <a:solidFill>
                  <a:srgbClr val="43453A"/>
                </a:solidFill>
                <a:effectLst/>
                <a:latin typeface="raleway" pitchFamily="2" charset="0"/>
              </a:rPr>
              <a:t>There should be some text file committed in GIT which should explain how/when the GIT branches were migrated from the old system and what all branches are migrated.</a:t>
            </a:r>
          </a:p>
          <a:p>
            <a:pPr algn="l">
              <a:buFont typeface="Arial" panose="020B0604020202020204" pitchFamily="34" charset="0"/>
              <a:buChar char="•"/>
            </a:pPr>
            <a:r>
              <a:rPr lang="en-US" b="0" i="0" dirty="0">
                <a:solidFill>
                  <a:srgbClr val="43453A"/>
                </a:solidFill>
                <a:effectLst/>
                <a:latin typeface="raleway" pitchFamily="2" charset="0"/>
              </a:rPr>
              <a:t>Remove binaries and executables from source control.</a:t>
            </a:r>
          </a:p>
          <a:p>
            <a:pPr marL="742950" lvl="1" indent="-285750" algn="l">
              <a:buFont typeface="Arial" panose="020B0604020202020204" pitchFamily="34" charset="0"/>
              <a:buChar char="•"/>
            </a:pPr>
            <a:r>
              <a:rPr lang="en-US" b="0" i="0" dirty="0">
                <a:solidFill>
                  <a:srgbClr val="43453A"/>
                </a:solidFill>
                <a:effectLst/>
                <a:latin typeface="raleway" pitchFamily="2" charset="0"/>
              </a:rPr>
              <a:t>You should avoid commit large binary files to a repository. Once they’ve been committed to a repository, they will remain in the repository history and in every upcoming clone.</a:t>
            </a:r>
          </a:p>
          <a:p>
            <a:pPr marL="742950" lvl="1" indent="-285750" algn="l">
              <a:buFont typeface="Arial" panose="020B0604020202020204" pitchFamily="34" charset="0"/>
              <a:buChar char="•"/>
            </a:pPr>
            <a:r>
              <a:rPr lang="en-US" b="0" i="0" dirty="0">
                <a:solidFill>
                  <a:srgbClr val="43453A"/>
                </a:solidFill>
                <a:effectLst/>
                <a:latin typeface="raleway" pitchFamily="2" charset="0"/>
              </a:rPr>
              <a:t>Migrating to Git provides you the opportunity to remove these binaries from your codebase and instead use a package management system.</a:t>
            </a:r>
          </a:p>
          <a:p>
            <a:pPr algn="l">
              <a:buFont typeface="Arial" panose="020B0604020202020204" pitchFamily="34" charset="0"/>
              <a:buChar char="•"/>
            </a:pPr>
            <a:r>
              <a:rPr lang="en-US" b="0" i="0" dirty="0">
                <a:solidFill>
                  <a:srgbClr val="43453A"/>
                </a:solidFill>
                <a:effectLst/>
                <a:latin typeface="raleway" pitchFamily="2" charset="0"/>
              </a:rPr>
              <a:t>Give knowledge transfer to your team in the concepts and practice used in GIT.</a:t>
            </a:r>
          </a:p>
          <a:p>
            <a:pPr marL="742950" lvl="1" indent="-285750" algn="l">
              <a:buFont typeface="Arial" panose="020B0604020202020204" pitchFamily="34" charset="0"/>
              <a:buChar char="•"/>
            </a:pPr>
            <a:r>
              <a:rPr lang="en-US" b="0" i="0" dirty="0">
                <a:solidFill>
                  <a:srgbClr val="43453A"/>
                </a:solidFill>
                <a:effectLst/>
                <a:latin typeface="raleway" pitchFamily="2" charset="0"/>
              </a:rPr>
              <a:t>It is mandatory for developers to understand how Git stores change and how commits form a history of development and how all things work in GIT.</a:t>
            </a:r>
          </a:p>
          <a:p>
            <a:pPr marL="742950" lvl="1" indent="-285750" algn="l">
              <a:buFont typeface="Arial" panose="020B0604020202020204" pitchFamily="34" charset="0"/>
              <a:buChar char="•"/>
            </a:pPr>
            <a:r>
              <a:rPr lang="en-US" b="0" i="0" dirty="0">
                <a:solidFill>
                  <a:srgbClr val="43453A"/>
                </a:solidFill>
                <a:effectLst/>
                <a:latin typeface="raleway" pitchFamily="2" charset="0"/>
              </a:rPr>
              <a:t>Identify training materials.</a:t>
            </a:r>
          </a:p>
          <a:p>
            <a:pPr algn="l">
              <a:buFont typeface="Arial" panose="020B0604020202020204" pitchFamily="34" charset="0"/>
              <a:buChar char="•"/>
            </a:pPr>
            <a:r>
              <a:rPr lang="en-US" b="0" i="0" dirty="0">
                <a:solidFill>
                  <a:srgbClr val="43453A"/>
                </a:solidFill>
                <a:effectLst/>
                <a:latin typeface="raleway" pitchFamily="2" charset="0"/>
              </a:rPr>
              <a:t>Perform the actual migration to GIT.</a:t>
            </a:r>
          </a:p>
        </p:txBody>
      </p:sp>
    </p:spTree>
    <p:extLst>
      <p:ext uri="{BB962C8B-B14F-4D97-AF65-F5344CB8AC3E}">
        <p14:creationId xmlns:p14="http://schemas.microsoft.com/office/powerpoint/2010/main" val="12161421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TotalTime>
  <Words>2665</Words>
  <Application>Microsoft Office PowerPoint</Application>
  <PresentationFormat>Widescreen</PresentationFormat>
  <Paragraphs>165</Paragraphs>
  <Slides>24</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24</vt:i4>
      </vt:variant>
    </vt:vector>
  </HeadingPairs>
  <TitlesOfParts>
    <vt:vector size="37" baseType="lpstr">
      <vt:lpstr>Agrandir-Medium</vt:lpstr>
      <vt:lpstr>Arial</vt:lpstr>
      <vt:lpstr>Calibri</vt:lpstr>
      <vt:lpstr>Calibri Light</vt:lpstr>
      <vt:lpstr>Helvetica Neue</vt:lpstr>
      <vt:lpstr>inherit</vt:lpstr>
      <vt:lpstr>Open Sans</vt:lpstr>
      <vt:lpstr>Poppins</vt:lpstr>
      <vt:lpstr>raleway</vt:lpstr>
      <vt:lpstr>Times New Roman</vt:lpstr>
      <vt:lpstr>urw-din</vt:lpstr>
      <vt:lpstr>Wingdings</vt:lpstr>
      <vt:lpstr>Office Theme</vt:lpstr>
      <vt:lpstr>UNIT – 3 Introduction to project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CHARAN THOTA</dc:creator>
  <cp:lastModifiedBy>SAI CHARAN THOTA</cp:lastModifiedBy>
  <cp:revision>14</cp:revision>
  <dcterms:created xsi:type="dcterms:W3CDTF">2021-09-11T04:36:02Z</dcterms:created>
  <dcterms:modified xsi:type="dcterms:W3CDTF">2021-09-21T06:14:04Z</dcterms:modified>
</cp:coreProperties>
</file>