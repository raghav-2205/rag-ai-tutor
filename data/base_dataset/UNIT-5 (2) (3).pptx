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1"/>
  </p:notesMasterIdLst>
  <p:sldIdLst>
    <p:sldId id="256" r:id="rId2"/>
    <p:sldId id="306" r:id="rId3"/>
    <p:sldId id="341" r:id="rId4"/>
    <p:sldId id="259" r:id="rId5"/>
    <p:sldId id="343" r:id="rId6"/>
    <p:sldId id="346" r:id="rId7"/>
    <p:sldId id="344" r:id="rId8"/>
    <p:sldId id="345" r:id="rId9"/>
    <p:sldId id="342" r:id="rId10"/>
    <p:sldId id="307" r:id="rId11"/>
    <p:sldId id="349" r:id="rId12"/>
    <p:sldId id="261" r:id="rId13"/>
    <p:sldId id="348" r:id="rId14"/>
    <p:sldId id="351" r:id="rId15"/>
    <p:sldId id="262" r:id="rId16"/>
    <p:sldId id="347" r:id="rId17"/>
    <p:sldId id="265" r:id="rId18"/>
    <p:sldId id="308" r:id="rId19"/>
    <p:sldId id="263" r:id="rId20"/>
    <p:sldId id="267" r:id="rId21"/>
    <p:sldId id="271" r:id="rId22"/>
    <p:sldId id="319" r:id="rId23"/>
    <p:sldId id="340" r:id="rId24"/>
    <p:sldId id="320" r:id="rId25"/>
    <p:sldId id="352" r:id="rId26"/>
    <p:sldId id="353" r:id="rId27"/>
    <p:sldId id="321" r:id="rId28"/>
    <p:sldId id="354" r:id="rId29"/>
    <p:sldId id="272" r:id="rId30"/>
    <p:sldId id="355" r:id="rId31"/>
    <p:sldId id="356" r:id="rId32"/>
    <p:sldId id="357" r:id="rId33"/>
    <p:sldId id="358" r:id="rId34"/>
    <p:sldId id="322" r:id="rId35"/>
    <p:sldId id="359" r:id="rId36"/>
    <p:sldId id="325" r:id="rId37"/>
    <p:sldId id="323" r:id="rId38"/>
    <p:sldId id="324" r:id="rId39"/>
    <p:sldId id="286" r:id="rId40"/>
    <p:sldId id="285" r:id="rId41"/>
    <p:sldId id="326" r:id="rId42"/>
    <p:sldId id="281" r:id="rId43"/>
    <p:sldId id="360" r:id="rId44"/>
    <p:sldId id="361" r:id="rId45"/>
    <p:sldId id="473" r:id="rId46"/>
    <p:sldId id="488" r:id="rId47"/>
    <p:sldId id="400" r:id="rId48"/>
    <p:sldId id="401" r:id="rId49"/>
    <p:sldId id="402" r:id="rId50"/>
    <p:sldId id="363" r:id="rId51"/>
    <p:sldId id="365" r:id="rId52"/>
    <p:sldId id="366" r:id="rId53"/>
    <p:sldId id="373" r:id="rId54"/>
    <p:sldId id="374" r:id="rId55"/>
    <p:sldId id="369" r:id="rId56"/>
    <p:sldId id="370" r:id="rId57"/>
    <p:sldId id="371" r:id="rId58"/>
    <p:sldId id="383" r:id="rId59"/>
    <p:sldId id="377" r:id="rId60"/>
    <p:sldId id="384" r:id="rId61"/>
    <p:sldId id="390" r:id="rId62"/>
    <p:sldId id="391" r:id="rId63"/>
    <p:sldId id="394" r:id="rId64"/>
    <p:sldId id="397" r:id="rId65"/>
    <p:sldId id="398" r:id="rId66"/>
    <p:sldId id="399" r:id="rId67"/>
    <p:sldId id="474" r:id="rId68"/>
    <p:sldId id="475" r:id="rId69"/>
    <p:sldId id="476" r:id="rId70"/>
    <p:sldId id="477" r:id="rId71"/>
    <p:sldId id="478" r:id="rId72"/>
    <p:sldId id="479" r:id="rId73"/>
    <p:sldId id="480" r:id="rId74"/>
    <p:sldId id="350" r:id="rId75"/>
    <p:sldId id="472" r:id="rId76"/>
    <p:sldId id="481" r:id="rId77"/>
    <p:sldId id="482" r:id="rId78"/>
    <p:sldId id="483" r:id="rId79"/>
    <p:sldId id="484" r:id="rId80"/>
    <p:sldId id="485" r:id="rId81"/>
    <p:sldId id="486" r:id="rId82"/>
    <p:sldId id="411" r:id="rId83"/>
    <p:sldId id="490" r:id="rId84"/>
    <p:sldId id="412" r:id="rId85"/>
    <p:sldId id="438" r:id="rId86"/>
    <p:sldId id="425" r:id="rId87"/>
    <p:sldId id="491" r:id="rId88"/>
    <p:sldId id="416" r:id="rId89"/>
    <p:sldId id="426" r:id="rId90"/>
    <p:sldId id="443" r:id="rId91"/>
    <p:sldId id="444" r:id="rId92"/>
    <p:sldId id="459" r:id="rId93"/>
    <p:sldId id="493" r:id="rId94"/>
    <p:sldId id="492" r:id="rId95"/>
    <p:sldId id="470" r:id="rId96"/>
    <p:sldId id="471" r:id="rId97"/>
    <p:sldId id="468" r:id="rId98"/>
    <p:sldId id="465" r:id="rId99"/>
    <p:sldId id="452" r:id="rId10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2" autoAdjust="0"/>
    <p:restoredTop sz="94434" autoAdjust="0"/>
  </p:normalViewPr>
  <p:slideViewPr>
    <p:cSldViewPr snapToGrid="0">
      <p:cViewPr varScale="1">
        <p:scale>
          <a:sx n="68" d="100"/>
          <a:sy n="68" d="100"/>
        </p:scale>
        <p:origin x="78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73C46E-52DB-4E48-94C4-72583C8A4B64}" type="datetimeFigureOut">
              <a:rPr lang="en-SG" smtClean="0"/>
              <a:t>4/12/2021</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94A674-EF39-4B9B-8802-078691CDEA70}" type="slidenum">
              <a:rPr lang="en-SG" smtClean="0"/>
              <a:t>‹#›</a:t>
            </a:fld>
            <a:endParaRPr lang="en-SG"/>
          </a:p>
        </p:txBody>
      </p:sp>
    </p:spTree>
    <p:extLst>
      <p:ext uri="{BB962C8B-B14F-4D97-AF65-F5344CB8AC3E}">
        <p14:creationId xmlns:p14="http://schemas.microsoft.com/office/powerpoint/2010/main" val="35439084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FCFA6A48-284C-49B4-B9A7-D28AACD4D204}" type="slidenum">
              <a:rPr lang="en-IN" smtClean="0"/>
              <a:t>67</a:t>
            </a:fld>
            <a:endParaRPr lang="en-IN"/>
          </a:p>
        </p:txBody>
      </p:sp>
    </p:spTree>
    <p:extLst>
      <p:ext uri="{BB962C8B-B14F-4D97-AF65-F5344CB8AC3E}">
        <p14:creationId xmlns:p14="http://schemas.microsoft.com/office/powerpoint/2010/main" val="21851674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FCFA6A48-284C-49B4-B9A7-D28AACD4D204}" type="slidenum">
              <a:rPr lang="en-IN" smtClean="0"/>
              <a:t>76</a:t>
            </a:fld>
            <a:endParaRPr lang="en-IN"/>
          </a:p>
        </p:txBody>
      </p:sp>
    </p:spTree>
    <p:extLst>
      <p:ext uri="{BB962C8B-B14F-4D97-AF65-F5344CB8AC3E}">
        <p14:creationId xmlns:p14="http://schemas.microsoft.com/office/powerpoint/2010/main" val="159593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12/4/2021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001249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40206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965547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12/4/2021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375149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12/4/2021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12943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12/4/2021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558084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12/4/2021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454063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300537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585876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6825600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435286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12/4/2021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35973008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en.wikipedia.org/wiki/Computer_network" TargetMode="External"/><Relationship Id="rId2" Type="http://schemas.openxmlformats.org/officeDocument/2006/relationships/hyperlink" Target="https://en.wikipedia.org/wiki/Time_series" TargetMode="External"/><Relationship Id="rId1" Type="http://schemas.openxmlformats.org/officeDocument/2006/relationships/slideLayout" Target="../slideLayouts/slideLayout7.xml"/><Relationship Id="rId6" Type="http://schemas.openxmlformats.org/officeDocument/2006/relationships/hyperlink" Target="https://en.wikipedia.org/wiki/Central_processing_unit" TargetMode="External"/><Relationship Id="rId5" Type="http://schemas.openxmlformats.org/officeDocument/2006/relationships/hyperlink" Target="https://en.wikipedia.org/wiki/Temperature" TargetMode="External"/><Relationship Id="rId4" Type="http://schemas.openxmlformats.org/officeDocument/2006/relationships/hyperlink" Target="https://en.wikipedia.org/wiki/Bandwidth_(computing)"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hyperlink" Target="https://en.wikipedia.org/wiki/Kanban_(development)" TargetMode="Externa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hyperlink" Target="http://docs.gitlab.com/ee/user/project/labels.html" TargetMode="Externa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9853" y="1122363"/>
            <a:ext cx="11088709" cy="2387600"/>
          </a:xfrm>
        </p:spPr>
        <p:txBody>
          <a:bodyPr>
            <a:normAutofit/>
          </a:bodyPr>
          <a:lstStyle/>
          <a:p>
            <a:r>
              <a:rPr lang="en-US" sz="4000" b="1" dirty="0">
                <a:latin typeface="Times New Roman" panose="02020603050405020304" pitchFamily="18" charset="0"/>
                <a:cs typeface="Times New Roman" panose="02020603050405020304" pitchFamily="18" charset="0"/>
              </a:rPr>
              <a:t>UNIT-5</a:t>
            </a:r>
            <a:br>
              <a:rPr lang="en-US" dirty="0"/>
            </a:br>
            <a:r>
              <a:rPr lang="en-IN" sz="4000" b="1" dirty="0">
                <a:latin typeface="Times New Roman" panose="02020603050405020304" pitchFamily="18" charset="0"/>
                <a:cs typeface="Times New Roman" panose="02020603050405020304" pitchFamily="18" charset="0"/>
              </a:rPr>
              <a:t>Code monitoring and Issue Tracking</a:t>
            </a:r>
            <a:endParaRPr lang="en-US"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2013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42983"/>
          </a:xfrm>
        </p:spPr>
        <p:txBody>
          <a:bodyPr>
            <a:normAutofit/>
          </a:bodyPr>
          <a:lstStyle/>
          <a:p>
            <a:r>
              <a:rPr lang="en-IN" sz="4000" b="1" i="1" dirty="0">
                <a:solidFill>
                  <a:srgbClr val="FF0000"/>
                </a:solidFill>
                <a:latin typeface="Times New Roman" panose="02020603050405020304" pitchFamily="18" charset="0"/>
                <a:cs typeface="Times New Roman" panose="02020603050405020304" pitchFamily="18" charset="0"/>
              </a:rPr>
              <a:t>Code monitoring tools:</a:t>
            </a:r>
          </a:p>
        </p:txBody>
      </p:sp>
      <p:sp>
        <p:nvSpPr>
          <p:cNvPr id="3" name="Content Placeholder 2"/>
          <p:cNvSpPr>
            <a:spLocks noGrp="1"/>
          </p:cNvSpPr>
          <p:nvPr>
            <p:ph idx="1"/>
          </p:nvPr>
        </p:nvSpPr>
        <p:spPr>
          <a:xfrm>
            <a:off x="0" y="642983"/>
            <a:ext cx="12192000" cy="6215016"/>
          </a:xfrm>
        </p:spPr>
        <p:txBody>
          <a:bodyPr>
            <a:noAutofit/>
          </a:bodyPr>
          <a:lstStyle/>
          <a:p>
            <a:pPr algn="just">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What is Continuous  code Monitoring?</a:t>
            </a:r>
          </a:p>
          <a:p>
            <a:pPr marL="0" indent="0" algn="just">
              <a:buNone/>
            </a:pPr>
            <a:endParaRPr lang="en-IN" sz="2400" b="1"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Continuous  code Monitoring is all about the </a:t>
            </a:r>
            <a:r>
              <a:rPr lang="en-IN" sz="2400" dirty="0">
                <a:solidFill>
                  <a:srgbClr val="FF0000"/>
                </a:solidFill>
                <a:latin typeface="Times New Roman" panose="02020603050405020304" pitchFamily="18" charset="0"/>
                <a:cs typeface="Times New Roman" panose="02020603050405020304" pitchFamily="18" charset="0"/>
              </a:rPr>
              <a:t>ability of an organization to detect, react, report, respond, contain and mitigate(</a:t>
            </a:r>
            <a:r>
              <a:rPr lang="en-US" sz="2400" b="1" i="0" dirty="0">
                <a:solidFill>
                  <a:srgbClr val="FF0000"/>
                </a:solidFill>
                <a:effectLst/>
                <a:latin typeface="Times New Roman" panose="02020603050405020304" pitchFamily="18" charset="0"/>
                <a:cs typeface="Times New Roman" panose="02020603050405020304" pitchFamily="18" charset="0"/>
              </a:rPr>
              <a:t>reducing risk of loss from the occurrence of any undesirable event</a:t>
            </a:r>
            <a:r>
              <a:rPr lang="en-IN" sz="2400" dirty="0">
                <a:solidFill>
                  <a:srgbClr val="FF0000"/>
                </a:solidFill>
                <a:latin typeface="Times New Roman" panose="02020603050405020304" pitchFamily="18" charset="0"/>
                <a:cs typeface="Times New Roman" panose="02020603050405020304" pitchFamily="18" charset="0"/>
              </a:rPr>
              <a:t>) the attacks that occur, in its infrastructure.</a:t>
            </a:r>
          </a:p>
          <a:p>
            <a:pPr algn="just"/>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Once the application is deployed into the server, the role of continuous monitoring comes in to play. The entire process is all </a:t>
            </a:r>
            <a:r>
              <a:rPr lang="en-IN" sz="2400" dirty="0">
                <a:solidFill>
                  <a:srgbClr val="FF0000"/>
                </a:solidFill>
                <a:latin typeface="Times New Roman" panose="02020603050405020304" pitchFamily="18" charset="0"/>
                <a:cs typeface="Times New Roman" panose="02020603050405020304" pitchFamily="18" charset="0"/>
              </a:rPr>
              <a:t>about taking care of the company’s infrastructure and respond appropriately.</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84906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BDEDE1-62C1-4862-A1E6-35DAFAEB0950}"/>
              </a:ext>
            </a:extLst>
          </p:cNvPr>
          <p:cNvSpPr txBox="1"/>
          <p:nvPr/>
        </p:nvSpPr>
        <p:spPr>
          <a:xfrm>
            <a:off x="1" y="0"/>
            <a:ext cx="12084148" cy="6673943"/>
          </a:xfrm>
          <a:prstGeom prst="rect">
            <a:avLst/>
          </a:prstGeom>
          <a:noFill/>
        </p:spPr>
        <p:txBody>
          <a:bodyPr wrap="square">
            <a:spAutoFit/>
          </a:bodyPr>
          <a:lstStyle/>
          <a:p>
            <a:pPr algn="just">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Why We Need Continuous Monitoring?</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Continuous Monitoring Tools resolve any system errors ( low memory, unreachable server etc. ) before they have any negative impact on your business productivity. </a:t>
            </a:r>
          </a:p>
          <a:p>
            <a:pPr algn="just"/>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It </a:t>
            </a:r>
            <a:r>
              <a:rPr lang="en-IN" sz="2400" dirty="0">
                <a:solidFill>
                  <a:srgbClr val="FF0000"/>
                </a:solidFill>
                <a:latin typeface="Times New Roman" panose="02020603050405020304" pitchFamily="18" charset="0"/>
                <a:cs typeface="Times New Roman" panose="02020603050405020304" pitchFamily="18" charset="0"/>
              </a:rPr>
              <a:t>detects any network or server problems</a:t>
            </a:r>
          </a:p>
          <a:p>
            <a:pPr marL="342900" indent="-342900" algn="just">
              <a:lnSpc>
                <a:spcPct val="150000"/>
              </a:lnSpc>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It </a:t>
            </a:r>
            <a:r>
              <a:rPr lang="en-IN" sz="2400" dirty="0">
                <a:solidFill>
                  <a:srgbClr val="FF0000"/>
                </a:solidFill>
                <a:latin typeface="Times New Roman" panose="02020603050405020304" pitchFamily="18" charset="0"/>
                <a:cs typeface="Times New Roman" panose="02020603050405020304" pitchFamily="18" charset="0"/>
              </a:rPr>
              <a:t>determines the root cause </a:t>
            </a:r>
            <a:r>
              <a:rPr lang="en-IN" sz="2400" dirty="0">
                <a:latin typeface="Times New Roman" panose="02020603050405020304" pitchFamily="18" charset="0"/>
                <a:cs typeface="Times New Roman" panose="02020603050405020304" pitchFamily="18" charset="0"/>
              </a:rPr>
              <a:t>of any issues</a:t>
            </a:r>
          </a:p>
          <a:p>
            <a:pPr marL="342900" indent="-342900" algn="just">
              <a:lnSpc>
                <a:spcPct val="150000"/>
              </a:lnSpc>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It </a:t>
            </a:r>
            <a:r>
              <a:rPr lang="en-IN" sz="2400" dirty="0">
                <a:solidFill>
                  <a:srgbClr val="FF0000"/>
                </a:solidFill>
                <a:latin typeface="Times New Roman" panose="02020603050405020304" pitchFamily="18" charset="0"/>
                <a:cs typeface="Times New Roman" panose="02020603050405020304" pitchFamily="18" charset="0"/>
              </a:rPr>
              <a:t>maintains the security and availability of the service </a:t>
            </a:r>
            <a:r>
              <a:rPr lang="en-IN" sz="2400" dirty="0">
                <a:latin typeface="Times New Roman" panose="02020603050405020304" pitchFamily="18" charset="0"/>
                <a:cs typeface="Times New Roman" panose="02020603050405020304" pitchFamily="18" charset="0"/>
              </a:rPr>
              <a:t>.It </a:t>
            </a:r>
            <a:r>
              <a:rPr lang="en-IN" sz="2400" dirty="0">
                <a:solidFill>
                  <a:srgbClr val="FF0000"/>
                </a:solidFill>
                <a:latin typeface="Times New Roman" panose="02020603050405020304" pitchFamily="18" charset="0"/>
                <a:cs typeface="Times New Roman" panose="02020603050405020304" pitchFamily="18" charset="0"/>
              </a:rPr>
              <a:t>monitors and troubleshoot server performance issues</a:t>
            </a:r>
          </a:p>
          <a:p>
            <a:pPr marL="342900" indent="-342900" algn="just">
              <a:lnSpc>
                <a:spcPct val="150000"/>
              </a:lnSpc>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It </a:t>
            </a:r>
            <a:r>
              <a:rPr lang="en-IN" sz="2400" dirty="0">
                <a:solidFill>
                  <a:srgbClr val="FF0000"/>
                </a:solidFill>
                <a:latin typeface="Times New Roman" panose="02020603050405020304" pitchFamily="18" charset="0"/>
                <a:cs typeface="Times New Roman" panose="02020603050405020304" pitchFamily="18" charset="0"/>
              </a:rPr>
              <a:t>allows us to plan for infrastructure upgrades before outdated systems cause failures</a:t>
            </a:r>
          </a:p>
          <a:p>
            <a:pPr marL="342900" indent="-342900" algn="just">
              <a:lnSpc>
                <a:spcPct val="150000"/>
              </a:lnSpc>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It can </a:t>
            </a:r>
            <a:r>
              <a:rPr lang="en-IN" sz="2400" dirty="0">
                <a:solidFill>
                  <a:srgbClr val="FF0000"/>
                </a:solidFill>
                <a:latin typeface="Times New Roman" panose="02020603050405020304" pitchFamily="18" charset="0"/>
                <a:cs typeface="Times New Roman" panose="02020603050405020304" pitchFamily="18" charset="0"/>
              </a:rPr>
              <a:t>respond to issues at the first sign of a problem</a:t>
            </a:r>
          </a:p>
          <a:p>
            <a:pPr marL="342900" indent="-342900" algn="just">
              <a:lnSpc>
                <a:spcPct val="150000"/>
              </a:lnSpc>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It can be </a:t>
            </a:r>
            <a:r>
              <a:rPr lang="en-IN" sz="2400" dirty="0">
                <a:solidFill>
                  <a:srgbClr val="FF0000"/>
                </a:solidFill>
                <a:latin typeface="Times New Roman" panose="02020603050405020304" pitchFamily="18" charset="0"/>
                <a:cs typeface="Times New Roman" panose="02020603050405020304" pitchFamily="18" charset="0"/>
              </a:rPr>
              <a:t>used to automatically fix problems when they are detected</a:t>
            </a:r>
          </a:p>
          <a:p>
            <a:pPr marL="342900" indent="-342900" algn="just">
              <a:lnSpc>
                <a:spcPct val="150000"/>
              </a:lnSpc>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It </a:t>
            </a:r>
            <a:r>
              <a:rPr lang="en-IN" sz="2400" dirty="0">
                <a:solidFill>
                  <a:srgbClr val="FF0000"/>
                </a:solidFill>
                <a:latin typeface="Times New Roman" panose="02020603050405020304" pitchFamily="18" charset="0"/>
                <a:cs typeface="Times New Roman" panose="02020603050405020304" pitchFamily="18" charset="0"/>
              </a:rPr>
              <a:t>ensures IT infrastructure outages have a minimal effect on your organization’s bottom line. It can monitor your entire infrastructure and business processes</a:t>
            </a:r>
          </a:p>
        </p:txBody>
      </p:sp>
    </p:spTree>
    <p:extLst>
      <p:ext uri="{BB962C8B-B14F-4D97-AF65-F5344CB8AC3E}">
        <p14:creationId xmlns:p14="http://schemas.microsoft.com/office/powerpoint/2010/main" val="3485592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
            <a:ext cx="12192000" cy="6858001"/>
          </a:xfrm>
        </p:spPr>
        <p:txBody>
          <a:bodyPr>
            <a:noAutofit/>
          </a:bodyPr>
          <a:lstStyle/>
          <a:p>
            <a:pPr algn="just">
              <a:buFont typeface="Wingdings" panose="05000000000000000000" pitchFamily="2" charset="2"/>
              <a:buChar char="ü"/>
            </a:pPr>
            <a:endParaRPr lang="en-IN"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endParaRPr lang="en-IN"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From  past years our security professionals are performing static analysis from – system log, firewall logs, IDS logs, IPS logs etc. But, it did not provide proper analysis and response. Today’s Continuous Monitoring approaches which are automated tools gives us the ability to aggregate all of the events discussed above, co-relate them, compare them and then estimate the organization’s risk posture.</a:t>
            </a:r>
          </a:p>
          <a:p>
            <a:pPr algn="just">
              <a:buFont typeface="Wingdings" panose="05000000000000000000" pitchFamily="2" charset="2"/>
              <a:buChar char="ü"/>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0724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110E292F-54B8-4719-BA65-6D348A3D80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491" y="689317"/>
            <a:ext cx="12820075" cy="630232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1CBDE25-AC7C-4DAD-8007-E364AFAC00E6}"/>
              </a:ext>
            </a:extLst>
          </p:cNvPr>
          <p:cNvSpPr txBox="1"/>
          <p:nvPr/>
        </p:nvSpPr>
        <p:spPr>
          <a:xfrm>
            <a:off x="478302" y="182880"/>
            <a:ext cx="3657600" cy="461665"/>
          </a:xfrm>
          <a:prstGeom prst="rect">
            <a:avLst/>
          </a:prstGeom>
          <a:noFill/>
        </p:spPr>
        <p:txBody>
          <a:bodyPr wrap="square" rtlCol="0">
            <a:spAutoFit/>
          </a:bodyPr>
          <a:lstStyle/>
          <a:p>
            <a:r>
              <a:rPr lang="en-IN" sz="2400" b="1" dirty="0">
                <a:solidFill>
                  <a:srgbClr val="FF0000"/>
                </a:solidFill>
                <a:latin typeface="Times New Roman" panose="02020603050405020304" pitchFamily="18" charset="0"/>
                <a:cs typeface="Times New Roman" panose="02020603050405020304" pitchFamily="18" charset="0"/>
              </a:rPr>
              <a:t>system log</a:t>
            </a:r>
            <a:endParaRPr lang="en-IN" sz="2400" b="1" dirty="0">
              <a:solidFill>
                <a:srgbClr val="FF0000"/>
              </a:solidFill>
            </a:endParaRPr>
          </a:p>
        </p:txBody>
      </p:sp>
    </p:spTree>
    <p:extLst>
      <p:ext uri="{BB962C8B-B14F-4D97-AF65-F5344CB8AC3E}">
        <p14:creationId xmlns:p14="http://schemas.microsoft.com/office/powerpoint/2010/main" val="377603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Basic Report">
            <a:extLst>
              <a:ext uri="{FF2B5EF4-FFF2-40B4-BE49-F238E27FC236}">
                <a16:creationId xmlns:a16="http://schemas.microsoft.com/office/drawing/2014/main" id="{579D764A-38E5-40DF-BDD0-3C604D36A7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085" y="761563"/>
            <a:ext cx="11842812" cy="609643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31136B6-4318-4D95-AFEC-6DD02CDA6A35}"/>
              </a:ext>
            </a:extLst>
          </p:cNvPr>
          <p:cNvSpPr txBox="1"/>
          <p:nvPr/>
        </p:nvSpPr>
        <p:spPr>
          <a:xfrm>
            <a:off x="1012873" y="182880"/>
            <a:ext cx="2954215" cy="646331"/>
          </a:xfrm>
          <a:prstGeom prst="rect">
            <a:avLst/>
          </a:prstGeom>
          <a:noFill/>
        </p:spPr>
        <p:txBody>
          <a:bodyPr wrap="square" rtlCol="0">
            <a:spAutoFit/>
          </a:bodyPr>
          <a:lstStyle/>
          <a:p>
            <a:r>
              <a:rPr lang="en-IN" b="1" i="0" dirty="0">
                <a:solidFill>
                  <a:srgbClr val="FF0000"/>
                </a:solidFill>
                <a:effectLst/>
                <a:latin typeface="Source Sans Pro" panose="020B0503030403020204" pitchFamily="34" charset="0"/>
              </a:rPr>
              <a:t>Windows Firewall Logs</a:t>
            </a:r>
          </a:p>
          <a:p>
            <a:endParaRPr lang="en-IN" dirty="0"/>
          </a:p>
        </p:txBody>
      </p:sp>
    </p:spTree>
    <p:extLst>
      <p:ext uri="{BB962C8B-B14F-4D97-AF65-F5344CB8AC3E}">
        <p14:creationId xmlns:p14="http://schemas.microsoft.com/office/powerpoint/2010/main" val="37433409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Snort IDS Log Analyzer Tool - Security and Alert Monitoring | SolarWinds">
            <a:extLst>
              <a:ext uri="{FF2B5EF4-FFF2-40B4-BE49-F238E27FC236}">
                <a16:creationId xmlns:a16="http://schemas.microsoft.com/office/drawing/2014/main" id="{270500EC-ED6A-4D0E-AFF6-E43BABD74C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17683"/>
            <a:ext cx="12192000" cy="626401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11C8E6C-3719-4287-A5EB-8D74C579B757}"/>
              </a:ext>
            </a:extLst>
          </p:cNvPr>
          <p:cNvSpPr txBox="1"/>
          <p:nvPr/>
        </p:nvSpPr>
        <p:spPr>
          <a:xfrm>
            <a:off x="604910" y="225083"/>
            <a:ext cx="5683348" cy="461665"/>
          </a:xfrm>
          <a:prstGeom prst="rect">
            <a:avLst/>
          </a:prstGeom>
          <a:noFill/>
        </p:spPr>
        <p:txBody>
          <a:bodyPr wrap="square" rtlCol="0">
            <a:spAutoFit/>
          </a:bodyPr>
          <a:lstStyle/>
          <a:p>
            <a:r>
              <a:rPr lang="en-IN" sz="2400" dirty="0">
                <a:solidFill>
                  <a:srgbClr val="FF0000"/>
                </a:solidFill>
                <a:latin typeface="Times New Roman" panose="02020603050405020304" pitchFamily="18" charset="0"/>
                <a:cs typeface="Times New Roman" panose="02020603050405020304" pitchFamily="18" charset="0"/>
              </a:rPr>
              <a:t>IDS logs (</a:t>
            </a:r>
            <a:r>
              <a:rPr lang="en-IN" sz="2400" b="0" i="0" dirty="0">
                <a:solidFill>
                  <a:srgbClr val="FF0000"/>
                </a:solidFill>
                <a:effectLst/>
                <a:latin typeface="Times New Roman" panose="02020603050405020304" pitchFamily="18" charset="0"/>
                <a:cs typeface="Times New Roman" panose="02020603050405020304" pitchFamily="18" charset="0"/>
              </a:rPr>
              <a:t>Intrusion Detection System logs</a:t>
            </a:r>
            <a:r>
              <a:rPr lang="en-IN" sz="2400" dirty="0">
                <a:solidFill>
                  <a:srgbClr val="FF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63941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864A2A-9A34-4B0C-87B3-2F571DD64A49}"/>
              </a:ext>
            </a:extLst>
          </p:cNvPr>
          <p:cNvSpPr txBox="1"/>
          <p:nvPr/>
        </p:nvSpPr>
        <p:spPr>
          <a:xfrm>
            <a:off x="478301" y="337625"/>
            <a:ext cx="11465169" cy="3416320"/>
          </a:xfrm>
          <a:prstGeom prst="rect">
            <a:avLst/>
          </a:prstGeom>
          <a:noFill/>
        </p:spPr>
        <p:txBody>
          <a:bodyPr wrap="square">
            <a:spAutoFit/>
          </a:bodyPr>
          <a:lstStyle/>
          <a:p>
            <a:pPr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Continuous code Monitoring, sometimes called Continuous Control Monitoring (CCM), </a:t>
            </a:r>
            <a:r>
              <a:rPr lang="en-IN" sz="2400" dirty="0">
                <a:solidFill>
                  <a:srgbClr val="FF0000"/>
                </a:solidFill>
                <a:latin typeface="Times New Roman" panose="02020603050405020304" pitchFamily="18" charset="0"/>
                <a:cs typeface="Times New Roman" panose="02020603050405020304" pitchFamily="18" charset="0"/>
              </a:rPr>
              <a:t>is an automated process by which </a:t>
            </a:r>
            <a:r>
              <a:rPr lang="en-IN" sz="2400" u="sng" dirty="0">
                <a:solidFill>
                  <a:srgbClr val="FF0000"/>
                </a:solidFill>
                <a:latin typeface="Times New Roman" panose="02020603050405020304" pitchFamily="18" charset="0"/>
                <a:cs typeface="Times New Roman" panose="02020603050405020304" pitchFamily="18" charset="0"/>
              </a:rPr>
              <a:t>DevOps</a:t>
            </a:r>
            <a:r>
              <a:rPr lang="en-IN" sz="2400" dirty="0">
                <a:solidFill>
                  <a:srgbClr val="FF0000"/>
                </a:solidFill>
                <a:latin typeface="Times New Roman" panose="02020603050405020304" pitchFamily="18" charset="0"/>
                <a:cs typeface="Times New Roman" panose="02020603050405020304" pitchFamily="18" charset="0"/>
              </a:rPr>
              <a:t> personnel can observe and detect compliance issues and security threats </a:t>
            </a:r>
            <a:r>
              <a:rPr lang="en-IN" sz="2400" dirty="0">
                <a:latin typeface="Times New Roman" panose="02020603050405020304" pitchFamily="18" charset="0"/>
                <a:cs typeface="Times New Roman" panose="02020603050405020304" pitchFamily="18" charset="0"/>
              </a:rPr>
              <a:t>during each phase of the DevOps pipeline</a:t>
            </a:r>
          </a:p>
          <a:p>
            <a:pPr algn="just">
              <a:buFont typeface="Wingdings" panose="05000000000000000000" pitchFamily="2" charset="2"/>
              <a:buChar char="ü"/>
            </a:pPr>
            <a:endParaRPr lang="en-IN"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So, Continuous code Monitoring </a:t>
            </a:r>
            <a:r>
              <a:rPr lang="en-IN" sz="2400" dirty="0">
                <a:solidFill>
                  <a:srgbClr val="FF0000"/>
                </a:solidFill>
                <a:latin typeface="Times New Roman" panose="02020603050405020304" pitchFamily="18" charset="0"/>
                <a:cs typeface="Times New Roman" panose="02020603050405020304" pitchFamily="18" charset="0"/>
              </a:rPr>
              <a:t>is an automated process that leverages specialized software tools to empower DevOps teams</a:t>
            </a:r>
            <a:r>
              <a:rPr lang="en-IN" sz="2400" dirty="0">
                <a:latin typeface="Times New Roman" panose="02020603050405020304" pitchFamily="18" charset="0"/>
                <a:cs typeface="Times New Roman" panose="02020603050405020304" pitchFamily="18" charset="0"/>
              </a:rPr>
              <a:t> with enhanced </a:t>
            </a:r>
            <a:r>
              <a:rPr lang="en-IN" sz="2400" dirty="0">
                <a:solidFill>
                  <a:srgbClr val="FF0000"/>
                </a:solidFill>
                <a:latin typeface="Times New Roman" panose="02020603050405020304" pitchFamily="18" charset="0"/>
                <a:cs typeface="Times New Roman" panose="02020603050405020304" pitchFamily="18" charset="0"/>
              </a:rPr>
              <a:t>visibility of application performance, security threats, and compliance</a:t>
            </a:r>
            <a:r>
              <a:rPr lang="en-IN" sz="2400" dirty="0">
                <a:latin typeface="Times New Roman" panose="02020603050405020304" pitchFamily="18" charset="0"/>
                <a:cs typeface="Times New Roman" panose="02020603050405020304" pitchFamily="18" charset="0"/>
              </a:rPr>
              <a:t> concerns across the entire DevOps pipeline.</a:t>
            </a:r>
          </a:p>
          <a:p>
            <a:pPr algn="just">
              <a:buFont typeface="Wingdings" panose="05000000000000000000" pitchFamily="2" charset="2"/>
              <a:buChar char="ü"/>
            </a:pPr>
            <a:endParaRPr lang="en-IN"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endParaRPr lang="en-IN"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7EF2C08-E55A-4A0A-BAA9-508D8A3A9129}"/>
              </a:ext>
            </a:extLst>
          </p:cNvPr>
          <p:cNvSpPr txBox="1"/>
          <p:nvPr/>
        </p:nvSpPr>
        <p:spPr>
          <a:xfrm>
            <a:off x="478300" y="3428999"/>
            <a:ext cx="11465169" cy="3416320"/>
          </a:xfrm>
          <a:prstGeom prst="rect">
            <a:avLst/>
          </a:prstGeom>
          <a:noFill/>
        </p:spPr>
        <p:txBody>
          <a:bodyPr wrap="square">
            <a:spAutoFit/>
          </a:bodyPr>
          <a:lstStyle/>
          <a:p>
            <a:pPr marL="342900" indent="-342900"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Continuous code Monitoring </a:t>
            </a:r>
            <a:r>
              <a:rPr lang="en-IN" sz="2400" dirty="0">
                <a:solidFill>
                  <a:srgbClr val="FF0000"/>
                </a:solidFill>
                <a:latin typeface="Times New Roman" panose="02020603050405020304" pitchFamily="18" charset="0"/>
                <a:cs typeface="Times New Roman" panose="02020603050405020304" pitchFamily="18" charset="0"/>
              </a:rPr>
              <a:t>comes in at the end of the DevOps pipeline</a:t>
            </a:r>
            <a:r>
              <a:rPr lang="en-IN" sz="2400" dirty="0">
                <a:latin typeface="Times New Roman" panose="02020603050405020304" pitchFamily="18" charset="0"/>
                <a:cs typeface="Times New Roman" panose="02020603050405020304" pitchFamily="18" charset="0"/>
              </a:rPr>
              <a:t>. Once the software is released into production, Continuous Monitoring will notify dev and QA teams in the event of specific issues arising in the prod environment. It provides feedback on what is going wrong, which allows the relevant people to work on necessary fixes as soon as possible.</a:t>
            </a:r>
          </a:p>
          <a:p>
            <a:pPr marL="342900" indent="-342900" algn="just">
              <a:buFont typeface="Wingdings" panose="05000000000000000000" pitchFamily="2" charset="2"/>
              <a:buChar char="ü"/>
            </a:pPr>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Continuous monitoring (CM) </a:t>
            </a:r>
            <a:r>
              <a:rPr lang="en-IN" sz="2400" dirty="0">
                <a:solidFill>
                  <a:srgbClr val="FF0000"/>
                </a:solidFill>
                <a:latin typeface="Times New Roman" panose="02020603050405020304" pitchFamily="18" charset="0"/>
                <a:cs typeface="Times New Roman" panose="02020603050405020304" pitchFamily="18" charset="0"/>
              </a:rPr>
              <a:t>tools are a critical component of the DevOps pipeline, </a:t>
            </a:r>
            <a:r>
              <a:rPr lang="en-IN" sz="2400" dirty="0">
                <a:latin typeface="Times New Roman" panose="02020603050405020304" pitchFamily="18" charset="0"/>
                <a:cs typeface="Times New Roman" panose="02020603050405020304" pitchFamily="18" charset="0"/>
              </a:rPr>
              <a:t>providing automated capabilities that allow developers to effectively monitor applications, infrastructure, and network components in the production environment.</a:t>
            </a:r>
          </a:p>
        </p:txBody>
      </p:sp>
    </p:spTree>
    <p:extLst>
      <p:ext uri="{BB962C8B-B14F-4D97-AF65-F5344CB8AC3E}">
        <p14:creationId xmlns:p14="http://schemas.microsoft.com/office/powerpoint/2010/main" val="1208181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0A1541A-574F-4848-9478-DB3490C29D6F}"/>
              </a:ext>
            </a:extLst>
          </p:cNvPr>
          <p:cNvSpPr txBox="1"/>
          <p:nvPr/>
        </p:nvSpPr>
        <p:spPr>
          <a:xfrm>
            <a:off x="239151" y="126609"/>
            <a:ext cx="11690252" cy="4524315"/>
          </a:xfrm>
          <a:prstGeom prst="rect">
            <a:avLst/>
          </a:prstGeom>
          <a:noFill/>
        </p:spPr>
        <p:txBody>
          <a:bodyPr wrap="square">
            <a:spAutoFit/>
          </a:bodyPr>
          <a:lstStyle/>
          <a:p>
            <a:pPr marL="342900" indent="-342900"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It also  helps teams or organizations monitor, detect, study key relevant metrics, and find ways to resolve said issues in real-time.</a:t>
            </a:r>
          </a:p>
          <a:p>
            <a:pPr marL="342900" indent="-342900" algn="just">
              <a:buFont typeface="Wingdings" panose="05000000000000000000" pitchFamily="2" charset="2"/>
              <a:buChar char="ü"/>
            </a:pPr>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We can say Continuous Monitoring basically assists IT organizations, DevOps teams in particular, with procuring real-time data from public and hybrid environments.</a:t>
            </a:r>
          </a:p>
          <a:p>
            <a:pPr marL="342900" indent="-342900" algn="just">
              <a:buFont typeface="Wingdings" panose="05000000000000000000" pitchFamily="2" charset="2"/>
              <a:buChar char="ü"/>
            </a:pPr>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 This is especially helpful with implementing and fortifying various security measures – incident response, threat assessment, computers, and database forensics, and root cause analysis.</a:t>
            </a:r>
          </a:p>
          <a:p>
            <a:pPr marL="342900" indent="-342900" algn="just">
              <a:buFont typeface="Wingdings" panose="05000000000000000000" pitchFamily="2" charset="2"/>
              <a:buChar char="ü"/>
            </a:pPr>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 It also helps provide </a:t>
            </a:r>
            <a:r>
              <a:rPr lang="en-IN" sz="2400" dirty="0">
                <a:solidFill>
                  <a:srgbClr val="FF0000"/>
                </a:solidFill>
                <a:latin typeface="Times New Roman" panose="02020603050405020304" pitchFamily="18" charset="0"/>
                <a:cs typeface="Times New Roman" panose="02020603050405020304" pitchFamily="18" charset="0"/>
              </a:rPr>
              <a:t>general feedback on the overall health of the IT setup</a:t>
            </a:r>
            <a:r>
              <a:rPr lang="en-IN" sz="2400" dirty="0">
                <a:latin typeface="Times New Roman" panose="02020603050405020304" pitchFamily="18" charset="0"/>
                <a:cs typeface="Times New Roman" panose="02020603050405020304" pitchFamily="18" charset="0"/>
              </a:rPr>
              <a:t>, including deployed software.</a:t>
            </a:r>
          </a:p>
        </p:txBody>
      </p:sp>
    </p:spTree>
    <p:extLst>
      <p:ext uri="{BB962C8B-B14F-4D97-AF65-F5344CB8AC3E}">
        <p14:creationId xmlns:p14="http://schemas.microsoft.com/office/powerpoint/2010/main" val="2207979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a:buFont typeface="Wingdings" panose="05000000000000000000" pitchFamily="2" charset="2"/>
              <a:buChar char="q"/>
            </a:pPr>
            <a:r>
              <a:rPr lang="en-IN" sz="2400" b="1" u="sng" dirty="0">
                <a:latin typeface="Times New Roman" panose="02020603050405020304" pitchFamily="18" charset="0"/>
                <a:cs typeface="Times New Roman" panose="02020603050405020304" pitchFamily="18" charset="0"/>
              </a:rPr>
              <a:t>Goals of Continuous Monitoring in DevOps</a:t>
            </a:r>
            <a:endParaRPr lang="en-IN" sz="2400" u="sng" dirty="0">
              <a:latin typeface="Times New Roman" panose="02020603050405020304" pitchFamily="18" charset="0"/>
              <a:cs typeface="Times New Roman" panose="02020603050405020304" pitchFamily="18" charset="0"/>
            </a:endParaRPr>
          </a:p>
          <a:p>
            <a:pPr algn="just"/>
            <a:r>
              <a:rPr lang="en-IN" sz="2400" dirty="0">
                <a:solidFill>
                  <a:srgbClr val="FF0000"/>
                </a:solidFill>
                <a:latin typeface="Times New Roman" panose="02020603050405020304" pitchFamily="18" charset="0"/>
                <a:cs typeface="Times New Roman" panose="02020603050405020304" pitchFamily="18" charset="0"/>
              </a:rPr>
              <a:t>Enhance transparency and visibility of IT and network operations</a:t>
            </a:r>
            <a:r>
              <a:rPr lang="en-IN" sz="2400" dirty="0">
                <a:latin typeface="Times New Roman" panose="02020603050405020304" pitchFamily="18" charset="0"/>
                <a:cs typeface="Times New Roman" panose="02020603050405020304" pitchFamily="18" charset="0"/>
              </a:rPr>
              <a:t>, especially those that can trigger a security breach, and resolve it with a well-timed alert system.</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solidFill>
                  <a:srgbClr val="FF0000"/>
                </a:solidFill>
                <a:latin typeface="Times New Roman" panose="02020603050405020304" pitchFamily="18" charset="0"/>
                <a:cs typeface="Times New Roman" panose="02020603050405020304" pitchFamily="18" charset="0"/>
              </a:rPr>
              <a:t>Help monitor software operation, especially performance issues, identify the cause of the error, and apply appropriate solutions before significant damage to uptime and revenue.</a:t>
            </a:r>
          </a:p>
          <a:p>
            <a:pPr marL="0" indent="0" algn="just">
              <a:buNone/>
            </a:pP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IN" sz="2400" dirty="0">
                <a:solidFill>
                  <a:srgbClr val="FF0000"/>
                </a:solidFill>
                <a:latin typeface="Times New Roman" panose="02020603050405020304" pitchFamily="18" charset="0"/>
                <a:cs typeface="Times New Roman" panose="02020603050405020304" pitchFamily="18" charset="0"/>
              </a:rPr>
              <a:t>Help track user </a:t>
            </a:r>
            <a:r>
              <a:rPr lang="en-IN" sz="2400" dirty="0" err="1">
                <a:solidFill>
                  <a:srgbClr val="FF0000"/>
                </a:solidFill>
                <a:latin typeface="Times New Roman" panose="02020603050405020304" pitchFamily="18" charset="0"/>
                <a:cs typeface="Times New Roman" panose="02020603050405020304" pitchFamily="18" charset="0"/>
              </a:rPr>
              <a:t>behavior</a:t>
            </a:r>
            <a:r>
              <a:rPr lang="en-IN" sz="2400" dirty="0">
                <a:solidFill>
                  <a:srgbClr val="FF0000"/>
                </a:solidFill>
                <a:latin typeface="Times New Roman" panose="02020603050405020304" pitchFamily="18" charset="0"/>
                <a:cs typeface="Times New Roman" panose="02020603050405020304" pitchFamily="18" charset="0"/>
              </a:rPr>
              <a:t>, especially right after an update to a particular site or app has been pushed to prod</a:t>
            </a:r>
            <a:r>
              <a:rPr lang="en-IN" sz="2400" dirty="0">
                <a:latin typeface="Times New Roman" panose="02020603050405020304" pitchFamily="18" charset="0"/>
                <a:cs typeface="Times New Roman" panose="02020603050405020304" pitchFamily="18" charset="0"/>
              </a:rPr>
              <a:t>. This monitors if the </a:t>
            </a:r>
            <a:r>
              <a:rPr lang="en-IN" sz="2400" dirty="0">
                <a:solidFill>
                  <a:srgbClr val="FF0000"/>
                </a:solidFill>
                <a:latin typeface="Times New Roman" panose="02020603050405020304" pitchFamily="18" charset="0"/>
                <a:cs typeface="Times New Roman" panose="02020603050405020304" pitchFamily="18" charset="0"/>
              </a:rPr>
              <a:t>update has a positive, negative, or neutral effect on user experience.</a:t>
            </a:r>
          </a:p>
          <a:p>
            <a:pPr>
              <a:buFont typeface="Wingdings" panose="05000000000000000000" pitchFamily="2" charset="2"/>
              <a:buChar char="q"/>
            </a:pPr>
            <a:r>
              <a:rPr lang="en-IN" sz="2400" b="1" u="sng" dirty="0">
                <a:latin typeface="Times New Roman" panose="02020603050405020304" pitchFamily="18" charset="0"/>
                <a:cs typeface="Times New Roman" panose="02020603050405020304" pitchFamily="18" charset="0"/>
              </a:rPr>
              <a:t>Types of Continuous Monitoring</a:t>
            </a:r>
          </a:p>
          <a:p>
            <a:pPr marL="0" indent="0">
              <a:buNone/>
            </a:pPr>
            <a:endParaRPr lang="en-IN" sz="2400" u="sng"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Infrastructure Monitoring</a:t>
            </a:r>
            <a:r>
              <a:rPr lang="en-IN" sz="2400" dirty="0">
                <a:latin typeface="Times New Roman" panose="02020603050405020304" pitchFamily="18" charset="0"/>
                <a:cs typeface="Times New Roman" panose="02020603050405020304" pitchFamily="18" charset="0"/>
              </a:rPr>
              <a:t>: </a:t>
            </a:r>
            <a:r>
              <a:rPr lang="en-IN" sz="2400" dirty="0">
                <a:solidFill>
                  <a:srgbClr val="FF0000"/>
                </a:solidFill>
                <a:latin typeface="Times New Roman" panose="02020603050405020304" pitchFamily="18" charset="0"/>
                <a:cs typeface="Times New Roman" panose="02020603050405020304" pitchFamily="18" charset="0"/>
              </a:rPr>
              <a:t>Monitors and manages the IT infrastructure required to deliver products and services</a:t>
            </a:r>
            <a:r>
              <a:rPr lang="en-IN" sz="2400" dirty="0">
                <a:latin typeface="Times New Roman" panose="02020603050405020304" pitchFamily="18" charset="0"/>
                <a:cs typeface="Times New Roman" panose="02020603050405020304" pitchFamily="18" charset="0"/>
              </a:rPr>
              <a:t>. This </a:t>
            </a:r>
            <a:r>
              <a:rPr lang="en-IN" sz="2400" dirty="0">
                <a:solidFill>
                  <a:srgbClr val="FF0000"/>
                </a:solidFill>
                <a:latin typeface="Times New Roman" panose="02020603050405020304" pitchFamily="18" charset="0"/>
                <a:cs typeface="Times New Roman" panose="02020603050405020304" pitchFamily="18" charset="0"/>
              </a:rPr>
              <a:t>includes data centres, networks, hardware, software, servers, storage, and the like</a:t>
            </a:r>
            <a:r>
              <a:rPr lang="en-IN" sz="2400" dirty="0">
                <a:latin typeface="Times New Roman" panose="02020603050405020304" pitchFamily="18" charset="0"/>
                <a:cs typeface="Times New Roman" panose="02020603050405020304" pitchFamily="18" charset="0"/>
              </a:rPr>
              <a:t>. Infrastructure Monitoring collates and examines data from the IT ecosystem to </a:t>
            </a:r>
            <a:r>
              <a:rPr lang="en-IN" sz="2400" dirty="0">
                <a:solidFill>
                  <a:srgbClr val="FF0000"/>
                </a:solidFill>
                <a:latin typeface="Times New Roman" panose="02020603050405020304" pitchFamily="18" charset="0"/>
                <a:cs typeface="Times New Roman" panose="02020603050405020304" pitchFamily="18" charset="0"/>
              </a:rPr>
              <a:t>improve product performance as far as possible</a:t>
            </a:r>
            <a:r>
              <a:rPr lang="en-IN" sz="2400" dirty="0">
                <a:latin typeface="Times New Roman" panose="02020603050405020304" pitchFamily="18" charset="0"/>
                <a:cs typeface="Times New Roman" panose="02020603050405020304" pitchFamily="18" charset="0"/>
              </a:rPr>
              <a:t>.</a:t>
            </a:r>
          </a:p>
          <a:p>
            <a:pPr algn="just"/>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1805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FC8EAB-A711-4297-813F-980EA7430F5A}"/>
              </a:ext>
            </a:extLst>
          </p:cNvPr>
          <p:cNvSpPr txBox="1"/>
          <p:nvPr/>
        </p:nvSpPr>
        <p:spPr>
          <a:xfrm>
            <a:off x="176169" y="0"/>
            <a:ext cx="8965734" cy="5312352"/>
          </a:xfrm>
          <a:prstGeom prst="rect">
            <a:avLst/>
          </a:prstGeom>
          <a:noFill/>
        </p:spPr>
        <p:txBody>
          <a:bodyPr wrap="square">
            <a:spAutoFit/>
          </a:bodyPr>
          <a:lstStyle/>
          <a:p>
            <a:pPr algn="l"/>
            <a:r>
              <a:rPr lang="en-SG" b="1" i="0" dirty="0">
                <a:solidFill>
                  <a:srgbClr val="FF0000"/>
                </a:solidFill>
                <a:effectLst/>
                <a:latin typeface="myriad-pro"/>
              </a:rPr>
              <a:t>Infrastructure Monitoring:</a:t>
            </a:r>
            <a:r>
              <a:rPr lang="en-SG" b="0" i="0" dirty="0">
                <a:solidFill>
                  <a:srgbClr val="FF0000"/>
                </a:solidFill>
                <a:effectLst/>
                <a:latin typeface="myriad-pro"/>
              </a:rPr>
              <a:t> </a:t>
            </a:r>
            <a:r>
              <a:rPr lang="en-SG" b="0" i="0" dirty="0">
                <a:solidFill>
                  <a:srgbClr val="333333"/>
                </a:solidFill>
                <a:effectLst/>
                <a:latin typeface="myriad-pro"/>
              </a:rPr>
              <a:t>Tool must monitor</a:t>
            </a:r>
          </a:p>
          <a:p>
            <a:pPr marL="285750" indent="-285750" algn="l">
              <a:lnSpc>
                <a:spcPct val="150000"/>
              </a:lnSpc>
              <a:buFont typeface="Wingdings" panose="05000000000000000000" pitchFamily="2" charset="2"/>
              <a:buChar char="ü"/>
            </a:pPr>
            <a:r>
              <a:rPr lang="en-SG" b="0" i="0" dirty="0">
                <a:solidFill>
                  <a:srgbClr val="333333"/>
                </a:solidFill>
                <a:effectLst/>
                <a:latin typeface="myriad-pro"/>
              </a:rPr>
              <a:t>Server Availability</a:t>
            </a:r>
          </a:p>
          <a:p>
            <a:pPr marL="285750" indent="-285750" algn="l">
              <a:lnSpc>
                <a:spcPct val="150000"/>
              </a:lnSpc>
              <a:buFont typeface="Wingdings" panose="05000000000000000000" pitchFamily="2" charset="2"/>
              <a:buChar char="ü"/>
            </a:pPr>
            <a:r>
              <a:rPr lang="en-SG" b="0" i="0" dirty="0">
                <a:solidFill>
                  <a:srgbClr val="333333"/>
                </a:solidFill>
                <a:effectLst/>
                <a:latin typeface="myriad-pro"/>
              </a:rPr>
              <a:t>CPU &amp; Disk Usage</a:t>
            </a:r>
          </a:p>
          <a:p>
            <a:pPr marL="285750" indent="-285750" algn="l">
              <a:lnSpc>
                <a:spcPct val="150000"/>
              </a:lnSpc>
              <a:buFont typeface="Wingdings" panose="05000000000000000000" pitchFamily="2" charset="2"/>
              <a:buChar char="ü"/>
            </a:pPr>
            <a:r>
              <a:rPr lang="en-SG" b="0" i="0" dirty="0">
                <a:solidFill>
                  <a:srgbClr val="333333"/>
                </a:solidFill>
                <a:effectLst/>
                <a:latin typeface="myriad-pro"/>
              </a:rPr>
              <a:t>Server &amp; System Uptime</a:t>
            </a:r>
          </a:p>
          <a:p>
            <a:pPr marL="285750" indent="-285750" algn="l">
              <a:lnSpc>
                <a:spcPct val="150000"/>
              </a:lnSpc>
              <a:buFont typeface="Wingdings" panose="05000000000000000000" pitchFamily="2" charset="2"/>
              <a:buChar char="ü"/>
            </a:pPr>
            <a:r>
              <a:rPr lang="en-SG" b="0" i="0" dirty="0">
                <a:solidFill>
                  <a:srgbClr val="333333"/>
                </a:solidFill>
                <a:effectLst/>
                <a:latin typeface="myriad-pro"/>
              </a:rPr>
              <a:t>Response Time to Errors</a:t>
            </a:r>
          </a:p>
          <a:p>
            <a:pPr marL="285750" indent="-285750" algn="l">
              <a:lnSpc>
                <a:spcPct val="150000"/>
              </a:lnSpc>
              <a:buFont typeface="Wingdings" panose="05000000000000000000" pitchFamily="2" charset="2"/>
              <a:buChar char="ü"/>
            </a:pPr>
            <a:r>
              <a:rPr lang="en-SG" b="0" i="0" dirty="0">
                <a:solidFill>
                  <a:srgbClr val="333333"/>
                </a:solidFill>
                <a:effectLst/>
                <a:latin typeface="myriad-pro"/>
              </a:rPr>
              <a:t>Storage</a:t>
            </a:r>
          </a:p>
          <a:p>
            <a:pPr marL="285750" indent="-285750" algn="l">
              <a:lnSpc>
                <a:spcPct val="150000"/>
              </a:lnSpc>
              <a:buFont typeface="Wingdings" panose="05000000000000000000" pitchFamily="2" charset="2"/>
              <a:buChar char="ü"/>
            </a:pPr>
            <a:r>
              <a:rPr lang="en-SG" b="0" i="0" dirty="0">
                <a:solidFill>
                  <a:srgbClr val="333333"/>
                </a:solidFill>
                <a:effectLst/>
                <a:latin typeface="myriad-pro"/>
              </a:rPr>
              <a:t>Database Health</a:t>
            </a:r>
          </a:p>
          <a:p>
            <a:pPr marL="285750" indent="-285750" algn="l">
              <a:lnSpc>
                <a:spcPct val="150000"/>
              </a:lnSpc>
              <a:buFont typeface="Wingdings" panose="05000000000000000000" pitchFamily="2" charset="2"/>
              <a:buChar char="ü"/>
            </a:pPr>
            <a:r>
              <a:rPr lang="en-SG" b="0" i="0" dirty="0">
                <a:solidFill>
                  <a:srgbClr val="333333"/>
                </a:solidFill>
                <a:effectLst/>
                <a:latin typeface="myriad-pro"/>
              </a:rPr>
              <a:t>Storage</a:t>
            </a:r>
          </a:p>
          <a:p>
            <a:pPr marL="285750" indent="-285750" algn="l">
              <a:lnSpc>
                <a:spcPct val="150000"/>
              </a:lnSpc>
              <a:buFont typeface="Wingdings" panose="05000000000000000000" pitchFamily="2" charset="2"/>
              <a:buChar char="ü"/>
            </a:pPr>
            <a:r>
              <a:rPr lang="en-SG" b="0" i="0" dirty="0">
                <a:solidFill>
                  <a:srgbClr val="333333"/>
                </a:solidFill>
                <a:effectLst/>
                <a:latin typeface="myriad-pro"/>
              </a:rPr>
              <a:t>Security</a:t>
            </a:r>
          </a:p>
          <a:p>
            <a:pPr marL="285750" indent="-285750" algn="l">
              <a:lnSpc>
                <a:spcPct val="150000"/>
              </a:lnSpc>
              <a:buFont typeface="Wingdings" panose="05000000000000000000" pitchFamily="2" charset="2"/>
              <a:buChar char="ü"/>
            </a:pPr>
            <a:r>
              <a:rPr lang="en-SG" b="0" i="0" dirty="0">
                <a:solidFill>
                  <a:srgbClr val="333333"/>
                </a:solidFill>
                <a:effectLst/>
                <a:latin typeface="myriad-pro"/>
              </a:rPr>
              <a:t>User permissions</a:t>
            </a:r>
          </a:p>
          <a:p>
            <a:pPr marL="285750" indent="-285750" algn="l">
              <a:lnSpc>
                <a:spcPct val="150000"/>
              </a:lnSpc>
              <a:buFont typeface="Wingdings" panose="05000000000000000000" pitchFamily="2" charset="2"/>
              <a:buChar char="ü"/>
            </a:pPr>
            <a:r>
              <a:rPr lang="en-SG" b="0" i="0" dirty="0">
                <a:solidFill>
                  <a:srgbClr val="333333"/>
                </a:solidFill>
                <a:effectLst/>
                <a:latin typeface="myriad-pro"/>
              </a:rPr>
              <a:t>Network switches</a:t>
            </a:r>
          </a:p>
          <a:p>
            <a:pPr marL="285750" indent="-285750" algn="l">
              <a:lnSpc>
                <a:spcPct val="150000"/>
              </a:lnSpc>
              <a:buFont typeface="Wingdings" panose="05000000000000000000" pitchFamily="2" charset="2"/>
              <a:buChar char="ü"/>
            </a:pPr>
            <a:r>
              <a:rPr lang="en-SG" b="0" i="0" dirty="0">
                <a:solidFill>
                  <a:srgbClr val="333333"/>
                </a:solidFill>
                <a:effectLst/>
                <a:latin typeface="myriad-pro"/>
              </a:rPr>
              <a:t>Process level usage</a:t>
            </a:r>
          </a:p>
          <a:p>
            <a:pPr marL="285750" indent="-285750" algn="l">
              <a:lnSpc>
                <a:spcPct val="150000"/>
              </a:lnSpc>
              <a:buFont typeface="Wingdings" panose="05000000000000000000" pitchFamily="2" charset="2"/>
              <a:buChar char="ü"/>
            </a:pPr>
            <a:r>
              <a:rPr lang="en-SG" b="0" i="0" dirty="0">
                <a:solidFill>
                  <a:srgbClr val="333333"/>
                </a:solidFill>
                <a:effectLst/>
                <a:latin typeface="myriad-pro"/>
              </a:rPr>
              <a:t>Relevant performance trends</a:t>
            </a:r>
          </a:p>
        </p:txBody>
      </p:sp>
    </p:spTree>
    <p:extLst>
      <p:ext uri="{BB962C8B-B14F-4D97-AF65-F5344CB8AC3E}">
        <p14:creationId xmlns:p14="http://schemas.microsoft.com/office/powerpoint/2010/main" val="7796069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algn="just"/>
            <a:r>
              <a:rPr lang="en-IN" sz="2400" b="1" dirty="0">
                <a:latin typeface="Times New Roman" panose="02020603050405020304" pitchFamily="18" charset="0"/>
                <a:cs typeface="Times New Roman" panose="02020603050405020304" pitchFamily="18" charset="0"/>
              </a:rPr>
              <a:t>Application Monitoring</a:t>
            </a:r>
            <a:r>
              <a:rPr lang="en-IN" sz="2400" dirty="0">
                <a:latin typeface="Times New Roman" panose="02020603050405020304" pitchFamily="18" charset="0"/>
                <a:cs typeface="Times New Roman" panose="02020603050405020304" pitchFamily="18" charset="0"/>
              </a:rPr>
              <a:t>: </a:t>
            </a:r>
            <a:r>
              <a:rPr lang="en-IN" sz="2400" dirty="0">
                <a:solidFill>
                  <a:srgbClr val="FF0000"/>
                </a:solidFill>
                <a:latin typeface="Times New Roman" panose="02020603050405020304" pitchFamily="18" charset="0"/>
                <a:cs typeface="Times New Roman" panose="02020603050405020304" pitchFamily="18" charset="0"/>
              </a:rPr>
              <a:t>Monitors the performance of released software based on metrics like uptime, transaction time and volume, system responses, API responses, and general stability of the back-end and front-end.</a:t>
            </a:r>
          </a:p>
          <a:p>
            <a:pPr marL="0" indent="0" algn="just">
              <a:buNone/>
            </a:pPr>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Network Monitoring:</a:t>
            </a:r>
            <a:r>
              <a:rPr lang="en-IN" sz="2400" dirty="0">
                <a:latin typeface="Times New Roman" panose="02020603050405020304" pitchFamily="18" charset="0"/>
                <a:cs typeface="Times New Roman" panose="02020603050405020304" pitchFamily="18" charset="0"/>
              </a:rPr>
              <a:t> </a:t>
            </a:r>
            <a:r>
              <a:rPr lang="en-IN" sz="2400" dirty="0">
                <a:solidFill>
                  <a:srgbClr val="FF0000"/>
                </a:solidFill>
                <a:latin typeface="Times New Roman" panose="02020603050405020304" pitchFamily="18" charset="0"/>
                <a:cs typeface="Times New Roman" panose="02020603050405020304" pitchFamily="18" charset="0"/>
              </a:rPr>
              <a:t>Monitors and tracks network activity</a:t>
            </a:r>
            <a:r>
              <a:rPr lang="en-IN" sz="2400" dirty="0">
                <a:latin typeface="Times New Roman" panose="02020603050405020304" pitchFamily="18" charset="0"/>
                <a:cs typeface="Times New Roman" panose="02020603050405020304" pitchFamily="18" charset="0"/>
              </a:rPr>
              <a:t>, including the status and functioning of firewalls, </a:t>
            </a:r>
            <a:r>
              <a:rPr lang="en-IN" sz="2400" dirty="0">
                <a:solidFill>
                  <a:srgbClr val="FF0000"/>
                </a:solidFill>
                <a:latin typeface="Times New Roman" panose="02020603050405020304" pitchFamily="18" charset="0"/>
                <a:cs typeface="Times New Roman" panose="02020603050405020304" pitchFamily="18" charset="0"/>
              </a:rPr>
              <a:t>routers, switches, servers, Virtual Machines</a:t>
            </a:r>
            <a:r>
              <a:rPr lang="en-IN" sz="2400" dirty="0">
                <a:latin typeface="Times New Roman" panose="02020603050405020304" pitchFamily="18" charset="0"/>
                <a:cs typeface="Times New Roman" panose="02020603050405020304" pitchFamily="18" charset="0"/>
              </a:rPr>
              <a:t>, etc. </a:t>
            </a:r>
            <a:r>
              <a:rPr lang="en-IN" sz="2400" dirty="0">
                <a:solidFill>
                  <a:srgbClr val="FF0000"/>
                </a:solidFill>
                <a:latin typeface="Times New Roman" panose="02020603050405020304" pitchFamily="18" charset="0"/>
                <a:cs typeface="Times New Roman" panose="02020603050405020304" pitchFamily="18" charset="0"/>
              </a:rPr>
              <a:t>Network Monitoring detects possible and present issues and alerts the relevant personnel</a:t>
            </a:r>
            <a:r>
              <a:rPr lang="en-IN" sz="2400" dirty="0">
                <a:latin typeface="Times New Roman" panose="02020603050405020304" pitchFamily="18" charset="0"/>
                <a:cs typeface="Times New Roman" panose="02020603050405020304" pitchFamily="18" charset="0"/>
              </a:rPr>
              <a:t>. Its </a:t>
            </a:r>
            <a:r>
              <a:rPr lang="en-IN" sz="2400" dirty="0">
                <a:solidFill>
                  <a:srgbClr val="FF0000"/>
                </a:solidFill>
                <a:latin typeface="Times New Roman" panose="02020603050405020304" pitchFamily="18" charset="0"/>
                <a:cs typeface="Times New Roman" panose="02020603050405020304" pitchFamily="18" charset="0"/>
              </a:rPr>
              <a:t>primary goal is to prevent network downtime and crashes.</a:t>
            </a:r>
          </a:p>
          <a:p>
            <a:pPr algn="just"/>
            <a:endParaRPr lang="en-IN" sz="2000" dirty="0">
              <a:solidFill>
                <a:srgbClr val="FF0000"/>
              </a:solidFill>
              <a:latin typeface="Times New Roman" panose="02020603050405020304" pitchFamily="18" charset="0"/>
              <a:cs typeface="Times New Roman" panose="02020603050405020304" pitchFamily="18" charset="0"/>
            </a:endParaRPr>
          </a:p>
          <a:p>
            <a:pPr algn="just"/>
            <a:endParaRPr lang="en-IN" sz="2000" b="1"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p:txBody>
      </p:sp>
      <p:pic>
        <p:nvPicPr>
          <p:cNvPr id="4" name="Picture 2" descr="DevOps Life-Cyce - Nagios Tutorial - Edurek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0320" y="3165231"/>
            <a:ext cx="7146388" cy="35731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15542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B356BF-2947-4832-A448-E3CB03F64734}"/>
              </a:ext>
            </a:extLst>
          </p:cNvPr>
          <p:cNvSpPr txBox="1"/>
          <p:nvPr/>
        </p:nvSpPr>
        <p:spPr>
          <a:xfrm>
            <a:off x="266330" y="106532"/>
            <a:ext cx="8875450" cy="3719736"/>
          </a:xfrm>
          <a:prstGeom prst="rect">
            <a:avLst/>
          </a:prstGeom>
          <a:noFill/>
        </p:spPr>
        <p:txBody>
          <a:bodyPr wrap="square">
            <a:spAutoFit/>
          </a:bodyPr>
          <a:lstStyle/>
          <a:p>
            <a:pPr marL="0" indent="0" algn="l">
              <a:lnSpc>
                <a:spcPct val="120000"/>
              </a:lnSpc>
              <a:buNone/>
            </a:pPr>
            <a:r>
              <a:rPr lang="en-US" sz="1800" b="1" i="0" dirty="0">
                <a:solidFill>
                  <a:srgbClr val="333333"/>
                </a:solidFill>
                <a:effectLst/>
                <a:latin typeface="Times New Roman" panose="02020603050405020304" pitchFamily="18" charset="0"/>
                <a:cs typeface="Times New Roman" panose="02020603050405020304" pitchFamily="18" charset="0"/>
              </a:rPr>
              <a:t>Application Monitoring:</a:t>
            </a:r>
            <a:r>
              <a:rPr lang="en-US" sz="1800" b="0" i="0" dirty="0">
                <a:solidFill>
                  <a:srgbClr val="333333"/>
                </a:solidFill>
                <a:effectLst/>
                <a:latin typeface="Times New Roman" panose="02020603050405020304" pitchFamily="18" charset="0"/>
                <a:cs typeface="Times New Roman" panose="02020603050405020304" pitchFamily="18" charset="0"/>
              </a:rPr>
              <a:t> Tool must monitor:</a:t>
            </a:r>
          </a:p>
          <a:p>
            <a:pPr algn="l">
              <a:lnSpc>
                <a:spcPct val="120000"/>
              </a:lnSpc>
              <a:buFont typeface="Wingdings" panose="05000000000000000000" pitchFamily="2" charset="2"/>
              <a:buChar char="ü"/>
            </a:pPr>
            <a:r>
              <a:rPr lang="en-US" sz="1800" b="0" i="0" dirty="0">
                <a:solidFill>
                  <a:srgbClr val="333333"/>
                </a:solidFill>
                <a:effectLst/>
                <a:latin typeface="Times New Roman" panose="02020603050405020304" pitchFamily="18" charset="0"/>
                <a:cs typeface="Times New Roman" panose="02020603050405020304" pitchFamily="18" charset="0"/>
              </a:rPr>
              <a:t>availability</a:t>
            </a:r>
          </a:p>
          <a:p>
            <a:pPr algn="l">
              <a:lnSpc>
                <a:spcPct val="120000"/>
              </a:lnSpc>
              <a:buFont typeface="Wingdings" panose="05000000000000000000" pitchFamily="2" charset="2"/>
              <a:buChar char="ü"/>
            </a:pPr>
            <a:r>
              <a:rPr lang="en-US" sz="1800" b="0" i="0" dirty="0">
                <a:solidFill>
                  <a:srgbClr val="333333"/>
                </a:solidFill>
                <a:effectLst/>
                <a:latin typeface="Times New Roman" panose="02020603050405020304" pitchFamily="18" charset="0"/>
                <a:cs typeface="Times New Roman" panose="02020603050405020304" pitchFamily="18" charset="0"/>
              </a:rPr>
              <a:t>error rate</a:t>
            </a:r>
          </a:p>
          <a:p>
            <a:pPr algn="l">
              <a:lnSpc>
                <a:spcPct val="120000"/>
              </a:lnSpc>
              <a:buFont typeface="Wingdings" panose="05000000000000000000" pitchFamily="2" charset="2"/>
              <a:buChar char="ü"/>
            </a:pPr>
            <a:r>
              <a:rPr lang="en-US" sz="1800" b="0" i="0" dirty="0">
                <a:solidFill>
                  <a:srgbClr val="333333"/>
                </a:solidFill>
                <a:effectLst/>
                <a:latin typeface="Times New Roman" panose="02020603050405020304" pitchFamily="18" charset="0"/>
                <a:cs typeface="Times New Roman" panose="02020603050405020304" pitchFamily="18" charset="0"/>
              </a:rPr>
              <a:t>throughput</a:t>
            </a:r>
          </a:p>
          <a:p>
            <a:pPr algn="l">
              <a:lnSpc>
                <a:spcPct val="120000"/>
              </a:lnSpc>
              <a:buFont typeface="Wingdings" panose="05000000000000000000" pitchFamily="2" charset="2"/>
              <a:buChar char="ü"/>
            </a:pPr>
            <a:r>
              <a:rPr lang="en-US" sz="1800" b="0" i="0" dirty="0">
                <a:solidFill>
                  <a:srgbClr val="333333"/>
                </a:solidFill>
                <a:effectLst/>
                <a:latin typeface="Times New Roman" panose="02020603050405020304" pitchFamily="18" charset="0"/>
                <a:cs typeface="Times New Roman" panose="02020603050405020304" pitchFamily="18" charset="0"/>
              </a:rPr>
              <a:t>user response time</a:t>
            </a:r>
          </a:p>
          <a:p>
            <a:pPr algn="l">
              <a:lnSpc>
                <a:spcPct val="120000"/>
              </a:lnSpc>
              <a:buFont typeface="Wingdings" panose="05000000000000000000" pitchFamily="2" charset="2"/>
              <a:buChar char="ü"/>
            </a:pPr>
            <a:r>
              <a:rPr lang="en-US" sz="1800" b="0" i="0" dirty="0">
                <a:solidFill>
                  <a:srgbClr val="333333"/>
                </a:solidFill>
                <a:effectLst/>
                <a:latin typeface="Times New Roman" panose="02020603050405020304" pitchFamily="18" charset="0"/>
                <a:cs typeface="Times New Roman" panose="02020603050405020304" pitchFamily="18" charset="0"/>
              </a:rPr>
              <a:t>pages with low load speed</a:t>
            </a:r>
          </a:p>
          <a:p>
            <a:pPr algn="l">
              <a:lnSpc>
                <a:spcPct val="120000"/>
              </a:lnSpc>
              <a:buFont typeface="Wingdings" panose="05000000000000000000" pitchFamily="2" charset="2"/>
              <a:buChar char="ü"/>
            </a:pPr>
            <a:r>
              <a:rPr lang="en-US" sz="1800" b="0" i="0" dirty="0">
                <a:solidFill>
                  <a:srgbClr val="333333"/>
                </a:solidFill>
                <a:effectLst/>
                <a:latin typeface="Times New Roman" panose="02020603050405020304" pitchFamily="18" charset="0"/>
                <a:cs typeface="Times New Roman" panose="02020603050405020304" pitchFamily="18" charset="0"/>
              </a:rPr>
              <a:t>third-party resource speed</a:t>
            </a:r>
          </a:p>
          <a:p>
            <a:pPr algn="l">
              <a:lnSpc>
                <a:spcPct val="120000"/>
              </a:lnSpc>
              <a:buFont typeface="Wingdings" panose="05000000000000000000" pitchFamily="2" charset="2"/>
              <a:buChar char="ü"/>
            </a:pPr>
            <a:r>
              <a:rPr lang="en-US" sz="1800" b="0" i="0" dirty="0">
                <a:solidFill>
                  <a:srgbClr val="333333"/>
                </a:solidFill>
                <a:effectLst/>
                <a:latin typeface="Times New Roman" panose="02020603050405020304" pitchFamily="18" charset="0"/>
                <a:cs typeface="Times New Roman" panose="02020603050405020304" pitchFamily="18" charset="0"/>
              </a:rPr>
              <a:t>browser speed</a:t>
            </a:r>
          </a:p>
          <a:p>
            <a:pPr algn="l">
              <a:lnSpc>
                <a:spcPct val="120000"/>
              </a:lnSpc>
              <a:buFont typeface="Wingdings" panose="05000000000000000000" pitchFamily="2" charset="2"/>
              <a:buChar char="ü"/>
            </a:pPr>
            <a:r>
              <a:rPr lang="en-US" sz="1800" b="0" i="0" dirty="0">
                <a:solidFill>
                  <a:srgbClr val="333333"/>
                </a:solidFill>
                <a:effectLst/>
                <a:latin typeface="Times New Roman" panose="02020603050405020304" pitchFamily="18" charset="0"/>
                <a:cs typeface="Times New Roman" panose="02020603050405020304" pitchFamily="18" charset="0"/>
              </a:rPr>
              <a:t>end-user transactions</a:t>
            </a:r>
          </a:p>
          <a:p>
            <a:pPr algn="l">
              <a:lnSpc>
                <a:spcPct val="120000"/>
              </a:lnSpc>
              <a:buFont typeface="Wingdings" panose="05000000000000000000" pitchFamily="2" charset="2"/>
              <a:buChar char="ü"/>
            </a:pPr>
            <a:r>
              <a:rPr lang="en-US" sz="1800" b="0" i="0" dirty="0">
                <a:solidFill>
                  <a:srgbClr val="333333"/>
                </a:solidFill>
                <a:effectLst/>
                <a:latin typeface="Times New Roman" panose="02020603050405020304" pitchFamily="18" charset="0"/>
                <a:cs typeface="Times New Roman" panose="02020603050405020304" pitchFamily="18" charset="0"/>
              </a:rPr>
              <a:t>SLA status</a:t>
            </a:r>
          </a:p>
          <a:p>
            <a:pPr algn="l">
              <a:lnSpc>
                <a:spcPct val="120000"/>
              </a:lnSpc>
              <a:buFont typeface="Wingdings" panose="05000000000000000000" pitchFamily="2" charset="2"/>
              <a:buChar char="ü"/>
            </a:pPr>
            <a:endParaRPr lang="en-US" sz="1800" b="0" i="0" dirty="0">
              <a:solidFill>
                <a:srgbClr val="333333"/>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66163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875434-FA0E-4F2E-8A1F-8250A752AD8A}"/>
              </a:ext>
            </a:extLst>
          </p:cNvPr>
          <p:cNvSpPr txBox="1"/>
          <p:nvPr/>
        </p:nvSpPr>
        <p:spPr>
          <a:xfrm>
            <a:off x="318782" y="176169"/>
            <a:ext cx="11744587" cy="6771084"/>
          </a:xfrm>
          <a:prstGeom prst="rect">
            <a:avLst/>
          </a:prstGeom>
          <a:noFill/>
        </p:spPr>
        <p:txBody>
          <a:bodyPr wrap="square">
            <a:spAutoFit/>
          </a:bodyPr>
          <a:lstStyle/>
          <a:p>
            <a:pPr algn="l"/>
            <a:r>
              <a:rPr lang="en-US" sz="2000" b="1" i="0" dirty="0">
                <a:solidFill>
                  <a:srgbClr val="333333"/>
                </a:solidFill>
                <a:effectLst/>
                <a:latin typeface="Times New Roman" panose="02020603050405020304" pitchFamily="18" charset="0"/>
                <a:cs typeface="Times New Roman" panose="02020603050405020304" pitchFamily="18" charset="0"/>
              </a:rPr>
              <a:t>Network Monitoring:</a:t>
            </a:r>
            <a:r>
              <a:rPr lang="en-US" sz="2000" b="0" i="0" dirty="0">
                <a:solidFill>
                  <a:srgbClr val="333333"/>
                </a:solidFill>
                <a:effectLst/>
                <a:latin typeface="Times New Roman" panose="02020603050405020304" pitchFamily="18" charset="0"/>
                <a:cs typeface="Times New Roman" panose="02020603050405020304" pitchFamily="18" charset="0"/>
              </a:rPr>
              <a:t> Tool must monitor:</a:t>
            </a:r>
          </a:p>
          <a:p>
            <a:pPr marL="342900" indent="-342900" algn="l">
              <a:lnSpc>
                <a:spcPct val="150000"/>
              </a:lnSpc>
              <a:buFont typeface="Wingdings" panose="05000000000000000000" pitchFamily="2" charset="2"/>
              <a:buChar char="ü"/>
            </a:pPr>
            <a:r>
              <a:rPr lang="en-US" sz="2000" b="0" i="0" dirty="0">
                <a:solidFill>
                  <a:srgbClr val="333333"/>
                </a:solidFill>
                <a:effectLst/>
                <a:latin typeface="Times New Roman" panose="02020603050405020304" pitchFamily="18" charset="0"/>
                <a:cs typeface="Times New Roman" panose="02020603050405020304" pitchFamily="18" charset="0"/>
              </a:rPr>
              <a:t>Latency</a:t>
            </a:r>
          </a:p>
          <a:p>
            <a:pPr marL="342900" indent="-342900" algn="l">
              <a:lnSpc>
                <a:spcPct val="150000"/>
              </a:lnSpc>
              <a:buFont typeface="Wingdings" panose="05000000000000000000" pitchFamily="2" charset="2"/>
              <a:buChar char="ü"/>
            </a:pPr>
            <a:r>
              <a:rPr lang="en-US" sz="2000" b="0" i="0" dirty="0">
                <a:solidFill>
                  <a:srgbClr val="333333"/>
                </a:solidFill>
                <a:effectLst/>
                <a:latin typeface="Times New Roman" panose="02020603050405020304" pitchFamily="18" charset="0"/>
                <a:cs typeface="Times New Roman" panose="02020603050405020304" pitchFamily="18" charset="0"/>
              </a:rPr>
              <a:t>Multiple port level metrics</a:t>
            </a:r>
          </a:p>
          <a:p>
            <a:pPr marL="342900" indent="-342900" algn="l">
              <a:lnSpc>
                <a:spcPct val="150000"/>
              </a:lnSpc>
              <a:buFont typeface="Wingdings" panose="05000000000000000000" pitchFamily="2" charset="2"/>
              <a:buChar char="ü"/>
            </a:pPr>
            <a:r>
              <a:rPr lang="en-US" sz="2000" b="0" i="0" dirty="0">
                <a:solidFill>
                  <a:srgbClr val="333333"/>
                </a:solidFill>
                <a:effectLst/>
                <a:latin typeface="Times New Roman" panose="02020603050405020304" pitchFamily="18" charset="0"/>
                <a:cs typeface="Times New Roman" panose="02020603050405020304" pitchFamily="18" charset="0"/>
              </a:rPr>
              <a:t>Server bandwidth</a:t>
            </a:r>
          </a:p>
          <a:p>
            <a:pPr marL="342900" indent="-342900" algn="l">
              <a:lnSpc>
                <a:spcPct val="150000"/>
              </a:lnSpc>
              <a:buFont typeface="Wingdings" panose="05000000000000000000" pitchFamily="2" charset="2"/>
              <a:buChar char="ü"/>
            </a:pPr>
            <a:r>
              <a:rPr lang="en-US" sz="2000" b="0" i="0" dirty="0">
                <a:solidFill>
                  <a:srgbClr val="333333"/>
                </a:solidFill>
                <a:effectLst/>
                <a:latin typeface="Times New Roman" panose="02020603050405020304" pitchFamily="18" charset="0"/>
                <a:cs typeface="Times New Roman" panose="02020603050405020304" pitchFamily="18" charset="0"/>
              </a:rPr>
              <a:t>CPU use of hosts</a:t>
            </a:r>
          </a:p>
          <a:p>
            <a:pPr marL="342900" indent="-342900" algn="l">
              <a:lnSpc>
                <a:spcPct val="150000"/>
              </a:lnSpc>
              <a:buFont typeface="Wingdings" panose="05000000000000000000" pitchFamily="2" charset="2"/>
              <a:buChar char="ü"/>
            </a:pPr>
            <a:r>
              <a:rPr lang="en-US" sz="2000" b="0" i="0" dirty="0">
                <a:solidFill>
                  <a:srgbClr val="333333"/>
                </a:solidFill>
                <a:effectLst/>
                <a:latin typeface="Times New Roman" panose="02020603050405020304" pitchFamily="18" charset="0"/>
                <a:cs typeface="Times New Roman" panose="02020603050405020304" pitchFamily="18" charset="0"/>
              </a:rPr>
              <a:t>Network packets flow</a:t>
            </a:r>
          </a:p>
          <a:p>
            <a:pPr algn="l"/>
            <a:r>
              <a:rPr lang="en-US" sz="2400" dirty="0">
                <a:solidFill>
                  <a:srgbClr val="00B0F0"/>
                </a:solidFill>
                <a:latin typeface="Times New Roman" panose="02020603050405020304" pitchFamily="18" charset="0"/>
                <a:cs typeface="Times New Roman" panose="02020603050405020304" pitchFamily="18" charset="0"/>
              </a:rPr>
              <a:t>Apart from these, following things also important to monitor in Continues monitoring…</a:t>
            </a:r>
          </a:p>
          <a:p>
            <a:pPr marL="342900" indent="-342900">
              <a:lnSpc>
                <a:spcPct val="150000"/>
              </a:lnSpc>
              <a:buFont typeface="Wingdings" panose="05000000000000000000" pitchFamily="2" charset="2"/>
              <a:buChar char="Ø"/>
            </a:pPr>
            <a:r>
              <a:rPr lang="en-US" sz="2400" b="0" i="0" dirty="0">
                <a:solidFill>
                  <a:srgbClr val="7030A0"/>
                </a:solidFill>
                <a:effectLst/>
                <a:latin typeface="myriad-pro"/>
              </a:rPr>
              <a:t>Server status and health</a:t>
            </a:r>
          </a:p>
          <a:p>
            <a:pPr marL="342900" indent="-342900">
              <a:lnSpc>
                <a:spcPct val="150000"/>
              </a:lnSpc>
              <a:buFont typeface="Wingdings" panose="05000000000000000000" pitchFamily="2" charset="2"/>
              <a:buChar char="Ø"/>
            </a:pPr>
            <a:r>
              <a:rPr lang="en-US" sz="2400" b="0" i="0" dirty="0">
                <a:solidFill>
                  <a:srgbClr val="7030A0"/>
                </a:solidFill>
                <a:effectLst/>
                <a:latin typeface="myriad-pro"/>
              </a:rPr>
              <a:t>Application performance log</a:t>
            </a:r>
          </a:p>
          <a:p>
            <a:pPr marL="342900" indent="-342900">
              <a:lnSpc>
                <a:spcPct val="150000"/>
              </a:lnSpc>
              <a:buFont typeface="Wingdings" panose="05000000000000000000" pitchFamily="2" charset="2"/>
              <a:buChar char="Ø"/>
            </a:pPr>
            <a:r>
              <a:rPr lang="en-US" sz="2400" b="0" i="0" dirty="0">
                <a:solidFill>
                  <a:srgbClr val="7030A0"/>
                </a:solidFill>
                <a:effectLst/>
                <a:latin typeface="myriad-pro"/>
              </a:rPr>
              <a:t>System vulnerabilities</a:t>
            </a:r>
          </a:p>
          <a:p>
            <a:pPr marL="342900" indent="-342900">
              <a:lnSpc>
                <a:spcPct val="150000"/>
              </a:lnSpc>
              <a:buFont typeface="Wingdings" panose="05000000000000000000" pitchFamily="2" charset="2"/>
              <a:buChar char="Ø"/>
            </a:pPr>
            <a:r>
              <a:rPr lang="en-US" sz="2400" b="0" i="0" dirty="0">
                <a:solidFill>
                  <a:srgbClr val="7030A0"/>
                </a:solidFill>
                <a:effectLst/>
                <a:latin typeface="myriad-pro"/>
              </a:rPr>
              <a:t>Development milestones</a:t>
            </a:r>
          </a:p>
          <a:p>
            <a:pPr marL="342900" indent="-342900">
              <a:lnSpc>
                <a:spcPct val="150000"/>
              </a:lnSpc>
              <a:buFont typeface="Wingdings" panose="05000000000000000000" pitchFamily="2" charset="2"/>
              <a:buChar char="Ø"/>
            </a:pPr>
            <a:r>
              <a:rPr lang="en-US" sz="2400" b="0" i="0" dirty="0">
                <a:solidFill>
                  <a:srgbClr val="7030A0"/>
                </a:solidFill>
                <a:effectLst/>
                <a:latin typeface="myriad-pro"/>
              </a:rPr>
              <a:t>User activity/behavior</a:t>
            </a:r>
            <a:endParaRPr lang="en-SG" sz="2400" dirty="0">
              <a:solidFill>
                <a:srgbClr val="7030A0"/>
              </a:solidFill>
            </a:endParaRPr>
          </a:p>
          <a:p>
            <a:pPr marL="342900" indent="-342900" algn="l">
              <a:lnSpc>
                <a:spcPct val="150000"/>
              </a:lnSpc>
              <a:buFont typeface="Wingdings" panose="05000000000000000000" pitchFamily="2" charset="2"/>
              <a:buChar char="ü"/>
            </a:pPr>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just"/>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35644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592428"/>
          </a:xfrm>
        </p:spPr>
        <p:txBody>
          <a:bodyPr>
            <a:normAutofit fontScale="90000"/>
          </a:bodyPr>
          <a:lstStyle/>
          <a:p>
            <a:br>
              <a:rPr lang="en-IN" b="1" dirty="0"/>
            </a:br>
            <a:r>
              <a:rPr lang="en-IN" b="1" i="1" dirty="0">
                <a:solidFill>
                  <a:srgbClr val="FF0000"/>
                </a:solidFill>
                <a:latin typeface="Times New Roman" panose="02020603050405020304" pitchFamily="18" charset="0"/>
                <a:cs typeface="Times New Roman" panose="02020603050405020304" pitchFamily="18" charset="0"/>
              </a:rPr>
              <a:t>Nagios</a:t>
            </a:r>
            <a:br>
              <a:rPr lang="en-IN" b="1" i="1" dirty="0">
                <a:solidFill>
                  <a:srgbClr val="FF0000"/>
                </a:solidFill>
                <a:latin typeface="Times New Roman" panose="02020603050405020304" pitchFamily="18" charset="0"/>
                <a:cs typeface="Times New Roman" panose="02020603050405020304" pitchFamily="18" charset="0"/>
              </a:rPr>
            </a:br>
            <a:endParaRPr lang="en-IN" b="1" i="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592428"/>
            <a:ext cx="12192000" cy="6265572"/>
          </a:xfrm>
        </p:spPr>
        <p:txBody>
          <a:bodyPr>
            <a:noAutofit/>
          </a:bodyPr>
          <a:lstStyle/>
          <a:p>
            <a:pPr>
              <a:buFont typeface="Wingdings" panose="05000000000000000000" pitchFamily="2" charset="2"/>
              <a:buChar char="q"/>
            </a:pPr>
            <a:r>
              <a:rPr lang="en-IN" sz="2400" b="1" u="sng" dirty="0">
                <a:latin typeface="Times New Roman" panose="02020603050405020304" pitchFamily="18" charset="0"/>
                <a:cs typeface="Times New Roman" panose="02020603050405020304" pitchFamily="18" charset="0"/>
              </a:rPr>
              <a:t>What is Nagios?</a:t>
            </a:r>
          </a:p>
          <a:p>
            <a:pPr algn="just"/>
            <a:r>
              <a:rPr lang="en-IN" sz="2400" b="1" dirty="0">
                <a:latin typeface="Times New Roman" panose="02020603050405020304" pitchFamily="18" charset="0"/>
                <a:cs typeface="Times New Roman" panose="02020603050405020304" pitchFamily="18" charset="0"/>
              </a:rPr>
              <a:t>Nagios</a:t>
            </a:r>
            <a:r>
              <a:rPr lang="en-IN" sz="2400" dirty="0">
                <a:latin typeface="Times New Roman" panose="02020603050405020304" pitchFamily="18" charset="0"/>
                <a:cs typeface="Times New Roman" panose="02020603050405020304" pitchFamily="18" charset="0"/>
              </a:rPr>
              <a:t> is an </a:t>
            </a:r>
            <a:r>
              <a:rPr lang="en-IN" sz="2400" dirty="0">
                <a:solidFill>
                  <a:srgbClr val="FF0000"/>
                </a:solidFill>
                <a:latin typeface="Times New Roman" panose="02020603050405020304" pitchFamily="18" charset="0"/>
                <a:cs typeface="Times New Roman" panose="02020603050405020304" pitchFamily="18" charset="0"/>
              </a:rPr>
              <a:t>open source software for continuous monitoring of systems, , applications. networks, infrastructures, </a:t>
            </a:r>
            <a:r>
              <a:rPr lang="en-IN" sz="2400" dirty="0">
                <a:latin typeface="Times New Roman" panose="02020603050405020304" pitchFamily="18" charset="0"/>
                <a:cs typeface="Times New Roman" panose="02020603050405020304" pitchFamily="18" charset="0"/>
              </a:rPr>
              <a:t>services, and business processes </a:t>
            </a:r>
            <a:r>
              <a:rPr lang="en-IN" sz="2400" dirty="0" err="1">
                <a:latin typeface="Times New Roman" panose="02020603050405020304" pitchFamily="18" charset="0"/>
                <a:cs typeface="Times New Roman" panose="02020603050405020304" pitchFamily="18" charset="0"/>
              </a:rPr>
              <a:t>etc</a:t>
            </a:r>
            <a:r>
              <a:rPr lang="en-IN" sz="2400" dirty="0">
                <a:latin typeface="Times New Roman" panose="02020603050405020304" pitchFamily="18" charset="0"/>
                <a:cs typeface="Times New Roman" panose="02020603050405020304" pitchFamily="18" charset="0"/>
              </a:rPr>
              <a:t> , in a DevOps culture.</a:t>
            </a:r>
          </a:p>
          <a:p>
            <a:pPr marL="0" indent="0" algn="just">
              <a:buNone/>
            </a:pP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In </a:t>
            </a:r>
            <a:r>
              <a:rPr lang="en-IN" sz="2400" dirty="0">
                <a:solidFill>
                  <a:srgbClr val="FF0000"/>
                </a:solidFill>
                <a:latin typeface="Times New Roman" panose="02020603050405020304" pitchFamily="18" charset="0"/>
                <a:cs typeface="Times New Roman" panose="02020603050405020304" pitchFamily="18" charset="0"/>
              </a:rPr>
              <a:t>the event of a failure, Nagios can alert technical staff of the problem</a:t>
            </a:r>
            <a:r>
              <a:rPr lang="en-IN" sz="2400" dirty="0">
                <a:latin typeface="Times New Roman" panose="02020603050405020304" pitchFamily="18" charset="0"/>
                <a:cs typeface="Times New Roman" panose="02020603050405020304" pitchFamily="18" charset="0"/>
              </a:rPr>
              <a:t>, allowing them to begin remediation processes </a:t>
            </a:r>
            <a:r>
              <a:rPr lang="en-IN" sz="2400" dirty="0">
                <a:solidFill>
                  <a:srgbClr val="FF0000"/>
                </a:solidFill>
                <a:latin typeface="Times New Roman" panose="02020603050405020304" pitchFamily="18" charset="0"/>
                <a:cs typeface="Times New Roman" panose="02020603050405020304" pitchFamily="18" charset="0"/>
              </a:rPr>
              <a:t>before outages affect business processes, end-users, or customers</a:t>
            </a:r>
            <a:r>
              <a:rPr lang="en-IN" sz="2400" dirty="0">
                <a:latin typeface="Times New Roman" panose="02020603050405020304" pitchFamily="18" charset="0"/>
                <a:cs typeface="Times New Roman" panose="02020603050405020304" pitchFamily="18" charset="0"/>
              </a:rPr>
              <a:t>. With Nagios, you don’t have to explain why an unseen infrastructure outage affect your organization’s bottom line.</a:t>
            </a:r>
          </a:p>
          <a:p>
            <a:pPr marL="0" indent="0" algn="just">
              <a:buNone/>
            </a:pP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It </a:t>
            </a:r>
            <a:r>
              <a:rPr lang="en-IN" sz="2400" dirty="0">
                <a:solidFill>
                  <a:srgbClr val="FF0000"/>
                </a:solidFill>
                <a:latin typeface="Times New Roman" panose="02020603050405020304" pitchFamily="18" charset="0"/>
                <a:cs typeface="Times New Roman" panose="02020603050405020304" pitchFamily="18" charset="0"/>
              </a:rPr>
              <a:t>runs plugins stored on a server which is connected with a host or another server on your network or the Internet</a:t>
            </a:r>
            <a:r>
              <a:rPr lang="en-IN" sz="2400" dirty="0">
                <a:latin typeface="Times New Roman" panose="02020603050405020304" pitchFamily="18" charset="0"/>
                <a:cs typeface="Times New Roman" panose="02020603050405020304" pitchFamily="18" charset="0"/>
              </a:rPr>
              <a:t>. In case of any failure, Nagios alerts about the issues so that the technical team can perform recovery process immediately.</a:t>
            </a:r>
          </a:p>
          <a:p>
            <a:pPr marL="0" indent="0" algn="just">
              <a:buNone/>
            </a:pP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0517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F4FE57-9DF6-4AE5-83B4-7374B9C0CF50}"/>
              </a:ext>
            </a:extLst>
          </p:cNvPr>
          <p:cNvSpPr txBox="1"/>
          <p:nvPr/>
        </p:nvSpPr>
        <p:spPr>
          <a:xfrm>
            <a:off x="0" y="0"/>
            <a:ext cx="12084148" cy="5509200"/>
          </a:xfrm>
          <a:prstGeom prst="rect">
            <a:avLst/>
          </a:prstGeom>
          <a:noFill/>
        </p:spPr>
        <p:txBody>
          <a:bodyPr wrap="square">
            <a:spAutoFit/>
          </a:bodyPr>
          <a:lstStyle/>
          <a:p>
            <a:pPr algn="just"/>
            <a:r>
              <a:rPr lang="en-IN" sz="2400" dirty="0">
                <a:latin typeface="Times New Roman" panose="02020603050405020304" pitchFamily="18" charset="0"/>
                <a:cs typeface="Times New Roman" panose="02020603050405020304" pitchFamily="18" charset="0"/>
              </a:rPr>
              <a:t>Nagios </a:t>
            </a:r>
            <a:r>
              <a:rPr lang="en-IN" sz="2400" dirty="0">
                <a:solidFill>
                  <a:srgbClr val="FF0000"/>
                </a:solidFill>
                <a:latin typeface="Times New Roman" panose="02020603050405020304" pitchFamily="18" charset="0"/>
                <a:cs typeface="Times New Roman" panose="02020603050405020304" pitchFamily="18" charset="0"/>
              </a:rPr>
              <a:t>software runs periodic checks on critical parameters of application, network and server resources.</a:t>
            </a:r>
          </a:p>
          <a:p>
            <a:pPr algn="just"/>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For example, Nagios can monitor </a:t>
            </a:r>
            <a:r>
              <a:rPr lang="en-IN" sz="2400" u="sng" dirty="0">
                <a:solidFill>
                  <a:srgbClr val="FF0000"/>
                </a:solidFill>
                <a:latin typeface="Times New Roman" panose="02020603050405020304" pitchFamily="18" charset="0"/>
                <a:cs typeface="Times New Roman" panose="02020603050405020304" pitchFamily="18" charset="0"/>
              </a:rPr>
              <a:t>memory</a:t>
            </a:r>
            <a:r>
              <a:rPr lang="en-IN" sz="2400" dirty="0">
                <a:solidFill>
                  <a:srgbClr val="FF0000"/>
                </a:solidFill>
                <a:latin typeface="Times New Roman" panose="02020603050405020304" pitchFamily="18" charset="0"/>
                <a:cs typeface="Times New Roman" panose="02020603050405020304" pitchFamily="18" charset="0"/>
              </a:rPr>
              <a:t> usage, disk usage, microprocessor load, the number of currently running </a:t>
            </a:r>
            <a:r>
              <a:rPr lang="en-IN" sz="2400" u="sng" dirty="0">
                <a:solidFill>
                  <a:srgbClr val="FF0000"/>
                </a:solidFill>
                <a:latin typeface="Times New Roman" panose="02020603050405020304" pitchFamily="18" charset="0"/>
                <a:cs typeface="Times New Roman" panose="02020603050405020304" pitchFamily="18" charset="0"/>
              </a:rPr>
              <a:t>processes</a:t>
            </a:r>
            <a:r>
              <a:rPr lang="en-IN" sz="2400" dirty="0">
                <a:solidFill>
                  <a:srgbClr val="FF0000"/>
                </a:solidFill>
                <a:latin typeface="Times New Roman" panose="02020603050405020304" pitchFamily="18" charset="0"/>
                <a:cs typeface="Times New Roman" panose="02020603050405020304" pitchFamily="18" charset="0"/>
              </a:rPr>
              <a:t> and log files. </a:t>
            </a:r>
          </a:p>
          <a:p>
            <a:pPr algn="just"/>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Nagios also can monitor services, such as Simple Mail Transfer Protocol (</a:t>
            </a:r>
            <a:r>
              <a:rPr lang="en-IN" sz="2400" u="sng" dirty="0">
                <a:latin typeface="Times New Roman" panose="02020603050405020304" pitchFamily="18" charset="0"/>
                <a:cs typeface="Times New Roman" panose="02020603050405020304" pitchFamily="18" charset="0"/>
              </a:rPr>
              <a:t>SMTP</a:t>
            </a:r>
            <a:r>
              <a:rPr lang="en-IN" sz="2400" dirty="0">
                <a:latin typeface="Times New Roman" panose="02020603050405020304" pitchFamily="18" charset="0"/>
                <a:cs typeface="Times New Roman" panose="02020603050405020304" pitchFamily="18" charset="0"/>
              </a:rPr>
              <a:t>), Post Office Protocol 3 (</a:t>
            </a:r>
            <a:r>
              <a:rPr lang="en-IN" sz="2400" u="sng" dirty="0">
                <a:latin typeface="Times New Roman" panose="02020603050405020304" pitchFamily="18" charset="0"/>
                <a:cs typeface="Times New Roman" panose="02020603050405020304" pitchFamily="18" charset="0"/>
              </a:rPr>
              <a:t>POP3</a:t>
            </a:r>
            <a:r>
              <a:rPr lang="en-IN" sz="2400" dirty="0">
                <a:latin typeface="Times New Roman" panose="02020603050405020304" pitchFamily="18" charset="0"/>
                <a:cs typeface="Times New Roman" panose="02020603050405020304" pitchFamily="18" charset="0"/>
              </a:rPr>
              <a:t>), Hypertext Transfer Protocol (</a:t>
            </a:r>
            <a:r>
              <a:rPr lang="en-IN" sz="2400" u="sng" dirty="0">
                <a:latin typeface="Times New Roman" panose="02020603050405020304" pitchFamily="18" charset="0"/>
                <a:cs typeface="Times New Roman" panose="02020603050405020304" pitchFamily="18" charset="0"/>
              </a:rPr>
              <a:t>HTTP</a:t>
            </a:r>
            <a:r>
              <a:rPr lang="en-IN" sz="2400" dirty="0">
                <a:latin typeface="Times New Roman" panose="02020603050405020304" pitchFamily="18" charset="0"/>
                <a:cs typeface="Times New Roman" panose="02020603050405020304" pitchFamily="18" charset="0"/>
              </a:rPr>
              <a:t>) and other common network protocols. </a:t>
            </a:r>
          </a:p>
          <a:p>
            <a:pPr algn="just"/>
            <a:endParaRPr lang="en-US" sz="2000" b="0" i="0" dirty="0">
              <a:solidFill>
                <a:srgbClr val="0070C0"/>
              </a:solidFill>
              <a:effectLst/>
              <a:latin typeface="Times New Roman" panose="02020603050405020304" pitchFamily="18" charset="0"/>
              <a:cs typeface="Times New Roman" panose="02020603050405020304" pitchFamily="18" charset="0"/>
            </a:endParaRPr>
          </a:p>
          <a:p>
            <a:pPr algn="just"/>
            <a:endParaRPr lang="en-US" sz="2000" dirty="0">
              <a:solidFill>
                <a:srgbClr val="0070C0"/>
              </a:solidFill>
              <a:latin typeface="Times New Roman" panose="02020603050405020304" pitchFamily="18" charset="0"/>
              <a:cs typeface="Times New Roman" panose="02020603050405020304" pitchFamily="18" charset="0"/>
            </a:endParaRPr>
          </a:p>
          <a:p>
            <a:pPr algn="just"/>
            <a:r>
              <a:rPr lang="en-US" sz="2000" b="0" i="0" dirty="0">
                <a:solidFill>
                  <a:srgbClr val="0070C0"/>
                </a:solidFill>
                <a:effectLst/>
                <a:latin typeface="Times New Roman" panose="02020603050405020304" pitchFamily="18" charset="0"/>
                <a:cs typeface="Times New Roman" panose="02020603050405020304" pitchFamily="18" charset="0"/>
              </a:rPr>
              <a:t>SMTP, which stands for </a:t>
            </a:r>
            <a:r>
              <a:rPr lang="en-US" sz="2000" b="1" i="0" dirty="0">
                <a:solidFill>
                  <a:srgbClr val="0070C0"/>
                </a:solidFill>
                <a:effectLst/>
                <a:latin typeface="Times New Roman" panose="02020603050405020304" pitchFamily="18" charset="0"/>
                <a:cs typeface="Times New Roman" panose="02020603050405020304" pitchFamily="18" charset="0"/>
              </a:rPr>
              <a:t>Simple Mail Transfer Protocol</a:t>
            </a:r>
            <a:r>
              <a:rPr lang="en-US" sz="2000" b="0" i="0" dirty="0">
                <a:solidFill>
                  <a:srgbClr val="0070C0"/>
                </a:solidFill>
                <a:effectLst/>
                <a:latin typeface="Times New Roman" panose="02020603050405020304" pitchFamily="18" charset="0"/>
                <a:cs typeface="Times New Roman" panose="02020603050405020304" pitchFamily="18" charset="0"/>
              </a:rPr>
              <a:t>, is an email protocol used for sending email messages from one email account to another via the internet.</a:t>
            </a:r>
          </a:p>
          <a:p>
            <a:pPr algn="just"/>
            <a:endParaRPr lang="en-US" sz="2000" dirty="0">
              <a:solidFill>
                <a:srgbClr val="0070C0"/>
              </a:solidFill>
              <a:latin typeface="Times New Roman" panose="02020603050405020304" pitchFamily="18" charset="0"/>
              <a:cs typeface="Times New Roman" panose="02020603050405020304" pitchFamily="18" charset="0"/>
            </a:endParaRPr>
          </a:p>
          <a:p>
            <a:pPr algn="just"/>
            <a:r>
              <a:rPr lang="en-US" sz="2000" b="1" i="0" dirty="0">
                <a:solidFill>
                  <a:srgbClr val="0070C0"/>
                </a:solidFill>
                <a:effectLst/>
                <a:latin typeface="Times New Roman" panose="02020603050405020304" pitchFamily="18" charset="0"/>
                <a:cs typeface="Times New Roman" panose="02020603050405020304" pitchFamily="18" charset="0"/>
              </a:rPr>
              <a:t>Post Office Protocol 3</a:t>
            </a:r>
            <a:r>
              <a:rPr lang="en-US" sz="2000" b="0" i="0" dirty="0">
                <a:solidFill>
                  <a:srgbClr val="0070C0"/>
                </a:solidFill>
                <a:effectLst/>
                <a:latin typeface="Times New Roman" panose="02020603050405020304" pitchFamily="18" charset="0"/>
                <a:cs typeface="Times New Roman" panose="02020603050405020304" pitchFamily="18" charset="0"/>
              </a:rPr>
              <a:t>, or </a:t>
            </a:r>
            <a:r>
              <a:rPr lang="en-US" sz="2000" b="1" i="0" dirty="0">
                <a:solidFill>
                  <a:srgbClr val="0070C0"/>
                </a:solidFill>
                <a:effectLst/>
                <a:latin typeface="Times New Roman" panose="02020603050405020304" pitchFamily="18" charset="0"/>
                <a:cs typeface="Times New Roman" panose="02020603050405020304" pitchFamily="18" charset="0"/>
              </a:rPr>
              <a:t>POP3</a:t>
            </a:r>
            <a:r>
              <a:rPr lang="en-US" sz="2000" b="0" i="0" dirty="0">
                <a:solidFill>
                  <a:srgbClr val="0070C0"/>
                </a:solidFill>
                <a:effectLst/>
                <a:latin typeface="Times New Roman" panose="02020603050405020304" pitchFamily="18" charset="0"/>
                <a:cs typeface="Times New Roman" panose="02020603050405020304" pitchFamily="18" charset="0"/>
              </a:rPr>
              <a:t>, is the most commonly used protocol for receiving email over the internet.</a:t>
            </a:r>
          </a:p>
          <a:p>
            <a:pPr algn="just"/>
            <a:endParaRPr lang="en-US" sz="2000" dirty="0">
              <a:solidFill>
                <a:srgbClr val="0070C0"/>
              </a:solidFill>
              <a:latin typeface="Times New Roman" panose="02020603050405020304" pitchFamily="18" charset="0"/>
              <a:cs typeface="Times New Roman" panose="02020603050405020304" pitchFamily="18" charset="0"/>
            </a:endParaRPr>
          </a:p>
          <a:p>
            <a:pPr algn="just"/>
            <a:r>
              <a:rPr lang="en-US" sz="2000" b="0" i="0" dirty="0">
                <a:solidFill>
                  <a:srgbClr val="0070C0"/>
                </a:solidFill>
                <a:effectLst/>
                <a:latin typeface="Times New Roman" panose="02020603050405020304" pitchFamily="18" charset="0"/>
                <a:cs typeface="Times New Roman" panose="02020603050405020304" pitchFamily="18" charset="0"/>
              </a:rPr>
              <a:t>HTTP is the standard 'language' used to communicate between web browsers and website servers. </a:t>
            </a:r>
            <a:endParaRPr lang="en-IN" sz="20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16757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a:buFont typeface="Wingdings" panose="05000000000000000000" pitchFamily="2" charset="2"/>
              <a:buChar char="q"/>
            </a:pPr>
            <a:r>
              <a:rPr lang="en-IN" sz="3200" b="1" u="sng" dirty="0">
                <a:latin typeface="Times New Roman" panose="02020603050405020304" pitchFamily="18" charset="0"/>
                <a:cs typeface="Times New Roman" panose="02020603050405020304" pitchFamily="18" charset="0"/>
              </a:rPr>
              <a:t>Why We Need Nagios tool?</a:t>
            </a:r>
          </a:p>
          <a:p>
            <a:pPr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Detects all </a:t>
            </a:r>
            <a:r>
              <a:rPr lang="en-IN" sz="2000" dirty="0">
                <a:solidFill>
                  <a:srgbClr val="FF0000"/>
                </a:solidFill>
                <a:latin typeface="Times New Roman" panose="02020603050405020304" pitchFamily="18" charset="0"/>
                <a:cs typeface="Times New Roman" panose="02020603050405020304" pitchFamily="18" charset="0"/>
              </a:rPr>
              <a:t>types of network or server issues</a:t>
            </a:r>
          </a:p>
          <a:p>
            <a:pPr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Helps you </a:t>
            </a:r>
            <a:r>
              <a:rPr lang="en-IN" sz="2000" dirty="0">
                <a:solidFill>
                  <a:srgbClr val="FF0000"/>
                </a:solidFill>
                <a:latin typeface="Times New Roman" panose="02020603050405020304" pitchFamily="18" charset="0"/>
                <a:cs typeface="Times New Roman" panose="02020603050405020304" pitchFamily="18" charset="0"/>
              </a:rPr>
              <a:t>to find the root cause of the problem which allows you to get the permanent solution to the problem</a:t>
            </a:r>
          </a:p>
          <a:p>
            <a:pPr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Active </a:t>
            </a:r>
            <a:r>
              <a:rPr lang="en-IN" sz="2000" dirty="0">
                <a:solidFill>
                  <a:srgbClr val="FF0000"/>
                </a:solidFill>
                <a:latin typeface="Times New Roman" panose="02020603050405020304" pitchFamily="18" charset="0"/>
                <a:cs typeface="Times New Roman" panose="02020603050405020304" pitchFamily="18" charset="0"/>
              </a:rPr>
              <a:t>monitoring of your entire infrastructure and business processes</a:t>
            </a:r>
          </a:p>
          <a:p>
            <a:pPr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Allows </a:t>
            </a:r>
            <a:r>
              <a:rPr lang="en-IN" sz="2000" dirty="0">
                <a:solidFill>
                  <a:srgbClr val="FF0000"/>
                </a:solidFill>
                <a:latin typeface="Times New Roman" panose="02020603050405020304" pitchFamily="18" charset="0"/>
                <a:cs typeface="Times New Roman" panose="02020603050405020304" pitchFamily="18" charset="0"/>
              </a:rPr>
              <a:t>you to monitors and troubleshoot server performance issues</a:t>
            </a:r>
          </a:p>
          <a:p>
            <a:pPr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Helps you </a:t>
            </a:r>
            <a:r>
              <a:rPr lang="en-IN" sz="2000" dirty="0">
                <a:solidFill>
                  <a:srgbClr val="FF0000"/>
                </a:solidFill>
                <a:latin typeface="Times New Roman" panose="02020603050405020304" pitchFamily="18" charset="0"/>
                <a:cs typeface="Times New Roman" panose="02020603050405020304" pitchFamily="18" charset="0"/>
              </a:rPr>
              <a:t>to plan for infrastructure upgrades </a:t>
            </a:r>
            <a:r>
              <a:rPr lang="en-IN" sz="2000" dirty="0">
                <a:latin typeface="Times New Roman" panose="02020603050405020304" pitchFamily="18" charset="0"/>
                <a:cs typeface="Times New Roman" panose="02020603050405020304" pitchFamily="18" charset="0"/>
              </a:rPr>
              <a:t>before outdated systems create failures</a:t>
            </a:r>
          </a:p>
          <a:p>
            <a:pPr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You can </a:t>
            </a:r>
            <a:r>
              <a:rPr lang="en-IN" sz="2000" dirty="0">
                <a:solidFill>
                  <a:srgbClr val="FF0000"/>
                </a:solidFill>
                <a:latin typeface="Times New Roman" panose="02020603050405020304" pitchFamily="18" charset="0"/>
                <a:cs typeface="Times New Roman" panose="02020603050405020304" pitchFamily="18" charset="0"/>
              </a:rPr>
              <a:t>maintain the security and availability of the service</a:t>
            </a:r>
          </a:p>
          <a:p>
            <a:pPr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Automatically fix problems in a panic situation</a:t>
            </a:r>
          </a:p>
          <a:p>
            <a:pPr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57526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30104"/>
          </a:xfrm>
        </p:spPr>
        <p:txBody>
          <a:bodyPr>
            <a:normAutofit/>
          </a:bodyPr>
          <a:lstStyle/>
          <a:p>
            <a:pPr marL="571500" indent="-571500">
              <a:buFont typeface="Wingdings" panose="05000000000000000000" pitchFamily="2" charset="2"/>
              <a:buChar char="q"/>
            </a:pPr>
            <a:r>
              <a:rPr lang="en-IN" sz="3200" b="1" u="sng" dirty="0">
                <a:latin typeface="Times New Roman" panose="02020603050405020304" pitchFamily="18" charset="0"/>
                <a:cs typeface="Times New Roman" panose="02020603050405020304" pitchFamily="18" charset="0"/>
              </a:rPr>
              <a:t>How Nagios works:   a basic workflow diagram</a:t>
            </a:r>
            <a:endParaRPr lang="en-IN" sz="3200" b="1" u="sng"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08372" y="630105"/>
            <a:ext cx="10040645" cy="3160660"/>
          </a:xfrm>
          <a:prstGeom prst="rect">
            <a:avLst/>
          </a:prstGeom>
        </p:spPr>
      </p:pic>
      <p:sp>
        <p:nvSpPr>
          <p:cNvPr id="5" name="Rectangle 4"/>
          <p:cNvSpPr/>
          <p:nvPr/>
        </p:nvSpPr>
        <p:spPr>
          <a:xfrm>
            <a:off x="177553" y="4163627"/>
            <a:ext cx="11945759" cy="1938992"/>
          </a:xfrm>
          <a:prstGeom prst="rect">
            <a:avLst/>
          </a:prstGeom>
        </p:spPr>
        <p:txBody>
          <a:bodyPr wrap="square">
            <a:spAutoFit/>
          </a:bodyPr>
          <a:lstStyle/>
          <a:p>
            <a:pPr marL="285750" indent="-28575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Nagios runs on a server, </a:t>
            </a:r>
            <a:r>
              <a:rPr lang="en-IN" sz="2000" dirty="0">
                <a:solidFill>
                  <a:srgbClr val="FF0000"/>
                </a:solidFill>
                <a:latin typeface="Times New Roman" panose="02020603050405020304" pitchFamily="18" charset="0"/>
                <a:cs typeface="Times New Roman" panose="02020603050405020304" pitchFamily="18" charset="0"/>
              </a:rPr>
              <a:t>usually as a daemon or a service.</a:t>
            </a:r>
          </a:p>
          <a:p>
            <a:pPr marL="285750" indent="-28575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It periodically runs plugins residing on the same server, they contact hosts or servers on your network or on the internet. One can view the status information using the web interface. You can also receive email or SMS notifications if something happens.</a:t>
            </a:r>
          </a:p>
          <a:p>
            <a:pPr marL="285750" indent="-28575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The </a:t>
            </a:r>
            <a:r>
              <a:rPr lang="en-IN" sz="2000" dirty="0">
                <a:solidFill>
                  <a:srgbClr val="FF0000"/>
                </a:solidFill>
                <a:latin typeface="Times New Roman" panose="02020603050405020304" pitchFamily="18" charset="0"/>
                <a:cs typeface="Times New Roman" panose="02020603050405020304" pitchFamily="18" charset="0"/>
              </a:rPr>
              <a:t>Nagios daemon behaves like a scheduler that runs certain scripts at certain moments.</a:t>
            </a:r>
            <a:r>
              <a:rPr lang="en-IN" sz="2000" dirty="0">
                <a:latin typeface="Times New Roman" panose="02020603050405020304" pitchFamily="18" charset="0"/>
                <a:cs typeface="Times New Roman" panose="02020603050405020304" pitchFamily="18" charset="0"/>
              </a:rPr>
              <a:t> It </a:t>
            </a:r>
            <a:r>
              <a:rPr lang="en-IN" sz="2000" dirty="0">
                <a:solidFill>
                  <a:srgbClr val="FF0000"/>
                </a:solidFill>
                <a:latin typeface="Times New Roman" panose="02020603050405020304" pitchFamily="18" charset="0"/>
                <a:cs typeface="Times New Roman" panose="02020603050405020304" pitchFamily="18" charset="0"/>
              </a:rPr>
              <a:t>stores the results of those scripts and will run other scripts if these results change.</a:t>
            </a:r>
          </a:p>
        </p:txBody>
      </p:sp>
    </p:spTree>
    <p:extLst>
      <p:ext uri="{BB962C8B-B14F-4D97-AF65-F5344CB8AC3E}">
        <p14:creationId xmlns:p14="http://schemas.microsoft.com/office/powerpoint/2010/main" val="35531022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588D843-D0AF-4F89-B377-8DAE5107EF40}"/>
              </a:ext>
            </a:extLst>
          </p:cNvPr>
          <p:cNvPicPr>
            <a:picLocks noGrp="1" noChangeAspect="1"/>
          </p:cNvPicPr>
          <p:nvPr>
            <p:ph idx="1"/>
          </p:nvPr>
        </p:nvPicPr>
        <p:blipFill>
          <a:blip r:embed="rId2"/>
          <a:stretch>
            <a:fillRect/>
          </a:stretch>
        </p:blipFill>
        <p:spPr>
          <a:xfrm>
            <a:off x="71022" y="79899"/>
            <a:ext cx="11913832" cy="6773339"/>
          </a:xfrm>
        </p:spPr>
      </p:pic>
    </p:spTree>
    <p:extLst>
      <p:ext uri="{BB962C8B-B14F-4D97-AF65-F5344CB8AC3E}">
        <p14:creationId xmlns:p14="http://schemas.microsoft.com/office/powerpoint/2010/main" val="41843046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091386" cy="3551068"/>
          </a:xfrm>
        </p:spPr>
        <p:txBody>
          <a:bodyPr>
            <a:normAutofit fontScale="85000" lnSpcReduction="20000"/>
          </a:bodyPr>
          <a:lstStyle/>
          <a:p>
            <a:pPr marL="0" indent="0">
              <a:buNone/>
            </a:pPr>
            <a:r>
              <a:rPr lang="en-US" sz="2400" b="1" i="1" dirty="0">
                <a:solidFill>
                  <a:srgbClr val="0070C0"/>
                </a:solidFill>
                <a:latin typeface="Times New Roman" panose="02020603050405020304" pitchFamily="18" charset="0"/>
                <a:cs typeface="Times New Roman" panose="02020603050405020304" pitchFamily="18" charset="0"/>
              </a:rPr>
              <a:t>The  following  figure  shows Nagios  Server  Agent  Architecture in  detail: </a:t>
            </a:r>
            <a:endParaRPr lang="en-IN" sz="2400" b="1" i="1"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sz="2400" b="1" i="1" dirty="0">
                <a:latin typeface="Times New Roman" panose="02020603050405020304" pitchFamily="18" charset="0"/>
                <a:cs typeface="Times New Roman" panose="02020603050405020304" pitchFamily="18" charset="0"/>
              </a:rPr>
              <a:t>Nagios process scheduler:-</a:t>
            </a:r>
            <a:r>
              <a:rPr lang="en-IN" sz="2000" dirty="0">
                <a:latin typeface="Times New Roman" panose="02020603050405020304" pitchFamily="18" charset="0"/>
                <a:cs typeface="Times New Roman" panose="02020603050405020304" pitchFamily="18" charset="0"/>
              </a:rPr>
              <a:t>The scheduler is a component of server part of Nagios. It sends a signal to execute the plugins at the remote host.</a:t>
            </a:r>
          </a:p>
          <a:p>
            <a:pPr marL="0" indent="0">
              <a:buNone/>
            </a:pPr>
            <a:endParaRPr lang="en-IN"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sz="2400" b="1" i="1" dirty="0">
                <a:latin typeface="Times New Roman" panose="02020603050405020304" pitchFamily="18" charset="0"/>
                <a:cs typeface="Times New Roman" panose="02020603050405020304" pitchFamily="18" charset="0"/>
              </a:rPr>
              <a:t>Plugins:</a:t>
            </a:r>
            <a:r>
              <a:rPr lang="en-IN" sz="2000" i="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These are compiled executables or scripts (Perl scripts, shell scripts, etc.) that can be run from a command line to check the status or a host or service. Nagios uses the results from the plugins to determine the current status of the hosts and services on your network.</a:t>
            </a:r>
          </a:p>
          <a:p>
            <a:pPr>
              <a:buFont typeface="Wingdings" panose="05000000000000000000" pitchFamily="2" charset="2"/>
              <a:buChar char="q"/>
            </a:pP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The plugin gets the status from the remote host</a:t>
            </a:r>
          </a:p>
          <a:p>
            <a:r>
              <a:rPr lang="en-IN" sz="2000" dirty="0">
                <a:latin typeface="Times New Roman" panose="02020603050405020304" pitchFamily="18" charset="0"/>
                <a:cs typeface="Times New Roman" panose="02020603050405020304" pitchFamily="18" charset="0"/>
              </a:rPr>
              <a:t>The plugin sends the data to the process scheduler</a:t>
            </a:r>
          </a:p>
          <a:p>
            <a:r>
              <a:rPr lang="en-IN" sz="2000" dirty="0">
                <a:latin typeface="Times New Roman" panose="02020603050405020304" pitchFamily="18" charset="0"/>
                <a:cs typeface="Times New Roman" panose="02020603050405020304" pitchFamily="18" charset="0"/>
              </a:rPr>
              <a:t>The process scheduler updates the GUI and notifications are sent to admins</a:t>
            </a:r>
          </a:p>
          <a:p>
            <a:pPr marL="0" indent="0">
              <a:buNone/>
            </a:pPr>
            <a:r>
              <a:rPr lang="en-IN" sz="2000" b="1"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7245FF1-1898-40C6-BF06-0E9AF8B7CE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8171" y="3789940"/>
            <a:ext cx="11141476" cy="2708513"/>
          </a:xfrm>
          <a:prstGeom prst="rect">
            <a:avLst/>
          </a:prstGeom>
        </p:spPr>
      </p:pic>
    </p:spTree>
    <p:extLst>
      <p:ext uri="{BB962C8B-B14F-4D97-AF65-F5344CB8AC3E}">
        <p14:creationId xmlns:p14="http://schemas.microsoft.com/office/powerpoint/2010/main" val="22289532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r>
              <a:rPr lang="en-US" dirty="0">
                <a:solidFill>
                  <a:srgbClr val="FF0000"/>
                </a:solidFill>
              </a:rPr>
              <a:t>Nagios offers the following benefits for the users: </a:t>
            </a:r>
          </a:p>
          <a:p>
            <a:pPr>
              <a:buFont typeface="Wingdings" panose="05000000000000000000" pitchFamily="2" charset="2"/>
              <a:buChar char="ü"/>
            </a:pPr>
            <a:r>
              <a:rPr lang="en-US" dirty="0"/>
              <a:t>It helps in getting rid of </a:t>
            </a:r>
            <a:r>
              <a:rPr lang="en-US" dirty="0">
                <a:solidFill>
                  <a:srgbClr val="FF0000"/>
                </a:solidFill>
              </a:rPr>
              <a:t>periodic testing</a:t>
            </a:r>
            <a:r>
              <a:rPr lang="en-US" dirty="0"/>
              <a:t>.  </a:t>
            </a:r>
          </a:p>
          <a:p>
            <a:pPr>
              <a:buFont typeface="Wingdings" panose="05000000000000000000" pitchFamily="2" charset="2"/>
              <a:buChar char="ü"/>
            </a:pPr>
            <a:r>
              <a:rPr lang="en-US" dirty="0"/>
              <a:t>It detects </a:t>
            </a:r>
            <a:r>
              <a:rPr lang="en-US" dirty="0">
                <a:solidFill>
                  <a:srgbClr val="FF0000"/>
                </a:solidFill>
              </a:rPr>
              <a:t>instantaneous failures </a:t>
            </a:r>
          </a:p>
          <a:p>
            <a:pPr>
              <a:buFont typeface="Wingdings" panose="05000000000000000000" pitchFamily="2" charset="2"/>
              <a:buChar char="ü"/>
            </a:pPr>
            <a:r>
              <a:rPr lang="en-US" dirty="0"/>
              <a:t>It reduces maintenance cost </a:t>
            </a:r>
            <a:r>
              <a:rPr lang="en-US" dirty="0">
                <a:solidFill>
                  <a:srgbClr val="FF0000"/>
                </a:solidFill>
              </a:rPr>
              <a:t>without sacrificing performance</a:t>
            </a:r>
            <a:r>
              <a:rPr lang="en-US" dirty="0"/>
              <a:t>.  </a:t>
            </a:r>
          </a:p>
          <a:p>
            <a:pPr>
              <a:buFont typeface="Wingdings" panose="05000000000000000000" pitchFamily="2" charset="2"/>
              <a:buChar char="ü"/>
            </a:pPr>
            <a:r>
              <a:rPr lang="en-US" dirty="0"/>
              <a:t>It provides </a:t>
            </a:r>
            <a:r>
              <a:rPr lang="en-US" dirty="0">
                <a:solidFill>
                  <a:srgbClr val="FF0000"/>
                </a:solidFill>
              </a:rPr>
              <a:t>timely notification </a:t>
            </a:r>
            <a:r>
              <a:rPr lang="en-US" dirty="0"/>
              <a:t>to the management of </a:t>
            </a:r>
            <a:r>
              <a:rPr lang="en-US" dirty="0">
                <a:solidFill>
                  <a:srgbClr val="FF0000"/>
                </a:solidFill>
              </a:rPr>
              <a:t>control and breakdown</a:t>
            </a:r>
            <a:r>
              <a:rPr lang="en-US" dirty="0"/>
              <a:t>. </a:t>
            </a:r>
            <a:endParaRPr lang="en-IN" dirty="0"/>
          </a:p>
        </p:txBody>
      </p:sp>
    </p:spTree>
    <p:extLst>
      <p:ext uri="{BB962C8B-B14F-4D97-AF65-F5344CB8AC3E}">
        <p14:creationId xmlns:p14="http://schemas.microsoft.com/office/powerpoint/2010/main" val="27424788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746014"/>
          </a:xfrm>
        </p:spPr>
        <p:txBody>
          <a:bodyPr/>
          <a:lstStyle/>
          <a:p>
            <a:r>
              <a:rPr lang="en-IN" b="1" i="1" dirty="0">
                <a:solidFill>
                  <a:srgbClr val="FF0000"/>
                </a:solidFill>
                <a:latin typeface="Times New Roman" panose="02020603050405020304" pitchFamily="18" charset="0"/>
                <a:cs typeface="Times New Roman" panose="02020603050405020304" pitchFamily="18" charset="0"/>
              </a:rPr>
              <a:t>munin</a:t>
            </a:r>
          </a:p>
        </p:txBody>
      </p:sp>
      <p:sp>
        <p:nvSpPr>
          <p:cNvPr id="3" name="Content Placeholder 2"/>
          <p:cNvSpPr>
            <a:spLocks noGrp="1"/>
          </p:cNvSpPr>
          <p:nvPr>
            <p:ph idx="1"/>
          </p:nvPr>
        </p:nvSpPr>
        <p:spPr>
          <a:xfrm>
            <a:off x="0" y="746014"/>
            <a:ext cx="12192000" cy="6111985"/>
          </a:xfrm>
        </p:spPr>
        <p:txBody>
          <a:bodyPr>
            <a:noAutofit/>
          </a:bodyPr>
          <a:lstStyle/>
          <a:p>
            <a:pPr algn="just"/>
            <a:r>
              <a:rPr lang="en-IN" sz="2400" dirty="0">
                <a:latin typeface="Times New Roman" panose="02020603050405020304" pitchFamily="18" charset="0"/>
                <a:cs typeface="Times New Roman" panose="02020603050405020304" pitchFamily="18" charset="0"/>
              </a:rPr>
              <a:t>You are a system administrator, managing a set of servers. As a part of your job, you need to ensure that all the servers are up and running 24X7, they are resources are utilized optimally. And that </a:t>
            </a:r>
            <a:r>
              <a:rPr lang="en-IN" sz="2400" dirty="0">
                <a:solidFill>
                  <a:srgbClr val="FF0000"/>
                </a:solidFill>
                <a:latin typeface="Times New Roman" panose="02020603050405020304" pitchFamily="18" charset="0"/>
                <a:cs typeface="Times New Roman" panose="02020603050405020304" pitchFamily="18" charset="0"/>
              </a:rPr>
              <a:t>no single server is overloaded or consuming huge memory or some similar abnormal behaviour over a time period</a:t>
            </a:r>
            <a:r>
              <a:rPr lang="en-IN" sz="2400" dirty="0">
                <a:latin typeface="Times New Roman" panose="02020603050405020304" pitchFamily="18" charset="0"/>
                <a:cs typeface="Times New Roman" panose="02020603050405020304" pitchFamily="18" charset="0"/>
              </a:rPr>
              <a:t>. Obviously, you will be needing a monitoring tool. Munin is one such tool, which helps system administrators to keep track of system resources.</a:t>
            </a:r>
          </a:p>
          <a:p>
            <a:pPr marL="0" indent="0" algn="just">
              <a:buNone/>
            </a:pPr>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Munin</a:t>
            </a:r>
            <a:r>
              <a:rPr lang="en-IN" sz="2400" dirty="0">
                <a:latin typeface="Times New Roman" panose="02020603050405020304" pitchFamily="18" charset="0"/>
                <a:cs typeface="Times New Roman" panose="02020603050405020304" pitchFamily="18" charset="0"/>
              </a:rPr>
              <a:t> is a </a:t>
            </a:r>
            <a:r>
              <a:rPr lang="en-IN" sz="2400" dirty="0">
                <a:solidFill>
                  <a:srgbClr val="FF0000"/>
                </a:solidFill>
                <a:latin typeface="Times New Roman" panose="02020603050405020304" pitchFamily="18" charset="0"/>
                <a:cs typeface="Times New Roman" panose="02020603050405020304" pitchFamily="18" charset="0"/>
              </a:rPr>
              <a:t>open-source ,web based computer system monitoring, network monitoring and infrastructure monitoring </a:t>
            </a:r>
            <a:r>
              <a:rPr lang="en-IN" sz="2400" u="sng" dirty="0">
                <a:solidFill>
                  <a:srgbClr val="FF0000"/>
                </a:solidFill>
                <a:latin typeface="Times New Roman" panose="02020603050405020304" pitchFamily="18" charset="0"/>
                <a:cs typeface="Times New Roman" panose="02020603050405020304" pitchFamily="18" charset="0"/>
              </a:rPr>
              <a:t>tool</a:t>
            </a:r>
            <a:r>
              <a:rPr lang="en-IN" sz="2400" dirty="0">
                <a:solidFill>
                  <a:srgbClr val="FF0000"/>
                </a:solidFill>
                <a:latin typeface="Times New Roman" panose="02020603050405020304" pitchFamily="18" charset="0"/>
                <a:cs typeface="Times New Roman" panose="02020603050405020304" pitchFamily="18" charset="0"/>
              </a:rPr>
              <a:t>.</a:t>
            </a:r>
          </a:p>
          <a:p>
            <a:pPr marL="0" indent="0" algn="just">
              <a:buNone/>
            </a:pP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It is </a:t>
            </a:r>
            <a:r>
              <a:rPr lang="en-IN" sz="2400" dirty="0">
                <a:solidFill>
                  <a:srgbClr val="FF0000"/>
                </a:solidFill>
                <a:latin typeface="Times New Roman" panose="02020603050405020304" pitchFamily="18" charset="0"/>
                <a:cs typeface="Times New Roman" panose="02020603050405020304" pitchFamily="18" charset="0"/>
              </a:rPr>
              <a:t>designed around a client-server architecture </a:t>
            </a:r>
            <a:r>
              <a:rPr lang="en-IN" sz="2400" dirty="0">
                <a:latin typeface="Times New Roman" panose="02020603050405020304" pitchFamily="18" charset="0"/>
                <a:cs typeface="Times New Roman" panose="02020603050405020304" pitchFamily="18" charset="0"/>
              </a:rPr>
              <a:t>and can be configured to monitor the machine it’s installed on (the </a:t>
            </a:r>
            <a:r>
              <a:rPr lang="en-IN" sz="2400" i="1" dirty="0">
                <a:solidFill>
                  <a:srgbClr val="FF0000"/>
                </a:solidFill>
                <a:latin typeface="Times New Roman" panose="02020603050405020304" pitchFamily="18" charset="0"/>
                <a:cs typeface="Times New Roman" panose="02020603050405020304" pitchFamily="18" charset="0"/>
              </a:rPr>
              <a:t>Munin master</a:t>
            </a:r>
            <a:r>
              <a:rPr lang="en-IN" sz="2400" dirty="0">
                <a:solidFill>
                  <a:srgbClr val="FF0000"/>
                </a:solidFill>
                <a:latin typeface="Times New Roman" panose="02020603050405020304" pitchFamily="18" charset="0"/>
                <a:cs typeface="Times New Roman" panose="02020603050405020304" pitchFamily="18" charset="0"/>
              </a:rPr>
              <a:t>) and </a:t>
            </a:r>
            <a:r>
              <a:rPr lang="en-IN" sz="2400" dirty="0">
                <a:latin typeface="Times New Roman" panose="02020603050405020304" pitchFamily="18" charset="0"/>
                <a:cs typeface="Times New Roman" panose="02020603050405020304" pitchFamily="18" charset="0"/>
              </a:rPr>
              <a:t>any number of client machines, which in Munin parlance, are called </a:t>
            </a:r>
            <a:r>
              <a:rPr lang="en-IN" sz="2400" i="1" dirty="0">
                <a:solidFill>
                  <a:srgbClr val="FF0000"/>
                </a:solidFill>
                <a:latin typeface="Times New Roman" panose="02020603050405020304" pitchFamily="18" charset="0"/>
                <a:cs typeface="Times New Roman" panose="02020603050405020304" pitchFamily="18" charset="0"/>
              </a:rPr>
              <a:t>Munin nodes</a:t>
            </a:r>
            <a:r>
              <a:rPr lang="en-IN" sz="2400" i="1" dirty="0">
                <a:latin typeface="Times New Roman" panose="02020603050405020304" pitchFamily="18" charset="0"/>
                <a:cs typeface="Times New Roman" panose="02020603050405020304" pitchFamily="18" charset="0"/>
              </a:rPr>
              <a:t>.</a:t>
            </a:r>
          </a:p>
          <a:p>
            <a:pPr marL="0" indent="0" algn="just">
              <a:buNone/>
            </a:pP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Munin is </a:t>
            </a:r>
            <a:r>
              <a:rPr lang="en-IN" sz="2400" dirty="0">
                <a:solidFill>
                  <a:srgbClr val="FF0000"/>
                </a:solidFill>
                <a:latin typeface="Times New Roman" panose="02020603050405020304" pitchFamily="18" charset="0"/>
                <a:cs typeface="Times New Roman" panose="02020603050405020304" pitchFamily="18" charset="0"/>
              </a:rPr>
              <a:t>written in Perl. </a:t>
            </a:r>
            <a:r>
              <a:rPr lang="en-IN" sz="2400" dirty="0">
                <a:latin typeface="Times New Roman" panose="02020603050405020304" pitchFamily="18" charset="0"/>
                <a:cs typeface="Times New Roman" panose="02020603050405020304" pitchFamily="18" charset="0"/>
              </a:rPr>
              <a:t>Its emphasis </a:t>
            </a:r>
            <a:r>
              <a:rPr lang="en-IN" sz="2400" dirty="0">
                <a:solidFill>
                  <a:srgbClr val="FF0000"/>
                </a:solidFill>
                <a:latin typeface="Times New Roman" panose="02020603050405020304" pitchFamily="18" charset="0"/>
                <a:cs typeface="Times New Roman" panose="02020603050405020304" pitchFamily="18" charset="0"/>
              </a:rPr>
              <a:t>is on plug and play capabilities</a:t>
            </a:r>
            <a:r>
              <a:rPr lang="en-IN" sz="2400" dirty="0">
                <a:latin typeface="Times New Roman" panose="02020603050405020304" pitchFamily="18" charset="0"/>
                <a:cs typeface="Times New Roman" panose="02020603050405020304" pitchFamily="18" charset="0"/>
              </a:rPr>
              <a:t>. </a:t>
            </a:r>
            <a:r>
              <a:rPr lang="en-IN" sz="2400" dirty="0">
                <a:solidFill>
                  <a:srgbClr val="FF0000"/>
                </a:solidFill>
                <a:latin typeface="Times New Roman" panose="02020603050405020304" pitchFamily="18" charset="0"/>
                <a:cs typeface="Times New Roman" panose="02020603050405020304" pitchFamily="18" charset="0"/>
              </a:rPr>
              <a:t>About 500 monitoring plugins</a:t>
            </a:r>
            <a:r>
              <a:rPr lang="en-IN" sz="2400" dirty="0">
                <a:latin typeface="Times New Roman" panose="02020603050405020304" pitchFamily="18" charset="0"/>
                <a:cs typeface="Times New Roman" panose="02020603050405020304" pitchFamily="18" charset="0"/>
              </a:rPr>
              <a:t> are currently available.</a:t>
            </a: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endParaRPr lang="en-IN" sz="2400" dirty="0"/>
          </a:p>
          <a:p>
            <a:endParaRPr lang="en-IN" sz="2400" dirty="0"/>
          </a:p>
          <a:p>
            <a:endParaRPr lang="en-IN" sz="2400" dirty="0"/>
          </a:p>
        </p:txBody>
      </p:sp>
    </p:spTree>
    <p:extLst>
      <p:ext uri="{BB962C8B-B14F-4D97-AF65-F5344CB8AC3E}">
        <p14:creationId xmlns:p14="http://schemas.microsoft.com/office/powerpoint/2010/main" val="7084218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F84525-4DEE-4793-91FA-AF510EFC8072}"/>
              </a:ext>
            </a:extLst>
          </p:cNvPr>
          <p:cNvSpPr txBox="1"/>
          <p:nvPr/>
        </p:nvSpPr>
        <p:spPr>
          <a:xfrm>
            <a:off x="154745" y="154745"/>
            <a:ext cx="11788726" cy="2677656"/>
          </a:xfrm>
          <a:prstGeom prst="rect">
            <a:avLst/>
          </a:prstGeom>
          <a:noFill/>
        </p:spPr>
        <p:txBody>
          <a:bodyPr wrap="square">
            <a:spAutoFit/>
          </a:bodyPr>
          <a:lstStyle/>
          <a:p>
            <a:pPr algn="just"/>
            <a:r>
              <a:rPr lang="en-IN" sz="2400" dirty="0" err="1">
                <a:latin typeface="Times New Roman" panose="02020603050405020304" pitchFamily="18" charset="0"/>
                <a:cs typeface="Times New Roman" panose="02020603050405020304" pitchFamily="18" charset="0"/>
              </a:rPr>
              <a:t>Munin</a:t>
            </a:r>
            <a:r>
              <a:rPr lang="en-IN" sz="2400" dirty="0">
                <a:latin typeface="Times New Roman" panose="02020603050405020304" pitchFamily="18" charset="0"/>
                <a:cs typeface="Times New Roman" panose="02020603050405020304" pitchFamily="18" charset="0"/>
              </a:rPr>
              <a:t> is a system, network, and infrastructure monitoring application that </a:t>
            </a:r>
            <a:r>
              <a:rPr lang="en-IN" sz="2400" dirty="0">
                <a:solidFill>
                  <a:srgbClr val="FF0000"/>
                </a:solidFill>
                <a:latin typeface="Times New Roman" panose="02020603050405020304" pitchFamily="18" charset="0"/>
                <a:cs typeface="Times New Roman" panose="02020603050405020304" pitchFamily="18" charset="0"/>
              </a:rPr>
              <a:t>provides monitoring information in the graphical from with the help of graphs.</a:t>
            </a:r>
          </a:p>
          <a:p>
            <a:pPr marL="0" indent="0" algn="just">
              <a:buNone/>
            </a:pPr>
            <a:endParaRPr lang="en-IN" sz="2400" dirty="0">
              <a:latin typeface="Times New Roman" panose="02020603050405020304" pitchFamily="18" charset="0"/>
              <a:cs typeface="Times New Roman" panose="02020603050405020304" pitchFamily="18" charset="0"/>
            </a:endParaRPr>
          </a:p>
          <a:p>
            <a:pPr algn="just"/>
            <a:r>
              <a:rPr lang="en-IN" sz="2400" dirty="0" err="1">
                <a:latin typeface="Times New Roman" panose="02020603050405020304" pitchFamily="18" charset="0"/>
                <a:cs typeface="Times New Roman" panose="02020603050405020304" pitchFamily="18" charset="0"/>
              </a:rPr>
              <a:t>Munin</a:t>
            </a:r>
            <a:r>
              <a:rPr lang="en-IN" sz="2400" dirty="0">
                <a:latin typeface="Times New Roman" panose="02020603050405020304" pitchFamily="18" charset="0"/>
                <a:cs typeface="Times New Roman" panose="02020603050405020304" pitchFamily="18" charset="0"/>
              </a:rPr>
              <a:t> </a:t>
            </a:r>
            <a:r>
              <a:rPr lang="en-IN" sz="2400" dirty="0">
                <a:solidFill>
                  <a:srgbClr val="FF0000"/>
                </a:solidFill>
                <a:latin typeface="Times New Roman" panose="02020603050405020304" pitchFamily="18" charset="0"/>
                <a:cs typeface="Times New Roman" panose="02020603050405020304" pitchFamily="18" charset="0"/>
              </a:rPr>
              <a:t>uses  RRD tool(</a:t>
            </a:r>
            <a:r>
              <a:rPr lang="en-IN" sz="2400" b="0" i="1" dirty="0">
                <a:solidFill>
                  <a:srgbClr val="202122"/>
                </a:solidFill>
                <a:effectLst/>
                <a:latin typeface="Arial" panose="020B0604020202020204" pitchFamily="34" charset="0"/>
              </a:rPr>
              <a:t>round-robin database tool</a:t>
            </a:r>
            <a:r>
              <a:rPr lang="en-IN" sz="2400" b="0" i="0" dirty="0">
                <a:solidFill>
                  <a:srgbClr val="202122"/>
                </a:solidFill>
                <a:effectLst/>
                <a:latin typeface="Arial" panose="020B0604020202020204" pitchFamily="34" charset="0"/>
              </a:rPr>
              <a:t>)</a:t>
            </a:r>
            <a:r>
              <a:rPr lang="en-IN" sz="2400" dirty="0">
                <a:latin typeface="Times New Roman" panose="02020603050405020304" pitchFamily="18" charset="0"/>
                <a:cs typeface="Times New Roman" panose="02020603050405020304" pitchFamily="18" charset="0"/>
              </a:rPr>
              <a:t> to </a:t>
            </a:r>
            <a:r>
              <a:rPr lang="en-IN" sz="2400" dirty="0">
                <a:solidFill>
                  <a:srgbClr val="FF0000"/>
                </a:solidFill>
                <a:latin typeface="Times New Roman" panose="02020603050405020304" pitchFamily="18" charset="0"/>
                <a:cs typeface="Times New Roman" panose="02020603050405020304" pitchFamily="18" charset="0"/>
              </a:rPr>
              <a:t>create graphs.</a:t>
            </a:r>
          </a:p>
          <a:p>
            <a:endParaRPr lang="en-US" sz="2400" i="0" dirty="0">
              <a:solidFill>
                <a:srgbClr val="202122"/>
              </a:solidFill>
              <a:effectLst/>
              <a:latin typeface="Arial" panose="020B0604020202020204" pitchFamily="34" charset="0"/>
            </a:endParaRPr>
          </a:p>
          <a:p>
            <a:r>
              <a:rPr lang="en-US" sz="2400" i="0" dirty="0">
                <a:solidFill>
                  <a:srgbClr val="202122"/>
                </a:solidFill>
                <a:effectLst/>
                <a:latin typeface="Arial" panose="020B0604020202020204" pitchFamily="34" charset="0"/>
              </a:rPr>
              <a:t>aims to handle </a:t>
            </a:r>
            <a:r>
              <a:rPr lang="en-US" sz="2400" i="0" strike="noStrike" dirty="0">
                <a:solidFill>
                  <a:srgbClr val="0645AD"/>
                </a:solidFill>
                <a:effectLst/>
                <a:latin typeface="Arial" panose="020B0604020202020204" pitchFamily="34" charset="0"/>
                <a:hlinkClick r:id="rId2" tooltip="Time series"/>
              </a:rPr>
              <a:t>time series</a:t>
            </a:r>
            <a:r>
              <a:rPr lang="en-US" sz="2400" i="0" dirty="0">
                <a:solidFill>
                  <a:srgbClr val="202122"/>
                </a:solidFill>
                <a:effectLst/>
                <a:latin typeface="Arial" panose="020B0604020202020204" pitchFamily="34" charset="0"/>
              </a:rPr>
              <a:t> data such as </a:t>
            </a:r>
            <a:r>
              <a:rPr lang="en-US" sz="2400" i="0" strike="noStrike" dirty="0">
                <a:solidFill>
                  <a:srgbClr val="0645AD"/>
                </a:solidFill>
                <a:effectLst/>
                <a:latin typeface="Arial" panose="020B0604020202020204" pitchFamily="34" charset="0"/>
                <a:hlinkClick r:id="rId3" tooltip="Computer network"/>
              </a:rPr>
              <a:t>network</a:t>
            </a:r>
            <a:r>
              <a:rPr lang="en-US" sz="2400" i="0" dirty="0">
                <a:solidFill>
                  <a:srgbClr val="202122"/>
                </a:solidFill>
                <a:effectLst/>
                <a:latin typeface="Arial" panose="020B0604020202020204" pitchFamily="34" charset="0"/>
              </a:rPr>
              <a:t> </a:t>
            </a:r>
            <a:r>
              <a:rPr lang="en-US" sz="2400" i="0" strike="noStrike" dirty="0">
                <a:solidFill>
                  <a:srgbClr val="0645AD"/>
                </a:solidFill>
                <a:effectLst/>
                <a:latin typeface="Arial" panose="020B0604020202020204" pitchFamily="34" charset="0"/>
                <a:hlinkClick r:id="rId4" tooltip="Bandwidth (computing)"/>
              </a:rPr>
              <a:t>bandwidth</a:t>
            </a:r>
            <a:r>
              <a:rPr lang="en-US" sz="2400" i="0" dirty="0">
                <a:solidFill>
                  <a:srgbClr val="202122"/>
                </a:solidFill>
                <a:effectLst/>
                <a:latin typeface="Arial" panose="020B0604020202020204" pitchFamily="34" charset="0"/>
              </a:rPr>
              <a:t>, </a:t>
            </a:r>
            <a:r>
              <a:rPr lang="en-US" sz="2400" i="0" strike="noStrike" dirty="0">
                <a:solidFill>
                  <a:srgbClr val="0645AD"/>
                </a:solidFill>
                <a:effectLst/>
                <a:latin typeface="Arial" panose="020B0604020202020204" pitchFamily="34" charset="0"/>
                <a:hlinkClick r:id="rId5" tooltip="Temperature"/>
              </a:rPr>
              <a:t>temperatures</a:t>
            </a:r>
            <a:r>
              <a:rPr lang="en-US" sz="2400" i="0" dirty="0">
                <a:solidFill>
                  <a:srgbClr val="202122"/>
                </a:solidFill>
                <a:effectLst/>
                <a:latin typeface="Arial" panose="020B0604020202020204" pitchFamily="34" charset="0"/>
              </a:rPr>
              <a:t> or </a:t>
            </a:r>
            <a:r>
              <a:rPr lang="en-US" sz="2400" i="0" strike="noStrike" dirty="0">
                <a:solidFill>
                  <a:srgbClr val="0645AD"/>
                </a:solidFill>
                <a:effectLst/>
                <a:latin typeface="Arial" panose="020B0604020202020204" pitchFamily="34" charset="0"/>
                <a:hlinkClick r:id="rId6"/>
              </a:rPr>
              <a:t>CPU</a:t>
            </a:r>
            <a:r>
              <a:rPr lang="en-US" sz="2400" i="0" dirty="0">
                <a:solidFill>
                  <a:srgbClr val="202122"/>
                </a:solidFill>
                <a:effectLst/>
                <a:latin typeface="Arial" panose="020B0604020202020204" pitchFamily="34" charset="0"/>
              </a:rPr>
              <a:t> load.</a:t>
            </a:r>
            <a:endParaRPr lang="en-IN" sz="24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52274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algn="just"/>
            <a:endParaRPr lang="en-IN" sz="2400" dirty="0">
              <a:latin typeface="Times New Roman" panose="02020603050405020304" pitchFamily="18" charset="0"/>
              <a:cs typeface="Times New Roman" panose="02020603050405020304" pitchFamily="18" charset="0"/>
            </a:endParaRPr>
          </a:p>
          <a:p>
            <a:pPr algn="just"/>
            <a:r>
              <a:rPr lang="en-IN" sz="2400" dirty="0" err="1">
                <a:latin typeface="Times New Roman" panose="02020603050405020304" pitchFamily="18" charset="0"/>
                <a:cs typeface="Times New Roman" panose="02020603050405020304" pitchFamily="18" charset="0"/>
              </a:rPr>
              <a:t>munin</a:t>
            </a:r>
            <a:r>
              <a:rPr lang="en-IN" sz="2400" dirty="0">
                <a:latin typeface="Times New Roman" panose="02020603050405020304" pitchFamily="18" charset="0"/>
                <a:cs typeface="Times New Roman" panose="02020603050405020304" pitchFamily="18" charset="0"/>
              </a:rPr>
              <a:t>  </a:t>
            </a:r>
            <a:r>
              <a:rPr lang="en-IN" sz="2400" dirty="0">
                <a:solidFill>
                  <a:srgbClr val="FF0000"/>
                </a:solidFill>
                <a:latin typeface="Times New Roman" panose="02020603050405020304" pitchFamily="18" charset="0"/>
                <a:cs typeface="Times New Roman" panose="02020603050405020304" pitchFamily="18" charset="0"/>
              </a:rPr>
              <a:t>shows network usage of servers and services in graphical form using </a:t>
            </a:r>
            <a:r>
              <a:rPr lang="en-IN" sz="2400" b="1" dirty="0" err="1">
                <a:solidFill>
                  <a:srgbClr val="FF0000"/>
                </a:solidFill>
                <a:latin typeface="Times New Roman" panose="02020603050405020304" pitchFamily="18" charset="0"/>
                <a:cs typeface="Times New Roman" panose="02020603050405020304" pitchFamily="18" charset="0"/>
              </a:rPr>
              <a:t>RRDtool</a:t>
            </a:r>
            <a:r>
              <a:rPr lang="en-IN" sz="2400" dirty="0">
                <a:solidFill>
                  <a:srgbClr val="FF0000"/>
                </a:solidFill>
                <a:latin typeface="Times New Roman" panose="02020603050405020304" pitchFamily="18" charset="0"/>
                <a:cs typeface="Times New Roman" panose="02020603050405020304" pitchFamily="18" charset="0"/>
              </a:rPr>
              <a:t>. With the help of Munin you can monitor the performance of your systems, networks, SANS’s(</a:t>
            </a:r>
            <a:r>
              <a:rPr lang="en-US" sz="2400" b="0" i="0" dirty="0">
                <a:solidFill>
                  <a:srgbClr val="202124"/>
                </a:solidFill>
                <a:effectLst/>
                <a:latin typeface="Times New Roman" panose="02020603050405020304" pitchFamily="18" charset="0"/>
                <a:cs typeface="Times New Roman" panose="02020603050405020304" pitchFamily="18" charset="0"/>
              </a:rPr>
              <a:t>SANS stands for </a:t>
            </a:r>
            <a:r>
              <a:rPr lang="en-US" sz="2400" b="1" i="0" dirty="0" err="1">
                <a:solidFill>
                  <a:srgbClr val="202124"/>
                </a:solidFill>
                <a:effectLst/>
                <a:latin typeface="Times New Roman" panose="02020603050405020304" pitchFamily="18" charset="0"/>
                <a:cs typeface="Times New Roman" panose="02020603050405020304" pitchFamily="18" charset="0"/>
              </a:rPr>
              <a:t>SysAdmin</a:t>
            </a:r>
            <a:r>
              <a:rPr lang="en-US" sz="2400" b="1" i="0" dirty="0">
                <a:solidFill>
                  <a:srgbClr val="202124"/>
                </a:solidFill>
                <a:effectLst/>
                <a:latin typeface="Times New Roman" panose="02020603050405020304" pitchFamily="18" charset="0"/>
                <a:cs typeface="Times New Roman" panose="02020603050405020304" pitchFamily="18" charset="0"/>
              </a:rPr>
              <a:t>, Audit, Network, and Security</a:t>
            </a:r>
            <a:r>
              <a:rPr lang="en-IN" sz="2400" dirty="0">
                <a:solidFill>
                  <a:srgbClr val="FF0000"/>
                </a:solidFill>
                <a:latin typeface="Times New Roman" panose="02020603050405020304" pitchFamily="18" charset="0"/>
                <a:cs typeface="Times New Roman" panose="02020603050405020304" pitchFamily="18" charset="0"/>
              </a:rPr>
              <a:t>) and applications.</a:t>
            </a:r>
          </a:p>
          <a:p>
            <a:pPr algn="just"/>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With Munin, real-time information about the servers, applications, services, SANs, network, and many more resources is available in graphs through a web interface.</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And Munin is easy to set up and deploy with its plug-and-play capabilities</a:t>
            </a:r>
            <a:r>
              <a:rPr lang="en-IN" sz="2400" dirty="0">
                <a:solidFill>
                  <a:srgbClr val="7030A0"/>
                </a:solidFill>
                <a:latin typeface="Times New Roman" panose="02020603050405020304" pitchFamily="18" charset="0"/>
                <a:cs typeface="Times New Roman" panose="02020603050405020304" pitchFamily="18" charset="0"/>
              </a:rPr>
              <a:t>(</a:t>
            </a:r>
            <a:r>
              <a:rPr lang="en-US" sz="2400" b="0" i="0" dirty="0">
                <a:solidFill>
                  <a:srgbClr val="7030A0"/>
                </a:solidFill>
                <a:effectLst/>
                <a:latin typeface="Times New Roman" panose="02020603050405020304" pitchFamily="18" charset="0"/>
                <a:cs typeface="Times New Roman" panose="02020603050405020304" pitchFamily="18" charset="0"/>
              </a:rPr>
              <a:t>A user can add and remove devices without having to do manual configuration, and without knowledge of computer hardware.</a:t>
            </a:r>
            <a:r>
              <a:rPr lang="en-IN" sz="2400" dirty="0">
                <a:solidFill>
                  <a:srgbClr val="7030A0"/>
                </a:solidFill>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and a popular monitoring tool for web servers and hosts.</a:t>
            </a:r>
          </a:p>
          <a:p>
            <a:pPr marL="0" indent="0">
              <a:buNone/>
            </a:pP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17660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C1C6F9-6849-46C5-B0E2-012B5F08C4A2}"/>
              </a:ext>
            </a:extLst>
          </p:cNvPr>
          <p:cNvSpPr txBox="1"/>
          <p:nvPr/>
        </p:nvSpPr>
        <p:spPr>
          <a:xfrm>
            <a:off x="1" y="71021"/>
            <a:ext cx="11984854" cy="6001643"/>
          </a:xfrm>
          <a:prstGeom prst="rect">
            <a:avLst/>
          </a:prstGeom>
          <a:noFill/>
        </p:spPr>
        <p:txBody>
          <a:bodyPr wrap="square">
            <a:spAutoFit/>
          </a:bodyPr>
          <a:lstStyle/>
          <a:p>
            <a:pPr>
              <a:buFont typeface="Wingdings" panose="05000000000000000000" pitchFamily="2" charset="2"/>
              <a:buChar char="v"/>
            </a:pPr>
            <a:r>
              <a:rPr lang="en-IN" sz="2400" b="1" u="sng" dirty="0">
                <a:latin typeface="Times New Roman" panose="02020603050405020304" pitchFamily="18" charset="0"/>
                <a:cs typeface="Times New Roman" panose="02020603050405020304" pitchFamily="18" charset="0"/>
              </a:rPr>
              <a:t>How does it work?</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err="1">
                <a:latin typeface="Times New Roman" panose="02020603050405020304" pitchFamily="18" charset="0"/>
                <a:cs typeface="Times New Roman" panose="02020603050405020304" pitchFamily="18" charset="0"/>
              </a:rPr>
              <a:t>Munin</a:t>
            </a:r>
            <a:r>
              <a:rPr lang="en-IN" sz="2400" dirty="0">
                <a:latin typeface="Times New Roman" panose="02020603050405020304" pitchFamily="18" charset="0"/>
                <a:cs typeface="Times New Roman" panose="02020603050405020304" pitchFamily="18" charset="0"/>
              </a:rPr>
              <a:t> the </a:t>
            </a:r>
            <a:r>
              <a:rPr lang="en-IN" sz="2400" dirty="0">
                <a:solidFill>
                  <a:srgbClr val="FF0000"/>
                </a:solidFill>
                <a:latin typeface="Times New Roman" panose="02020603050405020304" pitchFamily="18" charset="0"/>
                <a:cs typeface="Times New Roman" panose="02020603050405020304" pitchFamily="18" charset="0"/>
              </a:rPr>
              <a:t>monitoring tool surveys all your computers and remembers what it saw.</a:t>
            </a:r>
          </a:p>
          <a:p>
            <a:pPr algn="just"/>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It </a:t>
            </a:r>
            <a:r>
              <a:rPr lang="en-IN" sz="2400" dirty="0">
                <a:solidFill>
                  <a:srgbClr val="FF0000"/>
                </a:solidFill>
                <a:latin typeface="Times New Roman" panose="02020603050405020304" pitchFamily="18" charset="0"/>
                <a:cs typeface="Times New Roman" panose="02020603050405020304" pitchFamily="18" charset="0"/>
              </a:rPr>
              <a:t>presents all the information in graphs through a web interface</a:t>
            </a:r>
            <a:r>
              <a:rPr lang="en-IN" sz="2400" dirty="0">
                <a:latin typeface="Times New Roman" panose="02020603050405020304" pitchFamily="18" charset="0"/>
                <a:cs typeface="Times New Roman" panose="02020603050405020304" pitchFamily="18" charset="0"/>
              </a:rPr>
              <a:t>. Its </a:t>
            </a:r>
            <a:r>
              <a:rPr lang="en-IN" sz="2400" dirty="0">
                <a:solidFill>
                  <a:srgbClr val="FF0000"/>
                </a:solidFill>
                <a:latin typeface="Times New Roman" panose="02020603050405020304" pitchFamily="18" charset="0"/>
                <a:cs typeface="Times New Roman" panose="02020603050405020304" pitchFamily="18" charset="0"/>
              </a:rPr>
              <a:t>emphasis is on plug and play capabilities</a:t>
            </a:r>
            <a:r>
              <a:rPr lang="en-IN" sz="2400" dirty="0">
                <a:latin typeface="Times New Roman" panose="02020603050405020304" pitchFamily="18" charset="0"/>
                <a:cs typeface="Times New Roman" panose="02020603050405020304" pitchFamily="18" charset="0"/>
              </a:rPr>
              <a:t>. </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After completing an installation, a </a:t>
            </a:r>
            <a:r>
              <a:rPr lang="en-IN" sz="2400" dirty="0">
                <a:solidFill>
                  <a:srgbClr val="FF0000"/>
                </a:solidFill>
                <a:latin typeface="Times New Roman" panose="02020603050405020304" pitchFamily="18" charset="0"/>
                <a:cs typeface="Times New Roman" panose="02020603050405020304" pitchFamily="18" charset="0"/>
              </a:rPr>
              <a:t>high number of monitoring plugins will be playing with no more effort.</a:t>
            </a:r>
          </a:p>
          <a:p>
            <a:pPr algn="just"/>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Using </a:t>
            </a:r>
            <a:r>
              <a:rPr lang="en-IN" sz="2400" dirty="0" err="1">
                <a:solidFill>
                  <a:srgbClr val="FF0000"/>
                </a:solidFill>
                <a:latin typeface="Times New Roman" panose="02020603050405020304" pitchFamily="18" charset="0"/>
                <a:cs typeface="Times New Roman" panose="02020603050405020304" pitchFamily="18" charset="0"/>
              </a:rPr>
              <a:t>Munin</a:t>
            </a:r>
            <a:r>
              <a:rPr lang="en-IN" sz="2400" dirty="0">
                <a:solidFill>
                  <a:srgbClr val="FF0000"/>
                </a:solidFill>
                <a:latin typeface="Times New Roman" panose="02020603050405020304" pitchFamily="18" charset="0"/>
                <a:cs typeface="Times New Roman" panose="02020603050405020304" pitchFamily="18" charset="0"/>
              </a:rPr>
              <a:t> you can easily monitor the performance of your computers, networks, SANs, applications. </a:t>
            </a:r>
          </a:p>
          <a:p>
            <a:pPr algn="just"/>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It makes it easy to determine "what's different today" when a performance problem crops up. It makes it easy to see how you're doing capacity-wise on any resources.</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33979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86C21C-31F7-48EE-8F1F-A686F2B70451}"/>
              </a:ext>
            </a:extLst>
          </p:cNvPr>
          <p:cNvSpPr txBox="1"/>
          <p:nvPr/>
        </p:nvSpPr>
        <p:spPr>
          <a:xfrm>
            <a:off x="355107" y="257452"/>
            <a:ext cx="11558726" cy="2677656"/>
          </a:xfrm>
          <a:prstGeom prst="rect">
            <a:avLst/>
          </a:prstGeom>
          <a:noFill/>
        </p:spPr>
        <p:txBody>
          <a:bodyPr wrap="square">
            <a:spAutoFit/>
          </a:bodyPr>
          <a:lstStyle/>
          <a:p>
            <a:pPr algn="just"/>
            <a:r>
              <a:rPr lang="en-IN" sz="2400" dirty="0" err="1">
                <a:solidFill>
                  <a:srgbClr val="FF0000"/>
                </a:solidFill>
                <a:latin typeface="Times New Roman" panose="02020603050405020304" pitchFamily="18" charset="0"/>
                <a:cs typeface="Times New Roman" panose="02020603050405020304" pitchFamily="18" charset="0"/>
              </a:rPr>
              <a:t>Munin</a:t>
            </a:r>
            <a:r>
              <a:rPr lang="en-IN" sz="2400" dirty="0">
                <a:solidFill>
                  <a:srgbClr val="FF0000"/>
                </a:solidFill>
                <a:latin typeface="Times New Roman" panose="02020603050405020304" pitchFamily="18" charset="0"/>
                <a:cs typeface="Times New Roman" panose="02020603050405020304" pitchFamily="18" charset="0"/>
              </a:rPr>
              <a:t> uses the excellent ​RRD Tool</a:t>
            </a:r>
            <a:r>
              <a:rPr lang="en-IN" sz="2400" dirty="0">
                <a:latin typeface="Times New Roman" panose="02020603050405020304" pitchFamily="18" charset="0"/>
                <a:cs typeface="Times New Roman" panose="02020603050405020304" pitchFamily="18" charset="0"/>
              </a:rPr>
              <a:t> and the framework is written in Perl, while plugins may be written in any language. </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err="1">
                <a:latin typeface="Times New Roman" panose="02020603050405020304" pitchFamily="18" charset="0"/>
                <a:cs typeface="Times New Roman" panose="02020603050405020304" pitchFamily="18" charset="0"/>
              </a:rPr>
              <a:t>Munin</a:t>
            </a:r>
            <a:r>
              <a:rPr lang="en-IN" sz="2400" dirty="0">
                <a:latin typeface="Times New Roman" panose="02020603050405020304" pitchFamily="18" charset="0"/>
                <a:cs typeface="Times New Roman" panose="02020603050405020304" pitchFamily="18" charset="0"/>
              </a:rPr>
              <a:t> has a </a:t>
            </a:r>
            <a:r>
              <a:rPr lang="en-IN" sz="2400" dirty="0">
                <a:solidFill>
                  <a:srgbClr val="FF0000"/>
                </a:solidFill>
                <a:latin typeface="Times New Roman" panose="02020603050405020304" pitchFamily="18" charset="0"/>
                <a:cs typeface="Times New Roman" panose="02020603050405020304" pitchFamily="18" charset="0"/>
              </a:rPr>
              <a:t>master/node architecture in which the master connects to all the nodes at regular intervals and asks them for data</a:t>
            </a:r>
            <a:r>
              <a:rPr lang="en-IN" sz="2400" dirty="0">
                <a:latin typeface="Times New Roman" panose="02020603050405020304" pitchFamily="18" charset="0"/>
                <a:cs typeface="Times New Roman" panose="02020603050405020304" pitchFamily="18" charset="0"/>
              </a:rPr>
              <a:t>. </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It </a:t>
            </a:r>
            <a:r>
              <a:rPr lang="en-IN" sz="2400" dirty="0">
                <a:solidFill>
                  <a:srgbClr val="FF0000"/>
                </a:solidFill>
                <a:latin typeface="Times New Roman" panose="02020603050405020304" pitchFamily="18" charset="0"/>
                <a:cs typeface="Times New Roman" panose="02020603050405020304" pitchFamily="18" charset="0"/>
              </a:rPr>
              <a:t>then stores the data in RRD files</a:t>
            </a:r>
            <a:r>
              <a:rPr lang="en-IN" sz="2400" dirty="0">
                <a:latin typeface="Times New Roman" panose="02020603050405020304" pitchFamily="18" charset="0"/>
                <a:cs typeface="Times New Roman" panose="02020603050405020304" pitchFamily="18" charset="0"/>
              </a:rPr>
              <a:t>, and (if needed) </a:t>
            </a:r>
            <a:r>
              <a:rPr lang="en-IN" sz="2400" dirty="0">
                <a:solidFill>
                  <a:srgbClr val="FF0000"/>
                </a:solidFill>
                <a:latin typeface="Times New Roman" panose="02020603050405020304" pitchFamily="18" charset="0"/>
                <a:cs typeface="Times New Roman" panose="02020603050405020304" pitchFamily="18" charset="0"/>
              </a:rPr>
              <a:t>updates the graphs</a:t>
            </a:r>
            <a:r>
              <a:rPr lang="en-IN" sz="2400" dirty="0">
                <a:latin typeface="Times New Roman" panose="02020603050405020304" pitchFamily="18" charset="0"/>
                <a:cs typeface="Times New Roman" panose="02020603050405020304" pitchFamily="18" charset="0"/>
              </a:rPr>
              <a:t>. </a:t>
            </a:r>
            <a:endParaRPr lang="en-IN" sz="24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35816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83466"/>
            <a:ext cx="12192000" cy="6774534"/>
          </a:xfrm>
        </p:spPr>
        <p:txBody>
          <a:bodyPr/>
          <a:lstStyle/>
          <a:p>
            <a:pPr>
              <a:buFont typeface="Wingdings" panose="05000000000000000000" pitchFamily="2" charset="2"/>
              <a:buChar char="v"/>
            </a:pPr>
            <a:r>
              <a:rPr lang="en-IN" b="1" dirty="0"/>
              <a:t>Munin Architecture</a:t>
            </a:r>
          </a:p>
          <a:p>
            <a:pPr algn="just"/>
            <a:r>
              <a:rPr lang="en-IN" sz="2400" dirty="0">
                <a:latin typeface="Times New Roman" panose="02020603050405020304" pitchFamily="18" charset="0"/>
                <a:cs typeface="Times New Roman" panose="02020603050405020304" pitchFamily="18" charset="0"/>
              </a:rPr>
              <a:t>This monitoring tool uses Master-node architecture. Master periodically pulls data from all the configured nodes and processes it to create graphical dashboards.</a:t>
            </a:r>
          </a:p>
          <a:p>
            <a:endParaRPr lang="en-IN" b="1" dirty="0"/>
          </a:p>
          <a:p>
            <a:endParaRPr lang="en-IN" dirty="0"/>
          </a:p>
        </p:txBody>
      </p:sp>
      <p:pic>
        <p:nvPicPr>
          <p:cNvPr id="4" name="Content Placeholder 3"/>
          <p:cNvPicPr>
            <a:picLocks noChangeAspect="1"/>
          </p:cNvPicPr>
          <p:nvPr/>
        </p:nvPicPr>
        <p:blipFill>
          <a:blip r:embed="rId2"/>
          <a:stretch>
            <a:fillRect/>
          </a:stretch>
        </p:blipFill>
        <p:spPr>
          <a:xfrm>
            <a:off x="901521" y="1403797"/>
            <a:ext cx="10522040" cy="5125792"/>
          </a:xfrm>
          <a:prstGeom prst="rect">
            <a:avLst/>
          </a:prstGeom>
        </p:spPr>
      </p:pic>
    </p:spTree>
    <p:extLst>
      <p:ext uri="{BB962C8B-B14F-4D97-AF65-F5344CB8AC3E}">
        <p14:creationId xmlns:p14="http://schemas.microsoft.com/office/powerpoint/2010/main" val="13886592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ED5B19-3EFB-4F30-A9FC-0BC76B3E09EB}"/>
              </a:ext>
            </a:extLst>
          </p:cNvPr>
          <p:cNvSpPr txBox="1"/>
          <p:nvPr/>
        </p:nvSpPr>
        <p:spPr>
          <a:xfrm>
            <a:off x="115410" y="62144"/>
            <a:ext cx="11940466" cy="6740307"/>
          </a:xfrm>
          <a:prstGeom prst="rect">
            <a:avLst/>
          </a:prstGeom>
          <a:noFill/>
        </p:spPr>
        <p:txBody>
          <a:bodyPr wrap="square">
            <a:spAutoFit/>
          </a:bodyPr>
          <a:lstStyle/>
          <a:p>
            <a:pPr algn="l"/>
            <a:r>
              <a:rPr lang="en-US" sz="2400" b="0" i="0" dirty="0">
                <a:solidFill>
                  <a:srgbClr val="FF0000"/>
                </a:solidFill>
                <a:effectLst/>
                <a:latin typeface="Times New Roman" panose="02020603050405020304" pitchFamily="18" charset="0"/>
                <a:cs typeface="Times New Roman" panose="02020603050405020304" pitchFamily="18" charset="0"/>
              </a:rPr>
              <a:t>Work flow</a:t>
            </a:r>
          </a:p>
          <a:p>
            <a:pPr algn="l"/>
            <a:r>
              <a:rPr lang="en-US" sz="2400" b="0" i="0" dirty="0" err="1">
                <a:solidFill>
                  <a:srgbClr val="333333"/>
                </a:solidFill>
                <a:effectLst/>
                <a:latin typeface="Times New Roman" panose="02020603050405020304" pitchFamily="18" charset="0"/>
                <a:cs typeface="Times New Roman" panose="02020603050405020304" pitchFamily="18" charset="0"/>
              </a:rPr>
              <a:t>Munin</a:t>
            </a:r>
            <a:r>
              <a:rPr lang="en-US" sz="2400" b="0" i="0" dirty="0">
                <a:solidFill>
                  <a:srgbClr val="333333"/>
                </a:solidFill>
                <a:effectLst/>
                <a:latin typeface="Times New Roman" panose="02020603050405020304" pitchFamily="18" charset="0"/>
                <a:cs typeface="Times New Roman" panose="02020603050405020304" pitchFamily="18" charset="0"/>
              </a:rPr>
              <a:t> derives its name from </a:t>
            </a:r>
            <a:r>
              <a:rPr lang="en-US" sz="2400" b="0" i="0" dirty="0">
                <a:solidFill>
                  <a:srgbClr val="7030A0"/>
                </a:solidFill>
                <a:effectLst/>
                <a:latin typeface="Times New Roman" panose="02020603050405020304" pitchFamily="18" charset="0"/>
                <a:cs typeface="Times New Roman" panose="02020603050405020304" pitchFamily="18" charset="0"/>
              </a:rPr>
              <a:t>mythology</a:t>
            </a:r>
            <a:r>
              <a:rPr lang="en-US" sz="2400" b="0" i="0" dirty="0">
                <a:solidFill>
                  <a:srgbClr val="333333"/>
                </a:solidFill>
                <a:effectLst/>
                <a:latin typeface="Times New Roman" panose="02020603050405020304" pitchFamily="18" charset="0"/>
                <a:cs typeface="Times New Roman" panose="02020603050405020304" pitchFamily="18" charset="0"/>
              </a:rPr>
              <a:t>. It means </a:t>
            </a:r>
            <a:r>
              <a:rPr lang="en-US" sz="2400" b="0" i="0" dirty="0">
                <a:solidFill>
                  <a:srgbClr val="7030A0"/>
                </a:solidFill>
                <a:effectLst/>
                <a:latin typeface="Times New Roman" panose="02020603050405020304" pitchFamily="18" charset="0"/>
                <a:cs typeface="Times New Roman" panose="02020603050405020304" pitchFamily="18" charset="0"/>
              </a:rPr>
              <a:t>memory</a:t>
            </a:r>
            <a:r>
              <a:rPr lang="en-US" sz="2400" b="0" i="0" dirty="0">
                <a:solidFill>
                  <a:srgbClr val="333333"/>
                </a:solidFill>
                <a:effectLst/>
                <a:latin typeface="Times New Roman" panose="02020603050405020304" pitchFamily="18" charset="0"/>
                <a:cs typeface="Times New Roman" panose="02020603050405020304" pitchFamily="18" charset="0"/>
              </a:rPr>
              <a:t>. This monitoring software memorizes </a:t>
            </a:r>
            <a:r>
              <a:rPr lang="en-US" sz="2400" b="0" i="0" dirty="0">
                <a:solidFill>
                  <a:srgbClr val="7030A0"/>
                </a:solidFill>
                <a:effectLst/>
                <a:latin typeface="Times New Roman" panose="02020603050405020304" pitchFamily="18" charset="0"/>
                <a:cs typeface="Times New Roman" panose="02020603050405020304" pitchFamily="18" charset="0"/>
              </a:rPr>
              <a:t>what it sees and hence the name.</a:t>
            </a:r>
          </a:p>
          <a:p>
            <a:pPr algn="l"/>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l"/>
            <a:r>
              <a:rPr lang="en-US" sz="2400" b="0" i="0" dirty="0">
                <a:solidFill>
                  <a:srgbClr val="333333"/>
                </a:solidFill>
                <a:effectLst/>
                <a:latin typeface="Times New Roman" panose="02020603050405020304" pitchFamily="18" charset="0"/>
                <a:cs typeface="Times New Roman" panose="02020603050405020304" pitchFamily="18" charset="0"/>
              </a:rPr>
              <a:t>This monitoring tool uses </a:t>
            </a:r>
            <a:r>
              <a:rPr lang="en-US" sz="2400" b="0" i="0" dirty="0">
                <a:solidFill>
                  <a:srgbClr val="FF0000"/>
                </a:solidFill>
                <a:effectLst/>
                <a:latin typeface="Times New Roman" panose="02020603050405020304" pitchFamily="18" charset="0"/>
                <a:cs typeface="Times New Roman" panose="02020603050405020304" pitchFamily="18" charset="0"/>
              </a:rPr>
              <a:t>Master-node architecture</a:t>
            </a:r>
            <a:r>
              <a:rPr lang="en-US" sz="2400" b="0" i="0" dirty="0">
                <a:solidFill>
                  <a:srgbClr val="333333"/>
                </a:solidFill>
                <a:effectLst/>
                <a:latin typeface="Times New Roman" panose="02020603050405020304" pitchFamily="18" charset="0"/>
                <a:cs typeface="Times New Roman" panose="02020603050405020304" pitchFamily="18" charset="0"/>
              </a:rPr>
              <a:t>. Master </a:t>
            </a:r>
            <a:r>
              <a:rPr lang="en-US" sz="2400" b="0" i="0" dirty="0">
                <a:solidFill>
                  <a:srgbClr val="7030A0"/>
                </a:solidFill>
                <a:effectLst/>
                <a:latin typeface="Times New Roman" panose="02020603050405020304" pitchFamily="18" charset="0"/>
                <a:cs typeface="Times New Roman" panose="02020603050405020304" pitchFamily="18" charset="0"/>
              </a:rPr>
              <a:t>periodically pulls data from all the configured nodes and processes it to create graphical dashboards</a:t>
            </a:r>
            <a:r>
              <a:rPr lang="en-US" sz="2400" b="0" i="0" dirty="0">
                <a:solidFill>
                  <a:srgbClr val="333333"/>
                </a:solidFill>
                <a:effectLst/>
                <a:latin typeface="Times New Roman" panose="02020603050405020304" pitchFamily="18" charset="0"/>
                <a:cs typeface="Times New Roman" panose="02020603050405020304" pitchFamily="18" charset="0"/>
              </a:rPr>
              <a:t>.</a:t>
            </a:r>
          </a:p>
          <a:p>
            <a:pPr algn="l"/>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l"/>
            <a:r>
              <a:rPr lang="en-US" sz="2400" b="0" i="0" dirty="0">
                <a:solidFill>
                  <a:srgbClr val="333333"/>
                </a:solidFill>
                <a:effectLst/>
                <a:latin typeface="Times New Roman" panose="02020603050405020304" pitchFamily="18" charset="0"/>
                <a:cs typeface="Times New Roman" panose="02020603050405020304" pitchFamily="18" charset="0"/>
              </a:rPr>
              <a:t>One of the advantages of </a:t>
            </a:r>
            <a:r>
              <a:rPr lang="en-US" sz="2400" b="0" i="0" dirty="0" err="1">
                <a:solidFill>
                  <a:srgbClr val="333333"/>
                </a:solidFill>
                <a:effectLst/>
                <a:latin typeface="Times New Roman" panose="02020603050405020304" pitchFamily="18" charset="0"/>
                <a:cs typeface="Times New Roman" panose="02020603050405020304" pitchFamily="18" charset="0"/>
              </a:rPr>
              <a:t>Munin</a:t>
            </a:r>
            <a:r>
              <a:rPr lang="en-US" sz="2400" b="0" i="0" dirty="0">
                <a:solidFill>
                  <a:srgbClr val="333333"/>
                </a:solidFill>
                <a:effectLst/>
                <a:latin typeface="Times New Roman" panose="02020603050405020304" pitchFamily="18" charset="0"/>
                <a:cs typeface="Times New Roman" panose="02020603050405020304" pitchFamily="18" charset="0"/>
              </a:rPr>
              <a:t> is its vast plugin eco-system. </a:t>
            </a:r>
            <a:r>
              <a:rPr lang="en-US" sz="2400" b="0" i="0" dirty="0">
                <a:solidFill>
                  <a:srgbClr val="7030A0"/>
                </a:solidFill>
                <a:effectLst/>
                <a:latin typeface="Times New Roman" panose="02020603050405020304" pitchFamily="18" charset="0"/>
                <a:cs typeface="Times New Roman" panose="02020603050405020304" pitchFamily="18" charset="0"/>
              </a:rPr>
              <a:t>There are several hundred plugins available, which make it a powerful monitoring system. </a:t>
            </a:r>
          </a:p>
          <a:p>
            <a:pPr algn="l"/>
            <a:endParaRPr lang="en-US" sz="2400" dirty="0">
              <a:solidFill>
                <a:srgbClr val="333333"/>
              </a:solidFill>
              <a:latin typeface="Times New Roman" panose="02020603050405020304" pitchFamily="18" charset="0"/>
              <a:cs typeface="Times New Roman" panose="02020603050405020304" pitchFamily="18" charset="0"/>
            </a:endParaRPr>
          </a:p>
          <a:p>
            <a:pPr algn="l"/>
            <a:r>
              <a:rPr lang="en-US" sz="2400" b="0" i="0" dirty="0" err="1">
                <a:solidFill>
                  <a:srgbClr val="333333"/>
                </a:solidFill>
                <a:effectLst/>
                <a:latin typeface="Times New Roman" panose="02020603050405020304" pitchFamily="18" charset="0"/>
                <a:cs typeface="Times New Roman" panose="02020603050405020304" pitchFamily="18" charset="0"/>
              </a:rPr>
              <a:t>Munin</a:t>
            </a:r>
            <a:r>
              <a:rPr lang="en-US" sz="2400" b="0" i="0" dirty="0">
                <a:solidFill>
                  <a:srgbClr val="333333"/>
                </a:solidFill>
                <a:effectLst/>
                <a:latin typeface="Times New Roman" panose="02020603050405020304" pitchFamily="18" charset="0"/>
                <a:cs typeface="Times New Roman" panose="02020603050405020304" pitchFamily="18" charset="0"/>
              </a:rPr>
              <a:t> itself uses </a:t>
            </a:r>
            <a:r>
              <a:rPr lang="en-US" sz="2400" b="0" i="0" dirty="0" err="1">
                <a:solidFill>
                  <a:srgbClr val="7030A0"/>
                </a:solidFill>
                <a:effectLst/>
                <a:latin typeface="Times New Roman" panose="02020603050405020304" pitchFamily="18" charset="0"/>
                <a:cs typeface="Times New Roman" panose="02020603050405020304" pitchFamily="18" charset="0"/>
              </a:rPr>
              <a:t>RRDTool</a:t>
            </a:r>
            <a:r>
              <a:rPr lang="en-US" sz="2400" b="0" i="0" dirty="0">
                <a:solidFill>
                  <a:srgbClr val="333333"/>
                </a:solidFill>
                <a:effectLst/>
                <a:latin typeface="Times New Roman" panose="02020603050405020304" pitchFamily="18" charset="0"/>
                <a:cs typeface="Times New Roman" panose="02020603050405020304" pitchFamily="18" charset="0"/>
              </a:rPr>
              <a:t>, which is written in Perl, whereas plugins could be written in any language. </a:t>
            </a:r>
            <a:endParaRPr lang="en-US" sz="2400" dirty="0">
              <a:solidFill>
                <a:srgbClr val="333333"/>
              </a:solidFill>
              <a:latin typeface="Times New Roman" panose="02020603050405020304" pitchFamily="18" charset="0"/>
              <a:cs typeface="Times New Roman" panose="02020603050405020304" pitchFamily="18" charset="0"/>
            </a:endParaRPr>
          </a:p>
          <a:p>
            <a:pPr algn="l"/>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l"/>
            <a:r>
              <a:rPr lang="en-US" sz="2400" b="0" i="0" dirty="0">
                <a:solidFill>
                  <a:srgbClr val="333333"/>
                </a:solidFill>
                <a:effectLst/>
                <a:latin typeface="Times New Roman" panose="02020603050405020304" pitchFamily="18" charset="0"/>
                <a:cs typeface="Times New Roman" panose="02020603050405020304" pitchFamily="18" charset="0"/>
              </a:rPr>
              <a:t>Once data is collected from nodes, </a:t>
            </a:r>
            <a:r>
              <a:rPr lang="en-US" sz="2400" b="0" i="0" dirty="0">
                <a:solidFill>
                  <a:srgbClr val="7030A0"/>
                </a:solidFill>
                <a:effectLst/>
                <a:latin typeface="Times New Roman" panose="02020603050405020304" pitchFamily="18" charset="0"/>
                <a:cs typeface="Times New Roman" panose="02020603050405020304" pitchFamily="18" charset="0"/>
              </a:rPr>
              <a:t>it is processed by the master and various graphs </a:t>
            </a:r>
            <a:r>
              <a:rPr lang="en-US" sz="2400" b="0" i="0" dirty="0">
                <a:solidFill>
                  <a:srgbClr val="333333"/>
                </a:solidFill>
                <a:effectLst/>
                <a:latin typeface="Times New Roman" panose="02020603050405020304" pitchFamily="18" charset="0"/>
                <a:cs typeface="Times New Roman" panose="02020603050405020304" pitchFamily="18" charset="0"/>
              </a:rPr>
              <a:t>are made </a:t>
            </a:r>
            <a:r>
              <a:rPr lang="en-US" sz="2400" b="0" i="0" dirty="0">
                <a:solidFill>
                  <a:srgbClr val="7030A0"/>
                </a:solidFill>
                <a:effectLst/>
                <a:latin typeface="Times New Roman" panose="02020603050405020304" pitchFamily="18" charset="0"/>
                <a:cs typeface="Times New Roman" panose="02020603050405020304" pitchFamily="18" charset="0"/>
              </a:rPr>
              <a:t>available on the dashboard</a:t>
            </a:r>
            <a:r>
              <a:rPr lang="en-US" sz="2400" b="0" i="0" dirty="0">
                <a:solidFill>
                  <a:srgbClr val="333333"/>
                </a:solidFill>
                <a:effectLst/>
                <a:latin typeface="Times New Roman" panose="02020603050405020304" pitchFamily="18" charset="0"/>
                <a:cs typeface="Times New Roman" panose="02020603050405020304" pitchFamily="18" charset="0"/>
              </a:rPr>
              <a:t>. </a:t>
            </a:r>
          </a:p>
          <a:p>
            <a:pPr algn="l"/>
            <a:endParaRPr lang="en-US" sz="2400" dirty="0">
              <a:solidFill>
                <a:srgbClr val="333333"/>
              </a:solidFill>
              <a:latin typeface="Times New Roman" panose="02020603050405020304" pitchFamily="18" charset="0"/>
              <a:cs typeface="Times New Roman" panose="02020603050405020304" pitchFamily="18" charset="0"/>
            </a:endParaRPr>
          </a:p>
          <a:p>
            <a:pPr algn="l"/>
            <a:r>
              <a:rPr lang="en-US" sz="2400" b="0" i="0" dirty="0">
                <a:solidFill>
                  <a:srgbClr val="333333"/>
                </a:solidFill>
                <a:effectLst/>
                <a:latin typeface="Times New Roman" panose="02020603050405020304" pitchFamily="18" charset="0"/>
                <a:cs typeface="Times New Roman" panose="02020603050405020304" pitchFamily="18" charset="0"/>
              </a:rPr>
              <a:t>One of the components is – </a:t>
            </a:r>
            <a:r>
              <a:rPr lang="en-US" sz="2400" b="0" i="0" dirty="0" err="1">
                <a:solidFill>
                  <a:srgbClr val="333333"/>
                </a:solidFill>
                <a:effectLst/>
                <a:latin typeface="Times New Roman" panose="02020603050405020304" pitchFamily="18" charset="0"/>
                <a:cs typeface="Times New Roman" panose="02020603050405020304" pitchFamily="18" charset="0"/>
              </a:rPr>
              <a:t>Munin</a:t>
            </a:r>
            <a:r>
              <a:rPr lang="en-US" sz="2400" b="0" i="0" dirty="0">
                <a:solidFill>
                  <a:srgbClr val="333333"/>
                </a:solidFill>
                <a:effectLst/>
                <a:latin typeface="Times New Roman" panose="02020603050405020304" pitchFamily="18" charset="0"/>
                <a:cs typeface="Times New Roman" panose="02020603050405020304" pitchFamily="18" charset="0"/>
              </a:rPr>
              <a:t>-limits – which monitors the values between configured </a:t>
            </a:r>
            <a:r>
              <a:rPr lang="en-US" sz="2400" b="0" i="0" dirty="0">
                <a:solidFill>
                  <a:srgbClr val="FF0000"/>
                </a:solidFill>
                <a:effectLst/>
                <a:latin typeface="Times New Roman" panose="02020603050405020304" pitchFamily="18" charset="0"/>
                <a:cs typeface="Times New Roman" panose="02020603050405020304" pitchFamily="18" charset="0"/>
              </a:rPr>
              <a:t>“ok”, “warn” and “crit” levels and can create a notification for the administrators</a:t>
            </a:r>
            <a:r>
              <a:rPr lang="en-US" sz="2400" b="0" i="0" dirty="0">
                <a:solidFill>
                  <a:srgbClr val="333333"/>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0558516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lnSpcReduction="10000"/>
          </a:bodyPr>
          <a:lstStyle/>
          <a:p>
            <a:pPr marL="0" indent="0">
              <a:buNone/>
            </a:pPr>
            <a:r>
              <a:rPr lang="en-IN" sz="2400" dirty="0">
                <a:solidFill>
                  <a:srgbClr val="FF0000"/>
                </a:solidFill>
                <a:latin typeface="Times New Roman" panose="02020603050405020304" pitchFamily="18" charset="0"/>
                <a:cs typeface="Times New Roman" panose="02020603050405020304" pitchFamily="18" charset="0"/>
              </a:rPr>
              <a:t>Munin actually consists of two parts, namely :</a:t>
            </a:r>
          </a:p>
          <a:p>
            <a:pPr marL="0" indent="0">
              <a:buNone/>
            </a:pPr>
            <a:r>
              <a:rPr lang="en-IN" sz="2400" dirty="0">
                <a:latin typeface="Times New Roman" panose="02020603050405020304" pitchFamily="18" charset="0"/>
                <a:cs typeface="Times New Roman" panose="02020603050405020304" pitchFamily="18" charset="0"/>
              </a:rPr>
              <a:t>1.Munin Master and</a:t>
            </a:r>
          </a:p>
          <a:p>
            <a:pPr marL="0" indent="0">
              <a:buNone/>
            </a:pPr>
            <a:r>
              <a:rPr lang="en-IN" sz="2400" dirty="0">
                <a:latin typeface="Times New Roman" panose="02020603050405020304" pitchFamily="18" charset="0"/>
                <a:cs typeface="Times New Roman" panose="02020603050405020304" pitchFamily="18" charset="0"/>
              </a:rPr>
              <a:t>2. Munin node. </a:t>
            </a:r>
          </a:p>
          <a:p>
            <a:pPr marL="0" indent="0">
              <a:buNone/>
            </a:pPr>
            <a:endParaRPr lang="en-IN" sz="2400" b="1"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rPr>
              <a:t>1.</a:t>
            </a:r>
            <a:r>
              <a:rPr lang="en-IN" sz="2400" b="1" dirty="0">
                <a:solidFill>
                  <a:srgbClr val="FF0000"/>
                </a:solidFill>
                <a:latin typeface="Times New Roman" panose="02020603050405020304" pitchFamily="18" charset="0"/>
                <a:cs typeface="Times New Roman" panose="02020603050405020304" pitchFamily="18" charset="0"/>
              </a:rPr>
              <a:t>Munin master or Server</a:t>
            </a:r>
          </a:p>
          <a:p>
            <a:pPr algn="just"/>
            <a:r>
              <a:rPr lang="en-IN" sz="2400" dirty="0">
                <a:latin typeface="Times New Roman" panose="02020603050405020304" pitchFamily="18" charset="0"/>
                <a:cs typeface="Times New Roman" panose="02020603050405020304" pitchFamily="18" charset="0"/>
              </a:rPr>
              <a:t>Munin master or Server is the data gatherer and </a:t>
            </a:r>
            <a:r>
              <a:rPr lang="en-IN" sz="2400" dirty="0" err="1">
                <a:latin typeface="Times New Roman" panose="02020603050405020304" pitchFamily="18" charset="0"/>
                <a:cs typeface="Times New Roman" panose="02020603050405020304" pitchFamily="18" charset="0"/>
              </a:rPr>
              <a:t>grapher</a:t>
            </a:r>
            <a:r>
              <a:rPr lang="en-IN" sz="2400" dirty="0">
                <a:latin typeface="Times New Roman" panose="02020603050405020304" pitchFamily="18" charset="0"/>
                <a:cs typeface="Times New Roman" panose="02020603050405020304" pitchFamily="18" charset="0"/>
              </a:rPr>
              <a:t> which also hosts the software website. </a:t>
            </a:r>
            <a:r>
              <a:rPr lang="en-IN" sz="2400" dirty="0">
                <a:solidFill>
                  <a:srgbClr val="FF0000"/>
                </a:solidFill>
                <a:latin typeface="Times New Roman" panose="02020603050405020304" pitchFamily="18" charset="0"/>
                <a:cs typeface="Times New Roman" panose="02020603050405020304" pitchFamily="18" charset="0"/>
              </a:rPr>
              <a:t>The munin master is responsible for gathering data from </a:t>
            </a:r>
            <a:r>
              <a:rPr lang="en-IN" sz="2400" dirty="0" err="1">
                <a:solidFill>
                  <a:srgbClr val="FF0000"/>
                </a:solidFill>
                <a:latin typeface="Times New Roman" panose="02020603050405020304" pitchFamily="18" charset="0"/>
                <a:cs typeface="Times New Roman" panose="02020603050405020304" pitchFamily="18" charset="0"/>
              </a:rPr>
              <a:t>Munin</a:t>
            </a:r>
            <a:r>
              <a:rPr lang="en-IN" sz="2400" dirty="0">
                <a:solidFill>
                  <a:srgbClr val="FF0000"/>
                </a:solidFill>
                <a:latin typeface="Times New Roman" panose="02020603050405020304" pitchFamily="18" charset="0"/>
                <a:cs typeface="Times New Roman" panose="02020603050405020304" pitchFamily="18" charset="0"/>
              </a:rPr>
              <a:t> nodes</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master connects to each node regularly and pulls the data from them. </a:t>
            </a:r>
            <a:r>
              <a:rPr lang="en-IN" sz="2400" dirty="0" err="1">
                <a:latin typeface="Times New Roman" panose="02020603050405020304" pitchFamily="18" charset="0"/>
                <a:cs typeface="Times New Roman" panose="02020603050405020304" pitchFamily="18" charset="0"/>
              </a:rPr>
              <a:t>i.e.,The</a:t>
            </a:r>
            <a:r>
              <a:rPr lang="en-IN" sz="2400" dirty="0">
                <a:latin typeface="Times New Roman" panose="02020603050405020304" pitchFamily="18" charset="0"/>
                <a:cs typeface="Times New Roman" panose="02020603050405020304" pitchFamily="18" charset="0"/>
              </a:rPr>
              <a:t> Munin Server will periodically poll all the nodes in your network, it’s aware of for data, which is, in turn, will use to create graphs and HTML pages for viewing via a web browser. </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It then uses </a:t>
            </a:r>
            <a:r>
              <a:rPr lang="en-IN" sz="2400" dirty="0" err="1">
                <a:latin typeface="Times New Roman" panose="02020603050405020304" pitchFamily="18" charset="0"/>
                <a:cs typeface="Times New Roman" panose="02020603050405020304" pitchFamily="18" charset="0"/>
              </a:rPr>
              <a:t>RRDtool</a:t>
            </a:r>
            <a:r>
              <a:rPr lang="en-IN" sz="2400" dirty="0">
                <a:latin typeface="Times New Roman" panose="02020603050405020304" pitchFamily="18" charset="0"/>
                <a:cs typeface="Times New Roman" panose="02020603050405020304" pitchFamily="18" charset="0"/>
              </a:rPr>
              <a:t> to log and generate updated graphs.</a:t>
            </a:r>
          </a:p>
          <a:p>
            <a:pPr marL="0" indent="0" algn="just">
              <a:buNone/>
            </a:pP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It stores this data in RRD, files, and graphs them on request. It also checks whether the fetched values fell below or go over </a:t>
            </a:r>
            <a:r>
              <a:rPr lang="en-IN" sz="2400" dirty="0">
                <a:solidFill>
                  <a:srgbClr val="FF0000"/>
                </a:solidFill>
                <a:latin typeface="Times New Roman" panose="02020603050405020304" pitchFamily="18" charset="0"/>
                <a:cs typeface="Times New Roman" panose="02020603050405020304" pitchFamily="18" charset="0"/>
              </a:rPr>
              <a:t>specific thresholds (warning, critical) </a:t>
            </a:r>
            <a:r>
              <a:rPr lang="en-IN" sz="2400" dirty="0">
                <a:latin typeface="Times New Roman" panose="02020603050405020304" pitchFamily="18" charset="0"/>
                <a:cs typeface="Times New Roman" panose="02020603050405020304" pitchFamily="18" charset="0"/>
              </a:rPr>
              <a:t>and will send alerts if this happens and the administrator configured it to do so.</a:t>
            </a:r>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16613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4A35C2-A200-4143-9208-7134B6D4CC9E}"/>
              </a:ext>
            </a:extLst>
          </p:cNvPr>
          <p:cNvSpPr txBox="1"/>
          <p:nvPr/>
        </p:nvSpPr>
        <p:spPr>
          <a:xfrm>
            <a:off x="159797" y="62144"/>
            <a:ext cx="11869445" cy="4893647"/>
          </a:xfrm>
          <a:prstGeom prst="rect">
            <a:avLst/>
          </a:prstGeom>
          <a:noFill/>
        </p:spPr>
        <p:txBody>
          <a:bodyPr wrap="square">
            <a:spAutoFit/>
          </a:bodyPr>
          <a:lstStyle/>
          <a:p>
            <a:pPr marL="0" indent="0">
              <a:buNone/>
            </a:pPr>
            <a:r>
              <a:rPr lang="en-IN" sz="2400" b="1" dirty="0">
                <a:solidFill>
                  <a:srgbClr val="FF0000"/>
                </a:solidFill>
                <a:latin typeface="Times New Roman" panose="02020603050405020304" pitchFamily="18" charset="0"/>
                <a:cs typeface="Times New Roman" panose="02020603050405020304" pitchFamily="18" charset="0"/>
              </a:rPr>
              <a:t>2.Munin node. </a:t>
            </a:r>
          </a:p>
          <a:p>
            <a:pPr algn="just"/>
            <a:r>
              <a:rPr lang="en-IN" sz="2400" dirty="0">
                <a:latin typeface="Times New Roman" panose="02020603050405020304" pitchFamily="18" charset="0"/>
                <a:cs typeface="Times New Roman" panose="02020603050405020304" pitchFamily="18" charset="0"/>
              </a:rPr>
              <a:t>With the </a:t>
            </a:r>
            <a:r>
              <a:rPr lang="en-IN" sz="2400" dirty="0" err="1">
                <a:latin typeface="Times New Roman" panose="02020603050405020304" pitchFamily="18" charset="0"/>
                <a:cs typeface="Times New Roman" panose="02020603050405020304" pitchFamily="18" charset="0"/>
              </a:rPr>
              <a:t>Munin</a:t>
            </a:r>
            <a:r>
              <a:rPr lang="en-IN" sz="2400" dirty="0">
                <a:latin typeface="Times New Roman" panose="02020603050405020304" pitchFamily="18" charset="0"/>
                <a:cs typeface="Times New Roman" panose="02020603050405020304" pitchFamily="18" charset="0"/>
              </a:rPr>
              <a:t> master server, we can now configure the </a:t>
            </a:r>
            <a:r>
              <a:rPr lang="en-IN" sz="2400" dirty="0" err="1">
                <a:latin typeface="Times New Roman" panose="02020603050405020304" pitchFamily="18" charset="0"/>
                <a:cs typeface="Times New Roman" panose="02020603050405020304" pitchFamily="18" charset="0"/>
              </a:rPr>
              <a:t>Munin</a:t>
            </a:r>
            <a:r>
              <a:rPr lang="en-IN" sz="2400" dirty="0">
                <a:latin typeface="Times New Roman" panose="02020603050405020304" pitchFamily="18" charset="0"/>
                <a:cs typeface="Times New Roman" panose="02020603050405020304" pitchFamily="18" charset="0"/>
              </a:rPr>
              <a:t> nodes. </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These have an agent on them, called</a:t>
            </a:r>
            <a:r>
              <a:rPr lang="en-IN" sz="2400" b="1" dirty="0">
                <a:latin typeface="Times New Roman" panose="02020603050405020304" pitchFamily="18" charset="0"/>
                <a:cs typeface="Times New Roman" panose="02020603050405020304" pitchFamily="18" charset="0"/>
              </a:rPr>
              <a:t> </a:t>
            </a:r>
            <a:r>
              <a:rPr lang="en-IN" sz="2400" b="1" dirty="0" err="1">
                <a:latin typeface="Times New Roman" panose="02020603050405020304" pitchFamily="18" charset="0"/>
                <a:cs typeface="Times New Roman" panose="02020603050405020304" pitchFamily="18" charset="0"/>
              </a:rPr>
              <a:t>munin</a:t>
            </a:r>
            <a:r>
              <a:rPr lang="en-IN" sz="2400" b="1" dirty="0">
                <a:latin typeface="Times New Roman" panose="02020603050405020304" pitchFamily="18" charset="0"/>
                <a:cs typeface="Times New Roman" panose="02020603050405020304" pitchFamily="18" charset="0"/>
              </a:rPr>
              <a:t>-node</a:t>
            </a:r>
            <a:r>
              <a:rPr lang="en-IN" sz="2400" dirty="0">
                <a:latin typeface="Times New Roman" panose="02020603050405020304" pitchFamily="18" charset="0"/>
                <a:cs typeface="Times New Roman" panose="02020603050405020304" pitchFamily="18" charset="0"/>
              </a:rPr>
              <a:t>. </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err="1">
                <a:latin typeface="Times New Roman" panose="02020603050405020304" pitchFamily="18" charset="0"/>
                <a:cs typeface="Times New Roman" panose="02020603050405020304" pitchFamily="18" charset="0"/>
              </a:rPr>
              <a:t>Munin</a:t>
            </a:r>
            <a:r>
              <a:rPr lang="en-IN" sz="2400" dirty="0">
                <a:latin typeface="Times New Roman" panose="02020603050405020304" pitchFamily="18" charset="0"/>
                <a:cs typeface="Times New Roman" panose="02020603050405020304" pitchFamily="18" charset="0"/>
              </a:rPr>
              <a:t> Node is the agent that monitors and extracts data from the node it runs on and then passes the data to the server for further processing.so, </a:t>
            </a:r>
            <a:r>
              <a:rPr lang="en-IN" sz="2400" dirty="0" err="1">
                <a:latin typeface="Times New Roman" panose="02020603050405020304" pitchFamily="18" charset="0"/>
                <a:cs typeface="Times New Roman" panose="02020603050405020304" pitchFamily="18" charset="0"/>
              </a:rPr>
              <a:t>munin</a:t>
            </a:r>
            <a:r>
              <a:rPr lang="en-IN" sz="2400" dirty="0">
                <a:latin typeface="Times New Roman" panose="02020603050405020304" pitchFamily="18" charset="0"/>
                <a:cs typeface="Times New Roman" panose="02020603050405020304" pitchFamily="18" charset="0"/>
              </a:rPr>
              <a:t> node can be called as a data collector for </a:t>
            </a:r>
            <a:r>
              <a:rPr lang="en-IN" sz="2400" dirty="0" err="1">
                <a:latin typeface="Times New Roman" panose="02020603050405020304" pitchFamily="18" charset="0"/>
                <a:cs typeface="Times New Roman" panose="02020603050405020304" pitchFamily="18" charset="0"/>
              </a:rPr>
              <a:t>munin</a:t>
            </a:r>
            <a:r>
              <a:rPr lang="en-IN" sz="2400" dirty="0">
                <a:latin typeface="Times New Roman" panose="02020603050405020304" pitchFamily="18" charset="0"/>
                <a:cs typeface="Times New Roman" panose="02020603050405020304" pitchFamily="18" charset="0"/>
              </a:rPr>
              <a:t>. Then the master uses this data to gather the information and present to the user.</a:t>
            </a: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rPr>
              <a:t>3.Plugins</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Plugins are small, standalone executables. They are easy to write, and can be written in any language. </a:t>
            </a:r>
          </a:p>
        </p:txBody>
      </p:sp>
    </p:spTree>
    <p:extLst>
      <p:ext uri="{BB962C8B-B14F-4D97-AF65-F5344CB8AC3E}">
        <p14:creationId xmlns:p14="http://schemas.microsoft.com/office/powerpoint/2010/main" val="26862621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unin - Netstat Graph - Server Fault">
            <a:extLst>
              <a:ext uri="{FF2B5EF4-FFF2-40B4-BE49-F238E27FC236}">
                <a16:creationId xmlns:a16="http://schemas.microsoft.com/office/drawing/2014/main" id="{31E79413-3556-489F-96C3-FA9884652E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316" y="0"/>
            <a:ext cx="10706468"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47748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9301CA84-D906-4789-A5F6-3EF6A4B723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6223"/>
            <a:ext cx="11993732" cy="6513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83383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Munin">
            <a:extLst>
              <a:ext uri="{FF2B5EF4-FFF2-40B4-BE49-F238E27FC236}">
                <a16:creationId xmlns:a16="http://schemas.microsoft.com/office/drawing/2014/main" id="{60556540-5FEB-46C8-81D6-82E92C0DCD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927" y="62144"/>
            <a:ext cx="11017188" cy="67958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89913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772732"/>
          </a:xfrm>
        </p:spPr>
        <p:txBody>
          <a:bodyPr>
            <a:normAutofit/>
          </a:bodyPr>
          <a:lstStyle/>
          <a:p>
            <a:r>
              <a:rPr lang="en-IN" b="1" dirty="0">
                <a:solidFill>
                  <a:srgbClr val="FF0000"/>
                </a:solidFill>
                <a:latin typeface="Times New Roman" panose="02020603050405020304" pitchFamily="18" charset="0"/>
                <a:cs typeface="Times New Roman" panose="02020603050405020304" pitchFamily="18" charset="0"/>
              </a:rPr>
              <a:t>Ganglia</a:t>
            </a:r>
          </a:p>
        </p:txBody>
      </p:sp>
      <p:sp>
        <p:nvSpPr>
          <p:cNvPr id="3" name="Content Placeholder 2"/>
          <p:cNvSpPr>
            <a:spLocks noGrp="1"/>
          </p:cNvSpPr>
          <p:nvPr>
            <p:ph idx="1"/>
          </p:nvPr>
        </p:nvSpPr>
        <p:spPr>
          <a:xfrm>
            <a:off x="0" y="772732"/>
            <a:ext cx="12192000" cy="6085268"/>
          </a:xfrm>
        </p:spPr>
        <p:txBody>
          <a:bodyPr>
            <a:normAutofit/>
          </a:bodyPr>
          <a:lstStyle/>
          <a:p>
            <a:pPr algn="just"/>
            <a:r>
              <a:rPr lang="en-IN" sz="2400" dirty="0">
                <a:latin typeface="Times New Roman" panose="02020603050405020304" pitchFamily="18" charset="0"/>
                <a:cs typeface="Times New Roman" panose="02020603050405020304" pitchFamily="18" charset="0"/>
              </a:rPr>
              <a:t>With the size of an organisation’s infrastructure increasing, monitoring is becoming a challenge. </a:t>
            </a:r>
          </a:p>
          <a:p>
            <a:pPr marL="0" indent="0" algn="just">
              <a:buNone/>
            </a:pPr>
            <a:endParaRPr lang="en-IN" sz="2400" dirty="0">
              <a:latin typeface="Times New Roman" panose="02020603050405020304" pitchFamily="18" charset="0"/>
              <a:cs typeface="Times New Roman" panose="02020603050405020304" pitchFamily="18" charset="0"/>
            </a:endParaRPr>
          </a:p>
          <a:p>
            <a:pPr algn="just"/>
            <a:r>
              <a:rPr lang="en-IN" sz="2400" dirty="0">
                <a:solidFill>
                  <a:srgbClr val="FF0000"/>
                </a:solidFill>
                <a:latin typeface="Times New Roman" panose="02020603050405020304" pitchFamily="18" charset="0"/>
                <a:cs typeface="Times New Roman" panose="02020603050405020304" pitchFamily="18" charset="0"/>
              </a:rPr>
              <a:t>Monitoring multiple data centres is becoming a </a:t>
            </a:r>
            <a:r>
              <a:rPr lang="en-US" sz="2400" b="0" i="0" dirty="0">
                <a:solidFill>
                  <a:srgbClr val="FF0000"/>
                </a:solidFill>
                <a:effectLst/>
                <a:latin typeface="Times New Roman" panose="02020603050405020304" pitchFamily="18" charset="0"/>
                <a:cs typeface="Times New Roman" panose="02020603050405020304" pitchFamily="18" charset="0"/>
              </a:rPr>
              <a:t>difficult </a:t>
            </a:r>
            <a:r>
              <a:rPr lang="en-US" sz="2400" b="0" i="0" dirty="0">
                <a:solidFill>
                  <a:srgbClr val="202124"/>
                </a:solidFill>
                <a:effectLst/>
                <a:latin typeface="Times New Roman" panose="02020603050405020304" pitchFamily="18" charset="0"/>
                <a:cs typeface="Times New Roman" panose="02020603050405020304" pitchFamily="18" charset="0"/>
              </a:rPr>
              <a:t>to deal </a:t>
            </a:r>
            <a:r>
              <a:rPr lang="en-IN" sz="2400" dirty="0">
                <a:latin typeface="Times New Roman" panose="02020603050405020304" pitchFamily="18" charset="0"/>
                <a:cs typeface="Times New Roman" panose="02020603050405020304" pitchFamily="18" charset="0"/>
              </a:rPr>
              <a:t>task for sys admins, and it certainly starts to become tiresome(</a:t>
            </a:r>
            <a:r>
              <a:rPr lang="en-SG" sz="2400" i="0" dirty="0">
                <a:solidFill>
                  <a:srgbClr val="202124"/>
                </a:solidFill>
                <a:effectLst/>
                <a:latin typeface="Times New Roman" panose="02020603050405020304" pitchFamily="18" charset="0"/>
                <a:cs typeface="Times New Roman" panose="02020603050405020304" pitchFamily="18" charset="0"/>
              </a:rPr>
              <a:t>impatient</a:t>
            </a:r>
            <a:r>
              <a:rPr lang="en-IN" sz="2400" dirty="0">
                <a:latin typeface="Times New Roman" panose="02020603050405020304" pitchFamily="18" charset="0"/>
                <a:cs typeface="Times New Roman" panose="02020603050405020304" pitchFamily="18" charset="0"/>
              </a:rPr>
              <a:t>) as </a:t>
            </a:r>
            <a:r>
              <a:rPr lang="en-IN" sz="2400" dirty="0">
                <a:solidFill>
                  <a:srgbClr val="FF0000"/>
                </a:solidFill>
                <a:latin typeface="Times New Roman" panose="02020603050405020304" pitchFamily="18" charset="0"/>
                <a:cs typeface="Times New Roman" panose="02020603050405020304" pitchFamily="18" charset="0"/>
              </a:rPr>
              <a:t>the number of nodes increase rapidly</a:t>
            </a:r>
            <a:r>
              <a:rPr lang="en-IN" sz="2400" dirty="0">
                <a:latin typeface="Times New Roman" panose="02020603050405020304" pitchFamily="18" charset="0"/>
                <a:cs typeface="Times New Roman" panose="02020603050405020304" pitchFamily="18" charset="0"/>
              </a:rPr>
              <a:t>. System administrators would typically want to check systems statistics like the disk, CPU and network utilisation, etc. </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They would be interested in knowing whether </a:t>
            </a:r>
            <a:r>
              <a:rPr lang="en-IN" sz="2400" dirty="0">
                <a:solidFill>
                  <a:srgbClr val="FF0000"/>
                </a:solidFill>
                <a:latin typeface="Times New Roman" panose="02020603050405020304" pitchFamily="18" charset="0"/>
                <a:cs typeface="Times New Roman" panose="02020603050405020304" pitchFamily="18" charset="0"/>
              </a:rPr>
              <a:t>systems are performing within thresholds</a:t>
            </a:r>
            <a:r>
              <a:rPr lang="en-IN" sz="2400" dirty="0">
                <a:latin typeface="Times New Roman" panose="02020603050405020304" pitchFamily="18" charset="0"/>
                <a:cs typeface="Times New Roman" panose="02020603050405020304" pitchFamily="18" charset="0"/>
              </a:rPr>
              <a:t>, where the </a:t>
            </a:r>
            <a:r>
              <a:rPr lang="en-IN" sz="2400" dirty="0">
                <a:solidFill>
                  <a:srgbClr val="FF0000"/>
                </a:solidFill>
                <a:latin typeface="Times New Roman" panose="02020603050405020304" pitchFamily="18" charset="0"/>
                <a:cs typeface="Times New Roman" panose="02020603050405020304" pitchFamily="18" charset="0"/>
              </a:rPr>
              <a:t>bottlenecks are occurring</a:t>
            </a:r>
            <a:r>
              <a:rPr lang="en-IN" sz="2400" dirty="0">
                <a:latin typeface="Times New Roman" panose="02020603050405020304" pitchFamily="18" charset="0"/>
                <a:cs typeface="Times New Roman" panose="02020603050405020304" pitchFamily="18" charset="0"/>
              </a:rPr>
              <a:t>, and how applications are performing. Now, when managing a few systems, you could probably log in to each system and check —it </a:t>
            </a:r>
            <a:r>
              <a:rPr lang="en-IN" sz="2400" dirty="0">
                <a:solidFill>
                  <a:srgbClr val="FF0000"/>
                </a:solidFill>
                <a:latin typeface="Times New Roman" panose="02020603050405020304" pitchFamily="18" charset="0"/>
                <a:cs typeface="Times New Roman" panose="02020603050405020304" pitchFamily="18" charset="0"/>
              </a:rPr>
              <a:t>becomes a problem as infrastructure grows.</a:t>
            </a:r>
          </a:p>
          <a:p>
            <a:pPr marL="0" indent="0" algn="just">
              <a:buNone/>
            </a:pP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Ganglia presents itself as a </a:t>
            </a:r>
            <a:r>
              <a:rPr lang="en-IN" sz="2400" dirty="0">
                <a:solidFill>
                  <a:srgbClr val="FF0000"/>
                </a:solidFill>
                <a:latin typeface="Times New Roman" panose="02020603050405020304" pitchFamily="18" charset="0"/>
                <a:cs typeface="Times New Roman" panose="02020603050405020304" pitchFamily="18" charset="0"/>
              </a:rPr>
              <a:t>very good solution when it comes to cluster-based monitoring, and </a:t>
            </a:r>
            <a:r>
              <a:rPr lang="en-IN" sz="2400" dirty="0">
                <a:latin typeface="Times New Roman" panose="02020603050405020304" pitchFamily="18" charset="0"/>
                <a:cs typeface="Times New Roman" panose="02020603050405020304" pitchFamily="18" charset="0"/>
              </a:rPr>
              <a:t>analysing the available data.</a:t>
            </a:r>
          </a:p>
          <a:p>
            <a:pPr marL="0" indent="0" algn="just">
              <a:buNone/>
            </a:pPr>
            <a:endParaRPr lang="en-IN" sz="2000" dirty="0">
              <a:latin typeface="Times New Roman" panose="02020603050405020304" pitchFamily="18" charset="0"/>
              <a:cs typeface="Times New Roman" panose="02020603050405020304" pitchFamily="18" charset="0"/>
            </a:endParaRPr>
          </a:p>
          <a:p>
            <a:pPr marL="0" indent="0" algn="just">
              <a:buNone/>
            </a:pP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8430686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A8A875-2A17-44A5-BC86-274A8920E792}"/>
              </a:ext>
            </a:extLst>
          </p:cNvPr>
          <p:cNvSpPr txBox="1"/>
          <p:nvPr/>
        </p:nvSpPr>
        <p:spPr>
          <a:xfrm>
            <a:off x="239697" y="186431"/>
            <a:ext cx="11745157" cy="3139321"/>
          </a:xfrm>
          <a:prstGeom prst="rect">
            <a:avLst/>
          </a:prstGeom>
          <a:noFill/>
        </p:spPr>
        <p:txBody>
          <a:bodyPr wrap="square">
            <a:spAutoFit/>
          </a:bodyPr>
          <a:lstStyle/>
          <a:p>
            <a:pPr algn="just"/>
            <a:r>
              <a:rPr lang="en-IN" sz="1800" dirty="0">
                <a:latin typeface="Times New Roman" panose="02020603050405020304" pitchFamily="18" charset="0"/>
                <a:cs typeface="Times New Roman" panose="02020603050405020304" pitchFamily="18" charset="0"/>
              </a:rPr>
              <a:t>ganglia is an </a:t>
            </a:r>
            <a:r>
              <a:rPr lang="en-IN" sz="1800" dirty="0">
                <a:solidFill>
                  <a:srgbClr val="FF0000"/>
                </a:solidFill>
                <a:latin typeface="Times New Roman" panose="02020603050405020304" pitchFamily="18" charset="0"/>
                <a:cs typeface="Times New Roman" panose="02020603050405020304" pitchFamily="18" charset="0"/>
              </a:rPr>
              <a:t>open-source scalable distributed monitoring system for high-performance </a:t>
            </a:r>
            <a:r>
              <a:rPr lang="en-IN" sz="1800" dirty="0">
                <a:latin typeface="Times New Roman" panose="02020603050405020304" pitchFamily="18" charset="0"/>
                <a:cs typeface="Times New Roman" panose="02020603050405020304" pitchFamily="18" charset="0"/>
              </a:rPr>
              <a:t>computing systems such as </a:t>
            </a:r>
            <a:r>
              <a:rPr lang="en-IN" sz="1800" dirty="0">
                <a:solidFill>
                  <a:srgbClr val="FF0000"/>
                </a:solidFill>
                <a:latin typeface="Times New Roman" panose="02020603050405020304" pitchFamily="18" charset="0"/>
                <a:cs typeface="Times New Roman" panose="02020603050405020304" pitchFamily="18" charset="0"/>
              </a:rPr>
              <a:t>clusters and Grids.</a:t>
            </a:r>
          </a:p>
          <a:p>
            <a:pPr marL="0" indent="0" algn="just">
              <a:buNone/>
            </a:pPr>
            <a:endParaRPr lang="en-IN" sz="1800" dirty="0">
              <a:latin typeface="Times New Roman" panose="02020603050405020304" pitchFamily="18" charset="0"/>
              <a:cs typeface="Times New Roman" panose="02020603050405020304" pitchFamily="18" charset="0"/>
            </a:endParaRPr>
          </a:p>
          <a:p>
            <a:pPr algn="just"/>
            <a:r>
              <a:rPr lang="en-IN" sz="1800" dirty="0">
                <a:latin typeface="Times New Roman" panose="02020603050405020304" pitchFamily="18" charset="0"/>
                <a:cs typeface="Times New Roman" panose="02020603050405020304" pitchFamily="18" charset="0"/>
              </a:rPr>
              <a:t>Ganglia  </a:t>
            </a:r>
            <a:r>
              <a:rPr lang="en-IN" sz="1800" dirty="0">
                <a:solidFill>
                  <a:srgbClr val="FF0000"/>
                </a:solidFill>
                <a:latin typeface="Times New Roman" panose="02020603050405020304" pitchFamily="18" charset="0"/>
                <a:cs typeface="Times New Roman" panose="02020603050405020304" pitchFamily="18" charset="0"/>
              </a:rPr>
              <a:t>allows you to gather important information about machines where it is applied.</a:t>
            </a:r>
          </a:p>
          <a:p>
            <a:pPr marL="0" indent="0" algn="just">
              <a:buNone/>
            </a:pPr>
            <a:endParaRPr lang="en-IN" sz="1800" dirty="0">
              <a:latin typeface="Times New Roman" panose="02020603050405020304" pitchFamily="18" charset="0"/>
              <a:cs typeface="Times New Roman" panose="02020603050405020304" pitchFamily="18" charset="0"/>
            </a:endParaRPr>
          </a:p>
          <a:p>
            <a:pPr algn="just"/>
            <a:r>
              <a:rPr lang="en-IN" sz="1800" dirty="0">
                <a:latin typeface="Times New Roman" panose="02020603050405020304" pitchFamily="18" charset="0"/>
                <a:cs typeface="Times New Roman" panose="02020603050405020304" pitchFamily="18" charset="0"/>
              </a:rPr>
              <a:t>It </a:t>
            </a:r>
            <a:r>
              <a:rPr lang="en-IN" sz="1800" dirty="0">
                <a:solidFill>
                  <a:srgbClr val="FF0000"/>
                </a:solidFill>
                <a:latin typeface="Times New Roman" panose="02020603050405020304" pitchFamily="18" charset="0"/>
                <a:cs typeface="Times New Roman" panose="02020603050405020304" pitchFamily="18" charset="0"/>
              </a:rPr>
              <a:t>allows the user to remotely view live or historical statistics </a:t>
            </a:r>
            <a:r>
              <a:rPr lang="en-IN" sz="1800" dirty="0">
                <a:latin typeface="Times New Roman" panose="02020603050405020304" pitchFamily="18" charset="0"/>
                <a:cs typeface="Times New Roman" panose="02020603050405020304" pitchFamily="18" charset="0"/>
              </a:rPr>
              <a:t>(such as CPU load averages or network utilization) for all machines that are being monitored.</a:t>
            </a:r>
          </a:p>
          <a:p>
            <a:pPr algn="just"/>
            <a:endParaRPr lang="en-IN" dirty="0">
              <a:latin typeface="Times New Roman" panose="02020603050405020304" pitchFamily="18" charset="0"/>
              <a:cs typeface="Times New Roman" panose="02020603050405020304" pitchFamily="18" charset="0"/>
            </a:endParaRPr>
          </a:p>
          <a:p>
            <a:pPr algn="just"/>
            <a:r>
              <a:rPr lang="en-IN" sz="1800" dirty="0">
                <a:latin typeface="Times New Roman" panose="02020603050405020304" pitchFamily="18" charset="0"/>
                <a:cs typeface="Times New Roman" panose="02020603050405020304" pitchFamily="18" charset="0"/>
              </a:rPr>
              <a:t>Ganglia is </a:t>
            </a:r>
            <a:r>
              <a:rPr lang="en-IN" sz="1800" dirty="0">
                <a:solidFill>
                  <a:srgbClr val="FF0000"/>
                </a:solidFill>
                <a:latin typeface="Times New Roman" panose="02020603050405020304" pitchFamily="18" charset="0"/>
                <a:cs typeface="Times New Roman" panose="02020603050405020304" pitchFamily="18" charset="0"/>
              </a:rPr>
              <a:t>currently in use on thousands of clusters around the world </a:t>
            </a:r>
            <a:r>
              <a:rPr lang="en-IN" sz="1800" dirty="0">
                <a:latin typeface="Times New Roman" panose="02020603050405020304" pitchFamily="18" charset="0"/>
                <a:cs typeface="Times New Roman" panose="02020603050405020304" pitchFamily="18" charset="0"/>
              </a:rPr>
              <a:t>and can scale to handle clusters with several thousand of nodes.</a:t>
            </a:r>
          </a:p>
          <a:p>
            <a:pPr algn="just"/>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62534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marL="0" indent="0">
              <a:buNone/>
            </a:pP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Here is a small glossary of terms used in Ganglia:</a:t>
            </a:r>
          </a:p>
          <a:p>
            <a:pPr lvl="1"/>
            <a:r>
              <a:rPr lang="en-IN" sz="2000" dirty="0">
                <a:latin typeface="Times New Roman" panose="02020603050405020304" pitchFamily="18" charset="0"/>
                <a:cs typeface="Times New Roman" panose="02020603050405020304" pitchFamily="18" charset="0"/>
              </a:rPr>
              <a:t>Host/node: Typically, a machine.</a:t>
            </a:r>
          </a:p>
          <a:p>
            <a:pPr lvl="1"/>
            <a:r>
              <a:rPr lang="en-IN" sz="2000" dirty="0">
                <a:latin typeface="Times New Roman" panose="02020603050405020304" pitchFamily="18" charset="0"/>
                <a:cs typeface="Times New Roman" panose="02020603050405020304" pitchFamily="18" charset="0"/>
              </a:rPr>
              <a:t>Cluster: A group of nodes.</a:t>
            </a:r>
          </a:p>
          <a:p>
            <a:pPr lvl="1"/>
            <a:r>
              <a:rPr lang="en-IN" sz="2000" dirty="0">
                <a:latin typeface="Times New Roman" panose="02020603050405020304" pitchFamily="18" charset="0"/>
                <a:cs typeface="Times New Roman" panose="02020603050405020304" pitchFamily="18" charset="0"/>
              </a:rPr>
              <a:t>Grid: A group of clusters.</a:t>
            </a:r>
          </a:p>
          <a:p>
            <a:pPr lvl="1"/>
            <a:r>
              <a:rPr lang="en-IN" sz="2000" dirty="0">
                <a:latin typeface="Times New Roman" panose="02020603050405020304" pitchFamily="18" charset="0"/>
                <a:cs typeface="Times New Roman" panose="02020603050405020304" pitchFamily="18" charset="0"/>
              </a:rPr>
              <a:t>Metrics: The graphs that are displayed.</a:t>
            </a:r>
          </a:p>
          <a:p>
            <a:pPr lvl="1"/>
            <a:r>
              <a:rPr lang="en-IN" sz="2000" dirty="0">
                <a:latin typeface="Times New Roman" panose="02020603050405020304" pitchFamily="18" charset="0"/>
                <a:cs typeface="Times New Roman" panose="02020603050405020304" pitchFamily="18" charset="0"/>
              </a:rPr>
              <a:t>RRDs or Round Robin Databases: </a:t>
            </a:r>
            <a:r>
              <a:rPr lang="en-IN" sz="2000" dirty="0" err="1">
                <a:latin typeface="Times New Roman" panose="02020603050405020304" pitchFamily="18" charset="0"/>
                <a:cs typeface="Times New Roman" panose="02020603050405020304" pitchFamily="18" charset="0"/>
              </a:rPr>
              <a:t>RRDtool</a:t>
            </a:r>
            <a:r>
              <a:rPr lang="en-IN" sz="2000" dirty="0">
                <a:latin typeface="Times New Roman" panose="02020603050405020304" pitchFamily="18" charset="0"/>
                <a:cs typeface="Times New Roman" panose="02020603050405020304" pitchFamily="18" charset="0"/>
              </a:rPr>
              <a:t> (the Round Robin Database tool) is a system to store and display time-series data (e.g., network bandwidth, machine-room temperature, server load average, </a:t>
            </a:r>
            <a:r>
              <a:rPr lang="en-IN" sz="2000" dirty="0" err="1">
                <a:latin typeface="Times New Roman" panose="02020603050405020304" pitchFamily="18" charset="0"/>
                <a:cs typeface="Times New Roman" panose="02020603050405020304" pitchFamily="18" charset="0"/>
              </a:rPr>
              <a:t>etc</a:t>
            </a:r>
            <a:r>
              <a:rPr lang="en-IN" sz="2000" dirty="0">
                <a:latin typeface="Times New Roman" panose="02020603050405020304" pitchFamily="18" charset="0"/>
                <a:cs typeface="Times New Roman" panose="02020603050405020304" pitchFamily="18" charset="0"/>
              </a:rPr>
              <a:t>). It stores the data very compactly to maintain a manageable archive size. </a:t>
            </a:r>
            <a:r>
              <a:rPr lang="en-IN" sz="2000" dirty="0" err="1">
                <a:latin typeface="Times New Roman" panose="02020603050405020304" pitchFamily="18" charset="0"/>
                <a:cs typeface="Times New Roman" panose="02020603050405020304" pitchFamily="18" charset="0"/>
              </a:rPr>
              <a:t>RRDtool</a:t>
            </a:r>
            <a:r>
              <a:rPr lang="en-IN" sz="2000" dirty="0">
                <a:latin typeface="Times New Roman" panose="02020603050405020304" pitchFamily="18" charset="0"/>
                <a:cs typeface="Times New Roman" panose="02020603050405020304" pitchFamily="18" charset="0"/>
              </a:rPr>
              <a:t> presents useful graphs by processing the data to enforce a certain data density.</a:t>
            </a:r>
          </a:p>
          <a:p>
            <a:pPr marL="457200" lvl="1" indent="0">
              <a:buNone/>
            </a:pP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It leverages widely used technologies such as XML for data representation, XDR for compact, portable data transport, and </a:t>
            </a:r>
            <a:r>
              <a:rPr lang="en-IN" sz="2000" dirty="0" err="1">
                <a:latin typeface="Times New Roman" panose="02020603050405020304" pitchFamily="18" charset="0"/>
                <a:cs typeface="Times New Roman" panose="02020603050405020304" pitchFamily="18" charset="0"/>
              </a:rPr>
              <a:t>RRDtool</a:t>
            </a:r>
            <a:r>
              <a:rPr lang="en-IN" sz="2000" dirty="0">
                <a:latin typeface="Times New Roman" panose="02020603050405020304" pitchFamily="18" charset="0"/>
                <a:cs typeface="Times New Roman" panose="02020603050405020304" pitchFamily="18" charset="0"/>
              </a:rPr>
              <a:t> for data storage and visualisation.”</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It is carefully engineered to achieve very low per-node overheads and high concurrency. </a:t>
            </a:r>
          </a:p>
          <a:p>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36866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0" y="0"/>
            <a:ext cx="12192000" cy="6960093"/>
          </a:xfrm>
          <a:prstGeom prst="rect">
            <a:avLst/>
          </a:prstGeom>
        </p:spPr>
      </p:pic>
    </p:spTree>
    <p:extLst>
      <p:ext uri="{BB962C8B-B14F-4D97-AF65-F5344CB8AC3E}">
        <p14:creationId xmlns:p14="http://schemas.microsoft.com/office/powerpoint/2010/main" val="1653182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17250" y="378555"/>
            <a:ext cx="11381173" cy="6270819"/>
          </a:xfrm>
          <a:prstGeom prst="rect">
            <a:avLst/>
          </a:prstGeom>
        </p:spPr>
      </p:pic>
    </p:spTree>
    <p:extLst>
      <p:ext uri="{BB962C8B-B14F-4D97-AF65-F5344CB8AC3E}">
        <p14:creationId xmlns:p14="http://schemas.microsoft.com/office/powerpoint/2010/main" val="37809306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pPr>
              <a:buFont typeface="Wingdings" panose="05000000000000000000" pitchFamily="2" charset="2"/>
              <a:buChar char="v"/>
            </a:pPr>
            <a:r>
              <a:rPr lang="en-IN" sz="3200" b="1" u="sng" dirty="0">
                <a:latin typeface="Times New Roman" panose="02020603050405020304" pitchFamily="18" charset="0"/>
                <a:cs typeface="Times New Roman" panose="02020603050405020304" pitchFamily="18" charset="0"/>
              </a:rPr>
              <a:t>Ganglia architecture</a:t>
            </a:r>
          </a:p>
          <a:p>
            <a:endParaRPr lang="en-IN" dirty="0"/>
          </a:p>
        </p:txBody>
      </p:sp>
      <p:pic>
        <p:nvPicPr>
          <p:cNvPr id="5" name="Picture 4"/>
          <p:cNvPicPr>
            <a:picLocks noChangeAspect="1"/>
          </p:cNvPicPr>
          <p:nvPr/>
        </p:nvPicPr>
        <p:blipFill>
          <a:blip r:embed="rId2"/>
          <a:stretch>
            <a:fillRect/>
          </a:stretch>
        </p:blipFill>
        <p:spPr>
          <a:xfrm>
            <a:off x="528034" y="656823"/>
            <a:ext cx="11217497" cy="5795492"/>
          </a:xfrm>
          <a:prstGeom prst="rect">
            <a:avLst/>
          </a:prstGeom>
        </p:spPr>
      </p:pic>
    </p:spTree>
    <p:extLst>
      <p:ext uri="{BB962C8B-B14F-4D97-AF65-F5344CB8AC3E}">
        <p14:creationId xmlns:p14="http://schemas.microsoft.com/office/powerpoint/2010/main" val="35904857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lnSpcReduction="10000"/>
          </a:bodyPr>
          <a:lstStyle/>
          <a:p>
            <a:pPr algn="just">
              <a:buFont typeface="Wingdings" panose="05000000000000000000" pitchFamily="2" charset="2"/>
              <a:buChar char="q"/>
            </a:pPr>
            <a:r>
              <a:rPr lang="en-IN" b="1" dirty="0">
                <a:latin typeface="Times New Roman" panose="02020603050405020304" pitchFamily="18" charset="0"/>
                <a:cs typeface="Times New Roman" panose="02020603050405020304" pitchFamily="18" charset="0"/>
              </a:rPr>
              <a:t>(</a:t>
            </a:r>
            <a:r>
              <a:rPr lang="en-IN" sz="2000" b="1" dirty="0">
                <a:latin typeface="Times New Roman" panose="02020603050405020304" pitchFamily="18" charset="0"/>
                <a:cs typeface="Times New Roman" panose="02020603050405020304" pitchFamily="18" charset="0"/>
              </a:rPr>
              <a:t>gmond )Ganglia monitoring daemon</a:t>
            </a:r>
          </a:p>
          <a:p>
            <a:pPr algn="just"/>
            <a:r>
              <a:rPr lang="en-IN" sz="2000" dirty="0">
                <a:latin typeface="Times New Roman" panose="02020603050405020304" pitchFamily="18" charset="0"/>
                <a:cs typeface="Times New Roman" panose="02020603050405020304" pitchFamily="18" charset="0"/>
              </a:rPr>
              <a:t>gmond is installed on all nodes that need to be monitored. </a:t>
            </a:r>
          </a:p>
          <a:p>
            <a:pPr algn="just"/>
            <a:r>
              <a:rPr lang="en-IN" sz="2000" dirty="0">
                <a:latin typeface="Times New Roman" panose="02020603050405020304" pitchFamily="18" charset="0"/>
                <a:cs typeface="Times New Roman" panose="02020603050405020304" pitchFamily="18" charset="0"/>
              </a:rPr>
              <a:t>Runs on every node of the cluster and collects data about the node like CPU </a:t>
            </a:r>
            <a:r>
              <a:rPr lang="en-IN" sz="2000" dirty="0" err="1">
                <a:latin typeface="Times New Roman" panose="02020603050405020304" pitchFamily="18" charset="0"/>
                <a:cs typeface="Times New Roman" panose="02020603050405020304" pitchFamily="18" charset="0"/>
              </a:rPr>
              <a:t>load,free</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memory,disk</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usage,network</a:t>
            </a:r>
            <a:r>
              <a:rPr lang="en-IN" sz="2000" dirty="0">
                <a:latin typeface="Times New Roman" panose="02020603050405020304" pitchFamily="18" charset="0"/>
                <a:cs typeface="Times New Roman" panose="02020603050405020304" pitchFamily="18" charset="0"/>
              </a:rPr>
              <a:t> traffic etc.</a:t>
            </a:r>
          </a:p>
          <a:p>
            <a:pPr algn="just"/>
            <a:r>
              <a:rPr lang="en-IN" sz="2000" dirty="0">
                <a:latin typeface="Times New Roman" panose="02020603050405020304" pitchFamily="18" charset="0"/>
                <a:cs typeface="Times New Roman" panose="02020603050405020304" pitchFamily="18" charset="0"/>
              </a:rPr>
              <a:t>It monitors the changes in host state, listens to other gmond instances over multi-cast/unicast, and is responsible for sending XML, over a TCP connection, to gmetad.</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Gmetad</a:t>
            </a:r>
          </a:p>
          <a:p>
            <a:pPr algn="just"/>
            <a:r>
              <a:rPr lang="en-IN" sz="2000" dirty="0">
                <a:latin typeface="Times New Roman" panose="02020603050405020304" pitchFamily="18" charset="0"/>
                <a:cs typeface="Times New Roman" panose="02020603050405020304" pitchFamily="18" charset="0"/>
              </a:rPr>
              <a:t>Runs on a head node, gathers the data from all the nodes, and displays it.</a:t>
            </a:r>
          </a:p>
          <a:p>
            <a:pPr algn="just"/>
            <a:r>
              <a:rPr lang="en-IN" sz="2000" dirty="0">
                <a:latin typeface="Times New Roman" panose="02020603050405020304" pitchFamily="18" charset="0"/>
                <a:cs typeface="Times New Roman" panose="02020603050405020304" pitchFamily="18" charset="0"/>
              </a:rPr>
              <a:t>gmetad collects information from multiple gmond or gmetad sources. It saves the information to a local round-robin database, and exports (in XML) a concatenation of all the data sources.</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Ganglia PHP Web frontend</a:t>
            </a:r>
          </a:p>
          <a:p>
            <a:pPr algn="just"/>
            <a:r>
              <a:rPr lang="en-IN" sz="2000" dirty="0">
                <a:latin typeface="Times New Roman" panose="02020603050405020304" pitchFamily="18" charset="0"/>
                <a:cs typeface="Times New Roman" panose="02020603050405020304" pitchFamily="18" charset="0"/>
              </a:rPr>
              <a:t>The frontend presents the data collected by gmond and gmetad in a meaningful form. Ganglia has been around for many years without much change to the UI — but since October 2010, a few contributors began contributing to a new UI, which looks awesome</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RRDs are Round-Robin Databases</a:t>
            </a:r>
            <a:r>
              <a:rPr lang="en-IN" sz="2000" dirty="0">
                <a:latin typeface="Times New Roman" panose="02020603050405020304" pitchFamily="18" charset="0"/>
                <a:cs typeface="Times New Roman" panose="02020603050405020304" pitchFamily="18" charset="0"/>
              </a:rPr>
              <a:t>. The data is archived after each hour is stored in an average form. You can demand the exact value of a particular instance of a particular month and hour.</a:t>
            </a:r>
          </a:p>
          <a:p>
            <a:endParaRPr lang="en-IN"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3815253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211688" y="283336"/>
            <a:ext cx="9683839" cy="6307384"/>
          </a:xfrm>
          <a:prstGeom prst="rect">
            <a:avLst/>
          </a:prstGeom>
        </p:spPr>
      </p:pic>
    </p:spTree>
    <p:extLst>
      <p:ext uri="{BB962C8B-B14F-4D97-AF65-F5344CB8AC3E}">
        <p14:creationId xmlns:p14="http://schemas.microsoft.com/office/powerpoint/2010/main" val="7079677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p:cNvPicPr>
            <a:picLocks noGrp="1" noChangeAspect="1"/>
          </p:cNvPicPr>
          <p:nvPr>
            <p:ph idx="1"/>
          </p:nvPr>
        </p:nvPicPr>
        <p:blipFill>
          <a:blip r:embed="rId2"/>
          <a:stretch>
            <a:fillRect/>
          </a:stretch>
        </p:blipFill>
        <p:spPr>
          <a:xfrm>
            <a:off x="292963" y="408374"/>
            <a:ext cx="12020365" cy="6542842"/>
          </a:xfrm>
          <a:prstGeom prst="rect">
            <a:avLst/>
          </a:prstGeom>
        </p:spPr>
      </p:pic>
    </p:spTree>
    <p:extLst>
      <p:ext uri="{BB962C8B-B14F-4D97-AF65-F5344CB8AC3E}">
        <p14:creationId xmlns:p14="http://schemas.microsoft.com/office/powerpoint/2010/main" val="41988876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779653"/>
          </a:xfrm>
        </p:spPr>
        <p:txBody>
          <a:bodyPr>
            <a:normAutofit/>
          </a:bodyPr>
          <a:lstStyle/>
          <a:p>
            <a:r>
              <a:rPr lang="en-IN" sz="4000" b="1" i="1" dirty="0">
                <a:solidFill>
                  <a:srgbClr val="FF0000"/>
                </a:solidFill>
                <a:latin typeface="Times New Roman" panose="02020603050405020304" pitchFamily="18" charset="0"/>
                <a:cs typeface="Times New Roman" panose="02020603050405020304" pitchFamily="18" charset="0"/>
              </a:rPr>
              <a:t>Log Handling</a:t>
            </a:r>
          </a:p>
        </p:txBody>
      </p:sp>
      <p:sp>
        <p:nvSpPr>
          <p:cNvPr id="3" name="Content Placeholder 2"/>
          <p:cNvSpPr>
            <a:spLocks noGrp="1"/>
          </p:cNvSpPr>
          <p:nvPr>
            <p:ph idx="1"/>
          </p:nvPr>
        </p:nvSpPr>
        <p:spPr>
          <a:xfrm>
            <a:off x="0" y="779652"/>
            <a:ext cx="12192000" cy="6078347"/>
          </a:xfrm>
        </p:spPr>
        <p:txBody>
          <a:bodyPr>
            <a:normAutofit fontScale="92500" lnSpcReduction="20000"/>
          </a:bodyPr>
          <a:lstStyle/>
          <a:p>
            <a:pPr algn="just"/>
            <a:r>
              <a:rPr lang="en-IN" sz="2600" dirty="0">
                <a:latin typeface="Times New Roman" panose="02020603050405020304" pitchFamily="18" charset="0"/>
                <a:cs typeface="Times New Roman" panose="02020603050405020304" pitchFamily="18" charset="0"/>
              </a:rPr>
              <a:t>It’s important for IT teams to continue having complete visibility of every component related to their applications and the underlying infrastructure. This is where real-time log monitoring and analysis come in.</a:t>
            </a:r>
          </a:p>
          <a:p>
            <a:pPr marL="0" indent="0" algn="just">
              <a:buNone/>
            </a:pPr>
            <a:endParaRPr lang="en-IN" sz="2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What Are Logs?</a:t>
            </a:r>
          </a:p>
          <a:p>
            <a:pPr algn="just"/>
            <a:r>
              <a:rPr lang="en-IN" sz="2600" dirty="0">
                <a:latin typeface="Times New Roman" panose="02020603050405020304" pitchFamily="18" charset="0"/>
                <a:cs typeface="Times New Roman" panose="02020603050405020304" pitchFamily="18" charset="0"/>
              </a:rPr>
              <a:t>All applications, networking devices, workstations, and servers create logs—or records of events—which are written to files on local disks by default. These logs contain crucial information. For example, an event log from a web server can contain information like a user’s IP address, date, time, request type, and more. Logs provide administrators with an audit trail to find the root cause of problems and troubleshoot errors. Because there’s a wide range of logs, they often vary in format. </a:t>
            </a:r>
          </a:p>
          <a:p>
            <a:pPr algn="just"/>
            <a:r>
              <a:rPr lang="en-IN" sz="2600" dirty="0">
                <a:latin typeface="Times New Roman" panose="02020603050405020304" pitchFamily="18" charset="0"/>
                <a:cs typeface="Times New Roman" panose="02020603050405020304" pitchFamily="18" charset="0"/>
              </a:rPr>
              <a:t>Logs are typically recorded in one or more log files. Log management allows you to gather the data in one place and look at it as part of a whole instead of separate entities. As such, you can </a:t>
            </a:r>
            <a:r>
              <a:rPr lang="en-IN" sz="2600" dirty="0" err="1">
                <a:latin typeface="Times New Roman" panose="02020603050405020304" pitchFamily="18" charset="0"/>
                <a:cs typeface="Times New Roman" panose="02020603050405020304" pitchFamily="18" charset="0"/>
              </a:rPr>
              <a:t>analyze</a:t>
            </a:r>
            <a:r>
              <a:rPr lang="en-IN" sz="2600" dirty="0">
                <a:latin typeface="Times New Roman" panose="02020603050405020304" pitchFamily="18" charset="0"/>
                <a:cs typeface="Times New Roman" panose="02020603050405020304" pitchFamily="18" charset="0"/>
              </a:rPr>
              <a:t> the collected log data, identify issues and patterns so that you can paint a clear and visual picture of how all your systems perform at any given moment</a:t>
            </a:r>
            <a:r>
              <a:rPr lang="en-IN" dirty="0"/>
              <a:t>.</a:t>
            </a:r>
          </a:p>
          <a:p>
            <a:pPr>
              <a:buFont typeface="Wingdings" panose="05000000000000000000" pitchFamily="2" charset="2"/>
              <a:buChar char="q"/>
            </a:pPr>
            <a:r>
              <a:rPr lang="en-IN" b="1" dirty="0">
                <a:latin typeface="Times New Roman" panose="02020603050405020304" pitchFamily="18" charset="0"/>
                <a:cs typeface="Times New Roman" panose="02020603050405020304" pitchFamily="18" charset="0"/>
              </a:rPr>
              <a:t>Log file</a:t>
            </a:r>
            <a:endParaRPr lang="en-IN" dirty="0">
              <a:latin typeface="Times New Roman" panose="02020603050405020304" pitchFamily="18" charset="0"/>
              <a:cs typeface="Times New Roman" panose="02020603050405020304" pitchFamily="18" charset="0"/>
            </a:endParaRPr>
          </a:p>
          <a:p>
            <a:pPr algn="just"/>
            <a:r>
              <a:rPr lang="en-IN" sz="2600" dirty="0">
                <a:latin typeface="Times New Roman" panose="02020603050405020304" pitchFamily="18" charset="0"/>
                <a:cs typeface="Times New Roman" panose="02020603050405020304" pitchFamily="18" charset="0"/>
              </a:rPr>
              <a:t>Log file is a file that records either messages or events that occur in an operating system/application. These messages are written to log file.</a:t>
            </a:r>
          </a:p>
          <a:p>
            <a:pPr algn="just"/>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93279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a:buFont typeface="Wingdings" panose="05000000000000000000" pitchFamily="2" charset="2"/>
              <a:buChar char="q"/>
            </a:pPr>
            <a:r>
              <a:rPr lang="en-IN" sz="2400" b="1" dirty="0">
                <a:solidFill>
                  <a:srgbClr val="FF0000"/>
                </a:solidFill>
                <a:latin typeface="Times New Roman" panose="02020603050405020304" pitchFamily="18" charset="0"/>
                <a:cs typeface="Times New Roman" panose="02020603050405020304" pitchFamily="18" charset="0"/>
              </a:rPr>
              <a:t>Log management </a:t>
            </a:r>
            <a:r>
              <a:rPr lang="en-IN" sz="2400" b="1" dirty="0">
                <a:latin typeface="Times New Roman" panose="02020603050405020304" pitchFamily="18" charset="0"/>
                <a:cs typeface="Times New Roman" panose="02020603050405020304" pitchFamily="18" charset="0"/>
              </a:rPr>
              <a:t>:-</a:t>
            </a:r>
          </a:p>
          <a:p>
            <a:pPr algn="just"/>
            <a:r>
              <a:rPr lang="en-IN" sz="2400" dirty="0">
                <a:latin typeface="Times New Roman" panose="02020603050405020304" pitchFamily="18" charset="0"/>
                <a:cs typeface="Times New Roman" panose="02020603050405020304" pitchFamily="18" charset="0"/>
              </a:rPr>
              <a:t>Log management is the process of handling log events generated by all software applications and infrastructure on which they run. It involves log collection, aggregation, parsing, storage, analysis, search, archiving, and disposal, with the ultimate goal of using the data for troubleshooting and gaining business insights, while also ensuring the compliance and security of applications and infrastructure.</a:t>
            </a:r>
          </a:p>
          <a:p>
            <a:pPr marL="0" indent="0" algn="just">
              <a:buNone/>
            </a:pPr>
            <a:endParaRPr lang="en-IN" sz="2200" b="1"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IN" sz="2200" b="1" dirty="0">
                <a:solidFill>
                  <a:srgbClr val="FF0000"/>
                </a:solidFill>
                <a:latin typeface="Times New Roman" panose="02020603050405020304" pitchFamily="18" charset="0"/>
                <a:cs typeface="Times New Roman" panose="02020603050405020304" pitchFamily="18" charset="0"/>
              </a:rPr>
              <a:t>What Is Log Monitoring?</a:t>
            </a:r>
          </a:p>
          <a:p>
            <a:pPr algn="just"/>
            <a:r>
              <a:rPr lang="en-IN" sz="2200" dirty="0">
                <a:latin typeface="Times New Roman" panose="02020603050405020304" pitchFamily="18" charset="0"/>
                <a:cs typeface="Times New Roman" panose="02020603050405020304" pitchFamily="18" charset="0"/>
              </a:rPr>
              <a:t>Log monitoring refers to the set of practices involved in log management and analysis to help IT teams manage their infrastructure and operations</a:t>
            </a:r>
          </a:p>
          <a:p>
            <a:pPr marL="0" indent="0" algn="just">
              <a:buNone/>
            </a:pPr>
            <a:endParaRPr lang="en-IN" sz="22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IN" sz="2200" b="1" dirty="0">
                <a:solidFill>
                  <a:srgbClr val="FF0000"/>
                </a:solidFill>
                <a:latin typeface="Times New Roman" panose="02020603050405020304" pitchFamily="18" charset="0"/>
                <a:cs typeface="Times New Roman" panose="02020603050405020304" pitchFamily="18" charset="0"/>
              </a:rPr>
              <a:t>Why is Log Analysis Becoming More Important?</a:t>
            </a:r>
          </a:p>
          <a:p>
            <a:pPr algn="just"/>
            <a:r>
              <a:rPr lang="en-IN" sz="2200" dirty="0">
                <a:latin typeface="Times New Roman" panose="02020603050405020304" pitchFamily="18" charset="0"/>
                <a:cs typeface="Times New Roman" panose="02020603050405020304" pitchFamily="18" charset="0"/>
              </a:rPr>
              <a:t>In today’s competitive world, organizations cannot afford one second of downtime or slow performance of their applications. Performance issues can damage a brand and in some cases translate into a direct revenue loss. </a:t>
            </a:r>
          </a:p>
          <a:p>
            <a:pPr algn="just"/>
            <a:endParaRPr lang="en-IN" sz="2200" dirty="0">
              <a:latin typeface="Times New Roman" panose="02020603050405020304" pitchFamily="18" charset="0"/>
              <a:cs typeface="Times New Roman" panose="02020603050405020304" pitchFamily="18" charset="0"/>
            </a:endParaRPr>
          </a:p>
          <a:p>
            <a:pPr marL="0" indent="0">
              <a:buNone/>
            </a:pPr>
            <a:endParaRPr lang="en-IN" dirty="0"/>
          </a:p>
          <a:p>
            <a:endParaRPr lang="en-IN" dirty="0"/>
          </a:p>
        </p:txBody>
      </p:sp>
    </p:spTree>
    <p:extLst>
      <p:ext uri="{BB962C8B-B14F-4D97-AF65-F5344CB8AC3E}">
        <p14:creationId xmlns:p14="http://schemas.microsoft.com/office/powerpoint/2010/main" val="30031311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960540F-04FF-42EC-8680-057067DFCE8F}"/>
              </a:ext>
            </a:extLst>
          </p:cNvPr>
          <p:cNvSpPr txBox="1"/>
          <p:nvPr/>
        </p:nvSpPr>
        <p:spPr>
          <a:xfrm>
            <a:off x="142043" y="71022"/>
            <a:ext cx="12049957" cy="2674065"/>
          </a:xfrm>
          <a:prstGeom prst="rect">
            <a:avLst/>
          </a:prstGeom>
          <a:noFill/>
        </p:spPr>
        <p:txBody>
          <a:bodyPr wrap="square">
            <a:spAutoFit/>
          </a:bodyPr>
          <a:lstStyle/>
          <a:p>
            <a:pPr>
              <a:lnSpc>
                <a:spcPct val="150000"/>
              </a:lnSpc>
              <a:buFont typeface="Wingdings" panose="05000000000000000000" pitchFamily="2" charset="2"/>
              <a:buChar char="v"/>
            </a:pPr>
            <a:r>
              <a:rPr lang="en-IN" sz="2400" b="1" dirty="0">
                <a:latin typeface="Times New Roman" panose="02020603050405020304" pitchFamily="18" charset="0"/>
                <a:cs typeface="Times New Roman" panose="02020603050405020304" pitchFamily="18" charset="0"/>
              </a:rPr>
              <a:t>Log Monitoring:-</a:t>
            </a:r>
          </a:p>
          <a:p>
            <a:pPr algn="just">
              <a:lnSpc>
                <a:spcPct val="150000"/>
              </a:lnSpc>
            </a:pPr>
            <a:r>
              <a:rPr lang="en-IN" b="1" dirty="0">
                <a:solidFill>
                  <a:srgbClr val="FF0000"/>
                </a:solidFill>
                <a:latin typeface="Times New Roman" panose="02020603050405020304" pitchFamily="18" charset="0"/>
                <a:cs typeface="Times New Roman" panose="02020603050405020304" pitchFamily="18" charset="0"/>
              </a:rPr>
              <a:t>Web Server Monitoring </a:t>
            </a:r>
            <a:r>
              <a:rPr 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You can track traffic volume, server errors, failed services, and more with server logs. </a:t>
            </a:r>
          </a:p>
          <a:p>
            <a:pPr algn="just">
              <a:lnSpc>
                <a:spcPct val="150000"/>
              </a:lnSpc>
            </a:pPr>
            <a:r>
              <a:rPr lang="en-IN" b="1" dirty="0">
                <a:solidFill>
                  <a:srgbClr val="FF0000"/>
                </a:solidFill>
                <a:latin typeface="Times New Roman" panose="02020603050405020304" pitchFamily="18" charset="0"/>
                <a:cs typeface="Times New Roman" panose="02020603050405020304" pitchFamily="18" charset="0"/>
              </a:rPr>
              <a:t>Network Monitoring </a:t>
            </a:r>
            <a:r>
              <a:rPr 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Devices like routers, firewalls, and load balancers form the backbone of enterprise networks.</a:t>
            </a:r>
          </a:p>
          <a:p>
            <a:pPr algn="just">
              <a:lnSpc>
                <a:spcPct val="150000"/>
              </a:lnSpc>
            </a:pPr>
            <a:r>
              <a:rPr lang="en-IN" b="1" dirty="0">
                <a:solidFill>
                  <a:srgbClr val="FF0000"/>
                </a:solidFill>
                <a:latin typeface="Times New Roman" panose="02020603050405020304" pitchFamily="18" charset="0"/>
                <a:cs typeface="Times New Roman" panose="02020603050405020304" pitchFamily="18" charset="0"/>
              </a:rPr>
              <a:t>Application Monitoring</a:t>
            </a:r>
            <a:r>
              <a:rPr lang="en-IN" b="1" dirty="0">
                <a:latin typeface="Times New Roman" panose="02020603050405020304" pitchFamily="18" charset="0"/>
                <a:cs typeface="Times New Roman" panose="02020603050405020304" pitchFamily="18" charset="0"/>
              </a:rPr>
              <a:t>: While</a:t>
            </a:r>
            <a:r>
              <a:rPr lang="en-IN" dirty="0">
                <a:latin typeface="Times New Roman" panose="02020603050405020304" pitchFamily="18" charset="0"/>
                <a:cs typeface="Times New Roman" panose="02020603050405020304" pitchFamily="18" charset="0"/>
              </a:rPr>
              <a:t> metrics give aggregated information about the health of different services over time</a:t>
            </a:r>
          </a:p>
          <a:p>
            <a:pPr algn="just">
              <a:lnSpc>
                <a:spcPct val="150000"/>
              </a:lnSpc>
            </a:pPr>
            <a:r>
              <a:rPr lang="en-IN" b="1" dirty="0">
                <a:solidFill>
                  <a:srgbClr val="FF0000"/>
                </a:solidFill>
                <a:latin typeface="Times New Roman" panose="02020603050405020304" pitchFamily="18" charset="0"/>
                <a:cs typeface="Times New Roman" panose="02020603050405020304" pitchFamily="18" charset="0"/>
              </a:rPr>
              <a:t>Database Monitoring</a:t>
            </a:r>
            <a:r>
              <a:rPr lang="en-IN" b="1" dirty="0">
                <a:latin typeface="Times New Roman" panose="02020603050405020304" pitchFamily="18" charset="0"/>
                <a:cs typeface="Times New Roman" panose="02020603050405020304" pitchFamily="18" charset="0"/>
              </a:rPr>
              <a:t>: Database</a:t>
            </a:r>
            <a:r>
              <a:rPr lang="en-IN" dirty="0">
                <a:latin typeface="Times New Roman" panose="02020603050405020304" pitchFamily="18" charset="0"/>
                <a:cs typeface="Times New Roman" panose="02020603050405020304" pitchFamily="18" charset="0"/>
              </a:rPr>
              <a:t> logs from MongoDB, MySQL, PostgreSQL, etc., can help in proactive monitoring and troubleshooting database errors. </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84620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DAEBBE-BB97-4F9E-A4C7-BA00F18FBA01}"/>
              </a:ext>
            </a:extLst>
          </p:cNvPr>
          <p:cNvSpPr txBox="1"/>
          <p:nvPr/>
        </p:nvSpPr>
        <p:spPr>
          <a:xfrm>
            <a:off x="428625" y="104775"/>
            <a:ext cx="8715375" cy="646331"/>
          </a:xfrm>
          <a:prstGeom prst="rect">
            <a:avLst/>
          </a:prstGeom>
          <a:noFill/>
        </p:spPr>
        <p:txBody>
          <a:bodyPr wrap="square">
            <a:spAutoFit/>
          </a:bodyPr>
          <a:lstStyle/>
          <a:p>
            <a:r>
              <a:rPr lang="en-SG" b="0" i="0" dirty="0">
                <a:solidFill>
                  <a:srgbClr val="FFFFFF"/>
                </a:solidFill>
                <a:effectLst/>
                <a:latin typeface="Harmonia Sans"/>
              </a:rPr>
              <a:t>ELK </a:t>
            </a:r>
            <a:r>
              <a:rPr lang="en-SG" b="0" i="0" dirty="0" err="1">
                <a:solidFill>
                  <a:srgbClr val="FFFFFF"/>
                </a:solidFill>
                <a:effectLst/>
                <a:latin typeface="Harmonia Sans"/>
              </a:rPr>
              <a:t>ELK</a:t>
            </a:r>
            <a:r>
              <a:rPr lang="en-SG" b="0" i="0" dirty="0">
                <a:solidFill>
                  <a:srgbClr val="FFFFFF"/>
                </a:solidFill>
                <a:effectLst/>
                <a:latin typeface="Harmonia Sans"/>
              </a:rPr>
              <a:t> Stack</a:t>
            </a:r>
          </a:p>
          <a:p>
            <a:pPr algn="l"/>
            <a:r>
              <a:rPr lang="en-SG" b="0" i="0" dirty="0">
                <a:solidFill>
                  <a:srgbClr val="FFFFFF"/>
                </a:solidFill>
                <a:effectLst/>
                <a:latin typeface="Harmonia Sans"/>
              </a:rPr>
              <a:t> Stack</a:t>
            </a:r>
          </a:p>
        </p:txBody>
      </p:sp>
      <p:sp>
        <p:nvSpPr>
          <p:cNvPr id="5" name="TextBox 4">
            <a:extLst>
              <a:ext uri="{FF2B5EF4-FFF2-40B4-BE49-F238E27FC236}">
                <a16:creationId xmlns:a16="http://schemas.microsoft.com/office/drawing/2014/main" id="{5A48C7E9-B411-4771-8FFF-5FCFADF06132}"/>
              </a:ext>
            </a:extLst>
          </p:cNvPr>
          <p:cNvSpPr txBox="1"/>
          <p:nvPr/>
        </p:nvSpPr>
        <p:spPr>
          <a:xfrm>
            <a:off x="3048000" y="3244334"/>
            <a:ext cx="6096000" cy="369332"/>
          </a:xfrm>
          <a:prstGeom prst="rect">
            <a:avLst/>
          </a:prstGeom>
          <a:noFill/>
        </p:spPr>
        <p:txBody>
          <a:bodyPr wrap="square">
            <a:spAutoFit/>
          </a:bodyPr>
          <a:lstStyle/>
          <a:p>
            <a:pPr algn="l"/>
            <a:r>
              <a:rPr lang="en-SG" b="0" i="0">
                <a:solidFill>
                  <a:srgbClr val="FFFFFF"/>
                </a:solidFill>
                <a:effectLst/>
                <a:latin typeface="Harmonia Sans"/>
              </a:rPr>
              <a:t>ELK Stack</a:t>
            </a:r>
          </a:p>
        </p:txBody>
      </p:sp>
      <p:sp>
        <p:nvSpPr>
          <p:cNvPr id="7" name="TextBox 6">
            <a:extLst>
              <a:ext uri="{FF2B5EF4-FFF2-40B4-BE49-F238E27FC236}">
                <a16:creationId xmlns:a16="http://schemas.microsoft.com/office/drawing/2014/main" id="{327A3F38-9153-4471-9E27-940D504B5D4E}"/>
              </a:ext>
            </a:extLst>
          </p:cNvPr>
          <p:cNvSpPr txBox="1"/>
          <p:nvPr/>
        </p:nvSpPr>
        <p:spPr>
          <a:xfrm>
            <a:off x="123826" y="180975"/>
            <a:ext cx="11639550" cy="9510296"/>
          </a:xfrm>
          <a:prstGeom prst="rect">
            <a:avLst/>
          </a:prstGeom>
          <a:noFill/>
        </p:spPr>
        <p:txBody>
          <a:bodyPr wrap="square">
            <a:spAutoFit/>
          </a:bodyPr>
          <a:lstStyle/>
          <a:p>
            <a:r>
              <a:rPr lang="en-SG" sz="2400" dirty="0">
                <a:solidFill>
                  <a:srgbClr val="FF0000"/>
                </a:solidFill>
              </a:rPr>
              <a:t>ELK Stack</a:t>
            </a:r>
          </a:p>
          <a:p>
            <a:endParaRPr lang="en-SG" dirty="0"/>
          </a:p>
          <a:p>
            <a:r>
              <a:rPr lang="en-US" b="0" i="0" dirty="0">
                <a:solidFill>
                  <a:srgbClr val="222222"/>
                </a:solidFill>
                <a:effectLst/>
                <a:latin typeface="Noto Sans" panose="020B0502040504020204" pitchFamily="34" charset="0"/>
              </a:rPr>
              <a:t>ELK Stack is the leading </a:t>
            </a:r>
            <a:r>
              <a:rPr lang="en-US" b="0" i="0" dirty="0">
                <a:solidFill>
                  <a:srgbClr val="FF0000"/>
                </a:solidFill>
                <a:effectLst/>
                <a:latin typeface="Noto Sans" panose="020B0502040504020204" pitchFamily="34" charset="0"/>
              </a:rPr>
              <a:t>open-source IT log management solution </a:t>
            </a:r>
            <a:r>
              <a:rPr lang="en-US" b="0" i="0" dirty="0">
                <a:solidFill>
                  <a:srgbClr val="222222"/>
                </a:solidFill>
                <a:effectLst/>
                <a:latin typeface="Noto Sans" panose="020B0502040504020204" pitchFamily="34" charset="0"/>
              </a:rPr>
              <a:t>for companies who want the benefits of a centralized logging solution without the enterprise software price. </a:t>
            </a:r>
          </a:p>
          <a:p>
            <a:endParaRPr lang="en-US" dirty="0">
              <a:solidFill>
                <a:srgbClr val="222222"/>
              </a:solidFill>
              <a:latin typeface="Noto Sans" panose="020B0502040504020204" pitchFamily="34" charset="0"/>
            </a:endParaRPr>
          </a:p>
          <a:p>
            <a:r>
              <a:rPr lang="en-US" b="0" i="0" dirty="0">
                <a:solidFill>
                  <a:srgbClr val="FF0000"/>
                </a:solidFill>
                <a:effectLst/>
                <a:latin typeface="Noto Sans" panose="020B0502040504020204" pitchFamily="34" charset="0"/>
              </a:rPr>
              <a:t>Elasticsearch, Logstash, and Kibana </a:t>
            </a:r>
            <a:r>
              <a:rPr lang="en-US" b="0" i="0" dirty="0">
                <a:solidFill>
                  <a:srgbClr val="222222"/>
                </a:solidFill>
                <a:effectLst/>
                <a:latin typeface="Noto Sans" panose="020B0502040504020204" pitchFamily="34" charset="0"/>
              </a:rPr>
              <a:t>when used together, form an end-to-end stack (ELK Stack) and real-time data analytics tool that provides actionable insights from almost any type of structured and unstructured data source. </a:t>
            </a:r>
          </a:p>
          <a:p>
            <a:endParaRPr lang="en-US" dirty="0">
              <a:solidFill>
                <a:srgbClr val="222222"/>
              </a:solidFill>
              <a:latin typeface="Noto Sans" panose="020B0502040504020204" pitchFamily="34" charset="0"/>
            </a:endParaRPr>
          </a:p>
          <a:p>
            <a:r>
              <a:rPr lang="en-US" b="0" i="0" dirty="0">
                <a:solidFill>
                  <a:srgbClr val="222222"/>
                </a:solidFill>
                <a:effectLst/>
                <a:latin typeface="Noto Sans" panose="020B0502040504020204" pitchFamily="34" charset="0"/>
              </a:rPr>
              <a:t>Each of these products plays a different role in delivering one seamless stack:</a:t>
            </a:r>
          </a:p>
          <a:p>
            <a:endParaRPr lang="en-US" dirty="0">
              <a:solidFill>
                <a:srgbClr val="222222"/>
              </a:solidFill>
              <a:latin typeface="Noto Sans" panose="020B0502040504020204" pitchFamily="34" charset="0"/>
            </a:endParaRPr>
          </a:p>
          <a:p>
            <a:endParaRPr lang="en-US" dirty="0">
              <a:solidFill>
                <a:srgbClr val="222222"/>
              </a:solidFill>
              <a:latin typeface="Noto Sans" panose="020B0502040504020204" pitchFamily="34" charset="0"/>
            </a:endParaRPr>
          </a:p>
          <a:p>
            <a:endParaRPr lang="en-SG" dirty="0"/>
          </a:p>
          <a:p>
            <a:endParaRPr lang="en-SG" dirty="0"/>
          </a:p>
          <a:p>
            <a:endParaRPr lang="en-SG" dirty="0"/>
          </a:p>
          <a:p>
            <a:endParaRPr lang="en-SG" dirty="0"/>
          </a:p>
          <a:p>
            <a:endParaRPr lang="en-SG" dirty="0"/>
          </a:p>
          <a:p>
            <a:pPr algn="l">
              <a:buFont typeface="Arial" panose="020B0604020202020204" pitchFamily="34" charset="0"/>
              <a:buChar char="•"/>
            </a:pPr>
            <a:r>
              <a:rPr lang="en-US" b="1" i="0" dirty="0">
                <a:solidFill>
                  <a:srgbClr val="222222"/>
                </a:solidFill>
                <a:effectLst/>
                <a:latin typeface="noto-sans"/>
              </a:rPr>
              <a:t>Elasticsearch</a:t>
            </a:r>
            <a:r>
              <a:rPr lang="en-US" b="0" i="0" dirty="0">
                <a:solidFill>
                  <a:srgbClr val="222222"/>
                </a:solidFill>
                <a:effectLst/>
                <a:latin typeface="noto-sans"/>
              </a:rPr>
              <a:t> provides the storage and analytics engine</a:t>
            </a:r>
          </a:p>
          <a:p>
            <a:pPr algn="l">
              <a:buFont typeface="Arial" panose="020B0604020202020204" pitchFamily="34" charset="0"/>
              <a:buChar char="•"/>
            </a:pPr>
            <a:r>
              <a:rPr lang="en-US" b="1" i="0" dirty="0">
                <a:solidFill>
                  <a:srgbClr val="222222"/>
                </a:solidFill>
                <a:effectLst/>
                <a:latin typeface="noto-sans"/>
              </a:rPr>
              <a:t>Logstash</a:t>
            </a:r>
            <a:r>
              <a:rPr lang="en-US" b="0" i="0" dirty="0">
                <a:solidFill>
                  <a:srgbClr val="222222"/>
                </a:solidFill>
                <a:effectLst/>
                <a:latin typeface="noto-sans"/>
              </a:rPr>
              <a:t> acts as a collection and transformation agent</a:t>
            </a:r>
          </a:p>
          <a:p>
            <a:pPr algn="l">
              <a:buFont typeface="Arial" panose="020B0604020202020204" pitchFamily="34" charset="0"/>
              <a:buChar char="•"/>
            </a:pPr>
            <a:r>
              <a:rPr lang="en-US" b="1" i="0" dirty="0">
                <a:solidFill>
                  <a:srgbClr val="222222"/>
                </a:solidFill>
                <a:effectLst/>
                <a:latin typeface="noto-sans"/>
              </a:rPr>
              <a:t>Kibana</a:t>
            </a:r>
            <a:r>
              <a:rPr lang="en-US" b="0" i="0" dirty="0">
                <a:solidFill>
                  <a:srgbClr val="222222"/>
                </a:solidFill>
                <a:effectLst/>
                <a:latin typeface="noto-sans"/>
              </a:rPr>
              <a:t> helps you visualize the data that you have</a:t>
            </a:r>
          </a:p>
          <a:p>
            <a:endParaRPr lang="en-SG" dirty="0"/>
          </a:p>
          <a:p>
            <a:endParaRPr lang="en-SG" dirty="0"/>
          </a:p>
          <a:p>
            <a:endParaRPr lang="en-SG" dirty="0"/>
          </a:p>
          <a:p>
            <a:endParaRPr lang="en-SG" dirty="0"/>
          </a:p>
          <a:p>
            <a:endParaRPr lang="en-SG" dirty="0"/>
          </a:p>
          <a:p>
            <a:endParaRPr lang="en-SG" dirty="0"/>
          </a:p>
          <a:p>
            <a:endParaRPr lang="en-SG" dirty="0"/>
          </a:p>
          <a:p>
            <a:endParaRPr lang="en-SG" dirty="0"/>
          </a:p>
          <a:p>
            <a:endParaRPr lang="en-SG" dirty="0"/>
          </a:p>
          <a:p>
            <a:endParaRPr lang="en-SG" dirty="0"/>
          </a:p>
          <a:p>
            <a:endParaRPr lang="en-SG" dirty="0"/>
          </a:p>
          <a:p>
            <a:endParaRPr lang="en-SG" dirty="0"/>
          </a:p>
          <a:p>
            <a:endParaRPr lang="en-SG" dirty="0"/>
          </a:p>
          <a:p>
            <a:endParaRPr lang="en-SG" dirty="0"/>
          </a:p>
        </p:txBody>
      </p:sp>
      <p:pic>
        <p:nvPicPr>
          <p:cNvPr id="1026" name="Picture 2">
            <a:extLst>
              <a:ext uri="{FF2B5EF4-FFF2-40B4-BE49-F238E27FC236}">
                <a16:creationId xmlns:a16="http://schemas.microsoft.com/office/drawing/2014/main" id="{592419DA-6E9C-4A81-BE55-8E57B99D57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3862" y="3287265"/>
            <a:ext cx="3724275" cy="1241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41304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736979"/>
          </a:xfrm>
        </p:spPr>
        <p:txBody>
          <a:bodyPr>
            <a:normAutofit fontScale="90000"/>
          </a:bodyPr>
          <a:lstStyle/>
          <a:p>
            <a:br>
              <a:rPr lang="en-SG" b="1" i="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br>
            <a:r>
              <a:rPr lang="en-SG" b="1" i="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Introduction to issue trackers</a:t>
            </a:r>
            <a:br>
              <a:rPr lang="en-SG" sz="4000" dirty="0">
                <a:solidFill>
                  <a:srgbClr val="FF0000"/>
                </a:solidFill>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idx="1"/>
          </p:nvPr>
        </p:nvSpPr>
        <p:spPr>
          <a:xfrm>
            <a:off x="0" y="736978"/>
            <a:ext cx="12192000" cy="6121022"/>
          </a:xfrm>
        </p:spPr>
        <p:txBody>
          <a:bodyPr>
            <a:normAutofit fontScale="85000" lnSpcReduction="10000"/>
          </a:bodyPr>
          <a:lstStyle/>
          <a:p>
            <a:pPr algn="just"/>
            <a:r>
              <a:rPr lang="en-IN" sz="2600" dirty="0">
                <a:latin typeface="Times New Roman" panose="02020603050405020304" pitchFamily="18" charset="0"/>
                <a:cs typeface="Times New Roman" panose="02020603050405020304" pitchFamily="18" charset="0"/>
              </a:rPr>
              <a:t>An issue in  Issue Tracker is a bug report, feature request, change request or process workflow item that a user wants to track or expects another user or team to track. </a:t>
            </a:r>
          </a:p>
          <a:p>
            <a:pPr marL="0" indent="0" algn="just">
              <a:buNone/>
            </a:pPr>
            <a:endParaRPr lang="en-IN" sz="2600" dirty="0">
              <a:latin typeface="Times New Roman" panose="02020603050405020304" pitchFamily="18" charset="0"/>
              <a:cs typeface="Times New Roman" panose="02020603050405020304" pitchFamily="18" charset="0"/>
            </a:endParaRPr>
          </a:p>
          <a:p>
            <a:pPr algn="just"/>
            <a:r>
              <a:rPr lang="en-IN" sz="2600" dirty="0">
                <a:latin typeface="Times New Roman" panose="02020603050405020304" pitchFamily="18" charset="0"/>
                <a:cs typeface="Times New Roman" panose="02020603050405020304" pitchFamily="18" charset="0"/>
              </a:rPr>
              <a:t>We can also say, An issue </a:t>
            </a:r>
            <a:r>
              <a:rPr lang="en-IN" sz="2600" dirty="0">
                <a:solidFill>
                  <a:srgbClr val="FF0000"/>
                </a:solidFill>
                <a:latin typeface="Times New Roman" panose="02020603050405020304" pitchFamily="18" charset="0"/>
                <a:cs typeface="Times New Roman" panose="02020603050405020304" pitchFamily="18" charset="0"/>
              </a:rPr>
              <a:t>is any problem</a:t>
            </a:r>
            <a:r>
              <a:rPr lang="en-IN" sz="2600" dirty="0">
                <a:latin typeface="Times New Roman" panose="02020603050405020304" pitchFamily="18" charset="0"/>
                <a:cs typeface="Times New Roman" panose="02020603050405020304" pitchFamily="18" charset="0"/>
              </a:rPr>
              <a:t>, </a:t>
            </a:r>
            <a:r>
              <a:rPr lang="en-IN" sz="2600" dirty="0">
                <a:solidFill>
                  <a:srgbClr val="FF0000"/>
                </a:solidFill>
                <a:latin typeface="Times New Roman" panose="02020603050405020304" pitchFamily="18" charset="0"/>
                <a:cs typeface="Times New Roman" panose="02020603050405020304" pitchFamily="18" charset="0"/>
              </a:rPr>
              <a:t>question, grievance, or criticism offered by a user</a:t>
            </a:r>
            <a:r>
              <a:rPr lang="en-IN" sz="2600" dirty="0">
                <a:latin typeface="Times New Roman" panose="02020603050405020304" pitchFamily="18" charset="0"/>
                <a:cs typeface="Times New Roman" panose="02020603050405020304" pitchFamily="18" charset="0"/>
              </a:rPr>
              <a:t>. When your customers experience a challenge while using your product, then they have encountered an issue. </a:t>
            </a:r>
          </a:p>
          <a:p>
            <a:pPr marL="0" indent="0" algn="just">
              <a:buNone/>
            </a:pPr>
            <a:endParaRPr lang="en-IN" sz="2600" dirty="0">
              <a:latin typeface="Times New Roman" panose="02020603050405020304" pitchFamily="18" charset="0"/>
              <a:cs typeface="Times New Roman" panose="02020603050405020304" pitchFamily="18" charset="0"/>
            </a:endParaRPr>
          </a:p>
          <a:p>
            <a:pPr algn="just"/>
            <a:r>
              <a:rPr lang="en-IN" sz="2600" dirty="0">
                <a:latin typeface="Times New Roman" panose="02020603050405020304" pitchFamily="18" charset="0"/>
                <a:cs typeface="Times New Roman" panose="02020603050405020304" pitchFamily="18" charset="0"/>
              </a:rPr>
              <a:t>Each issue has a set of associated fields that describe it and its current state. This includes </a:t>
            </a:r>
            <a:r>
              <a:rPr lang="en-IN" sz="2600" dirty="0">
                <a:solidFill>
                  <a:srgbClr val="FF0000"/>
                </a:solidFill>
                <a:latin typeface="Times New Roman" panose="02020603050405020304" pitchFamily="18" charset="0"/>
                <a:cs typeface="Times New Roman" panose="02020603050405020304" pitchFamily="18" charset="0"/>
              </a:rPr>
              <a:t>the type of issue,</a:t>
            </a:r>
            <a:r>
              <a:rPr lang="en-IN" sz="2600" dirty="0">
                <a:latin typeface="Times New Roman" panose="02020603050405020304" pitchFamily="18" charset="0"/>
                <a:cs typeface="Times New Roman" panose="02020603050405020304" pitchFamily="18" charset="0"/>
              </a:rPr>
              <a:t> its </a:t>
            </a:r>
            <a:r>
              <a:rPr lang="en-IN" sz="2600" dirty="0">
                <a:solidFill>
                  <a:srgbClr val="FF0000"/>
                </a:solidFill>
                <a:latin typeface="Times New Roman" panose="02020603050405020304" pitchFamily="18" charset="0"/>
                <a:cs typeface="Times New Roman" panose="02020603050405020304" pitchFamily="18" charset="0"/>
              </a:rPr>
              <a:t>importance in terms of severity and priority</a:t>
            </a:r>
            <a:r>
              <a:rPr lang="en-IN" sz="2600" dirty="0">
                <a:latin typeface="Times New Roman" panose="02020603050405020304" pitchFamily="18" charset="0"/>
                <a:cs typeface="Times New Roman" panose="02020603050405020304" pitchFamily="18" charset="0"/>
              </a:rPr>
              <a:t>, and the </a:t>
            </a:r>
            <a:r>
              <a:rPr lang="en-IN" sz="2600" dirty="0">
                <a:solidFill>
                  <a:srgbClr val="FF0000"/>
                </a:solidFill>
                <a:latin typeface="Times New Roman" panose="02020603050405020304" pitchFamily="18" charset="0"/>
                <a:cs typeface="Times New Roman" panose="02020603050405020304" pitchFamily="18" charset="0"/>
              </a:rPr>
              <a:t>record of activity on the issue</a:t>
            </a:r>
          </a:p>
          <a:p>
            <a:pPr marL="0" indent="0" algn="just">
              <a:buNone/>
            </a:pPr>
            <a:endParaRPr lang="en-IN" sz="2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IN" sz="2400" b="1" u="sng" dirty="0">
                <a:latin typeface="Times New Roman" panose="02020603050405020304" pitchFamily="18" charset="0"/>
                <a:cs typeface="Times New Roman" panose="02020603050405020304" pitchFamily="18" charset="0"/>
              </a:rPr>
              <a:t>Issue tracker</a:t>
            </a:r>
            <a:r>
              <a:rPr lang="en-IN" sz="26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an Issue tracker records issues customers have experienced with a software product, and it enables support agents, engineers, and managers to track those problems until they have been successfully resolved. Often referred to </a:t>
            </a:r>
            <a:r>
              <a:rPr lang="en-IN" sz="2400" dirty="0">
                <a:solidFill>
                  <a:srgbClr val="FF0000"/>
                </a:solidFill>
                <a:latin typeface="Times New Roman" panose="02020603050405020304" pitchFamily="18" charset="0"/>
                <a:cs typeface="Times New Roman" panose="02020603050405020304" pitchFamily="18" charset="0"/>
              </a:rPr>
              <a:t>as a bug tracking system</a:t>
            </a:r>
            <a:r>
              <a:rPr lang="en-IN" sz="2400" dirty="0">
                <a:latin typeface="Times New Roman" panose="02020603050405020304" pitchFamily="18" charset="0"/>
                <a:cs typeface="Times New Roman" panose="02020603050405020304" pitchFamily="18" charset="0"/>
              </a:rPr>
              <a:t>, these tools present </a:t>
            </a:r>
            <a:r>
              <a:rPr lang="en-IN" sz="2400" dirty="0">
                <a:solidFill>
                  <a:srgbClr val="FF0000"/>
                </a:solidFill>
                <a:latin typeface="Times New Roman" panose="02020603050405020304" pitchFamily="18" charset="0"/>
                <a:cs typeface="Times New Roman" panose="02020603050405020304" pitchFamily="18" charset="0"/>
              </a:rPr>
              <a:t>an organized way—via tickets—for customer service and product development teams</a:t>
            </a:r>
            <a:r>
              <a:rPr lang="en-IN" sz="2400" dirty="0">
                <a:latin typeface="Times New Roman" panose="02020603050405020304" pitchFamily="18" charset="0"/>
                <a:cs typeface="Times New Roman" panose="02020603050405020304" pitchFamily="18" charset="0"/>
              </a:rPr>
              <a:t> to </a:t>
            </a:r>
            <a:r>
              <a:rPr lang="en-IN" sz="2400" dirty="0">
                <a:solidFill>
                  <a:srgbClr val="FF0000"/>
                </a:solidFill>
                <a:latin typeface="Times New Roman" panose="02020603050405020304" pitchFamily="18" charset="0"/>
                <a:cs typeface="Times New Roman" panose="02020603050405020304" pitchFamily="18" charset="0"/>
              </a:rPr>
              <a:t>address issues efficiently while also providing users with timely status updates.</a:t>
            </a:r>
          </a:p>
          <a:p>
            <a:pPr marL="0" indent="0">
              <a:buNone/>
            </a:pPr>
            <a:endParaRPr lang="en-IN" dirty="0"/>
          </a:p>
          <a:p>
            <a:pPr>
              <a:buFont typeface="Wingdings" panose="05000000000000000000" pitchFamily="2" charset="2"/>
              <a:buChar char="q"/>
            </a:pPr>
            <a:r>
              <a:rPr lang="en-IN" sz="2600" b="1" u="sng" dirty="0">
                <a:latin typeface="Times New Roman" panose="02020603050405020304" pitchFamily="18" charset="0"/>
                <a:cs typeface="Times New Roman" panose="02020603050405020304" pitchFamily="18" charset="0"/>
              </a:rPr>
              <a:t>Issue tracking</a:t>
            </a:r>
          </a:p>
          <a:p>
            <a:pPr algn="just"/>
            <a:r>
              <a:rPr lang="en-IN" sz="2400" dirty="0">
                <a:latin typeface="Times New Roman" panose="02020603050405020304" pitchFamily="18" charset="0"/>
                <a:cs typeface="Times New Roman" panose="02020603050405020304" pitchFamily="18" charset="0"/>
              </a:rPr>
              <a:t>Issue tracking is </a:t>
            </a:r>
            <a:r>
              <a:rPr lang="en-IN" sz="2400" dirty="0">
                <a:solidFill>
                  <a:srgbClr val="FF0000"/>
                </a:solidFill>
                <a:latin typeface="Times New Roman" panose="02020603050405020304" pitchFamily="18" charset="0"/>
                <a:cs typeface="Times New Roman" panose="02020603050405020304" pitchFamily="18" charset="0"/>
              </a:rPr>
              <a:t>the process of monitoring problems that users are experiencing with a software product</a:t>
            </a:r>
            <a:r>
              <a:rPr lang="en-IN" sz="2400" dirty="0">
                <a:latin typeface="Times New Roman" panose="02020603050405020304" pitchFamily="18" charset="0"/>
                <a:cs typeface="Times New Roman" panose="02020603050405020304" pitchFamily="18" charset="0"/>
              </a:rPr>
              <a:t>. While issue tracking primarily </a:t>
            </a:r>
            <a:r>
              <a:rPr lang="en-IN" sz="2400" dirty="0">
                <a:solidFill>
                  <a:srgbClr val="FF0000"/>
                </a:solidFill>
                <a:latin typeface="Times New Roman" panose="02020603050405020304" pitchFamily="18" charset="0"/>
                <a:cs typeface="Times New Roman" panose="02020603050405020304" pitchFamily="18" charset="0"/>
              </a:rPr>
              <a:t>came about as a solution for tracking problems in software.</a:t>
            </a:r>
          </a:p>
          <a:p>
            <a:pPr marL="0" indent="0">
              <a:buNone/>
            </a:pPr>
            <a:endParaRPr lang="en-IN" dirty="0"/>
          </a:p>
        </p:txBody>
      </p:sp>
    </p:spTree>
    <p:extLst>
      <p:ext uri="{BB962C8B-B14F-4D97-AF65-F5344CB8AC3E}">
        <p14:creationId xmlns:p14="http://schemas.microsoft.com/office/powerpoint/2010/main" val="42750165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0"/>
            <a:ext cx="12192001" cy="6858000"/>
          </a:xfrm>
        </p:spPr>
        <p:txBody>
          <a:bodyPr>
            <a:normAutofit/>
          </a:bodyPr>
          <a:lstStyle/>
          <a:p>
            <a:pPr>
              <a:buFont typeface="Wingdings" panose="05000000000000000000" pitchFamily="2" charset="2"/>
              <a:buChar char="q"/>
            </a:pPr>
            <a:r>
              <a:rPr lang="en-IN" sz="2400" b="1" u="sng" dirty="0">
                <a:latin typeface="Times New Roman" panose="02020603050405020304" pitchFamily="18" charset="0"/>
                <a:cs typeface="Times New Roman" panose="02020603050405020304" pitchFamily="18" charset="0"/>
              </a:rPr>
              <a:t>Issue Tracking System</a:t>
            </a:r>
            <a:endParaRPr lang="en-IN" sz="2400" u="sng"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An </a:t>
            </a:r>
            <a:r>
              <a:rPr lang="en-IN" sz="2000" b="1" dirty="0">
                <a:latin typeface="Times New Roman" panose="02020603050405020304" pitchFamily="18" charset="0"/>
                <a:cs typeface="Times New Roman" panose="02020603050405020304" pitchFamily="18" charset="0"/>
              </a:rPr>
              <a:t>issue tracking system</a:t>
            </a:r>
            <a:r>
              <a:rPr lang="en-IN" sz="2000" dirty="0">
                <a:latin typeface="Times New Roman" panose="02020603050405020304" pitchFamily="18" charset="0"/>
                <a:cs typeface="Times New Roman" panose="02020603050405020304" pitchFamily="18" charset="0"/>
              </a:rPr>
              <a:t> (also </a:t>
            </a:r>
            <a:r>
              <a:rPr lang="en-IN" sz="2000" b="1" dirty="0">
                <a:latin typeface="Times New Roman" panose="02020603050405020304" pitchFamily="18" charset="0"/>
                <a:cs typeface="Times New Roman" panose="02020603050405020304" pitchFamily="18" charset="0"/>
              </a:rPr>
              <a:t>ITS</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trouble ticket system</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support ticket</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request management</a:t>
            </a:r>
            <a:r>
              <a:rPr lang="en-IN" sz="2000" dirty="0">
                <a:latin typeface="Times New Roman" panose="02020603050405020304" pitchFamily="18" charset="0"/>
                <a:cs typeface="Times New Roman" panose="02020603050405020304" pitchFamily="18" charset="0"/>
              </a:rPr>
              <a:t> or </a:t>
            </a:r>
            <a:r>
              <a:rPr lang="en-IN" sz="2000" b="1" dirty="0">
                <a:latin typeface="Times New Roman" panose="02020603050405020304" pitchFamily="18" charset="0"/>
                <a:cs typeface="Times New Roman" panose="02020603050405020304" pitchFamily="18" charset="0"/>
              </a:rPr>
              <a:t>incident ticket system</a:t>
            </a:r>
            <a:r>
              <a:rPr lang="en-IN" sz="2000" dirty="0">
                <a:latin typeface="Times New Roman" panose="02020603050405020304" pitchFamily="18" charset="0"/>
                <a:cs typeface="Times New Roman" panose="02020603050405020304" pitchFamily="18" charset="0"/>
              </a:rPr>
              <a:t>) is a computer software package </a:t>
            </a:r>
            <a:r>
              <a:rPr lang="en-IN" sz="2000" dirty="0">
                <a:solidFill>
                  <a:srgbClr val="FF0000"/>
                </a:solidFill>
                <a:latin typeface="Times New Roman" panose="02020603050405020304" pitchFamily="18" charset="0"/>
                <a:cs typeface="Times New Roman" panose="02020603050405020304" pitchFamily="18" charset="0"/>
              </a:rPr>
              <a:t>or  application that manages and maintains lists of </a:t>
            </a:r>
            <a:r>
              <a:rPr lang="en-IN" sz="2000" u="sng" dirty="0">
                <a:solidFill>
                  <a:srgbClr val="FF0000"/>
                </a:solidFill>
                <a:latin typeface="Times New Roman" panose="02020603050405020304" pitchFamily="18" charset="0"/>
                <a:cs typeface="Times New Roman" panose="02020603050405020304" pitchFamily="18" charset="0"/>
              </a:rPr>
              <a:t>issues</a:t>
            </a:r>
            <a:r>
              <a:rPr lang="en-IN" sz="2000" dirty="0">
                <a:latin typeface="Times New Roman" panose="02020603050405020304" pitchFamily="18" charset="0"/>
                <a:cs typeface="Times New Roman" panose="02020603050405020304" pitchFamily="18" charset="0"/>
              </a:rPr>
              <a:t>, and also allows you to record and follow the progress of every customer ticket or "issue" in your inbox until the problem is resolved.</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In a typical </a:t>
            </a:r>
            <a:r>
              <a:rPr lang="en-IN" sz="2000" u="sng" dirty="0">
                <a:latin typeface="Times New Roman" panose="02020603050405020304" pitchFamily="18" charset="0"/>
                <a:cs typeface="Times New Roman" panose="02020603050405020304" pitchFamily="18" charset="0"/>
              </a:rPr>
              <a:t>issue tracking</a:t>
            </a:r>
            <a:r>
              <a:rPr lang="en-IN" sz="2000" dirty="0">
                <a:latin typeface="Times New Roman" panose="02020603050405020304" pitchFamily="18" charset="0"/>
                <a:cs typeface="Times New Roman" panose="02020603050405020304" pitchFamily="18" charset="0"/>
              </a:rPr>
              <a:t> system, a customer service agent can </a:t>
            </a:r>
            <a:r>
              <a:rPr lang="en-IN" sz="2000" dirty="0">
                <a:solidFill>
                  <a:srgbClr val="FF0000"/>
                </a:solidFill>
                <a:latin typeface="Times New Roman" panose="02020603050405020304" pitchFamily="18" charset="0"/>
                <a:cs typeface="Times New Roman" panose="02020603050405020304" pitchFamily="18" charset="0"/>
              </a:rPr>
              <a:t>assign a priority level to a ticket </a:t>
            </a:r>
            <a:r>
              <a:rPr lang="en-IN" sz="2000" dirty="0">
                <a:latin typeface="Times New Roman" panose="02020603050405020304" pitchFamily="18" charset="0"/>
                <a:cs typeface="Times New Roman" panose="02020603050405020304" pitchFamily="18" charset="0"/>
              </a:rPr>
              <a:t>(for example, P1 for the most severe of issues to P4 for the least). Those priority </a:t>
            </a:r>
            <a:r>
              <a:rPr lang="en-IN" sz="2000" dirty="0">
                <a:solidFill>
                  <a:srgbClr val="FF0000"/>
                </a:solidFill>
                <a:latin typeface="Times New Roman" panose="02020603050405020304" pitchFamily="18" charset="0"/>
                <a:cs typeface="Times New Roman" panose="02020603050405020304" pitchFamily="18" charset="0"/>
              </a:rPr>
              <a:t>levels will often be adjusted by development teams</a:t>
            </a:r>
            <a:r>
              <a:rPr lang="en-IN" sz="2000" dirty="0">
                <a:latin typeface="Times New Roman" panose="02020603050405020304" pitchFamily="18" charset="0"/>
                <a:cs typeface="Times New Roman" panose="02020603050405020304" pitchFamily="18" charset="0"/>
              </a:rPr>
              <a:t>’ project managers based on team resources, development roadmaps, and feasibility.</a:t>
            </a:r>
            <a:r>
              <a:rPr lang="en-IN" sz="2200" dirty="0">
                <a:latin typeface="Times New Roman" panose="02020603050405020304" pitchFamily="18" charset="0"/>
                <a:cs typeface="Times New Roman" panose="02020603050405020304" pitchFamily="18" charset="0"/>
              </a:rPr>
              <a:t> </a:t>
            </a:r>
          </a:p>
          <a:p>
            <a:endParaRPr lang="en-IN" sz="22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How are issue tracking tools used?</a:t>
            </a:r>
          </a:p>
          <a:p>
            <a:pPr algn="just"/>
            <a:r>
              <a:rPr lang="en-IN" sz="2000" dirty="0">
                <a:latin typeface="Times New Roman" panose="02020603050405020304" pitchFamily="18" charset="0"/>
                <a:cs typeface="Times New Roman" panose="02020603050405020304" pitchFamily="18" charset="0"/>
              </a:rPr>
              <a:t>Issue tracking </a:t>
            </a:r>
            <a:r>
              <a:rPr lang="en-IN" sz="2000" dirty="0">
                <a:solidFill>
                  <a:srgbClr val="FF0000"/>
                </a:solidFill>
                <a:latin typeface="Times New Roman" panose="02020603050405020304" pitchFamily="18" charset="0"/>
                <a:cs typeface="Times New Roman" panose="02020603050405020304" pitchFamily="18" charset="0"/>
              </a:rPr>
              <a:t>systems are most commonly used for handling bugs</a:t>
            </a:r>
            <a:r>
              <a:rPr lang="en-IN" sz="2000" dirty="0">
                <a:latin typeface="Times New Roman" panose="02020603050405020304" pitchFamily="18" charset="0"/>
                <a:cs typeface="Times New Roman" panose="02020603050405020304" pitchFamily="18" charset="0"/>
              </a:rPr>
              <a:t>. For example, when a user attempts to perform an action in a software product—such as logging in, exporting data, or creating a dashboard for analytics—and cannot complete the task, he or she will likely contact the company for help. That customer will contact the business via one of the available support channels. </a:t>
            </a:r>
            <a:r>
              <a:rPr lang="en-IN" sz="2000" dirty="0">
                <a:solidFill>
                  <a:srgbClr val="FF0000"/>
                </a:solidFill>
                <a:latin typeface="Times New Roman" panose="02020603050405020304" pitchFamily="18" charset="0"/>
                <a:cs typeface="Times New Roman" panose="02020603050405020304" pitchFamily="18" charset="0"/>
              </a:rPr>
              <a:t>When the user makes that initial contact, the issue tracking system creates a ticket</a:t>
            </a:r>
            <a:r>
              <a:rPr lang="en-IN" sz="2000" dirty="0">
                <a:latin typeface="Times New Roman" panose="02020603050405020304" pitchFamily="18" charset="0"/>
                <a:cs typeface="Times New Roman" panose="02020603050405020304" pitchFamily="18" charset="0"/>
              </a:rPr>
              <a:t>, which is assigned to a customer support agent. That agent might also choose the ticket rather than be assigned it, depending on how the support teams’ workflow has been set up.</a:t>
            </a:r>
          </a:p>
          <a:p>
            <a:endParaRPr lang="en-IN" dirty="0"/>
          </a:p>
          <a:p>
            <a:endParaRPr lang="en-IN" dirty="0"/>
          </a:p>
        </p:txBody>
      </p:sp>
    </p:spTree>
    <p:extLst>
      <p:ext uri="{BB962C8B-B14F-4D97-AF65-F5344CB8AC3E}">
        <p14:creationId xmlns:p14="http://schemas.microsoft.com/office/powerpoint/2010/main" val="29560878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lnSpcReduction="10000"/>
          </a:bodyPr>
          <a:lstStyle/>
          <a:p>
            <a:pPr algn="just">
              <a:buFont typeface="Wingdings" panose="05000000000000000000" pitchFamily="2" charset="2"/>
              <a:buChar char="v"/>
            </a:pPr>
            <a:r>
              <a:rPr lang="en-US" sz="2400" b="1" u="sng" dirty="0">
                <a:solidFill>
                  <a:srgbClr val="161616"/>
                </a:solidFill>
                <a:latin typeface="Times New Roman" panose="02020603050405020304" pitchFamily="18" charset="0"/>
                <a:cs typeface="Times New Roman" panose="02020603050405020304" pitchFamily="18" charset="0"/>
              </a:rPr>
              <a:t>Issue tracking used in development and testing:-</a:t>
            </a:r>
          </a:p>
          <a:p>
            <a:pPr marL="342900" indent="-342900" algn="just"/>
            <a:r>
              <a:rPr lang="en-US" sz="2200" dirty="0">
                <a:solidFill>
                  <a:srgbClr val="161616"/>
                </a:solidFill>
                <a:latin typeface="Times New Roman" panose="02020603050405020304" pitchFamily="18" charset="0"/>
                <a:cs typeface="Times New Roman" panose="02020603050405020304" pitchFamily="18" charset="0"/>
              </a:rPr>
              <a:t>Issue tracking is the process of logging and monitoring bugs or errors during </a:t>
            </a:r>
            <a:r>
              <a:rPr lang="en-US" sz="2200" dirty="0">
                <a:latin typeface="Times New Roman" panose="02020603050405020304" pitchFamily="18" charset="0"/>
                <a:cs typeface="Times New Roman" panose="02020603050405020304" pitchFamily="18" charset="0"/>
              </a:rPr>
              <a:t>software testing. It is also referred to as defect tracking or issue tracking. </a:t>
            </a:r>
          </a:p>
          <a:p>
            <a:pPr marL="0" indent="0" algn="just">
              <a:buNone/>
            </a:pPr>
            <a:endParaRPr lang="en-US" sz="2200" dirty="0">
              <a:solidFill>
                <a:srgbClr val="161616"/>
              </a:solidFill>
              <a:latin typeface="Times New Roman" panose="02020603050405020304" pitchFamily="18" charset="0"/>
              <a:cs typeface="Times New Roman" panose="02020603050405020304" pitchFamily="18" charset="0"/>
            </a:endParaRPr>
          </a:p>
          <a:p>
            <a:pPr marL="342900" indent="-342900" algn="just"/>
            <a:r>
              <a:rPr lang="en-US" sz="2200" dirty="0">
                <a:solidFill>
                  <a:srgbClr val="7030A0"/>
                </a:solidFill>
                <a:latin typeface="Times New Roman" panose="02020603050405020304" pitchFamily="18" charset="0"/>
                <a:cs typeface="Times New Roman" panose="02020603050405020304" pitchFamily="18" charset="0"/>
              </a:rPr>
              <a:t>In IT, a bug refers to an </a:t>
            </a:r>
            <a:r>
              <a:rPr lang="en-US" sz="2200" dirty="0">
                <a:solidFill>
                  <a:srgbClr val="FF0000"/>
                </a:solidFill>
                <a:latin typeface="Times New Roman" panose="02020603050405020304" pitchFamily="18" charset="0"/>
                <a:cs typeface="Times New Roman" panose="02020603050405020304" pitchFamily="18" charset="0"/>
              </a:rPr>
              <a:t>error, fault, defects</a:t>
            </a:r>
            <a:r>
              <a:rPr lang="en-US" sz="2200" dirty="0">
                <a:solidFill>
                  <a:srgbClr val="161616"/>
                </a:solidFill>
                <a:latin typeface="Times New Roman" panose="02020603050405020304" pitchFamily="18" charset="0"/>
                <a:cs typeface="Times New Roman" panose="02020603050405020304" pitchFamily="18" charset="0"/>
              </a:rPr>
              <a:t> </a:t>
            </a:r>
            <a:r>
              <a:rPr lang="en-US" sz="2200" dirty="0">
                <a:solidFill>
                  <a:srgbClr val="FF0000"/>
                </a:solidFill>
                <a:latin typeface="Times New Roman" panose="02020603050405020304" pitchFamily="18" charset="0"/>
                <a:cs typeface="Times New Roman" panose="02020603050405020304" pitchFamily="18" charset="0"/>
              </a:rPr>
              <a:t>or flaw </a:t>
            </a:r>
            <a:r>
              <a:rPr lang="en-US" sz="2200" dirty="0">
                <a:solidFill>
                  <a:srgbClr val="7030A0"/>
                </a:solidFill>
                <a:latin typeface="Times New Roman" panose="02020603050405020304" pitchFamily="18" charset="0"/>
                <a:cs typeface="Times New Roman" panose="02020603050405020304" pitchFamily="18" charset="0"/>
              </a:rPr>
              <a:t>in any computer program or a hardware system. A bug produces unexpected results or causes a system to behave unexpectedly</a:t>
            </a:r>
            <a:r>
              <a:rPr lang="en-US" sz="2200" dirty="0">
                <a:solidFill>
                  <a:srgbClr val="FF0000"/>
                </a:solidFill>
                <a:latin typeface="Times New Roman" panose="02020603050405020304" pitchFamily="18" charset="0"/>
                <a:cs typeface="Times New Roman" panose="02020603050405020304" pitchFamily="18" charset="0"/>
              </a:rPr>
              <a:t>. In short it is any behavior or result that a program or system gets but it was not designed to do.</a:t>
            </a:r>
          </a:p>
          <a:p>
            <a:pPr marL="342900" indent="-342900" algn="just"/>
            <a:endParaRPr lang="en-US" sz="2200" dirty="0">
              <a:solidFill>
                <a:srgbClr val="161616"/>
              </a:solidFill>
              <a:latin typeface="Times New Roman" panose="02020603050405020304" pitchFamily="18" charset="0"/>
              <a:cs typeface="Times New Roman" panose="02020603050405020304" pitchFamily="18" charset="0"/>
            </a:endParaRPr>
          </a:p>
          <a:p>
            <a:pPr marL="342900" indent="-342900" algn="just"/>
            <a:r>
              <a:rPr lang="en-US" sz="2200" dirty="0">
                <a:solidFill>
                  <a:srgbClr val="161616"/>
                </a:solidFill>
                <a:latin typeface="Times New Roman" panose="02020603050405020304" pitchFamily="18" charset="0"/>
                <a:cs typeface="Times New Roman" panose="02020603050405020304" pitchFamily="18" charset="0"/>
              </a:rPr>
              <a:t>Large systems may have hundreds or thousands of defects. </a:t>
            </a:r>
          </a:p>
          <a:p>
            <a:pPr marL="342900" indent="-342900" algn="just"/>
            <a:endParaRPr lang="en-US" sz="2200" dirty="0">
              <a:solidFill>
                <a:srgbClr val="161616"/>
              </a:solidFill>
              <a:latin typeface="Times New Roman" panose="02020603050405020304" pitchFamily="18" charset="0"/>
              <a:cs typeface="Times New Roman" panose="02020603050405020304" pitchFamily="18" charset="0"/>
            </a:endParaRPr>
          </a:p>
          <a:p>
            <a:pPr marL="342900" indent="-342900" algn="just"/>
            <a:r>
              <a:rPr lang="en-US" sz="2200" dirty="0">
                <a:solidFill>
                  <a:srgbClr val="161616"/>
                </a:solidFill>
                <a:latin typeface="Times New Roman" panose="02020603050405020304" pitchFamily="18" charset="0"/>
                <a:cs typeface="Times New Roman" panose="02020603050405020304" pitchFamily="18" charset="0"/>
              </a:rPr>
              <a:t>Each needs to be evaluated, </a:t>
            </a:r>
            <a:r>
              <a:rPr lang="en-US" sz="2200" dirty="0">
                <a:solidFill>
                  <a:srgbClr val="FF0000"/>
                </a:solidFill>
                <a:latin typeface="Times New Roman" panose="02020603050405020304" pitchFamily="18" charset="0"/>
                <a:cs typeface="Times New Roman" panose="02020603050405020304" pitchFamily="18" charset="0"/>
              </a:rPr>
              <a:t>monitored and prioritized for debugging</a:t>
            </a:r>
            <a:r>
              <a:rPr lang="en-US" sz="2200" dirty="0">
                <a:solidFill>
                  <a:srgbClr val="161616"/>
                </a:solidFill>
                <a:latin typeface="Times New Roman" panose="02020603050405020304" pitchFamily="18" charset="0"/>
                <a:cs typeface="Times New Roman" panose="02020603050405020304" pitchFamily="18" charset="0"/>
              </a:rPr>
              <a:t>. In some cases, bugs may need to be tracked over a long period of time.</a:t>
            </a:r>
          </a:p>
          <a:p>
            <a:pPr marL="342900" indent="-342900" algn="just"/>
            <a:endParaRPr lang="en-US" sz="2200" dirty="0">
              <a:solidFill>
                <a:srgbClr val="161616"/>
              </a:solidFill>
              <a:latin typeface="Times New Roman" panose="02020603050405020304" pitchFamily="18" charset="0"/>
              <a:cs typeface="Times New Roman" panose="02020603050405020304" pitchFamily="18" charset="0"/>
            </a:endParaRPr>
          </a:p>
          <a:p>
            <a:pPr marL="342900" indent="-342900" algn="just"/>
            <a:r>
              <a:rPr lang="en-US" sz="2200" dirty="0">
                <a:solidFill>
                  <a:srgbClr val="161616"/>
                </a:solidFill>
                <a:latin typeface="Times New Roman" panose="02020603050405020304" pitchFamily="18" charset="0"/>
                <a:cs typeface="Times New Roman" panose="02020603050405020304" pitchFamily="18" charset="0"/>
              </a:rPr>
              <a:t>“Defect tracking is an important process in software engineering, as complex and business critical systems have hundreds of defects,”. </a:t>
            </a:r>
          </a:p>
          <a:p>
            <a:pPr algn="just"/>
            <a:endParaRPr lang="en-US" sz="2200" dirty="0">
              <a:solidFill>
                <a:srgbClr val="161616"/>
              </a:solidFill>
              <a:latin typeface="Times New Roman" panose="02020603050405020304" pitchFamily="18" charset="0"/>
              <a:cs typeface="Times New Roman" panose="02020603050405020304" pitchFamily="18" charset="0"/>
            </a:endParaRPr>
          </a:p>
          <a:p>
            <a:pPr marL="342900" indent="-342900" algn="just"/>
            <a:r>
              <a:rPr lang="en-US" sz="2200" dirty="0">
                <a:solidFill>
                  <a:srgbClr val="161616"/>
                </a:solidFill>
                <a:latin typeface="Times New Roman" panose="02020603050405020304" pitchFamily="18" charset="0"/>
                <a:cs typeface="Times New Roman" panose="02020603050405020304" pitchFamily="18" charset="0"/>
              </a:rPr>
              <a:t>One of the challenging factors is </a:t>
            </a:r>
            <a:r>
              <a:rPr lang="en-US" sz="2200" dirty="0">
                <a:solidFill>
                  <a:srgbClr val="FF0000"/>
                </a:solidFill>
                <a:latin typeface="Times New Roman" panose="02020603050405020304" pitchFamily="18" charset="0"/>
                <a:cs typeface="Times New Roman" panose="02020603050405020304" pitchFamily="18" charset="0"/>
              </a:rPr>
              <a:t>managing, evaluating and prioritizing</a:t>
            </a:r>
            <a:r>
              <a:rPr lang="en-US" sz="2200" dirty="0">
                <a:solidFill>
                  <a:srgbClr val="161616"/>
                </a:solidFill>
                <a:latin typeface="Times New Roman" panose="02020603050405020304" pitchFamily="18" charset="0"/>
                <a:cs typeface="Times New Roman" panose="02020603050405020304" pitchFamily="18" charset="0"/>
              </a:rPr>
              <a:t> these defects. The number of defects gets multiplied over a period of time and to effectively manage them, </a:t>
            </a:r>
            <a:r>
              <a:rPr lang="en-US" sz="2200" dirty="0">
                <a:latin typeface="Times New Roman" panose="02020603050405020304" pitchFamily="18" charset="0"/>
                <a:cs typeface="Times New Roman" panose="02020603050405020304" pitchFamily="18" charset="0"/>
              </a:rPr>
              <a:t>a defect tracking system is used to make the job easier."</a:t>
            </a:r>
            <a:endParaRPr lang="en-SG" sz="2200" dirty="0">
              <a:solidFill>
                <a:srgbClr val="FF000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7569193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793E0E-F700-4B41-8687-A0503A90DEF4}"/>
              </a:ext>
            </a:extLst>
          </p:cNvPr>
          <p:cNvSpPr txBox="1"/>
          <p:nvPr/>
        </p:nvSpPr>
        <p:spPr>
          <a:xfrm>
            <a:off x="0" y="0"/>
            <a:ext cx="12192000" cy="7263527"/>
          </a:xfrm>
          <a:prstGeom prst="rect">
            <a:avLst/>
          </a:prstGeom>
          <a:noFill/>
        </p:spPr>
        <p:txBody>
          <a:bodyPr wrap="square">
            <a:spAutoFit/>
          </a:bodyPr>
          <a:lstStyle/>
          <a:p>
            <a:pPr marL="342900" indent="-342900" fontAlgn="base">
              <a:buFont typeface="Wingdings" panose="05000000000000000000" pitchFamily="2" charset="2"/>
              <a:buChar char="v"/>
            </a:pPr>
            <a:r>
              <a:rPr lang="en-US" sz="2400" b="1" u="sng" dirty="0">
                <a:effectLst/>
                <a:latin typeface="Times New Roman" panose="02020603050405020304" pitchFamily="18" charset="0"/>
                <a:cs typeface="Times New Roman" panose="02020603050405020304" pitchFamily="18" charset="0"/>
              </a:rPr>
              <a:t>How bug tracking or defect tracking works</a:t>
            </a:r>
          </a:p>
          <a:p>
            <a:pPr fontAlgn="base"/>
            <a:endParaRPr lang="en-US" sz="2400" dirty="0">
              <a:effectLst/>
              <a:latin typeface="Times New Roman" panose="02020603050405020304" pitchFamily="18" charset="0"/>
              <a:cs typeface="Times New Roman" panose="02020603050405020304" pitchFamily="18" charset="0"/>
            </a:endParaRPr>
          </a:p>
          <a:p>
            <a:pPr marL="342900" indent="-342900" algn="just" fontAlgn="base">
              <a:buFont typeface="Arial" panose="020B0604020202020204" pitchFamily="34" charset="0"/>
              <a:buChar char="•"/>
            </a:pPr>
            <a:r>
              <a:rPr lang="en-US" sz="2200" dirty="0">
                <a:effectLst/>
                <a:latin typeface="Times New Roman" panose="02020603050405020304" pitchFamily="18" charset="0"/>
                <a:cs typeface="Times New Roman" panose="02020603050405020304" pitchFamily="18" charset="0"/>
              </a:rPr>
              <a:t>A software bug occurs </a:t>
            </a:r>
            <a:r>
              <a:rPr lang="en-US" sz="2200" dirty="0">
                <a:solidFill>
                  <a:srgbClr val="FF0000"/>
                </a:solidFill>
                <a:effectLst/>
                <a:latin typeface="Times New Roman" panose="02020603050405020304" pitchFamily="18" charset="0"/>
                <a:cs typeface="Times New Roman" panose="02020603050405020304" pitchFamily="18" charset="0"/>
              </a:rPr>
              <a:t>when an application or program doesn’t work the way it is designed to function. </a:t>
            </a:r>
            <a:r>
              <a:rPr lang="en-US" sz="2200" dirty="0">
                <a:effectLst/>
                <a:latin typeface="Times New Roman" panose="02020603050405020304" pitchFamily="18" charset="0"/>
                <a:cs typeface="Times New Roman" panose="02020603050405020304" pitchFamily="18" charset="0"/>
              </a:rPr>
              <a:t>Most errors are faults or mistakes made by system architects, designers or developers. </a:t>
            </a:r>
          </a:p>
          <a:p>
            <a:pPr marL="342900" indent="-342900" algn="just" fontAlgn="base">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marL="342900" indent="-342900" algn="just" fontAlgn="base">
              <a:buFont typeface="Arial" panose="020B0604020202020204" pitchFamily="34" charset="0"/>
              <a:buChar char="•"/>
            </a:pPr>
            <a:r>
              <a:rPr lang="en-US" sz="2200" dirty="0">
                <a:effectLst/>
                <a:latin typeface="Times New Roman" panose="02020603050405020304" pitchFamily="18" charset="0"/>
                <a:cs typeface="Times New Roman" panose="02020603050405020304" pitchFamily="18" charset="0"/>
              </a:rPr>
              <a:t>Testing teams use </a:t>
            </a:r>
            <a:r>
              <a:rPr lang="en-US" sz="2200" dirty="0">
                <a:solidFill>
                  <a:srgbClr val="FF0000"/>
                </a:solidFill>
                <a:effectLst/>
                <a:latin typeface="Times New Roman" panose="02020603050405020304" pitchFamily="18" charset="0"/>
                <a:cs typeface="Times New Roman" panose="02020603050405020304" pitchFamily="18" charset="0"/>
              </a:rPr>
              <a:t>bug tracking to monitor and report on errors that occur as an application is developed and tested.</a:t>
            </a:r>
          </a:p>
          <a:p>
            <a:pPr marL="342900" indent="-342900" algn="just" fontAlgn="base">
              <a:buFont typeface="Arial" panose="020B0604020202020204" pitchFamily="34" charset="0"/>
              <a:buChar char="•"/>
            </a:pPr>
            <a:endParaRPr lang="en-US" sz="2200" dirty="0">
              <a:effectLst/>
              <a:latin typeface="Times New Roman" panose="02020603050405020304" pitchFamily="18" charset="0"/>
              <a:cs typeface="Times New Roman" panose="02020603050405020304" pitchFamily="18" charset="0"/>
            </a:endParaRPr>
          </a:p>
          <a:p>
            <a:pPr marL="342900" indent="-342900" algn="just" fontAlgn="base">
              <a:buFont typeface="Arial" panose="020B0604020202020204" pitchFamily="34" charset="0"/>
              <a:buChar char="•"/>
            </a:pPr>
            <a:r>
              <a:rPr lang="en-US" sz="2200" dirty="0">
                <a:effectLst/>
                <a:latin typeface="Times New Roman" panose="02020603050405020304" pitchFamily="18" charset="0"/>
                <a:cs typeface="Times New Roman" panose="02020603050405020304" pitchFamily="18" charset="0"/>
              </a:rPr>
              <a:t>“A major component of a bug tracking system is a database that records facts about known bugs,”. </a:t>
            </a:r>
          </a:p>
          <a:p>
            <a:pPr marL="342900" indent="-342900" algn="just" fontAlgn="base">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Facts may include the time a bug was </a:t>
            </a:r>
            <a:r>
              <a:rPr lang="en-US" sz="2200" dirty="0">
                <a:solidFill>
                  <a:srgbClr val="FF0000"/>
                </a:solidFill>
                <a:latin typeface="Times New Roman" panose="02020603050405020304" pitchFamily="18" charset="0"/>
                <a:cs typeface="Times New Roman" panose="02020603050405020304" pitchFamily="18" charset="0"/>
              </a:rPr>
              <a:t>reported, its severity, the erroneous program behavior and details on how to reproduce the bug</a:t>
            </a:r>
            <a:r>
              <a:rPr lang="en-US" sz="2200" dirty="0">
                <a:latin typeface="Times New Roman" panose="02020603050405020304" pitchFamily="18" charset="0"/>
                <a:cs typeface="Times New Roman" panose="02020603050405020304" pitchFamily="18" charset="0"/>
              </a:rPr>
              <a:t>; as well as the identity of the person who reported it and any programmers who may be fixing it.” </a:t>
            </a:r>
          </a:p>
          <a:p>
            <a:pPr algn="just" fontAlgn="base"/>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2200" b="1" dirty="0">
                <a:latin typeface="Times New Roman" panose="02020603050405020304" pitchFamily="18" charset="0"/>
                <a:cs typeface="Times New Roman" panose="02020603050405020304" pitchFamily="18" charset="0"/>
              </a:rPr>
              <a:t>What is Defect Life Cycle or a Bug life cycle?</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Defect Life Cycle</a:t>
            </a:r>
            <a:r>
              <a:rPr lang="en-US" sz="2000" dirty="0">
                <a:latin typeface="Times New Roman" panose="02020603050405020304" pitchFamily="18" charset="0"/>
                <a:cs typeface="Times New Roman" panose="02020603050405020304" pitchFamily="18" charset="0"/>
              </a:rPr>
              <a:t> or Bug Life Cycle in software testing is the specific set of states that defect or bug goes through in its entire life. </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purpose of Defect life cycle is to easily coordinate and communicate current status of defect which changes to various assignees and make the defect fixing process systematic and efficient.</a:t>
            </a:r>
          </a:p>
          <a:p>
            <a:pPr marL="342900" indent="-342900" algn="just" fontAlgn="base">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marL="342900" indent="-342900" algn="just" fontAlgn="base">
              <a:buFont typeface="Arial" panose="020B0604020202020204" pitchFamily="34" charset="0"/>
              <a:buChar char="•"/>
            </a:pPr>
            <a:endParaRPr lang="en-SG"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26012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E770F4-6811-400F-8287-7BDB5FE6C354}"/>
              </a:ext>
            </a:extLst>
          </p:cNvPr>
          <p:cNvSpPr txBox="1"/>
          <p:nvPr/>
        </p:nvSpPr>
        <p:spPr>
          <a:xfrm>
            <a:off x="0" y="0"/>
            <a:ext cx="12192000" cy="3293209"/>
          </a:xfrm>
          <a:prstGeom prst="rect">
            <a:avLst/>
          </a:prstGeom>
          <a:noFill/>
        </p:spPr>
        <p:txBody>
          <a:bodyPr wrap="square">
            <a:spAutoFit/>
          </a:bodyPr>
          <a:lstStyle/>
          <a:p>
            <a:pPr marL="342900" indent="-342900" algn="l">
              <a:buFont typeface="Wingdings" panose="05000000000000000000" pitchFamily="2" charset="2"/>
              <a:buChar char="v"/>
            </a:pPr>
            <a:r>
              <a:rPr lang="en-US" sz="2400" b="1" i="0" u="sng" dirty="0">
                <a:effectLst/>
                <a:latin typeface="Times New Roman" panose="02020603050405020304" pitchFamily="18" charset="0"/>
                <a:cs typeface="Times New Roman" panose="02020603050405020304" pitchFamily="18" charset="0"/>
              </a:rPr>
              <a:t>Defect Status</a:t>
            </a:r>
          </a:p>
          <a:p>
            <a:pPr algn="l"/>
            <a:endParaRPr lang="en-US" sz="2400" b="1" i="0" dirty="0">
              <a:solidFill>
                <a:srgbClr val="FF0000"/>
              </a:solidFill>
              <a:effectLst/>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000" b="1" i="0" dirty="0">
                <a:solidFill>
                  <a:srgbClr val="222222"/>
                </a:solidFill>
                <a:effectLst/>
                <a:latin typeface="Times New Roman" panose="02020603050405020304" pitchFamily="18" charset="0"/>
                <a:cs typeface="Times New Roman" panose="02020603050405020304" pitchFamily="18" charset="0"/>
              </a:rPr>
              <a:t>Defect Status</a:t>
            </a:r>
            <a:r>
              <a:rPr lang="en-US" sz="2000" b="0" i="0" dirty="0">
                <a:solidFill>
                  <a:srgbClr val="222222"/>
                </a:solidFill>
                <a:effectLst/>
                <a:latin typeface="Times New Roman" panose="02020603050405020304" pitchFamily="18" charset="0"/>
                <a:cs typeface="Times New Roman" panose="02020603050405020304" pitchFamily="18" charset="0"/>
              </a:rPr>
              <a:t> or Bug Status in defect life cycle is the present state from which the defect or a bug is currently undergoing. </a:t>
            </a:r>
          </a:p>
          <a:p>
            <a:pPr algn="l"/>
            <a:endParaRPr lang="en-US" sz="2000" dirty="0">
              <a:solidFill>
                <a:srgbClr val="222222"/>
              </a:solidFill>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000" b="0" i="0" dirty="0">
                <a:solidFill>
                  <a:srgbClr val="222222"/>
                </a:solidFill>
                <a:effectLst/>
                <a:latin typeface="Times New Roman" panose="02020603050405020304" pitchFamily="18" charset="0"/>
                <a:cs typeface="Times New Roman" panose="02020603050405020304" pitchFamily="18" charset="0"/>
              </a:rPr>
              <a:t>The goal of defect status is </a:t>
            </a:r>
            <a:r>
              <a:rPr lang="en-US" sz="2000" b="0" i="0" dirty="0">
                <a:solidFill>
                  <a:srgbClr val="FF0000"/>
                </a:solidFill>
                <a:effectLst/>
                <a:latin typeface="Times New Roman" panose="02020603050405020304" pitchFamily="18" charset="0"/>
                <a:cs typeface="Times New Roman" panose="02020603050405020304" pitchFamily="18" charset="0"/>
              </a:rPr>
              <a:t>to precisely convey the current state or progress of a defect or bug in order to better track and understand the actual progress of the defect life cycle.</a:t>
            </a:r>
            <a:endParaRPr lang="en-US" sz="2000" dirty="0">
              <a:solidFill>
                <a:srgbClr val="FF0000"/>
              </a:solidFill>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endParaRPr lang="en-US" sz="2000" b="0" i="0" dirty="0">
              <a:solidFill>
                <a:srgbClr val="222222"/>
              </a:solidFill>
              <a:effectLst/>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000" b="0" i="0" dirty="0">
                <a:solidFill>
                  <a:srgbClr val="222222"/>
                </a:solidFill>
                <a:effectLst/>
                <a:latin typeface="Times New Roman" panose="02020603050405020304" pitchFamily="18" charset="0"/>
                <a:cs typeface="Times New Roman" panose="02020603050405020304" pitchFamily="18" charset="0"/>
              </a:rPr>
              <a:t>The </a:t>
            </a:r>
            <a:r>
              <a:rPr lang="en-US" sz="2000" b="0" i="0" dirty="0">
                <a:solidFill>
                  <a:srgbClr val="FF0000"/>
                </a:solidFill>
                <a:effectLst/>
                <a:latin typeface="Times New Roman" panose="02020603050405020304" pitchFamily="18" charset="0"/>
                <a:cs typeface="Times New Roman" panose="02020603050405020304" pitchFamily="18" charset="0"/>
              </a:rPr>
              <a:t>number of states that a defect goes through varies from project to project</a:t>
            </a:r>
            <a:r>
              <a:rPr lang="en-US" sz="2000" b="0" i="0" dirty="0">
                <a:solidFill>
                  <a:srgbClr val="222222"/>
                </a:solidFill>
                <a:effectLst/>
                <a:latin typeface="Times New Roman" panose="02020603050405020304" pitchFamily="18" charset="0"/>
                <a:cs typeface="Times New Roman" panose="02020603050405020304" pitchFamily="18" charset="0"/>
              </a:rPr>
              <a:t>. Below lifecycle diagram, covers all possible states</a:t>
            </a:r>
          </a:p>
        </p:txBody>
      </p:sp>
    </p:spTree>
    <p:extLst>
      <p:ext uri="{BB962C8B-B14F-4D97-AF65-F5344CB8AC3E}">
        <p14:creationId xmlns:p14="http://schemas.microsoft.com/office/powerpoint/2010/main" val="37403622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49A2171-8D94-4ED8-BDD4-08DEFC277ED3}"/>
              </a:ext>
            </a:extLst>
          </p:cNvPr>
          <p:cNvPicPr>
            <a:picLocks noChangeAspect="1"/>
          </p:cNvPicPr>
          <p:nvPr/>
        </p:nvPicPr>
        <p:blipFill>
          <a:blip r:embed="rId2"/>
          <a:stretch>
            <a:fillRect/>
          </a:stretch>
        </p:blipFill>
        <p:spPr>
          <a:xfrm>
            <a:off x="1113183" y="0"/>
            <a:ext cx="10164417" cy="6858000"/>
          </a:xfrm>
          <a:prstGeom prst="rect">
            <a:avLst/>
          </a:prstGeom>
        </p:spPr>
      </p:pic>
    </p:spTree>
    <p:extLst>
      <p:ext uri="{BB962C8B-B14F-4D97-AF65-F5344CB8AC3E}">
        <p14:creationId xmlns:p14="http://schemas.microsoft.com/office/powerpoint/2010/main" val="17817218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Autofit/>
          </a:bodyPr>
          <a:lstStyle/>
          <a:p>
            <a:pPr algn="just"/>
            <a:r>
              <a:rPr lang="en-US" sz="2200" b="1" dirty="0">
                <a:solidFill>
                  <a:srgbClr val="FF0000"/>
                </a:solidFill>
                <a:latin typeface="Times New Roman" panose="02020603050405020304" pitchFamily="18" charset="0"/>
                <a:cs typeface="Times New Roman" panose="02020603050405020304" pitchFamily="18" charset="0"/>
              </a:rPr>
              <a:t>New</a:t>
            </a:r>
            <a:r>
              <a:rPr lang="en-US" sz="2200" b="1" dirty="0">
                <a:solidFill>
                  <a:srgbClr val="222222"/>
                </a:solidFill>
                <a:latin typeface="Times New Roman" panose="02020603050405020304" pitchFamily="18" charset="0"/>
                <a:cs typeface="Times New Roman" panose="02020603050405020304" pitchFamily="18" charset="0"/>
              </a:rPr>
              <a:t>:</a:t>
            </a:r>
            <a:r>
              <a:rPr lang="en-US" sz="2200" dirty="0">
                <a:solidFill>
                  <a:srgbClr val="222222"/>
                </a:solidFill>
                <a:latin typeface="Times New Roman" panose="02020603050405020304" pitchFamily="18" charset="0"/>
                <a:cs typeface="Times New Roman" panose="02020603050405020304" pitchFamily="18" charset="0"/>
              </a:rPr>
              <a:t> When a new defect is logged and posted for the first time. It is assigned a status as NEW.</a:t>
            </a:r>
          </a:p>
          <a:p>
            <a:pPr algn="just"/>
            <a:r>
              <a:rPr lang="en-US" sz="2200" b="1" dirty="0">
                <a:solidFill>
                  <a:srgbClr val="FF0000"/>
                </a:solidFill>
                <a:latin typeface="Times New Roman" panose="02020603050405020304" pitchFamily="18" charset="0"/>
                <a:cs typeface="Times New Roman" panose="02020603050405020304" pitchFamily="18" charset="0"/>
              </a:rPr>
              <a:t>Assigned</a:t>
            </a:r>
            <a:r>
              <a:rPr lang="en-US" sz="2200" b="1" dirty="0">
                <a:solidFill>
                  <a:srgbClr val="222222"/>
                </a:solidFill>
                <a:latin typeface="Times New Roman" panose="02020603050405020304" pitchFamily="18" charset="0"/>
                <a:cs typeface="Times New Roman" panose="02020603050405020304" pitchFamily="18" charset="0"/>
              </a:rPr>
              <a:t>:</a:t>
            </a:r>
            <a:r>
              <a:rPr lang="en-US" sz="2200" dirty="0">
                <a:solidFill>
                  <a:srgbClr val="222222"/>
                </a:solidFill>
                <a:latin typeface="Times New Roman" panose="02020603050405020304" pitchFamily="18" charset="0"/>
                <a:cs typeface="Times New Roman" panose="02020603050405020304" pitchFamily="18" charset="0"/>
              </a:rPr>
              <a:t> Once the bug is posted by the tester, the lead of the tester approves the bug and assigns the bug to the developer team</a:t>
            </a:r>
          </a:p>
          <a:p>
            <a:pPr algn="just"/>
            <a:r>
              <a:rPr lang="en-US" sz="2200" b="1" dirty="0">
                <a:solidFill>
                  <a:srgbClr val="FF0000"/>
                </a:solidFill>
                <a:latin typeface="Times New Roman" panose="02020603050405020304" pitchFamily="18" charset="0"/>
                <a:cs typeface="Times New Roman" panose="02020603050405020304" pitchFamily="18" charset="0"/>
              </a:rPr>
              <a:t>Open</a:t>
            </a:r>
            <a:r>
              <a:rPr lang="en-US" sz="2200" dirty="0">
                <a:solidFill>
                  <a:srgbClr val="222222"/>
                </a:solidFill>
                <a:latin typeface="Times New Roman" panose="02020603050405020304" pitchFamily="18" charset="0"/>
                <a:cs typeface="Times New Roman" panose="02020603050405020304" pitchFamily="18" charset="0"/>
              </a:rPr>
              <a:t>: The developer starts analyzing and works on the defect fix</a:t>
            </a:r>
          </a:p>
          <a:p>
            <a:pPr algn="just"/>
            <a:r>
              <a:rPr lang="en-US" sz="2200" b="1" dirty="0">
                <a:solidFill>
                  <a:srgbClr val="FF0000"/>
                </a:solidFill>
                <a:latin typeface="Times New Roman" panose="02020603050405020304" pitchFamily="18" charset="0"/>
                <a:cs typeface="Times New Roman" panose="02020603050405020304" pitchFamily="18" charset="0"/>
              </a:rPr>
              <a:t>Fixed</a:t>
            </a:r>
            <a:r>
              <a:rPr lang="en-US" sz="2200" dirty="0">
                <a:solidFill>
                  <a:srgbClr val="222222"/>
                </a:solidFill>
                <a:latin typeface="Times New Roman" panose="02020603050405020304" pitchFamily="18" charset="0"/>
                <a:cs typeface="Times New Roman" panose="02020603050405020304" pitchFamily="18" charset="0"/>
              </a:rPr>
              <a:t>: When developer makes necessary code change and verifies change, he or she can make bug status as “Fixed.</a:t>
            </a:r>
          </a:p>
          <a:p>
            <a:pPr algn="just"/>
            <a:r>
              <a:rPr lang="en-US" sz="2200" b="1" dirty="0">
                <a:solidFill>
                  <a:srgbClr val="FF0000"/>
                </a:solidFill>
                <a:latin typeface="Times New Roman" panose="02020603050405020304" pitchFamily="18" charset="0"/>
                <a:cs typeface="Times New Roman" panose="02020603050405020304" pitchFamily="18" charset="0"/>
              </a:rPr>
              <a:t>Pending</a:t>
            </a:r>
            <a:r>
              <a:rPr lang="en-US" sz="2200" b="1" dirty="0">
                <a:solidFill>
                  <a:srgbClr val="222222"/>
                </a:solidFill>
                <a:latin typeface="Times New Roman" panose="02020603050405020304" pitchFamily="18" charset="0"/>
                <a:cs typeface="Times New Roman" panose="02020603050405020304" pitchFamily="18" charset="0"/>
              </a:rPr>
              <a:t> </a:t>
            </a:r>
            <a:r>
              <a:rPr lang="en-US" sz="2200" b="1" dirty="0">
                <a:solidFill>
                  <a:srgbClr val="FF0000"/>
                </a:solidFill>
                <a:latin typeface="Times New Roman" panose="02020603050405020304" pitchFamily="18" charset="0"/>
                <a:cs typeface="Times New Roman" panose="02020603050405020304" pitchFamily="18" charset="0"/>
              </a:rPr>
              <a:t>retest</a:t>
            </a:r>
            <a:r>
              <a:rPr lang="en-US" sz="2200" dirty="0">
                <a:solidFill>
                  <a:srgbClr val="222222"/>
                </a:solidFill>
                <a:latin typeface="Times New Roman" panose="02020603050405020304" pitchFamily="18" charset="0"/>
                <a:cs typeface="Times New Roman" panose="02020603050405020304" pitchFamily="18" charset="0"/>
              </a:rPr>
              <a:t>: Once the defect is fixed the developer gives a particular code for retesting the code to the tester. Since the software testing remains pending from the testers end, the status assigned is “pending retest.”</a:t>
            </a:r>
          </a:p>
          <a:p>
            <a:pPr algn="just"/>
            <a:r>
              <a:rPr lang="en-US" sz="2200" b="1" dirty="0">
                <a:solidFill>
                  <a:srgbClr val="FF0000"/>
                </a:solidFill>
                <a:latin typeface="Times New Roman" panose="02020603050405020304" pitchFamily="18" charset="0"/>
                <a:cs typeface="Times New Roman" panose="02020603050405020304" pitchFamily="18" charset="0"/>
              </a:rPr>
              <a:t>Retest</a:t>
            </a:r>
            <a:r>
              <a:rPr lang="en-US" sz="2200" dirty="0">
                <a:solidFill>
                  <a:srgbClr val="222222"/>
                </a:solidFill>
                <a:latin typeface="Times New Roman" panose="02020603050405020304" pitchFamily="18" charset="0"/>
                <a:cs typeface="Times New Roman" panose="02020603050405020304" pitchFamily="18" charset="0"/>
              </a:rPr>
              <a:t>: Tester does the retesting of the code at this stage to check whether the defect is fixed by the developer or not and changes the status to “Re-test.”</a:t>
            </a:r>
          </a:p>
          <a:p>
            <a:pPr>
              <a:lnSpc>
                <a:spcPct val="150000"/>
              </a:lnSpc>
            </a:pPr>
            <a:r>
              <a:rPr lang="en-US" sz="2200" b="1" dirty="0">
                <a:solidFill>
                  <a:srgbClr val="FF0000"/>
                </a:solidFill>
                <a:latin typeface="Times New Roman" panose="02020603050405020304" pitchFamily="18" charset="0"/>
                <a:cs typeface="Times New Roman" panose="02020603050405020304" pitchFamily="18" charset="0"/>
              </a:rPr>
              <a:t>Verified</a:t>
            </a:r>
            <a:r>
              <a:rPr lang="en-US" sz="2200" dirty="0">
                <a:solidFill>
                  <a:srgbClr val="222222"/>
                </a:solidFill>
                <a:latin typeface="Times New Roman" panose="02020603050405020304" pitchFamily="18" charset="0"/>
                <a:cs typeface="Times New Roman" panose="02020603050405020304" pitchFamily="18" charset="0"/>
              </a:rPr>
              <a:t>: The tester re-tests the bug after it got fixed by the developer. If there is no bug detected in the software, then the bug is fixed and the status assigned is “verified.”</a:t>
            </a:r>
          </a:p>
          <a:p>
            <a:pPr>
              <a:lnSpc>
                <a:spcPct val="150000"/>
              </a:lnSpc>
            </a:pPr>
            <a:r>
              <a:rPr lang="en-US" sz="2200" b="1" dirty="0">
                <a:solidFill>
                  <a:srgbClr val="FF0000"/>
                </a:solidFill>
                <a:latin typeface="Times New Roman" panose="02020603050405020304" pitchFamily="18" charset="0"/>
                <a:cs typeface="Times New Roman" panose="02020603050405020304" pitchFamily="18" charset="0"/>
              </a:rPr>
              <a:t>Reopen</a:t>
            </a:r>
            <a:r>
              <a:rPr lang="en-US" sz="2200" dirty="0">
                <a:solidFill>
                  <a:srgbClr val="222222"/>
                </a:solidFill>
                <a:latin typeface="Times New Roman" panose="02020603050405020304" pitchFamily="18" charset="0"/>
                <a:cs typeface="Times New Roman" panose="02020603050405020304" pitchFamily="18" charset="0"/>
              </a:rPr>
              <a:t>: If the bug persists even after the developer has fixed the bug, the tester changes the status to “reopened”. Once again the bug goes through the life cycle.</a:t>
            </a:r>
          </a:p>
          <a:p>
            <a:endParaRPr lang="en-IN" sz="2200" dirty="0"/>
          </a:p>
        </p:txBody>
      </p:sp>
    </p:spTree>
    <p:extLst>
      <p:ext uri="{BB962C8B-B14F-4D97-AF65-F5344CB8AC3E}">
        <p14:creationId xmlns:p14="http://schemas.microsoft.com/office/powerpoint/2010/main" val="19481232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a:lnSpc>
                <a:spcPct val="150000"/>
              </a:lnSpc>
            </a:pPr>
            <a:r>
              <a:rPr lang="en-US" sz="2000" b="1" dirty="0">
                <a:solidFill>
                  <a:srgbClr val="FF0000"/>
                </a:solidFill>
                <a:latin typeface="Times New Roman" panose="02020603050405020304" pitchFamily="18" charset="0"/>
                <a:cs typeface="Times New Roman" panose="02020603050405020304" pitchFamily="18" charset="0"/>
              </a:rPr>
              <a:t>Closed</a:t>
            </a:r>
            <a:r>
              <a:rPr lang="en-US" sz="2000" dirty="0">
                <a:solidFill>
                  <a:srgbClr val="222222"/>
                </a:solidFill>
                <a:latin typeface="Times New Roman" panose="02020603050405020304" pitchFamily="18" charset="0"/>
                <a:cs typeface="Times New Roman" panose="02020603050405020304" pitchFamily="18" charset="0"/>
              </a:rPr>
              <a:t>: If the bug is no longer exists then tester assigns the status “Closed.” </a:t>
            </a:r>
          </a:p>
          <a:p>
            <a:pPr>
              <a:lnSpc>
                <a:spcPct val="150000"/>
              </a:lnSpc>
            </a:pPr>
            <a:r>
              <a:rPr lang="en-US" sz="2000" b="1" dirty="0">
                <a:solidFill>
                  <a:srgbClr val="FF0000"/>
                </a:solidFill>
                <a:latin typeface="Times New Roman" panose="02020603050405020304" pitchFamily="18" charset="0"/>
                <a:cs typeface="Times New Roman" panose="02020603050405020304" pitchFamily="18" charset="0"/>
              </a:rPr>
              <a:t>Duplicate</a:t>
            </a:r>
            <a:r>
              <a:rPr lang="en-US" sz="2000" dirty="0">
                <a:solidFill>
                  <a:srgbClr val="222222"/>
                </a:solidFill>
                <a:latin typeface="Times New Roman" panose="02020603050405020304" pitchFamily="18" charset="0"/>
                <a:cs typeface="Times New Roman" panose="02020603050405020304" pitchFamily="18" charset="0"/>
              </a:rPr>
              <a:t>: If the defect is repeated twice or the defect corresponds to the same concept of the bug, the status is changed to “duplicate</a:t>
            </a:r>
            <a:endParaRPr lang="en-US" sz="2000" b="1" dirty="0">
              <a:solidFill>
                <a:srgbClr val="FF0000"/>
              </a:solidFill>
              <a:latin typeface="Times New Roman" panose="02020603050405020304" pitchFamily="18" charset="0"/>
              <a:cs typeface="Times New Roman" panose="02020603050405020304" pitchFamily="18" charset="0"/>
            </a:endParaRPr>
          </a:p>
          <a:p>
            <a:pPr>
              <a:lnSpc>
                <a:spcPct val="150000"/>
              </a:lnSpc>
            </a:pPr>
            <a:r>
              <a:rPr lang="en-US" sz="2000" b="1" dirty="0">
                <a:solidFill>
                  <a:srgbClr val="FF0000"/>
                </a:solidFill>
                <a:latin typeface="Times New Roman" panose="02020603050405020304" pitchFamily="18" charset="0"/>
                <a:cs typeface="Times New Roman" panose="02020603050405020304" pitchFamily="18" charset="0"/>
              </a:rPr>
              <a:t>Rejected</a:t>
            </a:r>
            <a:r>
              <a:rPr lang="en-US" sz="2000" dirty="0">
                <a:solidFill>
                  <a:srgbClr val="222222"/>
                </a:solidFill>
                <a:latin typeface="Times New Roman" panose="02020603050405020304" pitchFamily="18" charset="0"/>
                <a:cs typeface="Times New Roman" panose="02020603050405020304" pitchFamily="18" charset="0"/>
              </a:rPr>
              <a:t>: If the developer feels the defect is not a genuine defect then it changes the defect to “rejected.”</a:t>
            </a:r>
          </a:p>
          <a:p>
            <a:pPr>
              <a:lnSpc>
                <a:spcPct val="150000"/>
              </a:lnSpc>
            </a:pPr>
            <a:r>
              <a:rPr lang="en-US" sz="2000" b="1" dirty="0">
                <a:solidFill>
                  <a:srgbClr val="FF0000"/>
                </a:solidFill>
                <a:latin typeface="Times New Roman" panose="02020603050405020304" pitchFamily="18" charset="0"/>
                <a:cs typeface="Times New Roman" panose="02020603050405020304" pitchFamily="18" charset="0"/>
              </a:rPr>
              <a:t>Deferred</a:t>
            </a:r>
            <a:r>
              <a:rPr lang="en-US" sz="2000" dirty="0">
                <a:solidFill>
                  <a:srgbClr val="222222"/>
                </a:solidFill>
                <a:latin typeface="Times New Roman" panose="02020603050405020304" pitchFamily="18" charset="0"/>
                <a:cs typeface="Times New Roman" panose="02020603050405020304" pitchFamily="18" charset="0"/>
              </a:rPr>
              <a:t>: If the present bug is not of a prime priority and if it is expected to get fixed in the next release, then status “Deferred” is assigned to such bugs</a:t>
            </a:r>
          </a:p>
          <a:p>
            <a:pPr>
              <a:lnSpc>
                <a:spcPct val="150000"/>
              </a:lnSpc>
            </a:pPr>
            <a:r>
              <a:rPr lang="en-US" sz="2000" b="1" dirty="0">
                <a:solidFill>
                  <a:srgbClr val="FF0000"/>
                </a:solidFill>
                <a:latin typeface="Times New Roman" panose="02020603050405020304" pitchFamily="18" charset="0"/>
                <a:cs typeface="Times New Roman" panose="02020603050405020304" pitchFamily="18" charset="0"/>
              </a:rPr>
              <a:t>Not a </a:t>
            </a:r>
            <a:r>
              <a:rPr lang="en-US" sz="2000" b="1" dirty="0" err="1">
                <a:solidFill>
                  <a:srgbClr val="FF0000"/>
                </a:solidFill>
                <a:latin typeface="Times New Roman" panose="02020603050405020304" pitchFamily="18" charset="0"/>
                <a:cs typeface="Times New Roman" panose="02020603050405020304" pitchFamily="18" charset="0"/>
              </a:rPr>
              <a:t>bug</a:t>
            </a:r>
            <a:r>
              <a:rPr lang="en-US" sz="2000" dirty="0" err="1">
                <a:solidFill>
                  <a:srgbClr val="FF0000"/>
                </a:solidFill>
                <a:latin typeface="Times New Roman" panose="02020603050405020304" pitchFamily="18" charset="0"/>
                <a:cs typeface="Times New Roman" panose="02020603050405020304" pitchFamily="18" charset="0"/>
              </a:rPr>
              <a:t>:</a:t>
            </a:r>
            <a:r>
              <a:rPr lang="en-US" sz="2000" dirty="0" err="1">
                <a:solidFill>
                  <a:srgbClr val="222222"/>
                </a:solidFill>
                <a:latin typeface="Times New Roman" panose="02020603050405020304" pitchFamily="18" charset="0"/>
                <a:cs typeface="Times New Roman" panose="02020603050405020304" pitchFamily="18" charset="0"/>
              </a:rPr>
              <a:t>If</a:t>
            </a:r>
            <a:r>
              <a:rPr lang="en-US" sz="2000" dirty="0">
                <a:solidFill>
                  <a:srgbClr val="222222"/>
                </a:solidFill>
                <a:latin typeface="Times New Roman" panose="02020603050405020304" pitchFamily="18" charset="0"/>
                <a:cs typeface="Times New Roman" panose="02020603050405020304" pitchFamily="18" charset="0"/>
              </a:rPr>
              <a:t> it does not affect the functionality of the application then the status assigned to a bug is “Not a bug”.</a:t>
            </a:r>
          </a:p>
          <a:p>
            <a:pPr>
              <a:lnSpc>
                <a:spcPct val="150000"/>
              </a:lnSpc>
            </a:pPr>
            <a:endParaRPr lang="en-US" sz="2000" b="1" dirty="0">
              <a:solidFill>
                <a:srgbClr val="222222"/>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6885673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Defect Life Cycle or Bug Life Cycle -  Stuff You Must Know!">
            <a:extLst>
              <a:ext uri="{FF2B5EF4-FFF2-40B4-BE49-F238E27FC236}">
                <a16:creationId xmlns:a16="http://schemas.microsoft.com/office/drawing/2014/main" id="{39245059-B96F-4374-8CC7-B0C4EEDB1A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539" y="750626"/>
            <a:ext cx="11714922" cy="593677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F8E2823-7344-480A-A46E-3A3ABCBB5E8D}"/>
              </a:ext>
            </a:extLst>
          </p:cNvPr>
          <p:cNvSpPr txBox="1"/>
          <p:nvPr/>
        </p:nvSpPr>
        <p:spPr>
          <a:xfrm>
            <a:off x="238539" y="118479"/>
            <a:ext cx="5115339" cy="461665"/>
          </a:xfrm>
          <a:prstGeom prst="rect">
            <a:avLst/>
          </a:prstGeom>
          <a:noFill/>
        </p:spPr>
        <p:txBody>
          <a:bodyPr wrap="square" rtlCol="0">
            <a:spAutoFit/>
          </a:bodyPr>
          <a:lstStyle/>
          <a:p>
            <a:pPr marL="342900" indent="-342900">
              <a:buFont typeface="Wingdings" panose="05000000000000000000" pitchFamily="2" charset="2"/>
              <a:buChar char="v"/>
            </a:pPr>
            <a:r>
              <a:rPr lang="en-US" sz="2400" b="1" u="sng" dirty="0">
                <a:latin typeface="Times New Roman" panose="02020603050405020304" pitchFamily="18" charset="0"/>
                <a:cs typeface="Times New Roman" panose="02020603050405020304" pitchFamily="18" charset="0"/>
              </a:rPr>
              <a:t>Bug Life Cycle with Flow chart:-</a:t>
            </a:r>
            <a:endParaRPr lang="en-IN" sz="24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1862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37BE226-CD36-48B8-A837-E99CAE917923}"/>
              </a:ext>
            </a:extLst>
          </p:cNvPr>
          <p:cNvSpPr txBox="1"/>
          <p:nvPr/>
        </p:nvSpPr>
        <p:spPr>
          <a:xfrm>
            <a:off x="0" y="0"/>
            <a:ext cx="12192000" cy="6119945"/>
          </a:xfrm>
          <a:prstGeom prst="rect">
            <a:avLst/>
          </a:prstGeom>
          <a:noFill/>
        </p:spPr>
        <p:txBody>
          <a:bodyPr wrap="square">
            <a:spAutoFit/>
          </a:bodyPr>
          <a:lstStyle/>
          <a:p>
            <a:pPr algn="l">
              <a:lnSpc>
                <a:spcPct val="150000"/>
              </a:lnSpc>
              <a:buFont typeface="+mj-lt"/>
              <a:buAutoNum type="arabicPeriod"/>
            </a:pPr>
            <a:r>
              <a:rPr lang="en-US" sz="2400" b="0" i="0" dirty="0">
                <a:solidFill>
                  <a:srgbClr val="222222"/>
                </a:solidFill>
                <a:effectLst/>
                <a:latin typeface="Times New Roman" panose="02020603050405020304" pitchFamily="18" charset="0"/>
                <a:cs typeface="Times New Roman" panose="02020603050405020304" pitchFamily="18" charset="0"/>
              </a:rPr>
              <a:t>Tester finds the defect</a:t>
            </a:r>
          </a:p>
          <a:p>
            <a:pPr algn="l">
              <a:lnSpc>
                <a:spcPct val="150000"/>
              </a:lnSpc>
              <a:buFont typeface="+mj-lt"/>
              <a:buAutoNum type="arabicPeriod"/>
            </a:pPr>
            <a:r>
              <a:rPr lang="en-US" sz="2400" b="0" i="0" dirty="0">
                <a:solidFill>
                  <a:srgbClr val="222222"/>
                </a:solidFill>
                <a:effectLst/>
                <a:latin typeface="Times New Roman" panose="02020603050405020304" pitchFamily="18" charset="0"/>
                <a:cs typeface="Times New Roman" panose="02020603050405020304" pitchFamily="18" charset="0"/>
              </a:rPr>
              <a:t>Status assigned to defect- New</a:t>
            </a:r>
          </a:p>
          <a:p>
            <a:pPr algn="l">
              <a:lnSpc>
                <a:spcPct val="150000"/>
              </a:lnSpc>
              <a:buFont typeface="+mj-lt"/>
              <a:buAutoNum type="arabicPeriod"/>
            </a:pPr>
            <a:r>
              <a:rPr lang="en-US" sz="2400" b="0" i="0" dirty="0">
                <a:solidFill>
                  <a:srgbClr val="222222"/>
                </a:solidFill>
                <a:effectLst/>
                <a:latin typeface="Times New Roman" panose="02020603050405020304" pitchFamily="18" charset="0"/>
                <a:cs typeface="Times New Roman" panose="02020603050405020304" pitchFamily="18" charset="0"/>
              </a:rPr>
              <a:t>A defect is forwarded to Project Manager for analyze</a:t>
            </a:r>
          </a:p>
          <a:p>
            <a:pPr algn="l">
              <a:lnSpc>
                <a:spcPct val="150000"/>
              </a:lnSpc>
              <a:buFont typeface="+mj-lt"/>
              <a:buAutoNum type="arabicPeriod"/>
            </a:pPr>
            <a:r>
              <a:rPr lang="en-US" sz="2400" b="0" i="0" dirty="0">
                <a:solidFill>
                  <a:srgbClr val="222222"/>
                </a:solidFill>
                <a:effectLst/>
                <a:latin typeface="Times New Roman" panose="02020603050405020304" pitchFamily="18" charset="0"/>
                <a:cs typeface="Times New Roman" panose="02020603050405020304" pitchFamily="18" charset="0"/>
              </a:rPr>
              <a:t>Project Manager decides whether a defect is valid</a:t>
            </a:r>
          </a:p>
          <a:p>
            <a:pPr algn="l">
              <a:lnSpc>
                <a:spcPct val="150000"/>
              </a:lnSpc>
              <a:buFont typeface="+mj-lt"/>
              <a:buAutoNum type="arabicPeriod"/>
            </a:pPr>
            <a:r>
              <a:rPr lang="en-US" sz="2400" b="0" i="0" dirty="0">
                <a:solidFill>
                  <a:srgbClr val="222222"/>
                </a:solidFill>
                <a:effectLst/>
                <a:latin typeface="Times New Roman" panose="02020603050405020304" pitchFamily="18" charset="0"/>
                <a:cs typeface="Times New Roman" panose="02020603050405020304" pitchFamily="18" charset="0"/>
              </a:rPr>
              <a:t>Here the defect is not valid- a status is given “Rejected.”</a:t>
            </a:r>
          </a:p>
          <a:p>
            <a:pPr algn="l">
              <a:lnSpc>
                <a:spcPct val="150000"/>
              </a:lnSpc>
              <a:buFont typeface="+mj-lt"/>
              <a:buAutoNum type="arabicPeriod"/>
            </a:pPr>
            <a:r>
              <a:rPr lang="en-US" sz="2400" b="0" i="0" dirty="0">
                <a:solidFill>
                  <a:srgbClr val="222222"/>
                </a:solidFill>
                <a:effectLst/>
                <a:latin typeface="Times New Roman" panose="02020603050405020304" pitchFamily="18" charset="0"/>
                <a:cs typeface="Times New Roman" panose="02020603050405020304" pitchFamily="18" charset="0"/>
              </a:rPr>
              <a:t>So, project manager assigns a status </a:t>
            </a:r>
            <a:r>
              <a:rPr lang="en-US" sz="2400" b="1" i="0" dirty="0">
                <a:solidFill>
                  <a:srgbClr val="FF0000"/>
                </a:solidFill>
                <a:effectLst/>
                <a:latin typeface="Times New Roman" panose="02020603050405020304" pitchFamily="18" charset="0"/>
                <a:cs typeface="Times New Roman" panose="02020603050405020304" pitchFamily="18" charset="0"/>
              </a:rPr>
              <a:t>rejected</a:t>
            </a:r>
            <a:r>
              <a:rPr lang="en-US" sz="2400" b="0" i="0" dirty="0">
                <a:solidFill>
                  <a:srgbClr val="222222"/>
                </a:solidFill>
                <a:effectLst/>
                <a:latin typeface="Times New Roman" panose="02020603050405020304" pitchFamily="18" charset="0"/>
                <a:cs typeface="Times New Roman" panose="02020603050405020304" pitchFamily="18" charset="0"/>
              </a:rPr>
              <a:t>. If the defect is not rejected then the next step is to check whether it is in scope. Suppose we have another function- email functionality for the same application, and you find a problem with that. But it is not a part of the current release when such defects are assigned as a </a:t>
            </a:r>
            <a:r>
              <a:rPr lang="en-US" sz="2400" b="1" i="0" dirty="0">
                <a:solidFill>
                  <a:srgbClr val="FF0000"/>
                </a:solidFill>
                <a:effectLst/>
                <a:latin typeface="Times New Roman" panose="02020603050405020304" pitchFamily="18" charset="0"/>
                <a:cs typeface="Times New Roman" panose="02020603050405020304" pitchFamily="18" charset="0"/>
              </a:rPr>
              <a:t>postponed or deferred </a:t>
            </a:r>
            <a:r>
              <a:rPr lang="en-US" sz="2400" b="0" i="0" dirty="0">
                <a:solidFill>
                  <a:srgbClr val="222222"/>
                </a:solidFill>
                <a:effectLst/>
                <a:latin typeface="Times New Roman" panose="02020603050405020304" pitchFamily="18" charset="0"/>
                <a:cs typeface="Times New Roman" panose="02020603050405020304" pitchFamily="18" charset="0"/>
              </a:rPr>
              <a:t>status.</a:t>
            </a:r>
          </a:p>
          <a:p>
            <a:pPr algn="l">
              <a:lnSpc>
                <a:spcPct val="150000"/>
              </a:lnSpc>
              <a:buFont typeface="+mj-lt"/>
              <a:buAutoNum type="arabicPeriod"/>
            </a:pPr>
            <a:r>
              <a:rPr lang="en-US" sz="2400" b="0" i="0" dirty="0">
                <a:solidFill>
                  <a:srgbClr val="222222"/>
                </a:solidFill>
                <a:effectLst/>
                <a:latin typeface="Times New Roman" panose="02020603050405020304" pitchFamily="18" charset="0"/>
                <a:cs typeface="Times New Roman" panose="02020603050405020304" pitchFamily="18" charset="0"/>
              </a:rPr>
              <a:t>Next, the manager verifies whether a similar defect was raised earlier. If yes defect is assigned a status </a:t>
            </a:r>
            <a:r>
              <a:rPr lang="en-US" sz="2400" b="1" i="0" dirty="0">
                <a:solidFill>
                  <a:srgbClr val="FF0000"/>
                </a:solidFill>
                <a:effectLst/>
                <a:latin typeface="Times New Roman" panose="02020603050405020304" pitchFamily="18" charset="0"/>
                <a:cs typeface="Times New Roman" panose="02020603050405020304" pitchFamily="18" charset="0"/>
              </a:rPr>
              <a:t>duplicate</a:t>
            </a:r>
            <a:r>
              <a:rPr lang="en-US" sz="2400" b="0" i="0" dirty="0">
                <a:solidFill>
                  <a:srgbClr val="222222"/>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0094984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D46441-E58D-4343-B1BF-8CAE7A2EA7C7}"/>
              </a:ext>
            </a:extLst>
          </p:cNvPr>
          <p:cNvSpPr txBox="1"/>
          <p:nvPr/>
        </p:nvSpPr>
        <p:spPr>
          <a:xfrm>
            <a:off x="-1" y="0"/>
            <a:ext cx="12085983" cy="4524315"/>
          </a:xfrm>
          <a:prstGeom prst="rect">
            <a:avLst/>
          </a:prstGeom>
          <a:noFill/>
        </p:spPr>
        <p:txBody>
          <a:bodyPr wrap="square">
            <a:spAutoFit/>
          </a:bodyPr>
          <a:lstStyle/>
          <a:p>
            <a:pPr>
              <a:lnSpc>
                <a:spcPct val="150000"/>
              </a:lnSpc>
            </a:pPr>
            <a:r>
              <a:rPr lang="en-US" sz="2400" b="0" i="0" dirty="0">
                <a:solidFill>
                  <a:srgbClr val="222222"/>
                </a:solidFill>
                <a:effectLst/>
                <a:latin typeface="Times New Roman" panose="02020603050405020304" pitchFamily="18" charset="0"/>
                <a:cs typeface="Times New Roman" panose="02020603050405020304" pitchFamily="18" charset="0"/>
              </a:rPr>
              <a:t>8.If no the defect is assigned to the developer who starts fixing the code. During this stage, the defect is assigned a status </a:t>
            </a:r>
            <a:r>
              <a:rPr lang="en-US" sz="2400" b="1" i="0" dirty="0">
                <a:solidFill>
                  <a:srgbClr val="FF0000"/>
                </a:solidFill>
                <a:effectLst/>
                <a:latin typeface="Times New Roman" panose="02020603050405020304" pitchFamily="18" charset="0"/>
                <a:cs typeface="Times New Roman" panose="02020603050405020304" pitchFamily="18" charset="0"/>
              </a:rPr>
              <a:t>in- progress</a:t>
            </a:r>
            <a:r>
              <a:rPr lang="en-US" sz="2400" b="1" i="0" dirty="0">
                <a:solidFill>
                  <a:srgbClr val="222222"/>
                </a:solidFill>
                <a:effectLst/>
                <a:latin typeface="Times New Roman" panose="02020603050405020304" pitchFamily="18" charset="0"/>
                <a:cs typeface="Times New Roman" panose="02020603050405020304" pitchFamily="18" charset="0"/>
              </a:rPr>
              <a:t>.</a:t>
            </a:r>
            <a:endParaRPr lang="en-US" sz="2400" b="0" i="0" dirty="0">
              <a:solidFill>
                <a:srgbClr val="222222"/>
              </a:solidFill>
              <a:effectLst/>
              <a:latin typeface="Times New Roman" panose="02020603050405020304" pitchFamily="18" charset="0"/>
              <a:cs typeface="Times New Roman" panose="02020603050405020304" pitchFamily="18" charset="0"/>
            </a:endParaRPr>
          </a:p>
          <a:p>
            <a:pPr algn="l">
              <a:lnSpc>
                <a:spcPct val="150000"/>
              </a:lnSpc>
            </a:pPr>
            <a:r>
              <a:rPr lang="en-US" sz="2400" b="0" i="0" dirty="0">
                <a:solidFill>
                  <a:srgbClr val="222222"/>
                </a:solidFill>
                <a:effectLst/>
                <a:latin typeface="Times New Roman" panose="02020603050405020304" pitchFamily="18" charset="0"/>
                <a:cs typeface="Times New Roman" panose="02020603050405020304" pitchFamily="18" charset="0"/>
              </a:rPr>
              <a:t>9.Once the code is fixed. A defect is assigned a status </a:t>
            </a:r>
            <a:r>
              <a:rPr lang="en-US" sz="2400" b="1" i="0" dirty="0">
                <a:solidFill>
                  <a:srgbClr val="FF0000"/>
                </a:solidFill>
                <a:effectLst/>
                <a:latin typeface="Times New Roman" panose="02020603050405020304" pitchFamily="18" charset="0"/>
                <a:cs typeface="Times New Roman" panose="02020603050405020304" pitchFamily="18" charset="0"/>
              </a:rPr>
              <a:t>fixed</a:t>
            </a:r>
            <a:endParaRPr lang="en-US" sz="2400" b="0" i="0" dirty="0">
              <a:solidFill>
                <a:srgbClr val="FF0000"/>
              </a:solidFill>
              <a:effectLst/>
              <a:latin typeface="Times New Roman" panose="02020603050405020304" pitchFamily="18" charset="0"/>
              <a:cs typeface="Times New Roman" panose="02020603050405020304" pitchFamily="18" charset="0"/>
            </a:endParaRPr>
          </a:p>
          <a:p>
            <a:pPr algn="l">
              <a:lnSpc>
                <a:spcPct val="150000"/>
              </a:lnSpc>
            </a:pPr>
            <a:r>
              <a:rPr lang="en-US" sz="2400" b="0" i="0" dirty="0">
                <a:solidFill>
                  <a:srgbClr val="222222"/>
                </a:solidFill>
                <a:effectLst/>
                <a:latin typeface="Times New Roman" panose="02020603050405020304" pitchFamily="18" charset="0"/>
                <a:cs typeface="Times New Roman" panose="02020603050405020304" pitchFamily="18" charset="0"/>
              </a:rPr>
              <a:t>10.Next, the tester will re-test the code. In case, the</a:t>
            </a:r>
            <a:r>
              <a:rPr lang="en-US" sz="2400" b="0" i="0" u="none" strike="noStrike" dirty="0">
                <a:solidFill>
                  <a:srgbClr val="222222"/>
                </a:solidFill>
                <a:effectLst/>
                <a:latin typeface="Times New Roman" panose="02020603050405020304" pitchFamily="18" charset="0"/>
                <a:cs typeface="Times New Roman" panose="02020603050405020304" pitchFamily="18" charset="0"/>
              </a:rPr>
              <a:t> Test Case </a:t>
            </a:r>
            <a:r>
              <a:rPr lang="en-US" sz="2400" b="0" i="0" dirty="0">
                <a:solidFill>
                  <a:srgbClr val="222222"/>
                </a:solidFill>
                <a:effectLst/>
                <a:latin typeface="Times New Roman" panose="02020603050405020304" pitchFamily="18" charset="0"/>
                <a:cs typeface="Times New Roman" panose="02020603050405020304" pitchFamily="18" charset="0"/>
              </a:rPr>
              <a:t>passes the defect is </a:t>
            </a:r>
            <a:r>
              <a:rPr lang="en-US" sz="2400" b="1" i="0" dirty="0">
                <a:solidFill>
                  <a:srgbClr val="FF0000"/>
                </a:solidFill>
                <a:effectLst/>
                <a:latin typeface="Times New Roman" panose="02020603050405020304" pitchFamily="18" charset="0"/>
                <a:cs typeface="Times New Roman" panose="02020603050405020304" pitchFamily="18" charset="0"/>
              </a:rPr>
              <a:t>closed</a:t>
            </a:r>
            <a:r>
              <a:rPr lang="en-US" sz="2400" b="1" i="0" dirty="0">
                <a:solidFill>
                  <a:srgbClr val="222222"/>
                </a:solidFill>
                <a:effectLst/>
                <a:latin typeface="Times New Roman" panose="02020603050405020304" pitchFamily="18" charset="0"/>
                <a:cs typeface="Times New Roman" panose="02020603050405020304" pitchFamily="18" charset="0"/>
              </a:rPr>
              <a:t>.</a:t>
            </a:r>
            <a:r>
              <a:rPr lang="en-US" sz="2400" b="0" i="0" dirty="0">
                <a:solidFill>
                  <a:srgbClr val="222222"/>
                </a:solidFill>
                <a:effectLst/>
                <a:latin typeface="Times New Roman" panose="02020603050405020304" pitchFamily="18" charset="0"/>
                <a:cs typeface="Times New Roman" panose="02020603050405020304" pitchFamily="18" charset="0"/>
              </a:rPr>
              <a:t> If the test cases fail again, the defect is </a:t>
            </a:r>
            <a:r>
              <a:rPr lang="en-US" sz="2400" b="1" i="0" dirty="0">
                <a:solidFill>
                  <a:srgbClr val="FF0000"/>
                </a:solidFill>
                <a:effectLst/>
                <a:latin typeface="Times New Roman" panose="02020603050405020304" pitchFamily="18" charset="0"/>
                <a:cs typeface="Times New Roman" panose="02020603050405020304" pitchFamily="18" charset="0"/>
              </a:rPr>
              <a:t>re-opened</a:t>
            </a:r>
            <a:r>
              <a:rPr lang="en-US" sz="2400" b="0" i="0" dirty="0">
                <a:solidFill>
                  <a:srgbClr val="222222"/>
                </a:solidFill>
                <a:effectLst/>
                <a:latin typeface="Times New Roman" panose="02020603050405020304" pitchFamily="18" charset="0"/>
                <a:cs typeface="Times New Roman" panose="02020603050405020304" pitchFamily="18" charset="0"/>
              </a:rPr>
              <a:t> and assigned to the developer.</a:t>
            </a:r>
          </a:p>
          <a:p>
            <a:pPr algn="l">
              <a:lnSpc>
                <a:spcPct val="150000"/>
              </a:lnSpc>
            </a:pPr>
            <a:r>
              <a:rPr lang="en-US" sz="2400" b="0" i="0" dirty="0">
                <a:solidFill>
                  <a:srgbClr val="222222"/>
                </a:solidFill>
                <a:effectLst/>
                <a:latin typeface="Times New Roman" panose="02020603050405020304" pitchFamily="18" charset="0"/>
                <a:cs typeface="Times New Roman" panose="02020603050405020304" pitchFamily="18" charset="0"/>
              </a:rPr>
              <a:t>11.Consider a situation where during the 1st release of Flight Reservation a defect was found in Fax order that was fixed and assigned a status closed. During the second upgrade release the same defect again re-surfaced. In such cases, a closed defect will be </a:t>
            </a:r>
            <a:r>
              <a:rPr lang="en-US" sz="2400" b="1" i="0" dirty="0">
                <a:solidFill>
                  <a:srgbClr val="FF0000"/>
                </a:solidFill>
                <a:effectLst/>
                <a:latin typeface="Times New Roman" panose="02020603050405020304" pitchFamily="18" charset="0"/>
                <a:cs typeface="Times New Roman" panose="02020603050405020304" pitchFamily="18" charset="0"/>
              </a:rPr>
              <a:t>re-opened.</a:t>
            </a:r>
            <a:endParaRPr lang="en-US" sz="2400" b="0" i="0" dirty="0">
              <a:solidFill>
                <a:srgbClr val="FF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63147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
            <a:ext cx="12192000" cy="6858001"/>
          </a:xfrm>
        </p:spPr>
        <p:txBody>
          <a:bodyPr>
            <a:normAutofit fontScale="92500" lnSpcReduction="20000"/>
          </a:bodyPr>
          <a:lstStyle/>
          <a:p>
            <a:pPr marL="0" indent="0">
              <a:buNone/>
            </a:pPr>
            <a:r>
              <a:rPr lang="en-SG" sz="3800" b="1" i="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Need of issue tracker</a:t>
            </a:r>
          </a:p>
          <a:p>
            <a:pPr marL="0" indent="0">
              <a:buNone/>
            </a:pPr>
            <a:endParaRPr lang="en-SG" sz="3800" b="1" i="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An issue tracker is software that allows developers, managers, and customer support agents to organize, prioritize, and track these issues and bugs until they are resolved.</a:t>
            </a:r>
            <a:r>
              <a:rPr lang="en-US" sz="2400" b="1" dirty="0">
                <a:latin typeface="Times New Roman" panose="02020603050405020304" pitchFamily="18" charset="0"/>
                <a:cs typeface="Times New Roman" panose="02020603050405020304" pitchFamily="18" charset="0"/>
              </a:rPr>
              <a:t> Issue tracking systems</a:t>
            </a:r>
            <a:r>
              <a:rPr lang="en-US" sz="2400" dirty="0">
                <a:latin typeface="Times New Roman" panose="02020603050405020304" pitchFamily="18" charset="0"/>
                <a:cs typeface="Times New Roman" panose="02020603050405020304" pitchFamily="18" charset="0"/>
              </a:rPr>
              <a:t>, commonly referred to as ITS</a:t>
            </a:r>
          </a:p>
          <a:p>
            <a:pPr algn="just" fontAlgn="base"/>
            <a:endParaRPr lang="en-US" sz="2400" dirty="0">
              <a:latin typeface="Times New Roman" panose="02020603050405020304" pitchFamily="18" charset="0"/>
              <a:cs typeface="Times New Roman" panose="02020603050405020304" pitchFamily="18" charset="0"/>
            </a:endParaRPr>
          </a:p>
          <a:p>
            <a:pPr algn="just" fontAlgn="base"/>
            <a:r>
              <a:rPr lang="en-US" sz="2400" dirty="0">
                <a:latin typeface="Times New Roman" panose="02020603050405020304" pitchFamily="18" charset="0"/>
                <a:cs typeface="Times New Roman" panose="02020603050405020304" pitchFamily="18" charset="0"/>
              </a:rPr>
              <a:t>Software testing is essential for isolating and mitigating errors. A good QA process can uncover hundreds or even thousands of defects, and testing teams need to manage all of them.</a:t>
            </a:r>
          </a:p>
          <a:p>
            <a:pPr algn="just" fontAlgn="base"/>
            <a:endParaRPr lang="en-US" sz="2400" dirty="0">
              <a:latin typeface="Times New Roman" panose="02020603050405020304" pitchFamily="18" charset="0"/>
              <a:cs typeface="Times New Roman" panose="02020603050405020304" pitchFamily="18" charset="0"/>
            </a:endParaRPr>
          </a:p>
          <a:p>
            <a:pPr algn="just" fontAlgn="base"/>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Integrating bug tracking or issue tracking  into the testing workflow improves efficiency </a:t>
            </a:r>
            <a:r>
              <a:rPr lang="en-US" sz="2400" dirty="0">
                <a:latin typeface="Times New Roman" panose="02020603050405020304" pitchFamily="18" charset="0"/>
                <a:cs typeface="Times New Roman" panose="02020603050405020304" pitchFamily="18" charset="0"/>
              </a:rPr>
              <a:t>by helping testers </a:t>
            </a:r>
            <a:r>
              <a:rPr lang="en-US" sz="2400" dirty="0">
                <a:solidFill>
                  <a:srgbClr val="FF0000"/>
                </a:solidFill>
                <a:latin typeface="Times New Roman" panose="02020603050405020304" pitchFamily="18" charset="0"/>
                <a:cs typeface="Times New Roman" panose="02020603050405020304" pitchFamily="18" charset="0"/>
              </a:rPr>
              <a:t>prioritize, monitor and report </a:t>
            </a:r>
            <a:r>
              <a:rPr lang="en-US" sz="2400" dirty="0">
                <a:latin typeface="Times New Roman" panose="02020603050405020304" pitchFamily="18" charset="0"/>
                <a:cs typeface="Times New Roman" panose="02020603050405020304" pitchFamily="18" charset="0"/>
              </a:rPr>
              <a:t>on the status of each error.</a:t>
            </a:r>
          </a:p>
          <a:p>
            <a:pPr algn="just" fontAlgn="base"/>
            <a:endParaRPr lang="en-US" sz="2400" dirty="0">
              <a:latin typeface="Times New Roman" panose="02020603050405020304" pitchFamily="18" charset="0"/>
              <a:cs typeface="Times New Roman" panose="02020603050405020304" pitchFamily="18" charset="0"/>
            </a:endParaRPr>
          </a:p>
          <a:p>
            <a:pPr algn="just" fontAlgn="base"/>
            <a:r>
              <a:rPr lang="en-US" sz="2400" dirty="0">
                <a:latin typeface="Times New Roman" panose="02020603050405020304" pitchFamily="18" charset="0"/>
                <a:cs typeface="Times New Roman" panose="02020603050405020304" pitchFamily="18" charset="0"/>
              </a:rPr>
              <a:t>“</a:t>
            </a:r>
            <a:r>
              <a:rPr lang="en-US" sz="2400" dirty="0">
                <a:solidFill>
                  <a:srgbClr val="FF0000"/>
                </a:solidFill>
                <a:latin typeface="Times New Roman" panose="02020603050405020304" pitchFamily="18" charset="0"/>
                <a:cs typeface="Times New Roman" panose="02020603050405020304" pitchFamily="18" charset="0"/>
              </a:rPr>
              <a:t>Defect tracking helps ensure that bugs found in the system actually get fixed</a:t>
            </a:r>
            <a:r>
              <a:rPr lang="en-US" sz="2400" dirty="0">
                <a:latin typeface="Times New Roman" panose="02020603050405020304" pitchFamily="18" charset="0"/>
                <a:cs typeface="Times New Roman" panose="02020603050405020304" pitchFamily="18" charset="0"/>
              </a:rPr>
              <a:t>,”</a:t>
            </a:r>
          </a:p>
          <a:p>
            <a:pPr algn="just" fontAlgn="base"/>
            <a:endParaRPr lang="en-US" sz="2400" dirty="0">
              <a:latin typeface="Times New Roman" panose="02020603050405020304" pitchFamily="18" charset="0"/>
              <a:cs typeface="Times New Roman" panose="02020603050405020304" pitchFamily="18" charset="0"/>
            </a:endParaRPr>
          </a:p>
          <a:p>
            <a:pPr algn="just" fontAlgn="base"/>
            <a:r>
              <a:rPr lang="en-US" sz="2400" dirty="0">
                <a:latin typeface="Times New Roman" panose="02020603050405020304" pitchFamily="18" charset="0"/>
                <a:cs typeface="Times New Roman" panose="02020603050405020304" pitchFamily="18" charset="0"/>
              </a:rPr>
              <a:t>Ideally, </a:t>
            </a:r>
            <a:r>
              <a:rPr lang="en-US" sz="2400" dirty="0">
                <a:solidFill>
                  <a:srgbClr val="FF0000"/>
                </a:solidFill>
                <a:latin typeface="Times New Roman" panose="02020603050405020304" pitchFamily="18" charset="0"/>
                <a:cs typeface="Times New Roman" panose="02020603050405020304" pitchFamily="18" charset="0"/>
              </a:rPr>
              <a:t>testing should be done as soon as possible </a:t>
            </a:r>
            <a:r>
              <a:rPr lang="en-US" sz="2400" dirty="0">
                <a:latin typeface="Times New Roman" panose="02020603050405020304" pitchFamily="18" charset="0"/>
                <a:cs typeface="Times New Roman" panose="02020603050405020304" pitchFamily="18" charset="0"/>
              </a:rPr>
              <a:t>.finding bugs in early stages  are easier and far less costly to fix. That defects found post-production or after release can cost 15 times more to fix compared to errors resolved early in development.</a:t>
            </a:r>
          </a:p>
          <a:p>
            <a:pPr algn="just" fontAlgn="base"/>
            <a:endParaRPr lang="en-US" sz="2400" dirty="0">
              <a:latin typeface="Times New Roman" panose="02020603050405020304" pitchFamily="18" charset="0"/>
              <a:cs typeface="Times New Roman" panose="02020603050405020304" pitchFamily="18" charset="0"/>
            </a:endParaRPr>
          </a:p>
          <a:p>
            <a:pPr algn="just" fontAlgn="base"/>
            <a:r>
              <a:rPr lang="en-US" sz="2400" dirty="0">
                <a:latin typeface="Times New Roman" panose="02020603050405020304" pitchFamily="18" charset="0"/>
                <a:cs typeface="Times New Roman" panose="02020603050405020304" pitchFamily="18" charset="0"/>
              </a:rPr>
              <a:t>Many </a:t>
            </a:r>
            <a:r>
              <a:rPr lang="en-US" sz="2400" dirty="0">
                <a:solidFill>
                  <a:srgbClr val="FF0000"/>
                </a:solidFill>
                <a:latin typeface="Times New Roman" panose="02020603050405020304" pitchFamily="18" charset="0"/>
                <a:cs typeface="Times New Roman" panose="02020603050405020304" pitchFamily="18" charset="0"/>
              </a:rPr>
              <a:t>teams are now using a methodology known as continuous testing</a:t>
            </a:r>
            <a:r>
              <a:rPr lang="en-US" sz="2400" dirty="0">
                <a:latin typeface="Times New Roman" panose="02020603050405020304" pitchFamily="18" charset="0"/>
                <a:cs typeface="Times New Roman" panose="02020603050405020304" pitchFamily="18" charset="0"/>
              </a:rPr>
              <a:t>. In this case, </a:t>
            </a:r>
            <a:r>
              <a:rPr lang="en-US" sz="2400" dirty="0">
                <a:solidFill>
                  <a:srgbClr val="FF0000"/>
                </a:solidFill>
                <a:latin typeface="Times New Roman" panose="02020603050405020304" pitchFamily="18" charset="0"/>
                <a:cs typeface="Times New Roman" panose="02020603050405020304" pitchFamily="18" charset="0"/>
              </a:rPr>
              <a:t>quality testing and feedback are conducted at all stages of development.</a:t>
            </a:r>
          </a:p>
          <a:p>
            <a:endParaRPr lang="en-IN" dirty="0"/>
          </a:p>
        </p:txBody>
      </p:sp>
    </p:spTree>
    <p:extLst>
      <p:ext uri="{BB962C8B-B14F-4D97-AF65-F5344CB8AC3E}">
        <p14:creationId xmlns:p14="http://schemas.microsoft.com/office/powerpoint/2010/main" val="6466123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E5CFC3-D3A3-49D8-919B-1F25FCAAE532}"/>
              </a:ext>
            </a:extLst>
          </p:cNvPr>
          <p:cNvSpPr txBox="1"/>
          <p:nvPr/>
        </p:nvSpPr>
        <p:spPr>
          <a:xfrm>
            <a:off x="0" y="0"/>
            <a:ext cx="12192000" cy="7232749"/>
          </a:xfrm>
          <a:prstGeom prst="rect">
            <a:avLst/>
          </a:prstGeom>
          <a:noFill/>
        </p:spPr>
        <p:txBody>
          <a:bodyPr wrap="square">
            <a:spAutoFit/>
          </a:bodyPr>
          <a:lstStyle/>
          <a:p>
            <a:pPr marL="342900" indent="-342900" algn="l">
              <a:buFont typeface="Wingdings" panose="05000000000000000000" pitchFamily="2" charset="2"/>
              <a:buChar char="v"/>
            </a:pPr>
            <a:r>
              <a:rPr lang="en-US" sz="2400" b="1" i="0" u="sng" dirty="0">
                <a:effectLst/>
                <a:latin typeface="Times New Roman" panose="02020603050405020304" pitchFamily="18" charset="0"/>
                <a:cs typeface="Times New Roman" panose="02020603050405020304" pitchFamily="18" charset="0"/>
              </a:rPr>
              <a:t>Why is an issue tracker important?</a:t>
            </a:r>
            <a:endParaRPr lang="en-US" sz="2400" b="0" i="0" dirty="0">
              <a:effectLst/>
              <a:latin typeface="Times New Roman" panose="02020603050405020304" pitchFamily="18" charset="0"/>
              <a:cs typeface="Times New Roman" panose="02020603050405020304" pitchFamily="18" charset="0"/>
            </a:endParaRPr>
          </a:p>
          <a:p>
            <a:pPr algn="just"/>
            <a:r>
              <a:rPr lang="en-US" sz="2000" b="0" i="0" dirty="0">
                <a:effectLst/>
                <a:latin typeface="Times New Roman" panose="02020603050405020304" pitchFamily="18" charset="0"/>
                <a:cs typeface="Times New Roman" panose="02020603050405020304" pitchFamily="18" charset="0"/>
              </a:rPr>
              <a:t>Issue trackers have several key benefits:-</a:t>
            </a:r>
          </a:p>
          <a:p>
            <a:pPr algn="just"/>
            <a:endParaRPr lang="en-US" sz="2000" b="0" i="0" dirty="0">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b="1" i="0" dirty="0">
                <a:effectLst/>
                <a:latin typeface="Times New Roman" panose="02020603050405020304" pitchFamily="18" charset="0"/>
                <a:cs typeface="Times New Roman" panose="02020603050405020304" pitchFamily="18" charset="0"/>
              </a:rPr>
              <a:t>Centralized issue management: </a:t>
            </a:r>
            <a:r>
              <a:rPr lang="en-US" sz="2000" b="0" i="0" dirty="0">
                <a:effectLst/>
                <a:latin typeface="Times New Roman" panose="02020603050405020304" pitchFamily="18" charset="0"/>
                <a:cs typeface="Times New Roman" panose="02020603050405020304" pitchFamily="18" charset="0"/>
              </a:rPr>
              <a:t>when all existing and solved bugs are stored in one central database, it’s easier for developers, project managers, and other team members </a:t>
            </a:r>
            <a:r>
              <a:rPr lang="en-US" sz="2000" b="0" i="0" dirty="0">
                <a:solidFill>
                  <a:srgbClr val="FF0000"/>
                </a:solidFill>
                <a:effectLst/>
                <a:latin typeface="Times New Roman" panose="02020603050405020304" pitchFamily="18" charset="0"/>
                <a:cs typeface="Times New Roman" panose="02020603050405020304" pitchFamily="18" charset="0"/>
              </a:rPr>
              <a:t>to find relevant solutions quickly.</a:t>
            </a:r>
          </a:p>
          <a:p>
            <a:pPr marL="342900" indent="-342900" algn="just">
              <a:buFont typeface="Wingdings" panose="05000000000000000000" pitchFamily="2" charset="2"/>
              <a:buChar char="Ø"/>
            </a:pPr>
            <a:endParaRPr lang="en-US" sz="2000" b="0" i="0" dirty="0">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b="1" i="0" dirty="0">
                <a:effectLst/>
                <a:latin typeface="Times New Roman" panose="02020603050405020304" pitchFamily="18" charset="0"/>
                <a:cs typeface="Times New Roman" panose="02020603050405020304" pitchFamily="18" charset="0"/>
              </a:rPr>
              <a:t>Issue history tracking: </a:t>
            </a:r>
            <a:r>
              <a:rPr lang="en-US" sz="2000" b="0" i="0" dirty="0">
                <a:effectLst/>
                <a:latin typeface="Times New Roman" panose="02020603050405020304" pitchFamily="18" charset="0"/>
                <a:cs typeface="Times New Roman" panose="02020603050405020304" pitchFamily="18" charset="0"/>
              </a:rPr>
              <a:t>an issue tracker enables teams to </a:t>
            </a:r>
            <a:r>
              <a:rPr lang="en-US" sz="2000" b="0" i="0" dirty="0">
                <a:solidFill>
                  <a:srgbClr val="FF0000"/>
                </a:solidFill>
                <a:effectLst/>
                <a:latin typeface="Times New Roman" panose="02020603050405020304" pitchFamily="18" charset="0"/>
                <a:cs typeface="Times New Roman" panose="02020603050405020304" pitchFamily="18" charset="0"/>
              </a:rPr>
              <a:t>keep track of repetitive issues and effortlessly find answers to them.</a:t>
            </a:r>
          </a:p>
          <a:p>
            <a:pPr marL="342900" indent="-342900" algn="just">
              <a:buFont typeface="Wingdings" panose="05000000000000000000" pitchFamily="2" charset="2"/>
              <a:buChar char="Ø"/>
            </a:pPr>
            <a:endParaRPr lang="en-US" sz="2000" b="0" i="0" dirty="0">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b="1" i="0" dirty="0">
                <a:effectLst/>
                <a:latin typeface="Times New Roman" panose="02020603050405020304" pitchFamily="18" charset="0"/>
                <a:cs typeface="Times New Roman" panose="02020603050405020304" pitchFamily="18" charset="0"/>
              </a:rPr>
              <a:t>Appropriate delegation of work:</a:t>
            </a:r>
            <a:r>
              <a:rPr lang="en-US" sz="2000" b="0" i="0" dirty="0">
                <a:effectLst/>
                <a:latin typeface="Times New Roman" panose="02020603050405020304" pitchFamily="18" charset="0"/>
                <a:cs typeface="Times New Roman" panose="02020603050405020304" pitchFamily="18" charset="0"/>
              </a:rPr>
              <a:t> a central issue tracker improves delegation. For example, </a:t>
            </a:r>
            <a:r>
              <a:rPr lang="en-US" sz="2000" b="0" i="0" dirty="0">
                <a:solidFill>
                  <a:srgbClr val="FF0000"/>
                </a:solidFill>
                <a:effectLst/>
                <a:latin typeface="Times New Roman" panose="02020603050405020304" pitchFamily="18" charset="0"/>
                <a:cs typeface="Times New Roman" panose="02020603050405020304" pitchFamily="18" charset="0"/>
              </a:rPr>
              <a:t>if there’s a problem with your app’s UI, you can instantly assign the issue to the </a:t>
            </a:r>
            <a:r>
              <a:rPr lang="en-US" sz="2000" b="0" i="0" u="none" strike="noStrike" dirty="0">
                <a:solidFill>
                  <a:srgbClr val="FF0000"/>
                </a:solidFill>
                <a:effectLst/>
                <a:latin typeface="Times New Roman" panose="02020603050405020304" pitchFamily="18" charset="0"/>
                <a:cs typeface="Times New Roman" panose="02020603050405020304" pitchFamily="18" charset="0"/>
              </a:rPr>
              <a:t>design team</a:t>
            </a:r>
            <a:r>
              <a:rPr lang="en-US" sz="2000" b="0" i="0" dirty="0">
                <a:solidFill>
                  <a:srgbClr val="FF0000"/>
                </a:solidFill>
                <a:effectLst/>
                <a:latin typeface="Times New Roman" panose="02020603050405020304" pitchFamily="18" charset="0"/>
                <a:cs typeface="Times New Roman" panose="02020603050405020304" pitchFamily="18" charset="0"/>
              </a:rPr>
              <a:t>.</a:t>
            </a:r>
          </a:p>
          <a:p>
            <a:pPr marL="342900" indent="-342900" algn="just">
              <a:buFont typeface="Wingdings" panose="05000000000000000000" pitchFamily="2" charset="2"/>
              <a:buChar char="Ø"/>
            </a:pPr>
            <a:endParaRPr lang="en-US" sz="2000" b="0" i="0" dirty="0">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b="1" i="0" dirty="0">
                <a:effectLst/>
                <a:latin typeface="Times New Roman" panose="02020603050405020304" pitchFamily="18" charset="0"/>
                <a:cs typeface="Times New Roman" panose="02020603050405020304" pitchFamily="18" charset="0"/>
              </a:rPr>
              <a:t>Monitor actions related to every issue: </a:t>
            </a:r>
            <a:r>
              <a:rPr lang="en-US" sz="2000" b="0" i="0" dirty="0">
                <a:effectLst/>
                <a:latin typeface="Times New Roman" panose="02020603050405020304" pitchFamily="18" charset="0"/>
                <a:cs typeface="Times New Roman" panose="02020603050405020304" pitchFamily="18" charset="0"/>
              </a:rPr>
              <a:t>relevant teams can get real-time updates about every step taken to solve an issue, </a:t>
            </a:r>
            <a:r>
              <a:rPr lang="en-US" sz="2000" b="0" i="0" dirty="0">
                <a:solidFill>
                  <a:srgbClr val="FF0000"/>
                </a:solidFill>
                <a:effectLst/>
                <a:latin typeface="Times New Roman" panose="02020603050405020304" pitchFamily="18" charset="0"/>
                <a:cs typeface="Times New Roman" panose="02020603050405020304" pitchFamily="18" charset="0"/>
              </a:rPr>
              <a:t>so everyone is up-to-date on ongoing and solved bugs.</a:t>
            </a:r>
          </a:p>
          <a:p>
            <a:pPr marL="342900" indent="-342900" algn="just">
              <a:buFont typeface="Wingdings" panose="05000000000000000000" pitchFamily="2" charset="2"/>
              <a:buChar char="Ø"/>
            </a:pPr>
            <a:endParaRPr lang="en-US" sz="2000" b="0" i="0" dirty="0">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Improved information sharing: </a:t>
            </a:r>
            <a:r>
              <a:rPr lang="en-US" sz="2000" dirty="0">
                <a:latin typeface="Times New Roman" panose="02020603050405020304" pitchFamily="18" charset="0"/>
                <a:cs typeface="Times New Roman" panose="02020603050405020304" pitchFamily="18" charset="0"/>
              </a:rPr>
              <a:t>when every issue can be tracked at a single glance, </a:t>
            </a:r>
            <a:r>
              <a:rPr lang="en-US" sz="2000" dirty="0">
                <a:solidFill>
                  <a:srgbClr val="FF0000"/>
                </a:solidFill>
                <a:latin typeface="Times New Roman" panose="02020603050405020304" pitchFamily="18" charset="0"/>
                <a:cs typeface="Times New Roman" panose="02020603050405020304" pitchFamily="18" charset="0"/>
              </a:rPr>
              <a:t>client-facing teams can give users timely updates to show you’re working on a solution </a:t>
            </a:r>
            <a:r>
              <a:rPr lang="en-US" sz="2000" dirty="0">
                <a:latin typeface="Times New Roman" panose="02020603050405020304" pitchFamily="18" charset="0"/>
                <a:cs typeface="Times New Roman" panose="02020603050405020304" pitchFamily="18" charset="0"/>
              </a:rPr>
              <a:t>and, consequently, boost customer satisfaction</a:t>
            </a:r>
            <a:r>
              <a:rPr lang="en-US" sz="2000" b="1" dirty="0">
                <a:latin typeface="Times New Roman" panose="02020603050405020304" pitchFamily="18" charset="0"/>
                <a:cs typeface="Times New Roman" panose="02020603050405020304" pitchFamily="18" charset="0"/>
              </a:rPr>
              <a:t>.</a:t>
            </a:r>
          </a:p>
          <a:p>
            <a:pPr marL="342900" indent="-342900" algn="just">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Automated reminders: </a:t>
            </a:r>
            <a:r>
              <a:rPr lang="en-US" sz="2000" dirty="0">
                <a:latin typeface="Times New Roman" panose="02020603050405020304" pitchFamily="18" charset="0"/>
                <a:cs typeface="Times New Roman" panose="02020603050405020304" pitchFamily="18" charset="0"/>
              </a:rPr>
              <a:t>you can’t take forever to fix issues. Customers and clients have limited patience. A bug reporting system with automated reminders ensures you never miss a deadline.</a:t>
            </a:r>
          </a:p>
          <a:p>
            <a:pPr algn="just"/>
            <a:endParaRPr lang="en-US" sz="20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2000" dirty="0">
              <a:solidFill>
                <a:srgbClr val="212529"/>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2000" b="1" dirty="0">
              <a:solidFill>
                <a:srgbClr val="212529"/>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613912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Increased efficiency</a:t>
            </a:r>
            <a:r>
              <a:rPr lang="en-US" sz="2000" b="1" dirty="0">
                <a:solidFill>
                  <a:srgbClr val="212529"/>
                </a:solidFill>
                <a:latin typeface="Times New Roman" panose="02020603050405020304" pitchFamily="18" charset="0"/>
                <a:cs typeface="Times New Roman" panose="02020603050405020304" pitchFamily="18" charset="0"/>
              </a:rPr>
              <a:t>: </a:t>
            </a:r>
            <a:r>
              <a:rPr lang="en-US" sz="2000" dirty="0">
                <a:solidFill>
                  <a:srgbClr val="212529"/>
                </a:solidFill>
                <a:latin typeface="Times New Roman" panose="02020603050405020304" pitchFamily="18" charset="0"/>
                <a:cs typeface="Times New Roman" panose="02020603050405020304" pitchFamily="18" charset="0"/>
              </a:rPr>
              <a:t>a centralized issue tracker allows you to identify more effective methods used by other teams and implement these best practices in your team’s processes.</a:t>
            </a:r>
          </a:p>
          <a:p>
            <a:pPr algn="just">
              <a:buFont typeface="Wingdings" panose="05000000000000000000" pitchFamily="2" charset="2"/>
              <a:buChar char="Ø"/>
            </a:pPr>
            <a:endParaRPr lang="en-US" sz="2000" dirty="0">
              <a:solidFill>
                <a:srgbClr val="212529"/>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Better collaboration</a:t>
            </a:r>
            <a:r>
              <a:rPr lang="en-US" sz="2000" b="1" dirty="0">
                <a:solidFill>
                  <a:srgbClr val="212529"/>
                </a:solidFill>
                <a:latin typeface="Times New Roman" panose="02020603050405020304" pitchFamily="18" charset="0"/>
                <a:cs typeface="Times New Roman" panose="02020603050405020304" pitchFamily="18" charset="0"/>
              </a:rPr>
              <a:t>: </a:t>
            </a:r>
            <a:r>
              <a:rPr lang="en-US" sz="2000" dirty="0">
                <a:solidFill>
                  <a:srgbClr val="212529"/>
                </a:solidFill>
                <a:latin typeface="Times New Roman" panose="02020603050405020304" pitchFamily="18" charset="0"/>
                <a:cs typeface="Times New Roman" panose="02020603050405020304" pitchFamily="18" charset="0"/>
              </a:rPr>
              <a:t>software developers aren’t the only ones involved in fixing bugs. Customer service reps, the QA team, and any other relevant teams all have to pitch in. You can streamline this collaboration with dynamic bug tracking software.</a:t>
            </a:r>
          </a:p>
          <a:p>
            <a:pPr algn="just">
              <a:buFont typeface="Wingdings" panose="05000000000000000000" pitchFamily="2" charset="2"/>
              <a:buChar char="Ø"/>
            </a:pPr>
            <a:endParaRPr lang="en-US" sz="2000" dirty="0">
              <a:solidFill>
                <a:srgbClr val="212529"/>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You can keep track of every issue, regardless of the department or the nature of the problem</a:t>
            </a:r>
            <a:r>
              <a:rPr lang="en-US" sz="2000" dirty="0">
                <a:latin typeface="Times New Roman" panose="02020603050405020304" pitchFamily="18" charset="0"/>
                <a:cs typeface="Times New Roman" panose="02020603050405020304" pitchFamily="18" charset="0"/>
              </a:rPr>
              <a:t>:-</a:t>
            </a:r>
            <a:r>
              <a:rPr lang="en-US" sz="2000" dirty="0">
                <a:solidFill>
                  <a:srgbClr val="333333"/>
                </a:solidFill>
                <a:latin typeface="Times New Roman" panose="02020603050405020304" pitchFamily="18" charset="0"/>
                <a:cs typeface="Times New Roman" panose="02020603050405020304" pitchFamily="18" charset="0"/>
              </a:rPr>
              <a:t>An issue tracking system allows you to rapidly access answers and information and maintain a dashboard for tracking the history of issues and solutions. This makes creating reports, monitoring issues, and sharing information far easier.</a:t>
            </a:r>
          </a:p>
          <a:p>
            <a:pPr>
              <a:buFont typeface="Wingdings" panose="05000000000000000000" pitchFamily="2" charset="2"/>
              <a:buChar char="Ø"/>
            </a:pPr>
            <a:endParaRPr lang="en-US" sz="2000" dirty="0">
              <a:solidFill>
                <a:srgbClr val="333333"/>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You can monitor any action that has been taken on an issue</a:t>
            </a:r>
            <a:r>
              <a:rPr lang="en-US" sz="2000" b="1" dirty="0">
                <a:solidFill>
                  <a:srgbClr val="333333"/>
                </a:solidFill>
                <a:latin typeface="Times New Roman" panose="02020603050405020304" pitchFamily="18" charset="0"/>
                <a:cs typeface="Times New Roman" panose="02020603050405020304" pitchFamily="18" charset="0"/>
              </a:rPr>
              <a:t>:-</a:t>
            </a:r>
            <a:r>
              <a:rPr lang="en-US" sz="2000" dirty="0">
                <a:solidFill>
                  <a:srgbClr val="333333"/>
                </a:solidFill>
                <a:latin typeface="Times New Roman" panose="02020603050405020304" pitchFamily="18" charset="0"/>
                <a:cs typeface="Times New Roman" panose="02020603050405020304" pitchFamily="18" charset="0"/>
              </a:rPr>
              <a:t> Once an issue has been submitted, it’s important to stay track of who’s responsible for resolving it. </a:t>
            </a:r>
          </a:p>
          <a:p>
            <a:pPr marL="0" indent="0">
              <a:buNone/>
            </a:pPr>
            <a:r>
              <a:rPr lang="en-US" sz="2000" dirty="0">
                <a:solidFill>
                  <a:srgbClr val="333333"/>
                </a:solidFill>
                <a:latin typeface="Times New Roman" panose="02020603050405020304" pitchFamily="18" charset="0"/>
                <a:cs typeface="Times New Roman" panose="02020603050405020304" pitchFamily="18" charset="0"/>
              </a:rPr>
              <a:t>   If it needs to be escalated or dealt with by another department, the issue tracking software will show the status of the query and the project ‘ownership.’ A good issue tracking system will </a:t>
            </a:r>
            <a:r>
              <a:rPr lang="en-US" sz="2000" dirty="0">
                <a:solidFill>
                  <a:srgbClr val="FF0000"/>
                </a:solidFill>
                <a:latin typeface="Times New Roman" panose="02020603050405020304" pitchFamily="18" charset="0"/>
                <a:cs typeface="Times New Roman" panose="02020603050405020304" pitchFamily="18" charset="0"/>
              </a:rPr>
              <a:t>allow you to track any actions taken on an issue with a quick glance on a dashboard</a:t>
            </a:r>
            <a:r>
              <a:rPr lang="en-US" sz="2000" dirty="0">
                <a:solidFill>
                  <a:srgbClr val="333333"/>
                </a:solidFill>
                <a:latin typeface="Times New Roman" panose="02020603050405020304" pitchFamily="18" charset="0"/>
                <a:cs typeface="Times New Roman" panose="02020603050405020304" pitchFamily="18" charset="0"/>
              </a:rPr>
              <a:t>. Automated reminders and status updates keep everyone in the loop.</a:t>
            </a:r>
          </a:p>
          <a:p>
            <a:pPr marL="0" indent="0">
              <a:buNone/>
            </a:pPr>
            <a:endParaRPr lang="en-US" sz="2000" dirty="0">
              <a:solidFill>
                <a:srgbClr val="333333"/>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You can keep people informed about what has happened with each issue</a:t>
            </a:r>
            <a:r>
              <a:rPr lang="en-US" sz="2000" b="1" dirty="0">
                <a:solidFill>
                  <a:srgbClr val="333333"/>
                </a:solidFill>
                <a:latin typeface="Times New Roman" panose="02020603050405020304" pitchFamily="18" charset="0"/>
                <a:cs typeface="Times New Roman" panose="02020603050405020304" pitchFamily="18" charset="0"/>
              </a:rPr>
              <a:t>.</a:t>
            </a:r>
            <a:r>
              <a:rPr lang="en-US" sz="2000" dirty="0">
                <a:solidFill>
                  <a:srgbClr val="333333"/>
                </a:solidFill>
                <a:latin typeface="Times New Roman" panose="02020603050405020304" pitchFamily="18" charset="0"/>
                <a:cs typeface="Times New Roman" panose="02020603050405020304" pitchFamily="18" charset="0"/>
              </a:rPr>
              <a:t> This is key for customer satisfaction and business efficiency. The more issues there are, the more staff who could interact with the issue – all these factors mean that issues can easily become lost or confused. </a:t>
            </a:r>
          </a:p>
          <a:p>
            <a:pPr>
              <a:buFont typeface="Wingdings" panose="05000000000000000000" pitchFamily="2" charset="2"/>
              <a:buChar char="Ø"/>
            </a:pPr>
            <a:endParaRPr lang="en-US" sz="2000" dirty="0">
              <a:solidFill>
                <a:srgbClr val="333333"/>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2000" dirty="0">
              <a:solidFill>
                <a:srgbClr val="333333"/>
              </a:solidFill>
              <a:latin typeface="Times New Roman" panose="02020603050405020304" pitchFamily="18" charset="0"/>
              <a:cs typeface="Times New Roman" panose="02020603050405020304" pitchFamily="18" charset="0"/>
            </a:endParaRPr>
          </a:p>
          <a:p>
            <a:endParaRPr lang="en-US" sz="2000" dirty="0">
              <a:solidFill>
                <a:srgbClr val="212529"/>
              </a:solidFill>
              <a:latin typeface="Times New Roman" panose="02020603050405020304" pitchFamily="18" charset="0"/>
              <a:cs typeface="Times New Roman" panose="02020603050405020304" pitchFamily="18" charset="0"/>
            </a:endParaRPr>
          </a:p>
          <a:p>
            <a:endParaRPr lang="en-US" dirty="0">
              <a:solidFill>
                <a:srgbClr val="212529"/>
              </a:solidFill>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b="1" dirty="0">
              <a:solidFill>
                <a:srgbClr val="323338"/>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97168625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algn="just"/>
            <a:r>
              <a:rPr lang="en-US" sz="2000" dirty="0">
                <a:solidFill>
                  <a:srgbClr val="333333"/>
                </a:solidFill>
                <a:latin typeface="Times New Roman" panose="02020603050405020304" pitchFamily="18" charset="0"/>
                <a:cs typeface="Times New Roman" panose="02020603050405020304" pitchFamily="18" charset="0"/>
              </a:rPr>
              <a:t>An issue tracking system streamlines management </a:t>
            </a:r>
            <a:r>
              <a:rPr lang="en-US" sz="2000" dirty="0">
                <a:solidFill>
                  <a:srgbClr val="FF0000"/>
                </a:solidFill>
                <a:latin typeface="Times New Roman" panose="02020603050405020304" pitchFamily="18" charset="0"/>
                <a:cs typeface="Times New Roman" panose="02020603050405020304" pitchFamily="18" charset="0"/>
              </a:rPr>
              <a:t>for even the most complex issues, complaints, or special requests. </a:t>
            </a:r>
            <a:r>
              <a:rPr lang="en-US" sz="2000" dirty="0">
                <a:solidFill>
                  <a:srgbClr val="333333"/>
                </a:solidFill>
                <a:latin typeface="Times New Roman" panose="02020603050405020304" pitchFamily="18" charset="0"/>
                <a:cs typeface="Times New Roman" panose="02020603050405020304" pitchFamily="18" charset="0"/>
              </a:rPr>
              <a:t>People who know their requests and submissions have been understood and answered are far more likely to remain loyal customers or efficient, satisfied employees.</a:t>
            </a:r>
          </a:p>
          <a:p>
            <a:pPr algn="just"/>
            <a:r>
              <a:rPr lang="en-US" sz="2000" dirty="0">
                <a:solidFill>
                  <a:srgbClr val="FF0000"/>
                </a:solidFill>
                <a:latin typeface="Times New Roman" panose="02020603050405020304" pitchFamily="18" charset="0"/>
                <a:cs typeface="Times New Roman" panose="02020603050405020304" pitchFamily="18" charset="0"/>
              </a:rPr>
              <a:t>Issue tracking software systems are easy and intuitive – </a:t>
            </a:r>
            <a:r>
              <a:rPr lang="en-US" sz="2000" dirty="0">
                <a:solidFill>
                  <a:srgbClr val="333333"/>
                </a:solidFill>
                <a:latin typeface="Times New Roman" panose="02020603050405020304" pitchFamily="18" charset="0"/>
                <a:cs typeface="Times New Roman" panose="02020603050405020304" pitchFamily="18" charset="0"/>
              </a:rPr>
              <a:t>and a</a:t>
            </a:r>
            <a:r>
              <a:rPr lang="en-US" sz="2000" dirty="0">
                <a:solidFill>
                  <a:srgbClr val="FF0000"/>
                </a:solidFill>
                <a:latin typeface="Times New Roman" panose="02020603050405020304" pitchFamily="18" charset="0"/>
                <a:cs typeface="Times New Roman" panose="02020603050405020304" pitchFamily="18" charset="0"/>
              </a:rPr>
              <a:t>ffordable</a:t>
            </a:r>
            <a:r>
              <a:rPr lang="en-US" sz="2000" dirty="0">
                <a:solidFill>
                  <a:srgbClr val="333333"/>
                </a:solidFill>
                <a:latin typeface="Times New Roman" panose="02020603050405020304" pitchFamily="18" charset="0"/>
                <a:cs typeface="Times New Roman" panose="02020603050405020304" pitchFamily="18" charset="0"/>
              </a:rPr>
              <a:t>. </a:t>
            </a:r>
            <a:r>
              <a:rPr lang="en-US" sz="2000" dirty="0">
                <a:solidFill>
                  <a:srgbClr val="FF0000"/>
                </a:solidFill>
                <a:latin typeface="Times New Roman" panose="02020603050405020304" pitchFamily="18" charset="0"/>
                <a:cs typeface="Times New Roman" panose="02020603050405020304" pitchFamily="18" charset="0"/>
              </a:rPr>
              <a:t>Any organization can improve its bottom line, staff satisfaction and customer retention using issue tracking software.</a:t>
            </a:r>
            <a:endParaRPr lang="en-IN" sz="2000" dirty="0">
              <a:solidFill>
                <a:srgbClr val="FF0000"/>
              </a:solidFill>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p:txBody>
      </p:sp>
      <p:pic>
        <p:nvPicPr>
          <p:cNvPr id="4" name="Picture 4">
            <a:extLst>
              <a:ext uri="{FF2B5EF4-FFF2-40B4-BE49-F238E27FC236}">
                <a16:creationId xmlns:a16="http://schemas.microsoft.com/office/drawing/2014/main" id="{713040CE-C533-4CA0-B0AC-5EF7B687E1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82" y="1774209"/>
            <a:ext cx="12082817" cy="50837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42652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97766"/>
          </a:xfrm>
        </p:spPr>
        <p:txBody>
          <a:bodyPr>
            <a:normAutofit/>
          </a:bodyPr>
          <a:lstStyle/>
          <a:p>
            <a:r>
              <a:rPr lang="en-US" sz="3600" b="1" i="1" dirty="0">
                <a:solidFill>
                  <a:srgbClr val="FF0000"/>
                </a:solidFill>
                <a:latin typeface="Times New Roman" panose="02020603050405020304" pitchFamily="18" charset="0"/>
                <a:cs typeface="Times New Roman" panose="02020603050405020304" pitchFamily="18" charset="0"/>
              </a:rPr>
              <a:t>Some examples of workflows and issues </a:t>
            </a:r>
            <a:endParaRPr lang="en-IN" sz="3600" i="1" dirty="0">
              <a:solidFill>
                <a:srgbClr val="FF0000"/>
              </a:solidFill>
            </a:endParaRPr>
          </a:p>
        </p:txBody>
      </p:sp>
      <p:sp>
        <p:nvSpPr>
          <p:cNvPr id="3" name="Content Placeholder 2"/>
          <p:cNvSpPr>
            <a:spLocks noGrp="1"/>
          </p:cNvSpPr>
          <p:nvPr>
            <p:ph idx="1"/>
          </p:nvPr>
        </p:nvSpPr>
        <p:spPr>
          <a:xfrm>
            <a:off x="0" y="802043"/>
            <a:ext cx="12192000" cy="4351338"/>
          </a:xfrm>
        </p:spPr>
        <p:txBody>
          <a:bodyPr/>
          <a:lstStyle/>
          <a:p>
            <a:pPr>
              <a:lnSpc>
                <a:spcPct val="80000"/>
              </a:lnSpc>
              <a:buFont typeface="Wingdings" panose="05000000000000000000" pitchFamily="2" charset="2"/>
              <a:buChar char="v"/>
            </a:pPr>
            <a:r>
              <a:rPr lang="en-US" sz="2600" b="1" u="sng" dirty="0">
                <a:latin typeface="Times New Roman" panose="02020603050405020304" pitchFamily="18" charset="0"/>
                <a:ea typeface="ＭＳ Ｐゴシック" panose="020B0600070205080204" pitchFamily="34" charset="-128"/>
                <a:cs typeface="Times New Roman" panose="02020603050405020304" pitchFamily="18" charset="0"/>
              </a:rPr>
              <a:t>What is an </a:t>
            </a:r>
            <a:r>
              <a:rPr lang="en-US" altLang="en-US" sz="2600" b="1" u="sng" dirty="0">
                <a:latin typeface="Times New Roman" panose="02020603050405020304" pitchFamily="18" charset="0"/>
                <a:ea typeface="ＭＳ Ｐゴシック" panose="020B0600070205080204" pitchFamily="34" charset="-128"/>
                <a:cs typeface="Times New Roman" panose="02020603050405020304" pitchFamily="18" charset="0"/>
              </a:rPr>
              <a:t>“</a:t>
            </a:r>
            <a:r>
              <a:rPr lang="en-US" sz="2600" b="1" u="sng" dirty="0">
                <a:latin typeface="Times New Roman" panose="02020603050405020304" pitchFamily="18" charset="0"/>
                <a:ea typeface="ＭＳ Ｐゴシック" panose="020B0600070205080204" pitchFamily="34" charset="-128"/>
                <a:cs typeface="Times New Roman" panose="02020603050405020304" pitchFamily="18" charset="0"/>
              </a:rPr>
              <a:t>Issue</a:t>
            </a:r>
            <a:r>
              <a:rPr lang="en-US" altLang="en-US" sz="2600" b="1" u="sng" dirty="0">
                <a:latin typeface="Times New Roman" panose="02020603050405020304" pitchFamily="18" charset="0"/>
                <a:ea typeface="ＭＳ Ｐゴシック" panose="020B0600070205080204" pitchFamily="34" charset="-128"/>
                <a:cs typeface="Times New Roman" panose="02020603050405020304" pitchFamily="18" charset="0"/>
              </a:rPr>
              <a:t>”</a:t>
            </a:r>
            <a:r>
              <a:rPr lang="en-US" sz="2600" b="1" u="sng" dirty="0">
                <a:latin typeface="Times New Roman" panose="02020603050405020304" pitchFamily="18" charset="0"/>
                <a:ea typeface="ＭＳ Ｐゴシック" panose="020B0600070205080204" pitchFamily="34" charset="-128"/>
                <a:cs typeface="Times New Roman" panose="02020603050405020304" pitchFamily="18" charset="0"/>
              </a:rPr>
              <a:t>?</a:t>
            </a:r>
          </a:p>
          <a:p>
            <a:pPr>
              <a:lnSpc>
                <a:spcPct val="80000"/>
              </a:lnSpc>
            </a:pPr>
            <a:r>
              <a:rPr lang="en-US" sz="2100" dirty="0">
                <a:ea typeface="ＭＳ Ｐゴシック" panose="020B0600070205080204" pitchFamily="34" charset="-128"/>
              </a:rPr>
              <a:t>Any task that requires an action from a person</a:t>
            </a:r>
          </a:p>
          <a:p>
            <a:pPr marL="0" indent="0">
              <a:lnSpc>
                <a:spcPct val="80000"/>
              </a:lnSpc>
              <a:buNone/>
            </a:pPr>
            <a:endParaRPr lang="en-US" sz="2100" dirty="0">
              <a:ea typeface="ＭＳ Ｐゴシック" panose="020B0600070205080204" pitchFamily="34" charset="-128"/>
            </a:endParaRPr>
          </a:p>
          <a:p>
            <a:pPr>
              <a:lnSpc>
                <a:spcPct val="80000"/>
              </a:lnSpc>
              <a:buFont typeface="Wingdings" panose="05000000000000000000" pitchFamily="2" charset="2"/>
              <a:buChar char="v"/>
            </a:pPr>
            <a:r>
              <a:rPr lang="en-US" sz="2600" b="1" u="sng" dirty="0">
                <a:latin typeface="Times New Roman" panose="02020603050405020304" pitchFamily="18" charset="0"/>
                <a:ea typeface="ＭＳ Ｐゴシック" panose="020B0600070205080204" pitchFamily="34" charset="-128"/>
                <a:cs typeface="Times New Roman" panose="02020603050405020304" pitchFamily="18" charset="0"/>
              </a:rPr>
              <a:t>What is </a:t>
            </a:r>
            <a:r>
              <a:rPr lang="en-US" altLang="en-US" sz="2600" b="1" u="sng" dirty="0">
                <a:latin typeface="Times New Roman" panose="02020603050405020304" pitchFamily="18" charset="0"/>
                <a:ea typeface="ＭＳ Ｐゴシック" panose="020B0600070205080204" pitchFamily="34" charset="-128"/>
                <a:cs typeface="Times New Roman" panose="02020603050405020304" pitchFamily="18" charset="0"/>
              </a:rPr>
              <a:t>“</a:t>
            </a:r>
            <a:r>
              <a:rPr lang="en-US" sz="2600" b="1" u="sng" dirty="0">
                <a:latin typeface="Times New Roman" panose="02020603050405020304" pitchFamily="18" charset="0"/>
                <a:ea typeface="ＭＳ Ｐゴシック" panose="020B0600070205080204" pitchFamily="34" charset="-128"/>
                <a:cs typeface="Times New Roman" panose="02020603050405020304" pitchFamily="18" charset="0"/>
              </a:rPr>
              <a:t>Workflow</a:t>
            </a:r>
            <a:r>
              <a:rPr lang="en-US" altLang="en-US" sz="2600" b="1" u="sng" dirty="0">
                <a:latin typeface="Times New Roman" panose="02020603050405020304" pitchFamily="18" charset="0"/>
                <a:ea typeface="ＭＳ Ｐゴシック" panose="020B0600070205080204" pitchFamily="34" charset="-128"/>
                <a:cs typeface="Times New Roman" panose="02020603050405020304" pitchFamily="18" charset="0"/>
              </a:rPr>
              <a:t>”</a:t>
            </a:r>
            <a:r>
              <a:rPr lang="en-US" sz="2600" b="1" u="sng" dirty="0">
                <a:latin typeface="Times New Roman" panose="02020603050405020304" pitchFamily="18" charset="0"/>
                <a:ea typeface="ＭＳ Ｐゴシック" panose="020B0600070205080204" pitchFamily="34" charset="-128"/>
                <a:cs typeface="Times New Roman" panose="02020603050405020304" pitchFamily="18" charset="0"/>
              </a:rPr>
              <a:t>?</a:t>
            </a:r>
          </a:p>
          <a:p>
            <a:pPr>
              <a:lnSpc>
                <a:spcPct val="80000"/>
              </a:lnSpc>
            </a:pPr>
            <a:r>
              <a:rPr lang="en-US" sz="2000" dirty="0">
                <a:latin typeface="Times New Roman" panose="02020603050405020304" pitchFamily="18" charset="0"/>
                <a:ea typeface="ＭＳ Ｐゴシック" panose="020B0600070205080204" pitchFamily="34" charset="-128"/>
                <a:cs typeface="Times New Roman" panose="02020603050405020304" pitchFamily="18" charset="0"/>
              </a:rPr>
              <a:t>A workflow is some series of steps</a:t>
            </a:r>
          </a:p>
          <a:p>
            <a:pPr marL="0" indent="0">
              <a:lnSpc>
                <a:spcPct val="80000"/>
              </a:lnSpc>
              <a:buNone/>
            </a:pPr>
            <a:r>
              <a:rPr lang="en-US" sz="2000" dirty="0">
                <a:latin typeface="Times New Roman" panose="02020603050405020304" pitchFamily="18" charset="0"/>
                <a:ea typeface="ＭＳ Ｐゴシック" panose="020B0600070205080204" pitchFamily="34" charset="-128"/>
                <a:cs typeface="Times New Roman" panose="02020603050405020304" pitchFamily="18" charset="0"/>
              </a:rPr>
              <a:t> that need to be Carried out :</a:t>
            </a:r>
          </a:p>
          <a:p>
            <a:pPr algn="ctr">
              <a:lnSpc>
                <a:spcPct val="80000"/>
              </a:lnSpc>
              <a:buFont typeface="Wingdings" panose="05000000000000000000" pitchFamily="2" charset="2"/>
              <a:buChar char="v"/>
            </a:pPr>
            <a:endParaRPr lang="en-US" sz="2000" dirty="0">
              <a:latin typeface="Times New Roman" panose="02020603050405020304" pitchFamily="18" charset="0"/>
              <a:ea typeface="ＭＳ Ｐゴシック" panose="020B0600070205080204" pitchFamily="34" charset="-128"/>
              <a:cs typeface="Times New Roman" panose="02020603050405020304" pitchFamily="18" charset="0"/>
            </a:endParaRPr>
          </a:p>
          <a:p>
            <a:pPr lvl="1">
              <a:lnSpc>
                <a:spcPct val="80000"/>
              </a:lnSpc>
            </a:pPr>
            <a:endParaRPr lang="en-US" sz="2200" dirty="0">
              <a:ea typeface="ＭＳ Ｐゴシック" panose="020B0600070205080204" pitchFamily="34" charset="-128"/>
            </a:endParaRPr>
          </a:p>
          <a:p>
            <a:endParaRPr lang="en-IN"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0239" y="2104239"/>
            <a:ext cx="7042244" cy="3302760"/>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5" name="Rectangle 4"/>
          <p:cNvSpPr/>
          <p:nvPr/>
        </p:nvSpPr>
        <p:spPr>
          <a:xfrm>
            <a:off x="0" y="5660617"/>
            <a:ext cx="12192000" cy="923651"/>
          </a:xfrm>
          <a:prstGeom prst="rect">
            <a:avLst/>
          </a:prstGeom>
        </p:spPr>
        <p:txBody>
          <a:bodyPr wrap="square">
            <a:spAutoFit/>
          </a:bodyPr>
          <a:lstStyle/>
          <a:p>
            <a:pPr marL="342900" indent="-342900">
              <a:lnSpc>
                <a:spcPct val="80000"/>
              </a:lnSpc>
              <a:buFont typeface="Wingdings" panose="05000000000000000000" pitchFamily="2" charset="2"/>
              <a:buChar char="v"/>
            </a:pPr>
            <a:r>
              <a:rPr lang="en-US" sz="2400" b="1" dirty="0">
                <a:latin typeface="Times New Roman" panose="02020603050405020304" pitchFamily="18" charset="0"/>
                <a:ea typeface="ＭＳ Ｐゴシック" panose="020B0600070205080204" pitchFamily="34" charset="-128"/>
                <a:cs typeface="Times New Roman" panose="02020603050405020304" pitchFamily="18" charset="0"/>
              </a:rPr>
              <a:t>What are fields?</a:t>
            </a:r>
          </a:p>
          <a:p>
            <a:pPr marL="342900" indent="-342900">
              <a:lnSpc>
                <a:spcPct val="80000"/>
              </a:lnSpc>
              <a:buFont typeface="Wingdings" panose="05000000000000000000" pitchFamily="2" charset="2"/>
              <a:buChar char="v"/>
            </a:pPr>
            <a:endParaRPr lang="en-US" sz="2200" dirty="0">
              <a:ea typeface="ＭＳ Ｐゴシック" panose="020B0600070205080204" pitchFamily="34" charset="-128"/>
            </a:endParaRPr>
          </a:p>
          <a:p>
            <a:pPr marL="800100" lvl="1" indent="-342900">
              <a:lnSpc>
                <a:spcPct val="80000"/>
              </a:lnSpc>
              <a:buFont typeface="Arial" panose="020B0604020202020204" pitchFamily="34" charset="0"/>
              <a:buChar char="•"/>
            </a:pPr>
            <a:r>
              <a:rPr lang="en-US" sz="2100" dirty="0">
                <a:ea typeface="ＭＳ Ｐゴシック" panose="020B0600070205080204" pitchFamily="34" charset="-128"/>
              </a:rPr>
              <a:t>The attributes of an issue (Standard &amp; Custom)</a:t>
            </a:r>
          </a:p>
        </p:txBody>
      </p:sp>
    </p:spTree>
    <p:extLst>
      <p:ext uri="{BB962C8B-B14F-4D97-AF65-F5344CB8AC3E}">
        <p14:creationId xmlns:p14="http://schemas.microsoft.com/office/powerpoint/2010/main" val="18483988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0" y="0"/>
            <a:ext cx="12091916" cy="6858000"/>
          </a:xfrm>
          <a:prstGeom prst="rect">
            <a:avLst/>
          </a:prstGeom>
        </p:spPr>
      </p:pic>
    </p:spTree>
    <p:extLst>
      <p:ext uri="{BB962C8B-B14F-4D97-AF65-F5344CB8AC3E}">
        <p14:creationId xmlns:p14="http://schemas.microsoft.com/office/powerpoint/2010/main" val="21522589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r>
              <a:rPr lang="en-US" dirty="0">
                <a:solidFill>
                  <a:srgbClr val="000000"/>
                </a:solidFill>
                <a:latin typeface="Times New Roman" panose="02020603050405020304" pitchFamily="18" charset="0"/>
                <a:cs typeface="Times New Roman" panose="02020603050405020304" pitchFamily="18" charset="0"/>
              </a:rPr>
              <a:t>The terms "ticket" or "bug". Technically, they are the same thing. An issue might also represent a to-do item, enhancement request, or any other type of work item. </a:t>
            </a:r>
          </a:p>
          <a:p>
            <a:endParaRPr lang="en-US" dirty="0">
              <a:solidFill>
                <a:srgbClr val="000000"/>
              </a:solidFill>
              <a:latin typeface="Times New Roman" panose="02020603050405020304" pitchFamily="18" charset="0"/>
              <a:cs typeface="Times New Roman" panose="02020603050405020304" pitchFamily="18" charset="0"/>
            </a:endParaRPr>
          </a:p>
          <a:p>
            <a:r>
              <a:rPr lang="en-US" dirty="0">
                <a:solidFill>
                  <a:srgbClr val="000000"/>
                </a:solidFill>
                <a:latin typeface="Times New Roman" panose="02020603050405020304" pitchFamily="18" charset="0"/>
                <a:cs typeface="Times New Roman" panose="02020603050405020304" pitchFamily="18" charset="0"/>
              </a:rPr>
              <a:t>An issue has various metadata associated with it, depending on what it represents and what the issue tracker supports. The most basic type of issue is very simple, yet useful. </a:t>
            </a:r>
          </a:p>
          <a:p>
            <a:r>
              <a:rPr lang="en-US" u="sng" dirty="0">
                <a:solidFill>
                  <a:srgbClr val="000000"/>
                </a:solidFill>
                <a:latin typeface="Times New Roman" panose="02020603050405020304" pitchFamily="18" charset="0"/>
                <a:cs typeface="Times New Roman" panose="02020603050405020304" pitchFamily="18" charset="0"/>
              </a:rPr>
              <a:t>It has the following basic attributes: </a:t>
            </a:r>
            <a:endParaRPr lang="en-US" dirty="0">
              <a:solidFill>
                <a:srgbClr val="000000"/>
              </a:solidFill>
              <a:latin typeface="Times New Roman" panose="02020603050405020304" pitchFamily="18" charset="0"/>
              <a:cs typeface="Times New Roman" panose="02020603050405020304" pitchFamily="18" charset="0"/>
            </a:endParaRPr>
          </a:p>
          <a:p>
            <a:r>
              <a:rPr lang="en-US" b="1" dirty="0">
                <a:solidFill>
                  <a:srgbClr val="000000"/>
                </a:solidFill>
                <a:latin typeface="Times New Roman" panose="02020603050405020304" pitchFamily="18" charset="0"/>
                <a:cs typeface="Times New Roman" panose="02020603050405020304" pitchFamily="18" charset="0"/>
              </a:rPr>
              <a:t>Description</a:t>
            </a:r>
            <a:r>
              <a:rPr lang="en-US" dirty="0">
                <a:solidFill>
                  <a:srgbClr val="000000"/>
                </a:solidFill>
                <a:latin typeface="Times New Roman" panose="02020603050405020304" pitchFamily="18" charset="0"/>
                <a:cs typeface="Times New Roman" panose="02020603050405020304" pitchFamily="18" charset="0"/>
              </a:rPr>
              <a:t>: This is a free-form textual description of the issue </a:t>
            </a:r>
          </a:p>
          <a:p>
            <a:r>
              <a:rPr lang="en-US" b="1" dirty="0">
                <a:solidFill>
                  <a:srgbClr val="000000"/>
                </a:solidFill>
                <a:latin typeface="Times New Roman" panose="02020603050405020304" pitchFamily="18" charset="0"/>
                <a:cs typeface="Times New Roman" panose="02020603050405020304" pitchFamily="18" charset="0"/>
              </a:rPr>
              <a:t>Reporter</a:t>
            </a:r>
            <a:r>
              <a:rPr lang="en-US" dirty="0">
                <a:solidFill>
                  <a:srgbClr val="000000"/>
                </a:solidFill>
                <a:latin typeface="Times New Roman" panose="02020603050405020304" pitchFamily="18" charset="0"/>
                <a:cs typeface="Times New Roman" panose="02020603050405020304" pitchFamily="18" charset="0"/>
              </a:rPr>
              <a:t>: This represents the person who opened the issue </a:t>
            </a:r>
          </a:p>
          <a:p>
            <a:r>
              <a:rPr lang="en-US" b="1" dirty="0">
                <a:solidFill>
                  <a:srgbClr val="000000"/>
                </a:solidFill>
                <a:latin typeface="Times New Roman" panose="02020603050405020304" pitchFamily="18" charset="0"/>
                <a:cs typeface="Times New Roman" panose="02020603050405020304" pitchFamily="18" charset="0"/>
              </a:rPr>
              <a:t>Assigned</a:t>
            </a:r>
            <a:r>
              <a:rPr lang="en-US" dirty="0">
                <a:solidFill>
                  <a:srgbClr val="000000"/>
                </a:solidFill>
                <a:latin typeface="Times New Roman" panose="02020603050405020304" pitchFamily="18" charset="0"/>
                <a:cs typeface="Times New Roman" panose="02020603050405020304" pitchFamily="18" charset="0"/>
              </a:rPr>
              <a:t>: This is the person who should work on the item. </a:t>
            </a:r>
          </a:p>
          <a:p>
            <a:endParaRPr lang="en-IN" dirty="0"/>
          </a:p>
        </p:txBody>
      </p:sp>
    </p:spTree>
    <p:extLst>
      <p:ext uri="{BB962C8B-B14F-4D97-AF65-F5344CB8AC3E}">
        <p14:creationId xmlns:p14="http://schemas.microsoft.com/office/powerpoint/2010/main" val="61118689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a:buFont typeface="Wingdings" panose="05000000000000000000" pitchFamily="2" charset="2"/>
              <a:buChar char="q"/>
            </a:pPr>
            <a:r>
              <a:rPr lang="en-US" b="1" u="sng" dirty="0">
                <a:latin typeface="Times New Roman" panose="02020603050405020304" pitchFamily="18" charset="0"/>
                <a:cs typeface="Times New Roman" panose="02020603050405020304" pitchFamily="18" charset="0"/>
              </a:rPr>
              <a:t>States of an issue  representing the workflow:-</a:t>
            </a:r>
          </a:p>
          <a:p>
            <a:pPr algn="just"/>
            <a:r>
              <a:rPr lang="en-US" sz="2000" b="1" dirty="0">
                <a:latin typeface="Times New Roman" panose="02020603050405020304" pitchFamily="18" charset="0"/>
                <a:cs typeface="Times New Roman" panose="02020603050405020304" pitchFamily="18" charset="0"/>
              </a:rPr>
              <a:t>Open: </a:t>
            </a:r>
            <a:r>
              <a:rPr lang="en-US" sz="2000" dirty="0">
                <a:solidFill>
                  <a:srgbClr val="3A3A3A"/>
                </a:solidFill>
                <a:latin typeface="Times New Roman" panose="02020603050405020304" pitchFamily="18" charset="0"/>
                <a:cs typeface="Times New Roman" panose="02020603050405020304" pitchFamily="18" charset="0"/>
              </a:rPr>
              <a:t>Here, the developer starts the process of analyzing the defect and works on fixing it, if required.</a:t>
            </a:r>
          </a:p>
          <a:p>
            <a:pPr marL="0" indent="0" algn="just">
              <a:buNone/>
            </a:pPr>
            <a:endParaRPr lang="en-US" sz="2000" dirty="0">
              <a:solidFill>
                <a:srgbClr val="000000"/>
              </a:solidFill>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Closed:</a:t>
            </a:r>
            <a:r>
              <a:rPr lang="en-US" sz="2000" b="1" dirty="0">
                <a:solidFill>
                  <a:srgbClr val="FF6600"/>
                </a:solidFill>
                <a:latin typeface="Times New Roman" panose="02020603050405020304" pitchFamily="18" charset="0"/>
                <a:cs typeface="Times New Roman" panose="02020603050405020304" pitchFamily="18" charset="0"/>
              </a:rPr>
              <a:t> </a:t>
            </a:r>
            <a:r>
              <a:rPr lang="en-US" sz="2000" dirty="0">
                <a:solidFill>
                  <a:srgbClr val="3A3A3A"/>
                </a:solidFill>
                <a:latin typeface="Times New Roman" panose="02020603050405020304" pitchFamily="18" charset="0"/>
                <a:cs typeface="Times New Roman" panose="02020603050405020304" pitchFamily="18" charset="0"/>
              </a:rPr>
              <a:t>When the defect does not exist any longer, then the tester changes the status of the defect to “Closed”.</a:t>
            </a:r>
          </a:p>
          <a:p>
            <a:pPr marL="0" indent="0" algn="just">
              <a:buNone/>
            </a:pPr>
            <a:endParaRPr lang="en-US" sz="2000" b="1" dirty="0">
              <a:solidFill>
                <a:srgbClr val="3A3A3A"/>
              </a:solidFill>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Rejected: </a:t>
            </a:r>
            <a:r>
              <a:rPr lang="en-US" sz="2000" dirty="0">
                <a:solidFill>
                  <a:srgbClr val="3A3A3A"/>
                </a:solidFill>
                <a:latin typeface="Times New Roman" panose="02020603050405020304" pitchFamily="18" charset="0"/>
                <a:cs typeface="Times New Roman" panose="02020603050405020304" pitchFamily="18" charset="0"/>
              </a:rPr>
              <a:t>If the defect is not considered a genuine defect by the developer then it is marked as “Rejected” by the developer.</a:t>
            </a:r>
          </a:p>
          <a:p>
            <a:pPr marL="0" indent="0" algn="just">
              <a:buNone/>
            </a:pPr>
            <a:endParaRPr lang="en-US" sz="2000" dirty="0">
              <a:solidFill>
                <a:srgbClr val="3A3A3A"/>
              </a:solidFill>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Duplicate: </a:t>
            </a:r>
            <a:r>
              <a:rPr lang="en-US" sz="2000" dirty="0">
                <a:solidFill>
                  <a:srgbClr val="3A3A3A"/>
                </a:solidFill>
                <a:latin typeface="Times New Roman" panose="02020603050405020304" pitchFamily="18" charset="0"/>
                <a:cs typeface="Times New Roman" panose="02020603050405020304" pitchFamily="18" charset="0"/>
              </a:rPr>
              <a:t>If the developer finds the defect as same as any other defect or if the concept of the defect matches any other defect then the status of the defect is changed to ‘Duplicate’ by the developer.</a:t>
            </a:r>
          </a:p>
          <a:p>
            <a:pPr marL="0" indent="0" algn="just">
              <a:buNone/>
            </a:pPr>
            <a:endParaRPr lang="en-US" sz="2000" dirty="0">
              <a:solidFill>
                <a:srgbClr val="3A3A3A"/>
              </a:solidFill>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Deferred: </a:t>
            </a:r>
            <a:r>
              <a:rPr lang="en-US" sz="2000" dirty="0">
                <a:solidFill>
                  <a:srgbClr val="3A3A3A"/>
                </a:solidFill>
                <a:latin typeface="Times New Roman" panose="02020603050405020304" pitchFamily="18" charset="0"/>
                <a:cs typeface="Times New Roman" panose="02020603050405020304" pitchFamily="18" charset="0"/>
              </a:rPr>
              <a:t>If the developer feels that the defect is not of very important priority and it can get fixed in the next releases or so in such a case, he can change the status of the defect as ‘Deferred’.</a:t>
            </a:r>
          </a:p>
          <a:p>
            <a:pPr marL="0" indent="0" algn="just">
              <a:buNone/>
            </a:pPr>
            <a:endParaRPr lang="en-US" sz="2000" dirty="0">
              <a:solidFill>
                <a:srgbClr val="3A3A3A"/>
              </a:solidFill>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Not a Bug:</a:t>
            </a:r>
            <a:r>
              <a:rPr lang="en-US" sz="2000" b="1" dirty="0">
                <a:solidFill>
                  <a:srgbClr val="FF6600"/>
                </a:solidFill>
                <a:latin typeface="Times New Roman" panose="02020603050405020304" pitchFamily="18" charset="0"/>
                <a:cs typeface="Times New Roman" panose="02020603050405020304" pitchFamily="18" charset="0"/>
              </a:rPr>
              <a:t> </a:t>
            </a:r>
            <a:r>
              <a:rPr lang="en-US" sz="2000" dirty="0">
                <a:solidFill>
                  <a:srgbClr val="3A3A3A"/>
                </a:solidFill>
                <a:latin typeface="Times New Roman" panose="02020603050405020304" pitchFamily="18" charset="0"/>
                <a:cs typeface="Times New Roman" panose="02020603050405020304" pitchFamily="18" charset="0"/>
              </a:rPr>
              <a:t>If the defect does not have an impact on the functionality of the application, then the status of the defect gets changed to “Not a Bug”.</a:t>
            </a: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05800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a:buFont typeface="Wingdings" panose="05000000000000000000" pitchFamily="2" charset="2"/>
              <a:buChar char="v"/>
            </a:pPr>
            <a:r>
              <a:rPr lang="en-IN" sz="3500" b="1" u="sng" dirty="0">
                <a:latin typeface="Times New Roman" panose="02020603050405020304" pitchFamily="18" charset="0"/>
                <a:cs typeface="Times New Roman" panose="02020603050405020304" pitchFamily="18" charset="0"/>
              </a:rPr>
              <a:t>Other attributes of  an issue:-</a:t>
            </a:r>
            <a:endParaRPr lang="en-US" dirty="0">
              <a:solidFill>
                <a:srgbClr val="000000"/>
              </a:solidFill>
              <a:latin typeface="Times New Roman" panose="02020603050405020304" pitchFamily="18" charset="0"/>
              <a:cs typeface="Times New Roman" panose="02020603050405020304" pitchFamily="18" charset="0"/>
            </a:endParaRPr>
          </a:p>
          <a:p>
            <a:pPr algn="just"/>
            <a:r>
              <a:rPr lang="en-US" sz="2000" b="1" dirty="0">
                <a:solidFill>
                  <a:srgbClr val="FF0000"/>
                </a:solidFill>
                <a:latin typeface="Times New Roman" panose="02020603050405020304" pitchFamily="18" charset="0"/>
                <a:cs typeface="Times New Roman" panose="02020603050405020304" pitchFamily="18" charset="0"/>
              </a:rPr>
              <a:t>Due date</a:t>
            </a:r>
            <a:r>
              <a:rPr lang="en-US" sz="2000" dirty="0">
                <a:solidFill>
                  <a:srgbClr val="000000"/>
                </a:solidFill>
                <a:latin typeface="Times New Roman" panose="02020603050405020304" pitchFamily="18" charset="0"/>
                <a:cs typeface="Times New Roman" panose="02020603050405020304" pitchFamily="18" charset="0"/>
              </a:rPr>
              <a:t>: The date on which the </a:t>
            </a:r>
            <a:r>
              <a:rPr lang="en-US" sz="2000" dirty="0">
                <a:solidFill>
                  <a:srgbClr val="FF0000"/>
                </a:solidFill>
                <a:latin typeface="Times New Roman" panose="02020603050405020304" pitchFamily="18" charset="0"/>
                <a:cs typeface="Times New Roman" panose="02020603050405020304" pitchFamily="18" charset="0"/>
              </a:rPr>
              <a:t>issue is expected to be resolved. </a:t>
            </a:r>
          </a:p>
          <a:p>
            <a:pPr algn="just"/>
            <a:endParaRPr lang="en-US" sz="2000" dirty="0">
              <a:solidFill>
                <a:srgbClr val="000000"/>
              </a:solidFill>
              <a:latin typeface="Times New Roman" panose="02020603050405020304" pitchFamily="18" charset="0"/>
              <a:cs typeface="Times New Roman" panose="02020603050405020304" pitchFamily="18" charset="0"/>
            </a:endParaRPr>
          </a:p>
          <a:p>
            <a:pPr algn="just"/>
            <a:r>
              <a:rPr lang="en-US" sz="2000" b="1" dirty="0">
                <a:solidFill>
                  <a:srgbClr val="FF0000"/>
                </a:solidFill>
                <a:latin typeface="Times New Roman" panose="02020603050405020304" pitchFamily="18" charset="0"/>
                <a:cs typeface="Times New Roman" panose="02020603050405020304" pitchFamily="18" charset="0"/>
              </a:rPr>
              <a:t>Milestone</a:t>
            </a:r>
            <a:r>
              <a:rPr lang="en-US" sz="2000" dirty="0">
                <a:solidFill>
                  <a:srgbClr val="000000"/>
                </a:solidFill>
                <a:latin typeface="Times New Roman" panose="02020603050405020304" pitchFamily="18" charset="0"/>
                <a:cs typeface="Times New Roman" panose="02020603050405020304" pitchFamily="18" charset="0"/>
              </a:rPr>
              <a:t>: A milestone is a way to group issues together in useful work packages that are larger than a single issue. A milestone can represent the output from a Scrum sprint, for example. A milestone </a:t>
            </a:r>
            <a:r>
              <a:rPr lang="en-US" sz="2000" dirty="0">
                <a:solidFill>
                  <a:srgbClr val="FF0000"/>
                </a:solidFill>
                <a:latin typeface="Times New Roman" panose="02020603050405020304" pitchFamily="18" charset="0"/>
                <a:cs typeface="Times New Roman" panose="02020603050405020304" pitchFamily="18" charset="0"/>
              </a:rPr>
              <a:t>usually also has a due date</a:t>
            </a:r>
            <a:r>
              <a:rPr lang="en-US" sz="2000" dirty="0">
                <a:solidFill>
                  <a:srgbClr val="000000"/>
                </a:solidFill>
                <a:latin typeface="Times New Roman" panose="02020603050405020304" pitchFamily="18" charset="0"/>
                <a:cs typeface="Times New Roman" panose="02020603050405020304" pitchFamily="18" charset="0"/>
              </a:rPr>
              <a:t>, and if you use the milestone feature, the due dates on individual issues are normally not used. </a:t>
            </a:r>
          </a:p>
          <a:p>
            <a:pPr algn="just"/>
            <a:endParaRPr lang="en-US" sz="2000" dirty="0">
              <a:solidFill>
                <a:srgbClr val="000000"/>
              </a:solidFill>
              <a:latin typeface="Times New Roman" panose="02020603050405020304" pitchFamily="18" charset="0"/>
              <a:cs typeface="Times New Roman" panose="02020603050405020304" pitchFamily="18" charset="0"/>
            </a:endParaRPr>
          </a:p>
          <a:p>
            <a:pPr algn="just"/>
            <a:r>
              <a:rPr lang="en-US" sz="2000" b="1" dirty="0">
                <a:solidFill>
                  <a:srgbClr val="FF0000"/>
                </a:solidFill>
                <a:latin typeface="Times New Roman" panose="02020603050405020304" pitchFamily="18" charset="0"/>
                <a:cs typeface="Times New Roman" panose="02020603050405020304" pitchFamily="18" charset="0"/>
              </a:rPr>
              <a:t>Attachments</a:t>
            </a:r>
            <a:r>
              <a:rPr lang="en-US" sz="2000" dirty="0">
                <a:solidFill>
                  <a:srgbClr val="000000"/>
                </a:solidFill>
                <a:latin typeface="Times New Roman" panose="02020603050405020304" pitchFamily="18" charset="0"/>
                <a:cs typeface="Times New Roman" panose="02020603050405020304" pitchFamily="18" charset="0"/>
              </a:rPr>
              <a:t>: It might be convenient to be </a:t>
            </a:r>
            <a:r>
              <a:rPr lang="en-US" sz="2000" dirty="0">
                <a:solidFill>
                  <a:srgbClr val="FF0000"/>
                </a:solidFill>
                <a:latin typeface="Times New Roman" panose="02020603050405020304" pitchFamily="18" charset="0"/>
                <a:cs typeface="Times New Roman" panose="02020603050405020304" pitchFamily="18" charset="0"/>
              </a:rPr>
              <a:t>able to attach screenshots and documents to an issue</a:t>
            </a:r>
            <a:r>
              <a:rPr lang="en-US" sz="2000" dirty="0">
                <a:solidFill>
                  <a:srgbClr val="000000"/>
                </a:solidFill>
                <a:latin typeface="Times New Roman" panose="02020603050405020304" pitchFamily="18" charset="0"/>
                <a:cs typeface="Times New Roman" panose="02020603050405020304" pitchFamily="18" charset="0"/>
              </a:rPr>
              <a:t>, which might be </a:t>
            </a:r>
            <a:r>
              <a:rPr lang="en-US" sz="2000" dirty="0">
                <a:solidFill>
                  <a:srgbClr val="FF0000"/>
                </a:solidFill>
                <a:latin typeface="Times New Roman" panose="02020603050405020304" pitchFamily="18" charset="0"/>
                <a:cs typeface="Times New Roman" panose="02020603050405020304" pitchFamily="18" charset="0"/>
              </a:rPr>
              <a:t>useful for the developer </a:t>
            </a:r>
            <a:r>
              <a:rPr lang="en-US" sz="2000" dirty="0">
                <a:solidFill>
                  <a:srgbClr val="000000"/>
                </a:solidFill>
                <a:latin typeface="Times New Roman" panose="02020603050405020304" pitchFamily="18" charset="0"/>
                <a:cs typeface="Times New Roman" panose="02020603050405020304" pitchFamily="18" charset="0"/>
              </a:rPr>
              <a:t>working on the issue or </a:t>
            </a:r>
            <a:r>
              <a:rPr lang="en-US" sz="2000" dirty="0">
                <a:solidFill>
                  <a:srgbClr val="FF0000"/>
                </a:solidFill>
                <a:latin typeface="Times New Roman" panose="02020603050405020304" pitchFamily="18" charset="0"/>
                <a:cs typeface="Times New Roman" panose="02020603050405020304" pitchFamily="18" charset="0"/>
              </a:rPr>
              <a:t>the tester verifying it. </a:t>
            </a:r>
          </a:p>
          <a:p>
            <a:pPr algn="just"/>
            <a:endParaRPr lang="en-US" sz="2000" dirty="0">
              <a:solidFill>
                <a:srgbClr val="000000"/>
              </a:solidFill>
              <a:latin typeface="Times New Roman" panose="02020603050405020304" pitchFamily="18" charset="0"/>
              <a:cs typeface="Times New Roman" panose="02020603050405020304" pitchFamily="18" charset="0"/>
            </a:endParaRPr>
          </a:p>
          <a:p>
            <a:pPr algn="just"/>
            <a:r>
              <a:rPr lang="en-US" sz="2000" b="1" dirty="0">
                <a:solidFill>
                  <a:srgbClr val="FF0000"/>
                </a:solidFill>
                <a:latin typeface="Times New Roman" panose="02020603050405020304" pitchFamily="18" charset="0"/>
                <a:cs typeface="Times New Roman" panose="02020603050405020304" pitchFamily="18" charset="0"/>
              </a:rPr>
              <a:t>Work estimates</a:t>
            </a:r>
            <a:r>
              <a:rPr lang="en-US" sz="2000" dirty="0">
                <a:solidFill>
                  <a:srgbClr val="000000"/>
                </a:solidFill>
                <a:latin typeface="Times New Roman" panose="02020603050405020304" pitchFamily="18" charset="0"/>
                <a:cs typeface="Times New Roman" panose="02020603050405020304" pitchFamily="18" charset="0"/>
              </a:rPr>
              <a:t>: It can be useful to have an estimate of the expected work expenditure required to resolve the issue. This can be used for planning purposes. Likewise, a field with the actual time spent on the issue can also be useful for various calculations. </a:t>
            </a:r>
            <a:endParaRPr lang="en-IN" sz="2000" dirty="0"/>
          </a:p>
        </p:txBody>
      </p:sp>
    </p:spTree>
    <p:extLst>
      <p:ext uri="{BB962C8B-B14F-4D97-AF65-F5344CB8AC3E}">
        <p14:creationId xmlns:p14="http://schemas.microsoft.com/office/powerpoint/2010/main" val="65460416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559558"/>
          </a:xfrm>
        </p:spPr>
        <p:txBody>
          <a:bodyPr>
            <a:normAutofit fontScale="90000"/>
          </a:bodyPr>
          <a:lstStyle/>
          <a:p>
            <a:r>
              <a:rPr lang="en-IN" b="1" i="1" dirty="0">
                <a:solidFill>
                  <a:srgbClr val="FF0000"/>
                </a:solidFill>
                <a:latin typeface="Times New Roman" panose="02020603050405020304" pitchFamily="18" charset="0"/>
                <a:cs typeface="Times New Roman" panose="02020603050405020304" pitchFamily="18" charset="0"/>
              </a:rPr>
              <a:t>Jira </a:t>
            </a:r>
          </a:p>
        </p:txBody>
      </p:sp>
      <p:sp>
        <p:nvSpPr>
          <p:cNvPr id="3" name="Content Placeholder 2"/>
          <p:cNvSpPr>
            <a:spLocks noGrp="1"/>
          </p:cNvSpPr>
          <p:nvPr>
            <p:ph idx="1"/>
          </p:nvPr>
        </p:nvSpPr>
        <p:spPr>
          <a:xfrm>
            <a:off x="0" y="559558"/>
            <a:ext cx="12192000" cy="6298442"/>
          </a:xfrm>
        </p:spPr>
        <p:txBody>
          <a:bodyPr>
            <a:normAutofit fontScale="92500" lnSpcReduction="20000"/>
          </a:bodyPr>
          <a:lstStyle/>
          <a:p>
            <a:pPr algn="just"/>
            <a:r>
              <a:rPr lang="en-IN" sz="2000" b="1" dirty="0">
                <a:latin typeface="Times New Roman" panose="02020603050405020304" pitchFamily="18" charset="0"/>
                <a:cs typeface="Times New Roman" panose="02020603050405020304" pitchFamily="18" charset="0"/>
              </a:rPr>
              <a:t>JIRA</a:t>
            </a:r>
            <a:r>
              <a:rPr lang="en-IN" sz="2000" dirty="0">
                <a:latin typeface="Times New Roman" panose="02020603050405020304" pitchFamily="18" charset="0"/>
                <a:cs typeface="Times New Roman" panose="02020603050405020304" pitchFamily="18" charset="0"/>
              </a:rPr>
              <a:t> is a tool or a software used for </a:t>
            </a:r>
            <a:r>
              <a:rPr lang="en-IN" sz="2000" b="1" dirty="0">
                <a:latin typeface="Times New Roman" panose="02020603050405020304" pitchFamily="18" charset="0"/>
                <a:cs typeface="Times New Roman" panose="02020603050405020304" pitchFamily="18" charset="0"/>
              </a:rPr>
              <a:t>bug tracking, issue tracking,</a:t>
            </a:r>
            <a:r>
              <a:rPr lang="en-IN" sz="2000" dirty="0">
                <a:latin typeface="Times New Roman" panose="02020603050405020304" pitchFamily="18" charset="0"/>
                <a:cs typeface="Times New Roman" panose="02020603050405020304" pitchFamily="18" charset="0"/>
              </a:rPr>
              <a:t> and </a:t>
            </a:r>
            <a:r>
              <a:rPr lang="en-IN" sz="2000" b="1" dirty="0">
                <a:latin typeface="Times New Roman" panose="02020603050405020304" pitchFamily="18" charset="0"/>
                <a:cs typeface="Times New Roman" panose="02020603050405020304" pitchFamily="18" charset="0"/>
              </a:rPr>
              <a:t>project management</a:t>
            </a:r>
            <a:r>
              <a:rPr lang="en-IN" sz="2000" dirty="0">
                <a:latin typeface="Times New Roman" panose="02020603050405020304" pitchFamily="18" charset="0"/>
                <a:cs typeface="Times New Roman" panose="02020603050405020304" pitchFamily="18" charset="0"/>
              </a:rPr>
              <a:t>.</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The basic use of this tool is to </a:t>
            </a:r>
            <a:r>
              <a:rPr lang="en-IN" sz="2000" dirty="0">
                <a:solidFill>
                  <a:srgbClr val="FF0000"/>
                </a:solidFill>
                <a:latin typeface="Times New Roman" panose="02020603050405020304" pitchFamily="18" charset="0"/>
                <a:cs typeface="Times New Roman" panose="02020603050405020304" pitchFamily="18" charset="0"/>
              </a:rPr>
              <a:t>track issue and bugs related to your software and Mobile apps</a:t>
            </a:r>
            <a:r>
              <a:rPr lang="en-IN" sz="2000" dirty="0">
                <a:latin typeface="Times New Roman" panose="02020603050405020304" pitchFamily="18" charset="0"/>
                <a:cs typeface="Times New Roman" panose="02020603050405020304" pitchFamily="18" charset="0"/>
              </a:rPr>
              <a:t>. It is widely used as an </a:t>
            </a:r>
            <a:r>
              <a:rPr lang="en-IN" sz="2000" dirty="0">
                <a:solidFill>
                  <a:srgbClr val="FF0000"/>
                </a:solidFill>
                <a:latin typeface="Times New Roman" panose="02020603050405020304" pitchFamily="18" charset="0"/>
                <a:cs typeface="Times New Roman" panose="02020603050405020304" pitchFamily="18" charset="0"/>
              </a:rPr>
              <a:t>issue-tracking tool for all types of testing.</a:t>
            </a:r>
          </a:p>
          <a:p>
            <a:pPr marL="0" indent="0" algn="just">
              <a:buNone/>
            </a:pPr>
            <a:endParaRPr lang="en-IN" sz="2000" dirty="0">
              <a:solidFill>
                <a:srgbClr val="FF0000"/>
              </a:solidFill>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JIRA is </a:t>
            </a:r>
            <a:r>
              <a:rPr lang="en-IN" sz="2000" dirty="0">
                <a:solidFill>
                  <a:srgbClr val="FF0000"/>
                </a:solidFill>
                <a:latin typeface="Times New Roman" panose="02020603050405020304" pitchFamily="18" charset="0"/>
                <a:cs typeface="Times New Roman" panose="02020603050405020304" pitchFamily="18" charset="0"/>
              </a:rPr>
              <a:t>also a  project management tool</a:t>
            </a:r>
            <a:r>
              <a:rPr lang="en-IN" sz="2000" dirty="0">
                <a:latin typeface="Times New Roman" panose="02020603050405020304" pitchFamily="18" charset="0"/>
                <a:cs typeface="Times New Roman" panose="02020603050405020304" pitchFamily="18" charset="0"/>
              </a:rPr>
              <a:t>. JIRA is </a:t>
            </a:r>
            <a:r>
              <a:rPr lang="en-IN" sz="2000" dirty="0">
                <a:solidFill>
                  <a:srgbClr val="FF0000"/>
                </a:solidFill>
                <a:latin typeface="Times New Roman" panose="02020603050405020304" pitchFamily="18" charset="0"/>
                <a:cs typeface="Times New Roman" panose="02020603050405020304" pitchFamily="18" charset="0"/>
              </a:rPr>
              <a:t>mainly used by agile development teams to customize your workflows</a:t>
            </a:r>
            <a:r>
              <a:rPr lang="en-IN" sz="2000" dirty="0">
                <a:latin typeface="Times New Roman" panose="02020603050405020304" pitchFamily="18" charset="0"/>
                <a:cs typeface="Times New Roman" panose="02020603050405020304" pitchFamily="18" charset="0"/>
              </a:rPr>
              <a:t>, team collaboration, and release software with confidence.</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But today, Jira </a:t>
            </a:r>
            <a:r>
              <a:rPr lang="en-IN" sz="2000" dirty="0">
                <a:solidFill>
                  <a:srgbClr val="FF0000"/>
                </a:solidFill>
                <a:latin typeface="Times New Roman" panose="02020603050405020304" pitchFamily="18" charset="0"/>
                <a:cs typeface="Times New Roman" panose="02020603050405020304" pitchFamily="18" charset="0"/>
              </a:rPr>
              <a:t>has evolved into a powerful work management tool for all kinds of use cases</a:t>
            </a:r>
            <a:r>
              <a:rPr lang="en-IN" sz="2000" dirty="0">
                <a:latin typeface="Times New Roman" panose="02020603050405020304" pitchFamily="18" charset="0"/>
                <a:cs typeface="Times New Roman" panose="02020603050405020304" pitchFamily="18" charset="0"/>
              </a:rPr>
              <a:t>, </a:t>
            </a:r>
            <a:r>
              <a:rPr lang="en-IN" sz="2000" dirty="0">
                <a:solidFill>
                  <a:srgbClr val="FF0000"/>
                </a:solidFill>
                <a:latin typeface="Times New Roman" panose="02020603050405020304" pitchFamily="18" charset="0"/>
                <a:cs typeface="Times New Roman" panose="02020603050405020304" pitchFamily="18" charset="0"/>
              </a:rPr>
              <a:t>from requirements and test case management </a:t>
            </a:r>
            <a:r>
              <a:rPr lang="en-IN" sz="2000" dirty="0">
                <a:latin typeface="Times New Roman" panose="02020603050405020304" pitchFamily="18" charset="0"/>
                <a:cs typeface="Times New Roman" panose="02020603050405020304" pitchFamily="18" charset="0"/>
              </a:rPr>
              <a:t>to agile software development. </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The JIRA </a:t>
            </a:r>
            <a:r>
              <a:rPr lang="en-IN" sz="2000" dirty="0">
                <a:solidFill>
                  <a:srgbClr val="FF0000"/>
                </a:solidFill>
                <a:latin typeface="Times New Roman" panose="02020603050405020304" pitchFamily="18" charset="0"/>
                <a:cs typeface="Times New Roman" panose="02020603050405020304" pitchFamily="18" charset="0"/>
              </a:rPr>
              <a:t>dashboard consists of many useful functions and features </a:t>
            </a:r>
            <a:r>
              <a:rPr lang="en-IN" sz="2000" dirty="0">
                <a:latin typeface="Times New Roman" panose="02020603050405020304" pitchFamily="18" charset="0"/>
                <a:cs typeface="Times New Roman" panose="02020603050405020304" pitchFamily="18" charset="0"/>
              </a:rPr>
              <a:t>which make </a:t>
            </a:r>
            <a:r>
              <a:rPr lang="en-IN" sz="2000" dirty="0">
                <a:solidFill>
                  <a:srgbClr val="FF0000"/>
                </a:solidFill>
                <a:latin typeface="Times New Roman" panose="02020603050405020304" pitchFamily="18" charset="0"/>
                <a:cs typeface="Times New Roman" panose="02020603050405020304" pitchFamily="18" charset="0"/>
              </a:rPr>
              <a:t>handling of issues easy. </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Jira allows </a:t>
            </a:r>
            <a:r>
              <a:rPr lang="en-IN" sz="2000" dirty="0">
                <a:solidFill>
                  <a:srgbClr val="FF0000"/>
                </a:solidFill>
                <a:latin typeface="Times New Roman" panose="02020603050405020304" pitchFamily="18" charset="0"/>
                <a:cs typeface="Times New Roman" panose="02020603050405020304" pitchFamily="18" charset="0"/>
              </a:rPr>
              <a:t>teams to break down their work into easily manageable portions and assign them to the right people</a:t>
            </a:r>
            <a:r>
              <a:rPr lang="en-IN" sz="2000" dirty="0">
                <a:latin typeface="Times New Roman" panose="02020603050405020304" pitchFamily="18" charset="0"/>
                <a:cs typeface="Times New Roman" panose="02020603050405020304" pitchFamily="18" charset="0"/>
              </a:rPr>
              <a:t>. Teams can also </a:t>
            </a:r>
            <a:r>
              <a:rPr lang="en-IN" sz="2000" dirty="0">
                <a:solidFill>
                  <a:srgbClr val="FF0000"/>
                </a:solidFill>
                <a:latin typeface="Times New Roman" panose="02020603050405020304" pitchFamily="18" charset="0"/>
                <a:cs typeface="Times New Roman" panose="02020603050405020304" pitchFamily="18" charset="0"/>
              </a:rPr>
              <a:t>create a customized workflow for these projects to ensure they are done on time.</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000" u="sng" dirty="0">
                <a:latin typeface="Times New Roman" panose="02020603050405020304" pitchFamily="18" charset="0"/>
                <a:cs typeface="Times New Roman" panose="02020603050405020304" pitchFamily="18" charset="0"/>
              </a:rPr>
              <a:t>Its primary purpose  is to help you with the following:</a:t>
            </a:r>
          </a:p>
          <a:p>
            <a:pPr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Manage </a:t>
            </a:r>
            <a:r>
              <a:rPr lang="en-IN" sz="2000" dirty="0">
                <a:solidFill>
                  <a:srgbClr val="FF0000"/>
                </a:solidFill>
                <a:latin typeface="Times New Roman" panose="02020603050405020304" pitchFamily="18" charset="0"/>
                <a:cs typeface="Times New Roman" panose="02020603050405020304" pitchFamily="18" charset="0"/>
              </a:rPr>
              <a:t>Agile and Scrum teams</a:t>
            </a:r>
          </a:p>
          <a:p>
            <a:pPr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Organize </a:t>
            </a:r>
            <a:r>
              <a:rPr lang="en-IN" sz="2000" dirty="0">
                <a:solidFill>
                  <a:srgbClr val="FF0000"/>
                </a:solidFill>
                <a:latin typeface="Times New Roman" panose="02020603050405020304" pitchFamily="18" charset="0"/>
                <a:cs typeface="Times New Roman" panose="02020603050405020304" pitchFamily="18" charset="0"/>
              </a:rPr>
              <a:t>your project tasks</a:t>
            </a:r>
          </a:p>
          <a:p>
            <a:pPr algn="just">
              <a:buFont typeface="Wingdings" panose="05000000000000000000" pitchFamily="2" charset="2"/>
              <a:buChar char="Ø"/>
            </a:pPr>
            <a:r>
              <a:rPr lang="en-IN" sz="2000" dirty="0">
                <a:solidFill>
                  <a:srgbClr val="FF0000"/>
                </a:solidFill>
                <a:latin typeface="Times New Roman" panose="02020603050405020304" pitchFamily="18" charset="0"/>
                <a:cs typeface="Times New Roman" panose="02020603050405020304" pitchFamily="18" charset="0"/>
              </a:rPr>
              <a:t>Capture and record software bugs</a:t>
            </a:r>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41090772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4351338"/>
          </a:xfrm>
        </p:spPr>
        <p:txBody>
          <a:bodyPr/>
          <a:lstStyle/>
          <a:p>
            <a:pPr>
              <a:buFont typeface="Wingdings" panose="05000000000000000000" pitchFamily="2" charset="2"/>
              <a:buChar char="v"/>
            </a:pPr>
            <a:r>
              <a:rPr lang="en-IN" b="1" u="sng" dirty="0">
                <a:latin typeface="Times New Roman" panose="02020603050405020304" pitchFamily="18" charset="0"/>
                <a:cs typeface="Times New Roman" panose="02020603050405020304" pitchFamily="18" charset="0"/>
              </a:rPr>
              <a:t>Basics Of JIRA Tool</a:t>
            </a:r>
          </a:p>
          <a:p>
            <a:r>
              <a:rPr lang="en-IN" sz="2000" dirty="0">
                <a:latin typeface="Times New Roman" panose="02020603050405020304" pitchFamily="18" charset="0"/>
                <a:cs typeface="Times New Roman" panose="02020603050405020304" pitchFamily="18" charset="0"/>
              </a:rPr>
              <a:t>JIRA in its entirety is based on 3 concepts.</a:t>
            </a:r>
          </a:p>
          <a:p>
            <a:endParaRPr lang="en-IN" sz="2000" dirty="0">
              <a:latin typeface="Times New Roman" panose="02020603050405020304" pitchFamily="18" charset="0"/>
              <a:cs typeface="Times New Roman" panose="02020603050405020304" pitchFamily="18" charset="0"/>
            </a:endParaRPr>
          </a:p>
          <a:p>
            <a:endParaRPr lang="en-IN" b="1" dirty="0"/>
          </a:p>
          <a:p>
            <a:endParaRPr lang="en-IN" dirty="0"/>
          </a:p>
        </p:txBody>
      </p:sp>
      <p:pic>
        <p:nvPicPr>
          <p:cNvPr id="4" name="Picture 2" descr="Atlassian JIR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2448" y="989805"/>
            <a:ext cx="7629098" cy="309087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0" y="4351338"/>
            <a:ext cx="11996382" cy="2554545"/>
          </a:xfrm>
          <a:prstGeom prst="rect">
            <a:avLst/>
          </a:prstGeom>
        </p:spPr>
        <p:txBody>
          <a:bodyPr wrap="square">
            <a:spAutoFit/>
          </a:bodyPr>
          <a:lstStyle/>
          <a:p>
            <a:pPr algn="just"/>
            <a:r>
              <a:rPr lang="en-IN" sz="2000" b="1" dirty="0">
                <a:latin typeface="Times New Roman" panose="02020603050405020304" pitchFamily="18" charset="0"/>
                <a:cs typeface="Times New Roman" panose="02020603050405020304" pitchFamily="18" charset="0"/>
              </a:rPr>
              <a:t>Issue:</a:t>
            </a:r>
            <a:r>
              <a:rPr lang="en-IN" sz="2000" dirty="0">
                <a:latin typeface="Times New Roman" panose="02020603050405020304" pitchFamily="18" charset="0"/>
                <a:cs typeface="Times New Roman" panose="02020603050405020304" pitchFamily="18" charset="0"/>
              </a:rPr>
              <a:t> Every task, bug, enhancement request; basically anything to be created and tracked is considered an Issue.</a:t>
            </a:r>
          </a:p>
          <a:p>
            <a:pPr algn="just"/>
            <a:endParaRPr lang="en-IN" sz="2000"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Project: </a:t>
            </a:r>
            <a:r>
              <a:rPr lang="en-IN" sz="2000" dirty="0">
                <a:latin typeface="Times New Roman" panose="02020603050405020304" pitchFamily="18" charset="0"/>
                <a:cs typeface="Times New Roman" panose="02020603050405020304" pitchFamily="18" charset="0"/>
              </a:rPr>
              <a:t>A collection of activities  or tasks.</a:t>
            </a:r>
          </a:p>
          <a:p>
            <a:pPr algn="just"/>
            <a:endParaRPr lang="en-IN" sz="2000"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Workflow:</a:t>
            </a:r>
            <a:r>
              <a:rPr lang="en-IN" sz="2000" dirty="0">
                <a:latin typeface="Times New Roman" panose="02020603050405020304" pitchFamily="18" charset="0"/>
                <a:cs typeface="Times New Roman" panose="02020603050405020304" pitchFamily="18" charset="0"/>
              </a:rPr>
              <a:t> A workflow is simply the series of steps an issue goes through starting from creation to completion.</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Say the issue first gets created, goes to being worked on and when complete gets closed. </a:t>
            </a:r>
            <a:r>
              <a:rPr lang="en-IN" sz="2000" b="1" dirty="0">
                <a:latin typeface="Times New Roman" panose="02020603050405020304" pitchFamily="18" charset="0"/>
                <a:cs typeface="Times New Roman" panose="02020603050405020304" pitchFamily="18" charset="0"/>
              </a:rPr>
              <a:t>The workflow in this case is:</a:t>
            </a:r>
          </a:p>
        </p:txBody>
      </p:sp>
    </p:spTree>
    <p:extLst>
      <p:ext uri="{BB962C8B-B14F-4D97-AF65-F5344CB8AC3E}">
        <p14:creationId xmlns:p14="http://schemas.microsoft.com/office/powerpoint/2010/main" val="63547792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363564"/>
            <a:ext cx="12192000" cy="4494436"/>
          </a:xfrm>
        </p:spPr>
        <p:txBody>
          <a:bodyPr>
            <a:normAutofit/>
          </a:bodyPr>
          <a:lstStyle/>
          <a:p>
            <a:pPr>
              <a:buFont typeface="Wingdings" panose="05000000000000000000" pitchFamily="2" charset="2"/>
              <a:buChar char="v"/>
            </a:pPr>
            <a:r>
              <a:rPr lang="en-IN" b="1" u="sng" dirty="0">
                <a:latin typeface="Times New Roman" panose="02020603050405020304" pitchFamily="18" charset="0"/>
                <a:cs typeface="Times New Roman" panose="02020603050405020304" pitchFamily="18" charset="0"/>
              </a:rPr>
              <a:t>JIRA Issues and Issue types:</a:t>
            </a:r>
          </a:p>
          <a:p>
            <a:pPr>
              <a:buFont typeface="Wingdings" panose="05000000000000000000" pitchFamily="2" charset="2"/>
              <a:buChar char="q"/>
            </a:pPr>
            <a:r>
              <a:rPr lang="en-IN" sz="2200" b="1" dirty="0">
                <a:latin typeface="Times New Roman" panose="02020603050405020304" pitchFamily="18" charset="0"/>
                <a:cs typeface="Times New Roman" panose="02020603050405020304" pitchFamily="18" charset="0"/>
              </a:rPr>
              <a:t>What is JIRA Issue?</a:t>
            </a:r>
          </a:p>
          <a:p>
            <a:r>
              <a:rPr lang="en-IN" sz="2200" dirty="0">
                <a:latin typeface="Times New Roman" panose="02020603050405020304" pitchFamily="18" charset="0"/>
                <a:cs typeface="Times New Roman" panose="02020603050405020304" pitchFamily="18" charset="0"/>
              </a:rPr>
              <a:t>JIRA issue </a:t>
            </a:r>
            <a:r>
              <a:rPr lang="en-IN" sz="2200" dirty="0">
                <a:solidFill>
                  <a:srgbClr val="FF0000"/>
                </a:solidFill>
                <a:latin typeface="Times New Roman" panose="02020603050405020304" pitchFamily="18" charset="0"/>
                <a:cs typeface="Times New Roman" panose="02020603050405020304" pitchFamily="18" charset="0"/>
              </a:rPr>
              <a:t>would track bug or issue that underlies the project</a:t>
            </a:r>
            <a:r>
              <a:rPr lang="en-IN" sz="2200" dirty="0">
                <a:latin typeface="Times New Roman" panose="02020603050405020304" pitchFamily="18" charset="0"/>
                <a:cs typeface="Times New Roman" panose="02020603050405020304" pitchFamily="18" charset="0"/>
              </a:rPr>
              <a:t>. Once you have imported project then you can create issues.</a:t>
            </a:r>
          </a:p>
          <a:p>
            <a:r>
              <a:rPr lang="en-IN" sz="2200" dirty="0">
                <a:latin typeface="Times New Roman" panose="02020603050405020304" pitchFamily="18" charset="0"/>
                <a:cs typeface="Times New Roman" panose="02020603050405020304" pitchFamily="18" charset="0"/>
              </a:rPr>
              <a:t>Under Issues, you will find other useful features like</a:t>
            </a:r>
          </a:p>
          <a:p>
            <a:r>
              <a:rPr lang="en-IN" sz="2200" dirty="0">
                <a:latin typeface="Times New Roman" panose="02020603050405020304" pitchFamily="18" charset="0"/>
                <a:cs typeface="Times New Roman" panose="02020603050405020304" pitchFamily="18" charset="0"/>
              </a:rPr>
              <a:t>Issue Types</a:t>
            </a:r>
          </a:p>
          <a:p>
            <a:r>
              <a:rPr lang="en-IN" sz="2200" dirty="0">
                <a:latin typeface="Times New Roman" panose="02020603050405020304" pitchFamily="18" charset="0"/>
                <a:cs typeface="Times New Roman" panose="02020603050405020304" pitchFamily="18" charset="0"/>
              </a:rPr>
              <a:t>Workflow’s</a:t>
            </a:r>
          </a:p>
          <a:p>
            <a:r>
              <a:rPr lang="en-IN" sz="2200" dirty="0">
                <a:latin typeface="Times New Roman" panose="02020603050405020304" pitchFamily="18" charset="0"/>
                <a:cs typeface="Times New Roman" panose="02020603050405020304" pitchFamily="18" charset="0"/>
              </a:rPr>
              <a:t>Screens</a:t>
            </a:r>
          </a:p>
          <a:p>
            <a:r>
              <a:rPr lang="en-IN" sz="2200" dirty="0">
                <a:latin typeface="Times New Roman" panose="02020603050405020304" pitchFamily="18" charset="0"/>
                <a:cs typeface="Times New Roman" panose="02020603050405020304" pitchFamily="18" charset="0"/>
              </a:rPr>
              <a:t>Fields</a:t>
            </a:r>
          </a:p>
          <a:p>
            <a:r>
              <a:rPr lang="en-IN" sz="2200" dirty="0">
                <a:latin typeface="Times New Roman" panose="02020603050405020304" pitchFamily="18" charset="0"/>
                <a:cs typeface="Times New Roman" panose="02020603050405020304" pitchFamily="18" charset="0"/>
              </a:rPr>
              <a:t>Issue Attributes</a:t>
            </a:r>
          </a:p>
          <a:p>
            <a:endParaRPr lang="en-IN" dirty="0"/>
          </a:p>
        </p:txBody>
      </p:sp>
      <p:pic>
        <p:nvPicPr>
          <p:cNvPr id="4" name="Picture 3"/>
          <p:cNvPicPr>
            <a:picLocks noChangeAspect="1"/>
          </p:cNvPicPr>
          <p:nvPr/>
        </p:nvPicPr>
        <p:blipFill>
          <a:blip r:embed="rId2"/>
          <a:stretch>
            <a:fillRect/>
          </a:stretch>
        </p:blipFill>
        <p:spPr>
          <a:xfrm>
            <a:off x="3270131" y="68039"/>
            <a:ext cx="4505325" cy="2295525"/>
          </a:xfrm>
          <a:prstGeom prst="rect">
            <a:avLst/>
          </a:prstGeom>
        </p:spPr>
      </p:pic>
    </p:spTree>
    <p:extLst>
      <p:ext uri="{BB962C8B-B14F-4D97-AF65-F5344CB8AC3E}">
        <p14:creationId xmlns:p14="http://schemas.microsoft.com/office/powerpoint/2010/main" val="165799581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755642"/>
          </a:xfrm>
        </p:spPr>
        <p:txBody>
          <a:bodyPr>
            <a:normAutofit/>
          </a:bodyPr>
          <a:lstStyle/>
          <a:p>
            <a:pPr marL="0" indent="0">
              <a:buNone/>
            </a:pPr>
            <a:r>
              <a:rPr lang="en-IN" b="1" u="sng" dirty="0" err="1">
                <a:latin typeface="Times New Roman" panose="02020603050405020304" pitchFamily="18" charset="0"/>
                <a:cs typeface="Times New Roman" panose="02020603050405020304" pitchFamily="18" charset="0"/>
              </a:rPr>
              <a:t>i</a:t>
            </a:r>
            <a:r>
              <a:rPr lang="en-IN" b="1" u="sng" dirty="0">
                <a:latin typeface="Times New Roman" panose="02020603050405020304" pitchFamily="18" charset="0"/>
                <a:cs typeface="Times New Roman" panose="02020603050405020304" pitchFamily="18" charset="0"/>
              </a:rPr>
              <a:t>)</a:t>
            </a:r>
            <a:r>
              <a:rPr lang="en-IN" b="1" u="sng" dirty="0" err="1">
                <a:latin typeface="Times New Roman" panose="02020603050405020304" pitchFamily="18" charset="0"/>
                <a:cs typeface="Times New Roman" panose="02020603050405020304" pitchFamily="18" charset="0"/>
              </a:rPr>
              <a:t>Jira</a:t>
            </a:r>
            <a:r>
              <a:rPr lang="en-IN" b="1" u="sng" dirty="0">
                <a:latin typeface="Times New Roman" panose="02020603050405020304" pitchFamily="18" charset="0"/>
                <a:cs typeface="Times New Roman" panose="02020603050405020304" pitchFamily="18" charset="0"/>
              </a:rPr>
              <a:t> Issue Types</a:t>
            </a:r>
          </a:p>
          <a:p>
            <a:r>
              <a:rPr lang="en-IN" sz="2000" dirty="0">
                <a:latin typeface="Times New Roman" panose="02020603050405020304" pitchFamily="18" charset="0"/>
                <a:cs typeface="Times New Roman" panose="02020603050405020304" pitchFamily="18" charset="0"/>
              </a:rPr>
              <a:t>Issue Type displays all types of items that can be created and tracked via Jira testing tool. JIRA Issues are classified under various forms like new feature, sub-task, bug, etc. as shown in the screen shot.</a:t>
            </a:r>
          </a:p>
          <a:p>
            <a:endParaRPr lang="en-IN" sz="2000" dirty="0">
              <a:latin typeface="Times New Roman" panose="02020603050405020304" pitchFamily="18" charset="0"/>
              <a:cs typeface="Times New Roman" panose="02020603050405020304" pitchFamily="18" charset="0"/>
            </a:endParaRPr>
          </a:p>
        </p:txBody>
      </p:sp>
      <p:pic>
        <p:nvPicPr>
          <p:cNvPr id="4" name="Content Placeholder 3"/>
          <p:cNvPicPr>
            <a:picLocks noChangeAspect="1"/>
          </p:cNvPicPr>
          <p:nvPr/>
        </p:nvPicPr>
        <p:blipFill>
          <a:blip r:embed="rId2"/>
          <a:stretch>
            <a:fillRect/>
          </a:stretch>
        </p:blipFill>
        <p:spPr>
          <a:xfrm>
            <a:off x="518616" y="1214651"/>
            <a:ext cx="11245754" cy="5540991"/>
          </a:xfrm>
          <a:prstGeom prst="rect">
            <a:avLst/>
          </a:prstGeom>
        </p:spPr>
      </p:pic>
    </p:spTree>
    <p:extLst>
      <p:ext uri="{BB962C8B-B14F-4D97-AF65-F5344CB8AC3E}">
        <p14:creationId xmlns:p14="http://schemas.microsoft.com/office/powerpoint/2010/main" val="353303614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pPr algn="just"/>
            <a:r>
              <a:rPr lang="en-IN" sz="2000" dirty="0">
                <a:latin typeface="Times New Roman" panose="02020603050405020304" pitchFamily="18" charset="0"/>
                <a:cs typeface="Times New Roman" panose="02020603050405020304" pitchFamily="18" charset="0"/>
              </a:rPr>
              <a:t>There are two types of Issue types schemes in Jira project management tool, one is</a:t>
            </a:r>
          </a:p>
          <a:p>
            <a:pPr algn="just"/>
            <a:r>
              <a:rPr lang="en-IN" sz="2000" b="1" dirty="0">
                <a:latin typeface="Times New Roman" panose="02020603050405020304" pitchFamily="18" charset="0"/>
                <a:cs typeface="Times New Roman" panose="02020603050405020304" pitchFamily="18" charset="0"/>
              </a:rPr>
              <a:t>Default Issue Type Scheme: </a:t>
            </a:r>
            <a:r>
              <a:rPr lang="en-IN" sz="2000" dirty="0">
                <a:latin typeface="Times New Roman" panose="02020603050405020304" pitchFamily="18" charset="0"/>
                <a:cs typeface="Times New Roman" panose="02020603050405020304" pitchFamily="18" charset="0"/>
              </a:rPr>
              <a:t>In default issue type scheme all newly created issues will be added automatically to this scheme</a:t>
            </a:r>
          </a:p>
          <a:p>
            <a:pPr algn="just"/>
            <a:r>
              <a:rPr lang="en-IN" sz="2000" b="1" dirty="0">
                <a:latin typeface="Times New Roman" panose="02020603050405020304" pitchFamily="18" charset="0"/>
                <a:cs typeface="Times New Roman" panose="02020603050405020304" pitchFamily="18" charset="0"/>
              </a:rPr>
              <a:t>Agile Scrum Issue Type Scheme: </a:t>
            </a:r>
            <a:r>
              <a:rPr lang="en-IN" sz="2000" dirty="0">
                <a:latin typeface="Times New Roman" panose="02020603050405020304" pitchFamily="18" charset="0"/>
                <a:cs typeface="Times New Roman" panose="02020603050405020304" pitchFamily="18" charset="0"/>
              </a:rPr>
              <a:t>Issues and project associated with Agile Scrum will use this scheme</a:t>
            </a:r>
          </a:p>
          <a:p>
            <a:endParaRPr lang="en-IN" dirty="0"/>
          </a:p>
        </p:txBody>
      </p:sp>
      <p:pic>
        <p:nvPicPr>
          <p:cNvPr id="5" name="Picture 4"/>
          <p:cNvPicPr>
            <a:picLocks noChangeAspect="1"/>
          </p:cNvPicPr>
          <p:nvPr/>
        </p:nvPicPr>
        <p:blipFill>
          <a:blip r:embed="rId2"/>
          <a:stretch>
            <a:fillRect/>
          </a:stretch>
        </p:blipFill>
        <p:spPr>
          <a:xfrm>
            <a:off x="464024" y="1760561"/>
            <a:ext cx="11327641" cy="4926841"/>
          </a:xfrm>
          <a:prstGeom prst="rect">
            <a:avLst/>
          </a:prstGeom>
        </p:spPr>
      </p:pic>
    </p:spTree>
    <p:extLst>
      <p:ext uri="{BB962C8B-B14F-4D97-AF65-F5344CB8AC3E}">
        <p14:creationId xmlns:p14="http://schemas.microsoft.com/office/powerpoint/2010/main" val="43100411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marL="0" indent="0">
              <a:buNone/>
            </a:pPr>
            <a:r>
              <a:rPr lang="en-IN" sz="2400" b="1" dirty="0">
                <a:latin typeface="Times New Roman" panose="02020603050405020304" pitchFamily="18" charset="0"/>
                <a:cs typeface="Times New Roman" panose="02020603050405020304" pitchFamily="18" charset="0"/>
              </a:rPr>
              <a:t>ii)Issue fields</a:t>
            </a:r>
          </a:p>
          <a:p>
            <a:pPr algn="just"/>
            <a:r>
              <a:rPr lang="en-IN" sz="2000" dirty="0">
                <a:latin typeface="Times New Roman" panose="02020603050405020304" pitchFamily="18" charset="0"/>
                <a:cs typeface="Times New Roman" panose="02020603050405020304" pitchFamily="18" charset="0"/>
              </a:rPr>
              <a:t>Each issue </a:t>
            </a:r>
            <a:r>
              <a:rPr lang="en-IN" sz="2000" dirty="0">
                <a:solidFill>
                  <a:srgbClr val="FF0000"/>
                </a:solidFill>
                <a:latin typeface="Times New Roman" panose="02020603050405020304" pitchFamily="18" charset="0"/>
                <a:cs typeface="Times New Roman" panose="02020603050405020304" pitchFamily="18" charset="0"/>
              </a:rPr>
              <a:t>has a set of associated fields that describe it and its current state</a:t>
            </a:r>
            <a:r>
              <a:rPr lang="en-IN" sz="2000" dirty="0">
                <a:latin typeface="Times New Roman" panose="02020603050405020304" pitchFamily="18" charset="0"/>
                <a:cs typeface="Times New Roman" panose="02020603050405020304" pitchFamily="18" charset="0"/>
              </a:rPr>
              <a:t>. This includes </a:t>
            </a:r>
            <a:r>
              <a:rPr lang="en-IN" sz="2000" dirty="0">
                <a:solidFill>
                  <a:srgbClr val="FF0000"/>
                </a:solidFill>
                <a:latin typeface="Times New Roman" panose="02020603050405020304" pitchFamily="18" charset="0"/>
                <a:cs typeface="Times New Roman" panose="02020603050405020304" pitchFamily="18" charset="0"/>
              </a:rPr>
              <a:t>the type of issue</a:t>
            </a:r>
            <a:r>
              <a:rPr lang="en-IN" sz="2000" dirty="0">
                <a:latin typeface="Times New Roman" panose="02020603050405020304" pitchFamily="18" charset="0"/>
                <a:cs typeface="Times New Roman" panose="02020603050405020304" pitchFamily="18" charset="0"/>
              </a:rPr>
              <a:t>, its </a:t>
            </a:r>
            <a:r>
              <a:rPr lang="en-IN" sz="2000" dirty="0">
                <a:solidFill>
                  <a:srgbClr val="FF0000"/>
                </a:solidFill>
                <a:latin typeface="Times New Roman" panose="02020603050405020304" pitchFamily="18" charset="0"/>
                <a:cs typeface="Times New Roman" panose="02020603050405020304" pitchFamily="18" charset="0"/>
              </a:rPr>
              <a:t>importance in terms of severity </a:t>
            </a:r>
            <a:r>
              <a:rPr lang="en-IN" sz="2000" dirty="0">
                <a:latin typeface="Times New Roman" panose="02020603050405020304" pitchFamily="18" charset="0"/>
                <a:cs typeface="Times New Roman" panose="02020603050405020304" pitchFamily="18" charset="0"/>
              </a:rPr>
              <a:t>and </a:t>
            </a:r>
            <a:r>
              <a:rPr lang="en-IN" sz="2000" dirty="0">
                <a:solidFill>
                  <a:srgbClr val="FF0000"/>
                </a:solidFill>
                <a:latin typeface="Times New Roman" panose="02020603050405020304" pitchFamily="18" charset="0"/>
                <a:cs typeface="Times New Roman" panose="02020603050405020304" pitchFamily="18" charset="0"/>
              </a:rPr>
              <a:t>priority</a:t>
            </a:r>
            <a:r>
              <a:rPr lang="en-IN" sz="2000" dirty="0">
                <a:latin typeface="Times New Roman" panose="02020603050405020304" pitchFamily="18" charset="0"/>
                <a:cs typeface="Times New Roman" panose="02020603050405020304" pitchFamily="18" charset="0"/>
              </a:rPr>
              <a:t>, and the </a:t>
            </a:r>
            <a:r>
              <a:rPr lang="en-IN" sz="2000" dirty="0">
                <a:solidFill>
                  <a:srgbClr val="FF0000"/>
                </a:solidFill>
                <a:latin typeface="Times New Roman" panose="02020603050405020304" pitchFamily="18" charset="0"/>
                <a:cs typeface="Times New Roman" panose="02020603050405020304" pitchFamily="18" charset="0"/>
              </a:rPr>
              <a:t>record of activity on the issue.</a:t>
            </a:r>
          </a:p>
          <a:p>
            <a:pPr algn="just"/>
            <a:endParaRPr lang="en-IN" sz="2000" dirty="0">
              <a:latin typeface="Times New Roman" panose="02020603050405020304" pitchFamily="18" charset="0"/>
              <a:cs typeface="Times New Roman" panose="02020603050405020304" pitchFamily="18" charset="0"/>
            </a:endParaRPr>
          </a:p>
          <a:p>
            <a:pPr marL="0" indent="0" algn="just">
              <a:buNone/>
            </a:pPr>
            <a:r>
              <a:rPr lang="en-IN" sz="2000" b="1" dirty="0">
                <a:latin typeface="Times New Roman" panose="02020603050405020304" pitchFamily="18" charset="0"/>
                <a:cs typeface="Times New Roman" panose="02020603050405020304" pitchFamily="18" charset="0"/>
              </a:rPr>
              <a:t>iii) </a:t>
            </a:r>
            <a:r>
              <a:rPr lang="en-IN" sz="2400" b="1" dirty="0">
                <a:latin typeface="Times New Roman" panose="02020603050405020304" pitchFamily="18" charset="0"/>
                <a:cs typeface="Times New Roman" panose="02020603050405020304" pitchFamily="18" charset="0"/>
              </a:rPr>
              <a:t>JIRA Components</a:t>
            </a:r>
          </a:p>
          <a:p>
            <a:pPr algn="just"/>
            <a:r>
              <a:rPr lang="en-IN" sz="2000" b="1" dirty="0">
                <a:latin typeface="Times New Roman" panose="02020603050405020304" pitchFamily="18" charset="0"/>
                <a:cs typeface="Times New Roman" panose="02020603050405020304" pitchFamily="18" charset="0"/>
              </a:rPr>
              <a:t>Jira Components</a:t>
            </a:r>
            <a:r>
              <a:rPr lang="en-IN" sz="2000" dirty="0">
                <a:latin typeface="Times New Roman" panose="02020603050405020304" pitchFamily="18" charset="0"/>
                <a:cs typeface="Times New Roman" panose="02020603050405020304" pitchFamily="18" charset="0"/>
              </a:rPr>
              <a:t> are sub-sections of a project; they are used to group issues within a project into smaller parts. Components add some structures to the projects, breaking it up into features, teams, modules, subprojects and more. Using components you can generate reports, collect statistics, and display it on dashboards and so on.</a:t>
            </a:r>
          </a:p>
          <a:p>
            <a:pPr algn="just"/>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846162" y="2944930"/>
            <a:ext cx="10454184" cy="3913069"/>
          </a:xfrm>
          <a:prstGeom prst="rect">
            <a:avLst/>
          </a:prstGeom>
        </p:spPr>
      </p:pic>
    </p:spTree>
    <p:extLst>
      <p:ext uri="{BB962C8B-B14F-4D97-AF65-F5344CB8AC3E}">
        <p14:creationId xmlns:p14="http://schemas.microsoft.com/office/powerpoint/2010/main" val="311426400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pPr marL="0" indent="0">
              <a:buNone/>
            </a:pPr>
            <a:r>
              <a:rPr lang="en-IN" sz="2400" b="1" u="sng" dirty="0">
                <a:latin typeface="Times New Roman" panose="02020603050405020304" pitchFamily="18" charset="0"/>
                <a:cs typeface="Times New Roman" panose="02020603050405020304" pitchFamily="18" charset="0"/>
              </a:rPr>
              <a:t>iv)</a:t>
            </a:r>
            <a:r>
              <a:rPr lang="en-IN" sz="2400" b="1" u="sng" dirty="0" err="1">
                <a:latin typeface="Times New Roman" panose="02020603050405020304" pitchFamily="18" charset="0"/>
                <a:cs typeface="Times New Roman" panose="02020603050405020304" pitchFamily="18" charset="0"/>
              </a:rPr>
              <a:t>WorkFlows</a:t>
            </a:r>
            <a:endParaRPr lang="en-IN" sz="2400" b="1" u="sng"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A JIRA workflow is a set of statuses and transitions that an issue goes through during its lifecycle. JIRA workflow encompasses five main stages once the issue is created.</a:t>
            </a:r>
          </a:p>
          <a:p>
            <a:r>
              <a:rPr lang="en-IN" sz="2000" dirty="0">
                <a:latin typeface="Times New Roman" panose="02020603050405020304" pitchFamily="18" charset="0"/>
                <a:cs typeface="Times New Roman" panose="02020603050405020304" pitchFamily="18" charset="0"/>
              </a:rPr>
              <a:t>Open Issue</a:t>
            </a:r>
          </a:p>
          <a:p>
            <a:r>
              <a:rPr lang="en-IN" sz="2000" dirty="0">
                <a:latin typeface="Times New Roman" panose="02020603050405020304" pitchFamily="18" charset="0"/>
                <a:cs typeface="Times New Roman" panose="02020603050405020304" pitchFamily="18" charset="0"/>
              </a:rPr>
              <a:t>Resolved Issue</a:t>
            </a:r>
          </a:p>
          <a:p>
            <a:r>
              <a:rPr lang="en-IN" sz="2000" dirty="0" err="1">
                <a:latin typeface="Times New Roman" panose="02020603050405020304" pitchFamily="18" charset="0"/>
                <a:cs typeface="Times New Roman" panose="02020603050405020304" pitchFamily="18" charset="0"/>
              </a:rPr>
              <a:t>InProgress</a:t>
            </a:r>
            <a:r>
              <a:rPr lang="en-IN" sz="2000" dirty="0">
                <a:latin typeface="Times New Roman" panose="02020603050405020304" pitchFamily="18" charset="0"/>
                <a:cs typeface="Times New Roman" panose="02020603050405020304" pitchFamily="18" charset="0"/>
              </a:rPr>
              <a:t> Issue</a:t>
            </a:r>
          </a:p>
          <a:p>
            <a:r>
              <a:rPr lang="en-IN" sz="2000" dirty="0" err="1">
                <a:latin typeface="Times New Roman" panose="02020603050405020304" pitchFamily="18" charset="0"/>
                <a:cs typeface="Times New Roman" panose="02020603050405020304" pitchFamily="18" charset="0"/>
              </a:rPr>
              <a:t>ReOpened</a:t>
            </a:r>
            <a:r>
              <a:rPr lang="en-IN" sz="2000" dirty="0">
                <a:latin typeface="Times New Roman" panose="02020603050405020304" pitchFamily="18" charset="0"/>
                <a:cs typeface="Times New Roman" panose="02020603050405020304" pitchFamily="18" charset="0"/>
              </a:rPr>
              <a:t> Issue</a:t>
            </a:r>
          </a:p>
          <a:p>
            <a:r>
              <a:rPr lang="en-IN" sz="2000" dirty="0">
                <a:latin typeface="Times New Roman" panose="02020603050405020304" pitchFamily="18" charset="0"/>
                <a:cs typeface="Times New Roman" panose="02020603050405020304" pitchFamily="18" charset="0"/>
              </a:rPr>
              <a:t>Close Issue</a:t>
            </a:r>
          </a:p>
          <a:p>
            <a:endParaRPr lang="en-IN" dirty="0"/>
          </a:p>
        </p:txBody>
      </p:sp>
      <p:pic>
        <p:nvPicPr>
          <p:cNvPr id="4" name="Picture 3"/>
          <p:cNvPicPr>
            <a:picLocks noChangeAspect="1"/>
          </p:cNvPicPr>
          <p:nvPr/>
        </p:nvPicPr>
        <p:blipFill>
          <a:blip r:embed="rId2"/>
          <a:stretch>
            <a:fillRect/>
          </a:stretch>
        </p:blipFill>
        <p:spPr>
          <a:xfrm>
            <a:off x="2388358" y="1392072"/>
            <a:ext cx="9803641" cy="5254387"/>
          </a:xfrm>
          <a:prstGeom prst="rect">
            <a:avLst/>
          </a:prstGeom>
        </p:spPr>
      </p:pic>
    </p:spTree>
    <p:extLst>
      <p:ext uri="{BB962C8B-B14F-4D97-AF65-F5344CB8AC3E}">
        <p14:creationId xmlns:p14="http://schemas.microsoft.com/office/powerpoint/2010/main" val="90411668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algn="just"/>
            <a:r>
              <a:rPr lang="en-IN" sz="2000" dirty="0">
                <a:latin typeface="Times New Roman" panose="02020603050405020304" pitchFamily="18" charset="0"/>
                <a:cs typeface="Times New Roman" panose="02020603050405020304" pitchFamily="18" charset="0"/>
              </a:rPr>
              <a:t>While workflow in JIRA comprises of</a:t>
            </a:r>
            <a:r>
              <a:rPr lang="en-IN" sz="2000" b="1" dirty="0">
                <a:latin typeface="Times New Roman" panose="02020603050405020304" pitchFamily="18" charset="0"/>
                <a:cs typeface="Times New Roman" panose="02020603050405020304" pitchFamily="18" charset="0"/>
              </a:rPr>
              <a:t> Statuses, assignee, resolution, conditions, validators, post-function’s and properties</a:t>
            </a:r>
            <a:endParaRPr lang="en-IN" sz="2000"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Statuses: </a:t>
            </a:r>
            <a:r>
              <a:rPr lang="en-IN" sz="2000" dirty="0">
                <a:latin typeface="Times New Roman" panose="02020603050405020304" pitchFamily="18" charset="0"/>
                <a:cs typeface="Times New Roman" panose="02020603050405020304" pitchFamily="18" charset="0"/>
              </a:rPr>
              <a:t>It </a:t>
            </a:r>
            <a:r>
              <a:rPr lang="en-IN" sz="2000" dirty="0">
                <a:solidFill>
                  <a:srgbClr val="FF0000"/>
                </a:solidFill>
                <a:latin typeface="Times New Roman" panose="02020603050405020304" pitchFamily="18" charset="0"/>
                <a:cs typeface="Times New Roman" panose="02020603050405020304" pitchFamily="18" charset="0"/>
              </a:rPr>
              <a:t>represents the positions of the issues </a:t>
            </a:r>
            <a:r>
              <a:rPr lang="en-IN" sz="2000" dirty="0">
                <a:latin typeface="Times New Roman" panose="02020603050405020304" pitchFamily="18" charset="0"/>
                <a:cs typeface="Times New Roman" panose="02020603050405020304" pitchFamily="18" charset="0"/>
              </a:rPr>
              <a:t>within a workflow</a:t>
            </a:r>
          </a:p>
          <a:p>
            <a:pPr algn="just"/>
            <a:r>
              <a:rPr lang="en-IN" sz="2000" b="1" dirty="0">
                <a:latin typeface="Times New Roman" panose="02020603050405020304" pitchFamily="18" charset="0"/>
                <a:cs typeface="Times New Roman" panose="02020603050405020304" pitchFamily="18" charset="0"/>
              </a:rPr>
              <a:t>Transitions: </a:t>
            </a:r>
            <a:r>
              <a:rPr lang="en-IN" sz="2000" dirty="0">
                <a:latin typeface="Times New Roman" panose="02020603050405020304" pitchFamily="18" charset="0"/>
                <a:cs typeface="Times New Roman" panose="02020603050405020304" pitchFamily="18" charset="0"/>
              </a:rPr>
              <a:t>Transitions are the bridges between statuses, </a:t>
            </a:r>
            <a:r>
              <a:rPr lang="en-IN" sz="2000" dirty="0">
                <a:solidFill>
                  <a:srgbClr val="FF0000"/>
                </a:solidFill>
                <a:latin typeface="Times New Roman" panose="02020603050405020304" pitchFamily="18" charset="0"/>
                <a:cs typeface="Times New Roman" panose="02020603050405020304" pitchFamily="18" charset="0"/>
              </a:rPr>
              <a:t>the way a particular issue moves from one status to another</a:t>
            </a:r>
          </a:p>
          <a:p>
            <a:pPr algn="just"/>
            <a:r>
              <a:rPr lang="en-IN" sz="2000" b="1" dirty="0">
                <a:latin typeface="Times New Roman" panose="02020603050405020304" pitchFamily="18" charset="0"/>
                <a:cs typeface="Times New Roman" panose="02020603050405020304" pitchFamily="18" charset="0"/>
              </a:rPr>
              <a:t>Assignee: </a:t>
            </a:r>
            <a:r>
              <a:rPr lang="en-IN" sz="2000" dirty="0">
                <a:latin typeface="Times New Roman" panose="02020603050405020304" pitchFamily="18" charset="0"/>
                <a:cs typeface="Times New Roman" panose="02020603050405020304" pitchFamily="18" charset="0"/>
              </a:rPr>
              <a:t>The </a:t>
            </a:r>
            <a:r>
              <a:rPr lang="en-IN" sz="2000" dirty="0">
                <a:solidFill>
                  <a:srgbClr val="FF0000"/>
                </a:solidFill>
                <a:latin typeface="Times New Roman" panose="02020603050405020304" pitchFamily="18" charset="0"/>
                <a:cs typeface="Times New Roman" panose="02020603050405020304" pitchFamily="18" charset="0"/>
              </a:rPr>
              <a:t>assignee dictates the responsible party for any given issue </a:t>
            </a:r>
            <a:r>
              <a:rPr lang="en-IN" sz="2000" dirty="0">
                <a:latin typeface="Times New Roman" panose="02020603050405020304" pitchFamily="18" charset="0"/>
                <a:cs typeface="Times New Roman" panose="02020603050405020304" pitchFamily="18" charset="0"/>
              </a:rPr>
              <a:t>and determines how the task would be executed</a:t>
            </a:r>
          </a:p>
          <a:p>
            <a:pPr algn="just"/>
            <a:r>
              <a:rPr lang="en-IN" sz="2000" b="1" dirty="0">
                <a:latin typeface="Times New Roman" panose="02020603050405020304" pitchFamily="18" charset="0"/>
                <a:cs typeface="Times New Roman" panose="02020603050405020304" pitchFamily="18" charset="0"/>
              </a:rPr>
              <a:t>Resolution: </a:t>
            </a:r>
            <a:r>
              <a:rPr lang="en-IN" sz="2000" dirty="0">
                <a:latin typeface="Times New Roman" panose="02020603050405020304" pitchFamily="18" charset="0"/>
                <a:cs typeface="Times New Roman" panose="02020603050405020304" pitchFamily="18" charset="0"/>
              </a:rPr>
              <a:t>It explains </a:t>
            </a:r>
            <a:r>
              <a:rPr lang="en-IN" sz="2000" dirty="0">
                <a:solidFill>
                  <a:srgbClr val="FF0000"/>
                </a:solidFill>
                <a:latin typeface="Times New Roman" panose="02020603050405020304" pitchFamily="18" charset="0"/>
                <a:cs typeface="Times New Roman" panose="02020603050405020304" pitchFamily="18" charset="0"/>
              </a:rPr>
              <a:t>why an issue transitions from an open status to a closed one</a:t>
            </a:r>
          </a:p>
          <a:p>
            <a:pPr algn="just"/>
            <a:r>
              <a:rPr lang="en-IN" sz="2000" b="1" dirty="0">
                <a:latin typeface="Times New Roman" panose="02020603050405020304" pitchFamily="18" charset="0"/>
                <a:cs typeface="Times New Roman" panose="02020603050405020304" pitchFamily="18" charset="0"/>
              </a:rPr>
              <a:t>Conditions: </a:t>
            </a:r>
            <a:r>
              <a:rPr lang="en-IN" sz="2000" dirty="0">
                <a:latin typeface="Times New Roman" panose="02020603050405020304" pitchFamily="18" charset="0"/>
                <a:cs typeface="Times New Roman" panose="02020603050405020304" pitchFamily="18" charset="0"/>
              </a:rPr>
              <a:t>Conditions control who can perform a transition</a:t>
            </a:r>
          </a:p>
          <a:p>
            <a:pPr algn="just"/>
            <a:r>
              <a:rPr lang="en-IN" sz="2000" b="1" dirty="0">
                <a:latin typeface="Times New Roman" panose="02020603050405020304" pitchFamily="18" charset="0"/>
                <a:cs typeface="Times New Roman" panose="02020603050405020304" pitchFamily="18" charset="0"/>
              </a:rPr>
              <a:t>Validators: </a:t>
            </a:r>
            <a:r>
              <a:rPr lang="en-IN" sz="2000" dirty="0">
                <a:latin typeface="Times New Roman" panose="02020603050405020304" pitchFamily="18" charset="0"/>
                <a:cs typeface="Times New Roman" panose="02020603050405020304" pitchFamily="18" charset="0"/>
              </a:rPr>
              <a:t>It can ensure that the transition can happen given the state of the issue</a:t>
            </a:r>
          </a:p>
          <a:p>
            <a:pPr algn="just"/>
            <a:r>
              <a:rPr lang="en-IN" sz="2000" dirty="0">
                <a:latin typeface="Times New Roman" panose="02020603050405020304" pitchFamily="18" charset="0"/>
                <a:cs typeface="Times New Roman" panose="02020603050405020304" pitchFamily="18" charset="0"/>
              </a:rPr>
              <a:t>You </a:t>
            </a:r>
            <a:r>
              <a:rPr lang="en-IN" sz="2000" dirty="0">
                <a:solidFill>
                  <a:srgbClr val="FF0000"/>
                </a:solidFill>
                <a:latin typeface="Times New Roman" panose="02020603050405020304" pitchFamily="18" charset="0"/>
                <a:cs typeface="Times New Roman" panose="02020603050405020304" pitchFamily="18" charset="0"/>
              </a:rPr>
              <a:t>can assign the status of the issue from the window itself</a:t>
            </a:r>
            <a:r>
              <a:rPr lang="en-IN" sz="2000" dirty="0">
                <a:latin typeface="Times New Roman" panose="02020603050405020304" pitchFamily="18" charset="0"/>
                <a:cs typeface="Times New Roman" panose="02020603050405020304" pitchFamily="18" charset="0"/>
              </a:rPr>
              <a:t>, when you click on the check box for </a:t>
            </a:r>
            <a:r>
              <a:rPr lang="en-IN" sz="2000" b="1" dirty="0">
                <a:latin typeface="Times New Roman" panose="02020603050405020304" pitchFamily="18" charset="0"/>
                <a:cs typeface="Times New Roman" panose="02020603050405020304" pitchFamily="18" charset="0"/>
              </a:rPr>
              <a:t>IN Progress</a:t>
            </a:r>
            <a:r>
              <a:rPr lang="en-IN" sz="2000" dirty="0">
                <a:latin typeface="Times New Roman" panose="02020603050405020304" pitchFamily="18" charset="0"/>
                <a:cs typeface="Times New Roman" panose="02020603050405020304" pitchFamily="18" charset="0"/>
              </a:rPr>
              <a:t> status as shown in screen shot below, it will reflect the status in the issue panel highlighted in yellow.</a:t>
            </a:r>
          </a:p>
          <a:p>
            <a:endParaRPr lang="en-IN" dirty="0"/>
          </a:p>
        </p:txBody>
      </p:sp>
      <p:pic>
        <p:nvPicPr>
          <p:cNvPr id="4" name="Content Placeholder 3"/>
          <p:cNvPicPr>
            <a:picLocks noChangeAspect="1"/>
          </p:cNvPicPr>
          <p:nvPr/>
        </p:nvPicPr>
        <p:blipFill>
          <a:blip r:embed="rId2"/>
          <a:stretch>
            <a:fillRect/>
          </a:stretch>
        </p:blipFill>
        <p:spPr>
          <a:xfrm>
            <a:off x="1735255" y="4339989"/>
            <a:ext cx="8039100" cy="2518012"/>
          </a:xfrm>
          <a:prstGeom prst="rect">
            <a:avLst/>
          </a:prstGeom>
        </p:spPr>
      </p:pic>
    </p:spTree>
    <p:extLst>
      <p:ext uri="{BB962C8B-B14F-4D97-AF65-F5344CB8AC3E}">
        <p14:creationId xmlns:p14="http://schemas.microsoft.com/office/powerpoint/2010/main" val="157017284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696036" y="232012"/>
            <a:ext cx="10849970" cy="6114197"/>
          </a:xfrm>
          <a:prstGeom prst="rect">
            <a:avLst/>
          </a:prstGeom>
        </p:spPr>
      </p:pic>
    </p:spTree>
    <p:extLst>
      <p:ext uri="{BB962C8B-B14F-4D97-AF65-F5344CB8AC3E}">
        <p14:creationId xmlns:p14="http://schemas.microsoft.com/office/powerpoint/2010/main" val="16895818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pPr marL="0" indent="0">
              <a:buNone/>
            </a:pPr>
            <a:r>
              <a:rPr lang="en-IN" sz="2400" b="1" dirty="0">
                <a:latin typeface="Times New Roman" panose="02020603050405020304" pitchFamily="18" charset="0"/>
                <a:cs typeface="Times New Roman" panose="02020603050405020304" pitchFamily="18" charset="0"/>
              </a:rPr>
              <a:t>v)JIRA Screen</a:t>
            </a:r>
          </a:p>
          <a:p>
            <a:pPr algn="just"/>
            <a:r>
              <a:rPr lang="en-IN" sz="2000" dirty="0">
                <a:latin typeface="Times New Roman" panose="02020603050405020304" pitchFamily="18" charset="0"/>
                <a:cs typeface="Times New Roman" panose="02020603050405020304" pitchFamily="18" charset="0"/>
              </a:rPr>
              <a:t>When issue is created in JIRA, it will be arranged and represented into different fields, this display of field in JIRA is known as a screen. This field can be transitioned and edited through workflow. For each issue, you can assign the screen type as shown in the screen-shot. To add or associate an issue operation with a screen you have to go in main menu and click on Issues then click on Screen Schemes and then click on “Associate an issue operation with a screen” and add the screen according to the requirement. </a:t>
            </a:r>
          </a:p>
          <a:p>
            <a:endParaRPr lang="en-IN" dirty="0"/>
          </a:p>
        </p:txBody>
      </p:sp>
      <p:pic>
        <p:nvPicPr>
          <p:cNvPr id="4" name="Picture 3"/>
          <p:cNvPicPr>
            <a:picLocks noChangeAspect="1"/>
          </p:cNvPicPr>
          <p:nvPr/>
        </p:nvPicPr>
        <p:blipFill>
          <a:blip r:embed="rId3"/>
          <a:stretch>
            <a:fillRect/>
          </a:stretch>
        </p:blipFill>
        <p:spPr>
          <a:xfrm>
            <a:off x="1255595" y="1941666"/>
            <a:ext cx="9799092" cy="2854232"/>
          </a:xfrm>
          <a:prstGeom prst="rect">
            <a:avLst/>
          </a:prstGeom>
        </p:spPr>
      </p:pic>
      <p:sp>
        <p:nvSpPr>
          <p:cNvPr id="5" name="Rectangle 4"/>
          <p:cNvSpPr/>
          <p:nvPr/>
        </p:nvSpPr>
        <p:spPr>
          <a:xfrm>
            <a:off x="0" y="4919008"/>
            <a:ext cx="12211263" cy="1815882"/>
          </a:xfrm>
          <a:prstGeom prst="rect">
            <a:avLst/>
          </a:prstGeom>
        </p:spPr>
        <p:txBody>
          <a:bodyPr wrap="square">
            <a:spAutoFit/>
          </a:bodyPr>
          <a:lstStyle/>
          <a:p>
            <a:r>
              <a:rPr lang="en-IN" sz="2400" b="1" u="sng" dirty="0">
                <a:latin typeface="Times New Roman" panose="02020603050405020304" pitchFamily="18" charset="0"/>
                <a:cs typeface="Times New Roman" panose="02020603050405020304" pitchFamily="18" charset="0"/>
              </a:rPr>
              <a:t>vi) Jira Issue Attributes</a:t>
            </a:r>
          </a:p>
          <a:p>
            <a:pPr marL="28575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Issue Attributes encompasses</a:t>
            </a:r>
          </a:p>
          <a:p>
            <a:pPr marL="285750" indent="-285750">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Statuses</a:t>
            </a:r>
          </a:p>
          <a:p>
            <a:pPr marL="285750" indent="-285750">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Resolutions</a:t>
            </a:r>
          </a:p>
          <a:p>
            <a:pPr marL="285750" indent="-285750">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Priorities</a:t>
            </a:r>
          </a:p>
        </p:txBody>
      </p:sp>
    </p:spTree>
    <p:extLst>
      <p:ext uri="{BB962C8B-B14F-4D97-AF65-F5344CB8AC3E}">
        <p14:creationId xmlns:p14="http://schemas.microsoft.com/office/powerpoint/2010/main" val="417014494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4351338"/>
          </a:xfrm>
        </p:spPr>
        <p:txBody>
          <a:bodyPr>
            <a:normAutofit/>
          </a:bodyPr>
          <a:lstStyle/>
          <a:p>
            <a:pPr algn="just"/>
            <a:r>
              <a:rPr lang="en-IN" sz="2000" dirty="0">
                <a:latin typeface="Times New Roman" panose="02020603050405020304" pitchFamily="18" charset="0"/>
                <a:cs typeface="Times New Roman" panose="02020603050405020304" pitchFamily="18" charset="0"/>
              </a:rPr>
              <a:t>Statuses: Different statuses are used to indicate the progress of a project like </a:t>
            </a:r>
            <a:r>
              <a:rPr lang="en-IN" sz="2000" b="1" dirty="0">
                <a:latin typeface="Times New Roman" panose="02020603050405020304" pitchFamily="18" charset="0"/>
                <a:cs typeface="Times New Roman" panose="02020603050405020304" pitchFamily="18" charset="0"/>
              </a:rPr>
              <a:t>To do, </a:t>
            </a:r>
            <a:r>
              <a:rPr lang="en-IN" sz="2000" b="1" dirty="0" err="1">
                <a:latin typeface="Times New Roman" panose="02020603050405020304" pitchFamily="18" charset="0"/>
                <a:cs typeface="Times New Roman" panose="02020603050405020304" pitchFamily="18" charset="0"/>
              </a:rPr>
              <a:t>InProgress</a:t>
            </a:r>
            <a:r>
              <a:rPr lang="en-IN" sz="2000" b="1" dirty="0">
                <a:latin typeface="Times New Roman" panose="02020603050405020304" pitchFamily="18" charset="0"/>
                <a:cs typeface="Times New Roman" panose="02020603050405020304" pitchFamily="18" charset="0"/>
              </a:rPr>
              <a:t>, Open, Closed, </a:t>
            </a:r>
            <a:r>
              <a:rPr lang="en-IN" sz="2000" b="1" dirty="0" err="1">
                <a:latin typeface="Times New Roman" panose="02020603050405020304" pitchFamily="18" charset="0"/>
                <a:cs typeface="Times New Roman" panose="02020603050405020304" pitchFamily="18" charset="0"/>
              </a:rPr>
              <a:t>ReOpened</a:t>
            </a:r>
            <a:r>
              <a:rPr lang="en-IN" sz="2000" b="1" dirty="0">
                <a:latin typeface="Times New Roman" panose="02020603050405020304" pitchFamily="18" charset="0"/>
                <a:cs typeface="Times New Roman" panose="02020603050405020304" pitchFamily="18" charset="0"/>
              </a:rPr>
              <a:t>, and Resolved. </a:t>
            </a:r>
            <a:r>
              <a:rPr lang="en-IN" sz="2000" dirty="0">
                <a:latin typeface="Times New Roman" panose="02020603050405020304" pitchFamily="18" charset="0"/>
                <a:cs typeface="Times New Roman" panose="02020603050405020304" pitchFamily="18" charset="0"/>
              </a:rPr>
              <a:t>Likewise, you have resolutions and priorities, in resolution it again tells about the progress of issue like </a:t>
            </a:r>
            <a:r>
              <a:rPr lang="en-IN" sz="2000" b="1" dirty="0">
                <a:latin typeface="Times New Roman" panose="02020603050405020304" pitchFamily="18" charset="0"/>
                <a:cs typeface="Times New Roman" panose="02020603050405020304" pitchFamily="18" charset="0"/>
              </a:rPr>
              <a:t>Fixed, Won’t fix, Duplicate, Incomplete, Cannot reproduce, Done </a:t>
            </a:r>
            <a:r>
              <a:rPr lang="en-IN" sz="2000" dirty="0">
                <a:latin typeface="Times New Roman" panose="02020603050405020304" pitchFamily="18" charset="0"/>
                <a:cs typeface="Times New Roman" panose="02020603050405020304" pitchFamily="18" charset="0"/>
              </a:rPr>
              <a:t>also you can set the priorities of the issue whether an issue is </a:t>
            </a:r>
            <a:r>
              <a:rPr lang="en-IN" sz="2000" b="1" dirty="0">
                <a:latin typeface="Times New Roman" panose="02020603050405020304" pitchFamily="18" charset="0"/>
                <a:cs typeface="Times New Roman" panose="02020603050405020304" pitchFamily="18" charset="0"/>
              </a:rPr>
              <a:t>critical, major, minor, blocker and Trivial.</a:t>
            </a:r>
          </a:p>
          <a:p>
            <a:endParaRPr lang="en-IN" dirty="0"/>
          </a:p>
          <a:p>
            <a:endParaRPr lang="en-IN" dirty="0"/>
          </a:p>
        </p:txBody>
      </p:sp>
      <p:pic>
        <p:nvPicPr>
          <p:cNvPr id="4" name="Picture 3"/>
          <p:cNvPicPr>
            <a:picLocks noChangeAspect="1"/>
          </p:cNvPicPr>
          <p:nvPr/>
        </p:nvPicPr>
        <p:blipFill>
          <a:blip r:embed="rId2"/>
          <a:stretch>
            <a:fillRect/>
          </a:stretch>
        </p:blipFill>
        <p:spPr>
          <a:xfrm>
            <a:off x="941696" y="1471399"/>
            <a:ext cx="10263116" cy="5202355"/>
          </a:xfrm>
          <a:prstGeom prst="rect">
            <a:avLst/>
          </a:prstGeom>
        </p:spPr>
      </p:pic>
    </p:spTree>
    <p:extLst>
      <p:ext uri="{BB962C8B-B14F-4D97-AF65-F5344CB8AC3E}">
        <p14:creationId xmlns:p14="http://schemas.microsoft.com/office/powerpoint/2010/main" val="267574278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a:buFont typeface="Wingdings" panose="05000000000000000000" pitchFamily="2" charset="2"/>
              <a:buChar char="v"/>
            </a:pPr>
            <a:r>
              <a:rPr lang="en-IN" b="1" u="sng" dirty="0">
                <a:latin typeface="Times New Roman" panose="02020603050405020304" pitchFamily="18" charset="0"/>
                <a:cs typeface="Times New Roman" panose="02020603050405020304" pitchFamily="18" charset="0"/>
              </a:rPr>
              <a:t>Reports in JIRA</a:t>
            </a:r>
          </a:p>
          <a:p>
            <a:pPr algn="just"/>
            <a:r>
              <a:rPr lang="en-IN" sz="2000" dirty="0">
                <a:latin typeface="Times New Roman" panose="02020603050405020304" pitchFamily="18" charset="0"/>
                <a:cs typeface="Times New Roman" panose="02020603050405020304" pitchFamily="18" charset="0"/>
              </a:rPr>
              <a:t>To track the progress in Agile, a </a:t>
            </a:r>
            <a:r>
              <a:rPr lang="en-IN" sz="2000" b="1" dirty="0" err="1">
                <a:latin typeface="Times New Roman" panose="02020603050405020304" pitchFamily="18" charset="0"/>
                <a:cs typeface="Times New Roman" panose="02020603050405020304" pitchFamily="18" charset="0"/>
              </a:rPr>
              <a:t>Burndown</a:t>
            </a:r>
            <a:r>
              <a:rPr lang="en-IN" sz="2000" b="1" dirty="0">
                <a:latin typeface="Times New Roman" panose="02020603050405020304" pitchFamily="18" charset="0"/>
                <a:cs typeface="Times New Roman" panose="02020603050405020304" pitchFamily="18" charset="0"/>
              </a:rPr>
              <a:t> Chart </a:t>
            </a:r>
            <a:r>
              <a:rPr lang="en-IN" sz="2000" dirty="0">
                <a:latin typeface="Times New Roman" panose="02020603050405020304" pitchFamily="18" charset="0"/>
                <a:cs typeface="Times New Roman" panose="02020603050405020304" pitchFamily="18" charset="0"/>
              </a:rPr>
              <a:t>shows the actual and estimated amount of work to be done in the sprint. A typical </a:t>
            </a:r>
            <a:r>
              <a:rPr lang="en-IN" sz="2000" dirty="0" err="1">
                <a:latin typeface="Times New Roman" panose="02020603050405020304" pitchFamily="18" charset="0"/>
                <a:cs typeface="Times New Roman" panose="02020603050405020304" pitchFamily="18" charset="0"/>
              </a:rPr>
              <a:t>burndown</a:t>
            </a:r>
            <a:r>
              <a:rPr lang="en-IN" sz="2000" dirty="0">
                <a:latin typeface="Times New Roman" panose="02020603050405020304" pitchFamily="18" charset="0"/>
                <a:cs typeface="Times New Roman" panose="02020603050405020304" pitchFamily="18" charset="0"/>
              </a:rPr>
              <a:t> chart will look somewhat like this, where the red line indicates the actual task remaining while the blue line indicates ideal task remaining during the scrum cycle.</a:t>
            </a:r>
          </a:p>
          <a:p>
            <a:pPr algn="just"/>
            <a:r>
              <a:rPr lang="en-IN" sz="2000" dirty="0">
                <a:latin typeface="Times New Roman" panose="02020603050405020304" pitchFamily="18" charset="0"/>
                <a:cs typeface="Times New Roman" panose="02020603050405020304" pitchFamily="18" charset="0"/>
              </a:rPr>
              <a:t>Apart from Burn down chart there are other options available in JIRA automation like </a:t>
            </a:r>
            <a:r>
              <a:rPr lang="en-IN" sz="2000" b="1" dirty="0">
                <a:latin typeface="Times New Roman" panose="02020603050405020304" pitchFamily="18" charset="0"/>
                <a:cs typeface="Times New Roman" panose="02020603050405020304" pitchFamily="18" charset="0"/>
              </a:rPr>
              <a:t>Sprint Report, Epic Report,  Velocity Chart, Control Chart.</a:t>
            </a:r>
            <a:endParaRPr lang="en-IN" sz="2000" dirty="0">
              <a:latin typeface="Times New Roman" panose="02020603050405020304" pitchFamily="18" charset="0"/>
              <a:cs typeface="Times New Roman" panose="02020603050405020304" pitchFamily="18" charset="0"/>
            </a:endParaRPr>
          </a:p>
          <a:p>
            <a:pPr marL="0" indent="0" algn="just">
              <a:buNone/>
            </a:pP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1091822" y="2508475"/>
            <a:ext cx="8580674" cy="3851382"/>
          </a:xfrm>
          <a:prstGeom prst="rect">
            <a:avLst/>
          </a:prstGeom>
        </p:spPr>
      </p:pic>
    </p:spTree>
    <p:extLst>
      <p:ext uri="{BB962C8B-B14F-4D97-AF65-F5344CB8AC3E}">
        <p14:creationId xmlns:p14="http://schemas.microsoft.com/office/powerpoint/2010/main" val="184072489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fontScale="92500" lnSpcReduction="10000"/>
          </a:bodyPr>
          <a:lstStyle/>
          <a:p>
            <a:pPr>
              <a:buFont typeface="Wingdings" panose="05000000000000000000" pitchFamily="2" charset="2"/>
              <a:buChar char="v"/>
            </a:pPr>
            <a:r>
              <a:rPr lang="en-IN" b="1" u="sng" dirty="0">
                <a:latin typeface="Times New Roman" panose="02020603050405020304" pitchFamily="18" charset="0"/>
                <a:cs typeface="Times New Roman" panose="02020603050405020304" pitchFamily="18" charset="0"/>
              </a:rPr>
              <a:t>JIRA - Core Features</a:t>
            </a:r>
          </a:p>
          <a:p>
            <a:r>
              <a:rPr lang="en-IN" sz="2000" dirty="0">
                <a:latin typeface="Times New Roman" panose="02020603050405020304" pitchFamily="18" charset="0"/>
                <a:cs typeface="Times New Roman" panose="02020603050405020304" pitchFamily="18" charset="0"/>
              </a:rPr>
              <a:t>The following table explains some of the most important and commonly used features in detail for better understanding.</a:t>
            </a:r>
          </a:p>
          <a:p>
            <a:pPr>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Boards</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JIRA supports Scrum and </a:t>
            </a:r>
            <a:r>
              <a:rPr lang="en-IN" sz="2000" dirty="0" err="1">
                <a:latin typeface="Times New Roman" panose="02020603050405020304" pitchFamily="18" charset="0"/>
                <a:cs typeface="Times New Roman" panose="02020603050405020304" pitchFamily="18" charset="0"/>
              </a:rPr>
              <a:t>Kanban</a:t>
            </a:r>
            <a:r>
              <a:rPr lang="en-IN" sz="2000" dirty="0">
                <a:latin typeface="Times New Roman" panose="02020603050405020304" pitchFamily="18" charset="0"/>
                <a:cs typeface="Times New Roman" panose="02020603050405020304" pitchFamily="18" charset="0"/>
              </a:rPr>
              <a:t> boards. These boards provide an immediate snapshot of the project to the team.</a:t>
            </a:r>
          </a:p>
          <a:p>
            <a:pPr algn="just"/>
            <a:r>
              <a:rPr lang="en-IN" sz="2000" dirty="0">
                <a:latin typeface="Times New Roman" panose="02020603050405020304" pitchFamily="18" charset="0"/>
                <a:cs typeface="Times New Roman" panose="02020603050405020304" pitchFamily="18" charset="0"/>
              </a:rPr>
              <a:t>Helps to quickly review the progress of the project and see the status of the individual </a:t>
            </a:r>
            <a:r>
              <a:rPr lang="en-IN" sz="2000" dirty="0" err="1">
                <a:latin typeface="Times New Roman" panose="02020603050405020304" pitchFamily="18" charset="0"/>
                <a:cs typeface="Times New Roman" panose="02020603050405020304" pitchFamily="18" charset="0"/>
              </a:rPr>
              <a:t>tasks.Board</a:t>
            </a:r>
            <a:r>
              <a:rPr lang="en-IN" sz="2000" dirty="0">
                <a:latin typeface="Times New Roman" panose="02020603050405020304" pitchFamily="18" charset="0"/>
                <a:cs typeface="Times New Roman" panose="02020603050405020304" pitchFamily="18" charset="0"/>
              </a:rPr>
              <a:t> workflow can be customized to fulfil the way a team wants to proceed.</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Jira Dashboard</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The dashboard is the first thing when we login in the </a:t>
            </a:r>
            <a:r>
              <a:rPr lang="en-IN" sz="2000" dirty="0" err="1">
                <a:latin typeface="Times New Roman" panose="02020603050405020304" pitchFamily="18" charset="0"/>
                <a:cs typeface="Times New Roman" panose="02020603050405020304" pitchFamily="18" charset="0"/>
              </a:rPr>
              <a:t>jira</a:t>
            </a:r>
            <a:r>
              <a:rPr lang="en-IN" sz="2000" dirty="0">
                <a:latin typeface="Times New Roman" panose="02020603050405020304" pitchFamily="18" charset="0"/>
                <a:cs typeface="Times New Roman" panose="02020603050405020304" pitchFamily="18" charset="0"/>
              </a:rPr>
              <a:t> software. Here the admin can customise the dashboard’s view and the things displayed on it.</a:t>
            </a:r>
          </a:p>
          <a:p>
            <a:pPr algn="just"/>
            <a:endParaRPr lang="en-IN"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Business Project Template</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JIRA supports </a:t>
            </a:r>
            <a:r>
              <a:rPr lang="en-IN" sz="2000" b="1" dirty="0">
                <a:latin typeface="Times New Roman" panose="02020603050405020304" pitchFamily="18" charset="0"/>
                <a:cs typeface="Times New Roman" panose="02020603050405020304" pitchFamily="18" charset="0"/>
              </a:rPr>
              <a:t>n</a:t>
            </a:r>
            <a:r>
              <a:rPr lang="en-IN" sz="2000" dirty="0">
                <a:latin typeface="Times New Roman" panose="02020603050405020304" pitchFamily="18" charset="0"/>
                <a:cs typeface="Times New Roman" panose="02020603050405020304" pitchFamily="18" charset="0"/>
              </a:rPr>
              <a:t> </a:t>
            </a:r>
            <a:r>
              <a:rPr lang="en-IN" sz="2000" dirty="0">
                <a:solidFill>
                  <a:srgbClr val="FF0000"/>
                </a:solidFill>
                <a:latin typeface="Times New Roman" panose="02020603050405020304" pitchFamily="18" charset="0"/>
                <a:cs typeface="Times New Roman" panose="02020603050405020304" pitchFamily="18" charset="0"/>
              </a:rPr>
              <a:t>number of business templates to manage simple tasks and complex tasks like workflow.</a:t>
            </a:r>
          </a:p>
          <a:p>
            <a:pPr algn="just"/>
            <a:r>
              <a:rPr lang="en-IN" sz="2000" dirty="0">
                <a:latin typeface="Times New Roman" panose="02020603050405020304" pitchFamily="18" charset="0"/>
                <a:cs typeface="Times New Roman" panose="02020603050405020304" pitchFamily="18" charset="0"/>
              </a:rPr>
              <a:t>Template </a:t>
            </a:r>
            <a:r>
              <a:rPr lang="en-IN" sz="2000" dirty="0">
                <a:solidFill>
                  <a:srgbClr val="FF0000"/>
                </a:solidFill>
                <a:latin typeface="Times New Roman" panose="02020603050405020304" pitchFamily="18" charset="0"/>
                <a:cs typeface="Times New Roman" panose="02020603050405020304" pitchFamily="18" charset="0"/>
              </a:rPr>
              <a:t>can be customized based on the team and their approach</a:t>
            </a:r>
            <a:r>
              <a:rPr lang="en-IN" sz="2000" dirty="0">
                <a:latin typeface="Times New Roman" panose="02020603050405020304" pitchFamily="18" charset="0"/>
                <a:cs typeface="Times New Roman" panose="02020603050405020304" pitchFamily="18" charset="0"/>
              </a:rPr>
              <a:t>. Ex: Workflow can be customized based on each team's approach. Every step is accounted and team can move to achieve their goals.</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Task Details</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Tasks can be defined at the </a:t>
            </a:r>
            <a:r>
              <a:rPr lang="en-IN" sz="2000" dirty="0">
                <a:solidFill>
                  <a:srgbClr val="FF0000"/>
                </a:solidFill>
                <a:latin typeface="Times New Roman" panose="02020603050405020304" pitchFamily="18" charset="0"/>
                <a:cs typeface="Times New Roman" panose="02020603050405020304" pitchFamily="18" charset="0"/>
              </a:rPr>
              <a:t>individual level to track the progress.</a:t>
            </a:r>
          </a:p>
          <a:p>
            <a:pPr algn="just"/>
            <a:r>
              <a:rPr lang="en-IN" sz="2000" dirty="0">
                <a:solidFill>
                  <a:srgbClr val="FF0000"/>
                </a:solidFill>
                <a:latin typeface="Times New Roman" panose="02020603050405020304" pitchFamily="18" charset="0"/>
                <a:cs typeface="Times New Roman" panose="02020603050405020304" pitchFamily="18" charset="0"/>
              </a:rPr>
              <a:t>Status of every task, comment, attachment and due dates are stored in one place.</a:t>
            </a:r>
          </a:p>
          <a:p>
            <a:pPr marL="0" indent="0" algn="just">
              <a:buNone/>
            </a:pP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586563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fontScale="85000" lnSpcReduction="20000"/>
          </a:bodyPr>
          <a:lstStyle/>
          <a:p>
            <a:pPr algn="just">
              <a:buFont typeface="Wingdings" panose="05000000000000000000" pitchFamily="2" charset="2"/>
              <a:buChar char="q"/>
            </a:pPr>
            <a:r>
              <a:rPr lang="en-IN" b="1" dirty="0">
                <a:latin typeface="Times New Roman" panose="02020603050405020304" pitchFamily="18" charset="0"/>
                <a:cs typeface="Times New Roman" panose="02020603050405020304" pitchFamily="18" charset="0"/>
              </a:rPr>
              <a:t>Notifications</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An </a:t>
            </a:r>
            <a:r>
              <a:rPr lang="en-IN" dirty="0">
                <a:solidFill>
                  <a:srgbClr val="FF0000"/>
                </a:solidFill>
                <a:latin typeface="Times New Roman" panose="02020603050405020304" pitchFamily="18" charset="0"/>
                <a:cs typeface="Times New Roman" panose="02020603050405020304" pitchFamily="18" charset="0"/>
              </a:rPr>
              <a:t>email can be sent for a particular task to the users.</a:t>
            </a:r>
          </a:p>
          <a:p>
            <a:pPr algn="just"/>
            <a:r>
              <a:rPr lang="en-IN" dirty="0">
                <a:solidFill>
                  <a:srgbClr val="FF0000"/>
                </a:solidFill>
                <a:latin typeface="Times New Roman" panose="02020603050405020304" pitchFamily="18" charset="0"/>
                <a:cs typeface="Times New Roman" panose="02020603050405020304" pitchFamily="18" charset="0"/>
              </a:rPr>
              <a:t>Voting and watching features to keep an eye on the progress for the stakeholders.</a:t>
            </a:r>
          </a:p>
          <a:p>
            <a:pPr algn="just"/>
            <a:r>
              <a:rPr lang="en-IN" dirty="0">
                <a:latin typeface="Times New Roman" panose="02020603050405020304" pitchFamily="18" charset="0"/>
                <a:cs typeface="Times New Roman" panose="02020603050405020304" pitchFamily="18" charset="0"/>
              </a:rPr>
              <a:t>Use </a:t>
            </a:r>
            <a:r>
              <a:rPr lang="en-IN" b="1" dirty="0">
                <a:latin typeface="Times New Roman" panose="02020603050405020304" pitchFamily="18" charset="0"/>
                <a:cs typeface="Times New Roman" panose="02020603050405020304" pitchFamily="18" charset="0"/>
              </a:rPr>
              <a:t>@mention</a:t>
            </a:r>
            <a:r>
              <a:rPr lang="en-IN" dirty="0">
                <a:latin typeface="Times New Roman" panose="02020603050405020304" pitchFamily="18" charset="0"/>
                <a:cs typeface="Times New Roman" panose="02020603050405020304" pitchFamily="18" charset="0"/>
              </a:rPr>
              <a:t> to get the attention of a specific team member at Comments/</a:t>
            </a:r>
            <a:r>
              <a:rPr lang="en-IN" dirty="0" err="1">
                <a:latin typeface="Times New Roman" panose="02020603050405020304" pitchFamily="18" charset="0"/>
                <a:cs typeface="Times New Roman" panose="02020603050405020304" pitchFamily="18" charset="0"/>
              </a:rPr>
              <a:t>Description.User</a:t>
            </a:r>
            <a:r>
              <a:rPr lang="en-IN" dirty="0">
                <a:latin typeface="Times New Roman" panose="02020603050405020304" pitchFamily="18" charset="0"/>
                <a:cs typeface="Times New Roman" panose="02020603050405020304" pitchFamily="18" charset="0"/>
              </a:rPr>
              <a:t> will instantly notify if something is assigned or if any feedback is require</a:t>
            </a:r>
          </a:p>
          <a:p>
            <a:pPr marL="0" indent="0" algn="just">
              <a:buNone/>
            </a:pPr>
            <a:endParaRPr lang="en-IN"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IN" b="1" dirty="0">
                <a:latin typeface="Times New Roman" panose="02020603050405020304" pitchFamily="18" charset="0"/>
                <a:cs typeface="Times New Roman" panose="02020603050405020304" pitchFamily="18" charset="0"/>
              </a:rPr>
              <a:t>Power Search</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JIRA supports a powerful search functionality with Basic, Quick and Advanced features.</a:t>
            </a:r>
          </a:p>
          <a:p>
            <a:pPr algn="just"/>
            <a:r>
              <a:rPr lang="en-IN" dirty="0">
                <a:latin typeface="Times New Roman" panose="02020603050405020304" pitchFamily="18" charset="0"/>
                <a:cs typeface="Times New Roman" panose="02020603050405020304" pitchFamily="18" charset="0"/>
              </a:rPr>
              <a:t>Use the search tool to find answers like due date, when a task was last updated, what items a team member still needs to finish. Project information at one place, search within a project.</a:t>
            </a:r>
          </a:p>
          <a:p>
            <a:pPr marL="0" indent="0" algn="just">
              <a:buNone/>
            </a:pPr>
            <a:endParaRPr lang="en-IN"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IN" b="1" dirty="0">
                <a:latin typeface="Times New Roman" panose="02020603050405020304" pitchFamily="18" charset="0"/>
                <a:cs typeface="Times New Roman" panose="02020603050405020304" pitchFamily="18" charset="0"/>
              </a:rPr>
              <a:t>Reports</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JIRA supports more than a </a:t>
            </a:r>
            <a:r>
              <a:rPr lang="en-IN" dirty="0">
                <a:solidFill>
                  <a:srgbClr val="FF0000"/>
                </a:solidFill>
                <a:latin typeface="Times New Roman" panose="02020603050405020304" pitchFamily="18" charset="0"/>
                <a:cs typeface="Times New Roman" panose="02020603050405020304" pitchFamily="18" charset="0"/>
              </a:rPr>
              <a:t>dozen reports to track progress over a specific timeframe, deadlines, </a:t>
            </a:r>
            <a:r>
              <a:rPr lang="en-IN" dirty="0">
                <a:latin typeface="Times New Roman" panose="02020603050405020304" pitchFamily="18" charset="0"/>
                <a:cs typeface="Times New Roman" panose="02020603050405020304" pitchFamily="18" charset="0"/>
              </a:rPr>
              <a:t>individual’s contribution, etc.</a:t>
            </a:r>
          </a:p>
          <a:p>
            <a:pPr algn="just"/>
            <a:r>
              <a:rPr lang="en-IN" dirty="0">
                <a:latin typeface="Times New Roman" panose="02020603050405020304" pitchFamily="18" charset="0"/>
                <a:cs typeface="Times New Roman" panose="02020603050405020304" pitchFamily="18" charset="0"/>
              </a:rPr>
              <a:t>Easy to understand and generate different reports those help to analyse how the team is going on. Easy to configure these reports and display the matrices to the stakeholders</a:t>
            </a:r>
          </a:p>
          <a:p>
            <a:pPr algn="just"/>
            <a:endParaRPr lang="en-IN"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IN" b="1" dirty="0">
                <a:latin typeface="Times New Roman" panose="02020603050405020304" pitchFamily="18" charset="0"/>
                <a:cs typeface="Times New Roman" panose="02020603050405020304" pitchFamily="18" charset="0"/>
              </a:rPr>
              <a:t>Scale with Team Growth</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JIRA </a:t>
            </a:r>
            <a:r>
              <a:rPr lang="en-IN" dirty="0">
                <a:solidFill>
                  <a:srgbClr val="FF0000"/>
                </a:solidFill>
                <a:latin typeface="Times New Roman" panose="02020603050405020304" pitchFamily="18" charset="0"/>
                <a:cs typeface="Times New Roman" panose="02020603050405020304" pitchFamily="18" charset="0"/>
              </a:rPr>
              <a:t>supports </a:t>
            </a:r>
            <a:r>
              <a:rPr lang="en-IN" dirty="0">
                <a:latin typeface="Times New Roman" panose="02020603050405020304" pitchFamily="18" charset="0"/>
                <a:cs typeface="Times New Roman" panose="02020603050405020304" pitchFamily="18" charset="0"/>
              </a:rPr>
              <a:t>any business team and </a:t>
            </a:r>
            <a:r>
              <a:rPr lang="en-IN" dirty="0">
                <a:solidFill>
                  <a:srgbClr val="FF0000"/>
                </a:solidFill>
                <a:latin typeface="Times New Roman" panose="02020603050405020304" pitchFamily="18" charset="0"/>
                <a:cs typeface="Times New Roman" panose="02020603050405020304" pitchFamily="18" charset="0"/>
              </a:rPr>
              <a:t>any project irrespective of size and complexity.</a:t>
            </a:r>
          </a:p>
          <a:p>
            <a:pPr marL="0" indent="0" algn="just">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662107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algn="just">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Multilingual</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JIRA supports more than 10 languages those are widely used as English (US, UK, India), French, German, Portuguese, Spanish, Korean, Japanese and Russian.</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Jira security</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The </a:t>
            </a:r>
            <a:r>
              <a:rPr lang="en-IN" sz="2000" dirty="0">
                <a:solidFill>
                  <a:srgbClr val="FF0000"/>
                </a:solidFill>
                <a:latin typeface="Times New Roman" panose="02020603050405020304" pitchFamily="18" charset="0"/>
                <a:cs typeface="Times New Roman" panose="02020603050405020304" pitchFamily="18" charset="0"/>
              </a:rPr>
              <a:t>security settings of </a:t>
            </a:r>
            <a:r>
              <a:rPr lang="en-IN" sz="2000" dirty="0" err="1">
                <a:solidFill>
                  <a:srgbClr val="FF0000"/>
                </a:solidFill>
                <a:latin typeface="Times New Roman" panose="02020603050405020304" pitchFamily="18" charset="0"/>
                <a:cs typeface="Times New Roman" panose="02020603050405020304" pitchFamily="18" charset="0"/>
              </a:rPr>
              <a:t>jira</a:t>
            </a:r>
            <a:r>
              <a:rPr lang="en-IN" sz="2000" dirty="0">
                <a:solidFill>
                  <a:srgbClr val="FF0000"/>
                </a:solidFill>
                <a:latin typeface="Times New Roman" panose="02020603050405020304" pitchFamily="18" charset="0"/>
                <a:cs typeface="Times New Roman" panose="02020603050405020304" pitchFamily="18" charset="0"/>
              </a:rPr>
              <a:t> bug tracking software restricts the access a certain bug only to those people who are allowed to work on a team member of the given security level</a:t>
            </a:r>
            <a:r>
              <a:rPr lang="en-IN" sz="2000" dirty="0">
                <a:latin typeface="Times New Roman" panose="02020603050405020304" pitchFamily="18" charset="0"/>
                <a:cs typeface="Times New Roman" panose="02020603050405020304" pitchFamily="18" charset="0"/>
              </a:rPr>
              <a:t>. There is security feature like default permission scheme.</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Custom workflows</a:t>
            </a:r>
          </a:p>
          <a:p>
            <a:pPr algn="just"/>
            <a:r>
              <a:rPr lang="en-IN" sz="2000" dirty="0">
                <a:latin typeface="Times New Roman" panose="02020603050405020304" pitchFamily="18" charset="0"/>
                <a:cs typeface="Times New Roman" panose="02020603050405020304" pitchFamily="18" charset="0"/>
              </a:rPr>
              <a:t>In a Jira workflow, </a:t>
            </a:r>
            <a:r>
              <a:rPr lang="en-IN" sz="2000" dirty="0" err="1">
                <a:latin typeface="Times New Roman" panose="02020603050405020304" pitchFamily="18" charset="0"/>
                <a:cs typeface="Times New Roman" panose="02020603050405020304" pitchFamily="18" charset="0"/>
              </a:rPr>
              <a:t>colored</a:t>
            </a:r>
            <a:r>
              <a:rPr lang="en-IN" sz="2000" dirty="0">
                <a:latin typeface="Times New Roman" panose="02020603050405020304" pitchFamily="18" charset="0"/>
                <a:cs typeface="Times New Roman" panose="02020603050405020304" pitchFamily="18" charset="0"/>
              </a:rPr>
              <a:t> blocks represent the processes, and arrows show the transitions. These workflows help you </a:t>
            </a:r>
            <a:r>
              <a:rPr lang="en-IN" sz="2000" dirty="0">
                <a:solidFill>
                  <a:srgbClr val="FF0000"/>
                </a:solidFill>
                <a:latin typeface="Times New Roman" panose="02020603050405020304" pitchFamily="18" charset="0"/>
                <a:cs typeface="Times New Roman" panose="02020603050405020304" pitchFamily="18" charset="0"/>
              </a:rPr>
              <a:t>keep track of how your software development projects and tasks are progressing. </a:t>
            </a:r>
          </a:p>
          <a:p>
            <a:r>
              <a:rPr lang="en-IN" sz="2000" dirty="0">
                <a:latin typeface="Times New Roman" panose="02020603050405020304" pitchFamily="18" charset="0"/>
                <a:cs typeface="Times New Roman" panose="02020603050405020304" pitchFamily="18" charset="0"/>
              </a:rPr>
              <a:t>What makes this feature more powerful is that you can start from scratch and </a:t>
            </a:r>
            <a:r>
              <a:rPr lang="en-IN" sz="2000" b="1" dirty="0">
                <a:latin typeface="Times New Roman" panose="02020603050405020304" pitchFamily="18" charset="0"/>
                <a:cs typeface="Times New Roman" panose="02020603050405020304" pitchFamily="18" charset="0"/>
              </a:rPr>
              <a:t>create your own custom workflows too</a:t>
            </a:r>
            <a:r>
              <a:rPr lang="en-IN" sz="2000" dirty="0">
                <a:latin typeface="Times New Roman" panose="02020603050405020304" pitchFamily="18" charset="0"/>
                <a:cs typeface="Times New Roman" panose="02020603050405020304" pitchFamily="18" charset="0"/>
              </a:rPr>
              <a:t>. You can even import workflow templates.</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811699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84118"/>
          </a:xfrm>
        </p:spPr>
        <p:txBody>
          <a:bodyPr>
            <a:noAutofit/>
          </a:bodyPr>
          <a:lstStyle/>
          <a:p>
            <a:r>
              <a:rPr lang="en-US" b="1" i="1" u="sng" dirty="0">
                <a:solidFill>
                  <a:srgbClr val="FF0000"/>
                </a:solidFill>
                <a:latin typeface="Times New Roman" panose="02020603050405020304" pitchFamily="18" charset="0"/>
                <a:cs typeface="Times New Roman" panose="02020603050405020304" pitchFamily="18" charset="0"/>
              </a:rPr>
              <a:t>Problems with issue tracker proliferation </a:t>
            </a:r>
            <a:endParaRPr lang="en-IN" i="1" u="sng" dirty="0">
              <a:solidFill>
                <a:srgbClr val="FF0000"/>
              </a:solidFill>
            </a:endParaRPr>
          </a:p>
        </p:txBody>
      </p:sp>
      <p:sp>
        <p:nvSpPr>
          <p:cNvPr id="3" name="Content Placeholder 2"/>
          <p:cNvSpPr>
            <a:spLocks noGrp="1"/>
          </p:cNvSpPr>
          <p:nvPr>
            <p:ph idx="1"/>
          </p:nvPr>
        </p:nvSpPr>
        <p:spPr>
          <a:xfrm>
            <a:off x="0" y="801859"/>
            <a:ext cx="12192000" cy="6056142"/>
          </a:xfrm>
        </p:spPr>
        <p:txBody>
          <a:bodyPr>
            <a:normAutofit/>
          </a:bodyPr>
          <a:lstStyle/>
          <a:p>
            <a:pPr algn="just"/>
            <a:r>
              <a:rPr lang="en-US" dirty="0">
                <a:solidFill>
                  <a:srgbClr val="000000"/>
                </a:solidFill>
                <a:latin typeface="Times New Roman" panose="02020603050405020304" pitchFamily="18" charset="0"/>
                <a:cs typeface="Times New Roman" panose="02020603050405020304" pitchFamily="18" charset="0"/>
              </a:rPr>
              <a:t>The Issue tracker proliferation problem is that:</a:t>
            </a:r>
          </a:p>
          <a:p>
            <a:pPr marL="0" indent="0" algn="just">
              <a:buNone/>
            </a:pPr>
            <a:endParaRPr lang="en-US" dirty="0">
              <a:solidFill>
                <a:srgbClr val="000000"/>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a:solidFill>
                  <a:srgbClr val="000000"/>
                </a:solidFill>
                <a:latin typeface="Times New Roman" panose="02020603050405020304" pitchFamily="18" charset="0"/>
                <a:cs typeface="Times New Roman" panose="02020603050405020304" pitchFamily="18" charset="0"/>
              </a:rPr>
              <a:t>Sometimes </a:t>
            </a:r>
            <a:r>
              <a:rPr lang="en-US" dirty="0">
                <a:solidFill>
                  <a:srgbClr val="FF0000"/>
                </a:solidFill>
                <a:latin typeface="Times New Roman" panose="02020603050405020304" pitchFamily="18" charset="0"/>
                <a:cs typeface="Times New Roman" panose="02020603050405020304" pitchFamily="18" charset="0"/>
              </a:rPr>
              <a:t>large organization might  standardize a type of tracker that few actually like to use.</a:t>
            </a:r>
            <a:r>
              <a:rPr lang="en-US" dirty="0">
                <a:solidFill>
                  <a:srgbClr val="000000"/>
                </a:solidFill>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Ø"/>
            </a:pPr>
            <a:endParaRPr lang="en-US" dirty="0">
              <a:solidFill>
                <a:srgbClr val="000000"/>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a:solidFill>
                  <a:srgbClr val="000000"/>
                </a:solidFill>
                <a:latin typeface="Times New Roman" panose="02020603050405020304" pitchFamily="18" charset="0"/>
                <a:cs typeface="Times New Roman" panose="02020603050405020304" pitchFamily="18" charset="0"/>
              </a:rPr>
              <a:t>typical reason is that only the needs of one type of team, such as </a:t>
            </a:r>
            <a:r>
              <a:rPr lang="en-US" dirty="0">
                <a:solidFill>
                  <a:srgbClr val="FF0000"/>
                </a:solidFill>
                <a:latin typeface="Times New Roman" panose="02020603050405020304" pitchFamily="18" charset="0"/>
                <a:cs typeface="Times New Roman" panose="02020603050405020304" pitchFamily="18" charset="0"/>
              </a:rPr>
              <a:t>the quality assurance team or the operations team, is being considered while deciding on an issue tracker. </a:t>
            </a:r>
          </a:p>
          <a:p>
            <a:pPr algn="just">
              <a:buFont typeface="Wingdings" panose="05000000000000000000" pitchFamily="2" charset="2"/>
              <a:buChar char="Ø"/>
            </a:pPr>
            <a:endParaRPr lang="en-US" dirty="0">
              <a:solidFill>
                <a:srgbClr val="000000"/>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a:solidFill>
                  <a:srgbClr val="000000"/>
                </a:solidFill>
                <a:latin typeface="Times New Roman" panose="02020603050405020304" pitchFamily="18" charset="0"/>
                <a:cs typeface="Times New Roman" panose="02020603050405020304" pitchFamily="18" charset="0"/>
              </a:rPr>
              <a:t>Another reason is that only a </a:t>
            </a:r>
            <a:r>
              <a:rPr lang="en-US" dirty="0">
                <a:solidFill>
                  <a:srgbClr val="FF0000"/>
                </a:solidFill>
                <a:latin typeface="Times New Roman" panose="02020603050405020304" pitchFamily="18" charset="0"/>
                <a:cs typeface="Times New Roman" panose="02020603050405020304" pitchFamily="18" charset="0"/>
              </a:rPr>
              <a:t>limited amount of licenses </a:t>
            </a:r>
            <a:r>
              <a:rPr lang="en-US" dirty="0">
                <a:solidFill>
                  <a:srgbClr val="000000"/>
                </a:solidFill>
                <a:latin typeface="Times New Roman" panose="02020603050405020304" pitchFamily="18" charset="0"/>
                <a:cs typeface="Times New Roman" panose="02020603050405020304" pitchFamily="18" charset="0"/>
              </a:rPr>
              <a:t>were bought for the issue tracker, and the rest of the team will have to make do on their own. </a:t>
            </a:r>
          </a:p>
          <a:p>
            <a:pPr marL="0" indent="0" algn="just">
              <a:buNone/>
            </a:pPr>
            <a:endParaRPr lang="en-US" dirty="0">
              <a:solidFill>
                <a:srgbClr val="000000"/>
              </a:solidFill>
              <a:latin typeface="Times New Roman" panose="02020603050405020304" pitchFamily="18" charset="0"/>
              <a:cs typeface="Times New Roman" panose="02020603050405020304" pitchFamily="18" charset="0"/>
            </a:endParaRPr>
          </a:p>
          <a:p>
            <a:endParaRPr lang="en-US" dirty="0">
              <a:solidFill>
                <a:srgbClr val="00000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79897886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5D49CC-BE48-4804-8369-609020C6D80E}"/>
              </a:ext>
            </a:extLst>
          </p:cNvPr>
          <p:cNvSpPr txBox="1"/>
          <p:nvPr/>
        </p:nvSpPr>
        <p:spPr>
          <a:xfrm>
            <a:off x="0" y="0"/>
            <a:ext cx="12191999" cy="4154984"/>
          </a:xfrm>
          <a:prstGeom prst="rect">
            <a:avLst/>
          </a:prstGeom>
          <a:noFill/>
        </p:spPr>
        <p:txBody>
          <a:bodyPr wrap="square">
            <a:spAutoFit/>
          </a:bodyPr>
          <a:lstStyle/>
          <a:p>
            <a:pPr marL="342900" indent="-342900" algn="just">
              <a:buFont typeface="Wingdings" panose="05000000000000000000" pitchFamily="2" charset="2"/>
              <a:buChar char="Ø"/>
            </a:pPr>
            <a:endParaRPr lang="en-US" sz="2400" dirty="0">
              <a:solidFill>
                <a:srgbClr val="000000"/>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dirty="0">
                <a:solidFill>
                  <a:srgbClr val="000000"/>
                </a:solidFill>
                <a:latin typeface="Times New Roman" panose="02020603050405020304" pitchFamily="18" charset="0"/>
                <a:cs typeface="Times New Roman" panose="02020603050405020304" pitchFamily="18" charset="0"/>
              </a:rPr>
              <a:t>It is also quite common that the developers use one </a:t>
            </a:r>
            <a:r>
              <a:rPr lang="en-US" sz="2400" dirty="0">
                <a:solidFill>
                  <a:srgbClr val="FF0000"/>
                </a:solidFill>
                <a:latin typeface="Times New Roman" panose="02020603050405020304" pitchFamily="18" charset="0"/>
                <a:cs typeface="Times New Roman" panose="02020603050405020304" pitchFamily="18" charset="0"/>
              </a:rPr>
              <a:t>kind of tracker, the quality assurance team another, and the operations team yet another completely different and incompatible </a:t>
            </a:r>
            <a:r>
              <a:rPr lang="en-US" sz="2400" dirty="0">
                <a:solidFill>
                  <a:srgbClr val="000000"/>
                </a:solidFill>
                <a:latin typeface="Times New Roman" panose="02020603050405020304" pitchFamily="18" charset="0"/>
                <a:cs typeface="Times New Roman" panose="02020603050405020304" pitchFamily="18" charset="0"/>
              </a:rPr>
              <a:t>system. </a:t>
            </a:r>
          </a:p>
          <a:p>
            <a:pPr algn="just"/>
            <a:endParaRPr lang="en-US" sz="2400" dirty="0">
              <a:solidFill>
                <a:srgbClr val="000000"/>
              </a:solidFill>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400" dirty="0">
                <a:solidFill>
                  <a:srgbClr val="7030A0"/>
                </a:solidFill>
                <a:latin typeface="Times New Roman" panose="02020603050405020304" pitchFamily="18" charset="0"/>
                <a:cs typeface="Times New Roman" panose="02020603050405020304" pitchFamily="18" charset="0"/>
              </a:rPr>
              <a:t>single tool that supports both Development and Operation workflows and issue types is ideal to reduce friction and promote reusability and shared understanding </a:t>
            </a:r>
          </a:p>
          <a:p>
            <a:pPr algn="just"/>
            <a:endParaRPr lang="en-IN" sz="2400" b="1" dirty="0">
              <a:solidFill>
                <a:srgbClr val="000000"/>
              </a:solidFill>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Teams using different </a:t>
            </a:r>
            <a:r>
              <a:rPr lang="en-IN" sz="2400" dirty="0">
                <a:solidFill>
                  <a:srgbClr val="FF0000"/>
                </a:solidFill>
                <a:latin typeface="Times New Roman" panose="02020603050405020304" pitchFamily="18" charset="0"/>
                <a:cs typeface="Times New Roman" panose="02020603050405020304" pitchFamily="18" charset="0"/>
              </a:rPr>
              <a:t>tools to track work or defects often have difficulty working together. </a:t>
            </a:r>
            <a:endParaRPr lang="en-US" sz="2400" dirty="0">
              <a:solidFill>
                <a:srgbClr val="FF0000"/>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400" b="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00429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a:buFont typeface="Wingdings" panose="05000000000000000000" pitchFamily="2" charset="2"/>
              <a:buChar char="v"/>
            </a:pPr>
            <a:r>
              <a:rPr lang="en-IN" sz="4000" b="1" u="sng" dirty="0">
                <a:latin typeface="Times New Roman" panose="02020603050405020304" pitchFamily="18" charset="0"/>
                <a:cs typeface="Times New Roman" panose="02020603050405020304" pitchFamily="18" charset="0"/>
              </a:rPr>
              <a:t>Examples:</a:t>
            </a:r>
            <a:r>
              <a:rPr lang="en-IN" sz="4000" dirty="0">
                <a:latin typeface="Times New Roman" panose="02020603050405020304" pitchFamily="18" charset="0"/>
                <a:cs typeface="Times New Roman" panose="02020603050405020304" pitchFamily="18" charset="0"/>
              </a:rPr>
              <a:t>-</a:t>
            </a:r>
          </a:p>
          <a:p>
            <a:pPr marL="457200" indent="-457200" algn="just">
              <a:buAutoNum type="arabicPeriod"/>
            </a:pPr>
            <a:endParaRPr lang="en-IN" sz="2400" dirty="0">
              <a:latin typeface="Times New Roman" panose="02020603050405020304" pitchFamily="18" charset="0"/>
              <a:cs typeface="Times New Roman" panose="02020603050405020304" pitchFamily="18" charset="0"/>
            </a:endParaRPr>
          </a:p>
          <a:p>
            <a:pPr marL="457200" indent="-457200" algn="just">
              <a:buAutoNum type="arabicPeriod"/>
            </a:pPr>
            <a:r>
              <a:rPr lang="en-IN" sz="2400" dirty="0">
                <a:solidFill>
                  <a:srgbClr val="7030A0"/>
                </a:solidFill>
                <a:latin typeface="Times New Roman" panose="02020603050405020304" pitchFamily="18" charset="0"/>
                <a:cs typeface="Times New Roman" panose="02020603050405020304" pitchFamily="18" charset="0"/>
              </a:rPr>
              <a:t>Production incidents originating </a:t>
            </a:r>
            <a:r>
              <a:rPr lang="en-IN" sz="2400" dirty="0">
                <a:latin typeface="Times New Roman" panose="02020603050405020304" pitchFamily="18" charset="0"/>
                <a:cs typeface="Times New Roman" panose="02020603050405020304" pitchFamily="18" charset="0"/>
              </a:rPr>
              <a:t>in code or architecture flaws but stored in an </a:t>
            </a:r>
            <a:r>
              <a:rPr lang="en-IN" sz="2400" dirty="0">
                <a:solidFill>
                  <a:srgbClr val="FF0000"/>
                </a:solidFill>
                <a:latin typeface="Times New Roman" panose="02020603050405020304" pitchFamily="18" charset="0"/>
                <a:cs typeface="Times New Roman" panose="02020603050405020304" pitchFamily="18" charset="0"/>
              </a:rPr>
              <a:t>issue tracking tool not accessible by Development often end up with incomplete fixes</a:t>
            </a:r>
            <a:r>
              <a:rPr lang="en-IN" sz="2400" dirty="0">
                <a:latin typeface="Times New Roman" panose="02020603050405020304" pitchFamily="18" charset="0"/>
                <a:cs typeface="Times New Roman" panose="02020603050405020304" pitchFamily="18" charset="0"/>
              </a:rPr>
              <a:t>, as context and history is missing.</a:t>
            </a:r>
          </a:p>
          <a:p>
            <a:pPr marL="457200" indent="-457200" algn="just">
              <a:buAutoNum type="arabicPeriod"/>
            </a:pPr>
            <a:endParaRPr lang="en-IN" sz="2400" dirty="0">
              <a:latin typeface="Times New Roman" panose="02020603050405020304" pitchFamily="18" charset="0"/>
              <a:cs typeface="Times New Roman" panose="02020603050405020304" pitchFamily="18" charset="0"/>
            </a:endParaRPr>
          </a:p>
          <a:p>
            <a:pPr marL="457200" indent="-457200" algn="just">
              <a:buAutoNum type="arabicPeriod"/>
            </a:pPr>
            <a:r>
              <a:rPr lang="en-IN" sz="2400" dirty="0">
                <a:latin typeface="Times New Roman" panose="02020603050405020304" pitchFamily="18" charset="0"/>
                <a:cs typeface="Times New Roman" panose="02020603050405020304" pitchFamily="18" charset="0"/>
              </a:rPr>
              <a:t> If these incidents are stored in an issue tracking tool accessible </a:t>
            </a:r>
            <a:r>
              <a:rPr lang="en-IN" sz="2400" dirty="0">
                <a:solidFill>
                  <a:srgbClr val="7030A0"/>
                </a:solidFill>
                <a:latin typeface="Times New Roman" panose="02020603050405020304" pitchFamily="18" charset="0"/>
                <a:cs typeface="Times New Roman" panose="02020603050405020304" pitchFamily="18" charset="0"/>
              </a:rPr>
              <a:t>by Operations only</a:t>
            </a:r>
            <a:r>
              <a:rPr lang="en-IN" sz="2400" dirty="0">
                <a:latin typeface="Times New Roman" panose="02020603050405020304" pitchFamily="18" charset="0"/>
                <a:cs typeface="Times New Roman" panose="02020603050405020304" pitchFamily="18" charset="0"/>
              </a:rPr>
              <a:t>, then Development will miss the context and history behind them. It's not uncommon that Development provides a fix that turns out incomplete because they were only told “what” failed, not the “why” and “how”.</a:t>
            </a: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r>
              <a:rPr lang="en-IN" sz="2400" dirty="0">
                <a:latin typeface="Times New Roman" panose="02020603050405020304" pitchFamily="18" charset="0"/>
                <a:cs typeface="Times New Roman" panose="02020603050405020304" pitchFamily="18" charset="0"/>
              </a:rPr>
              <a:t>3. On the other hand, </a:t>
            </a:r>
            <a:r>
              <a:rPr lang="en-IN" sz="2400" dirty="0">
                <a:solidFill>
                  <a:srgbClr val="FF0000"/>
                </a:solidFill>
                <a:latin typeface="Times New Roman" panose="02020603050405020304" pitchFamily="18" charset="0"/>
                <a:cs typeface="Times New Roman" panose="02020603050405020304" pitchFamily="18" charset="0"/>
              </a:rPr>
              <a:t>Development work items stored in a tool not accessible by IT Operations   often end up as rushed deployments that do not meet any kind of operational criteria.</a:t>
            </a:r>
          </a:p>
          <a:p>
            <a:endParaRPr lang="en-IN" sz="2600" dirty="0"/>
          </a:p>
        </p:txBody>
      </p:sp>
    </p:spTree>
    <p:extLst>
      <p:ext uri="{BB962C8B-B14F-4D97-AF65-F5344CB8AC3E}">
        <p14:creationId xmlns:p14="http://schemas.microsoft.com/office/powerpoint/2010/main" val="245214142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15879"/>
          </a:xfrm>
        </p:spPr>
        <p:txBody>
          <a:bodyPr>
            <a:normAutofit/>
          </a:bodyPr>
          <a:lstStyle/>
          <a:p>
            <a:r>
              <a:rPr lang="en-US" sz="3600" b="1" u="sng" dirty="0">
                <a:solidFill>
                  <a:srgbClr val="FF0000"/>
                </a:solidFill>
                <a:latin typeface="Times New Roman" panose="02020603050405020304" pitchFamily="18" charset="0"/>
                <a:cs typeface="Times New Roman" panose="02020603050405020304" pitchFamily="18" charset="0"/>
              </a:rPr>
              <a:t>BUGZILLA</a:t>
            </a:r>
            <a:endParaRPr lang="en-IN" sz="3600" b="1" u="sng"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2542" y="844062"/>
            <a:ext cx="12304542" cy="6013937"/>
          </a:xfrm>
        </p:spPr>
        <p:txBody>
          <a:bodyPr>
            <a:normAutofit lnSpcReduction="10000"/>
          </a:bodyPr>
          <a:lstStyle/>
          <a:p>
            <a:pPr algn="just"/>
            <a:r>
              <a:rPr lang="en-IN" sz="2300" dirty="0">
                <a:latin typeface="Times New Roman" panose="02020603050405020304" pitchFamily="18" charset="0"/>
                <a:cs typeface="Times New Roman" panose="02020603050405020304" pitchFamily="18" charset="0"/>
              </a:rPr>
              <a:t>Bugzilla is an </a:t>
            </a:r>
            <a:r>
              <a:rPr lang="en-IN" sz="2300" dirty="0">
                <a:solidFill>
                  <a:srgbClr val="FF0000"/>
                </a:solidFill>
                <a:latin typeface="Times New Roman" panose="02020603050405020304" pitchFamily="18" charset="0"/>
                <a:cs typeface="Times New Roman" panose="02020603050405020304" pitchFamily="18" charset="0"/>
              </a:rPr>
              <a:t>open-source issue/bug tracking system </a:t>
            </a:r>
            <a:r>
              <a:rPr lang="en-IN" sz="2300" dirty="0">
                <a:latin typeface="Times New Roman" panose="02020603050405020304" pitchFamily="18" charset="0"/>
                <a:cs typeface="Times New Roman" panose="02020603050405020304" pitchFamily="18" charset="0"/>
              </a:rPr>
              <a:t>that allows developers to keep track of outstanding problems with their product.</a:t>
            </a:r>
          </a:p>
          <a:p>
            <a:pPr algn="just"/>
            <a:r>
              <a:rPr lang="en-US" sz="2300" dirty="0">
                <a:solidFill>
                  <a:srgbClr val="FF0000"/>
                </a:solidFill>
                <a:latin typeface="Times New Roman" panose="02020603050405020304" pitchFamily="18" charset="0"/>
                <a:cs typeface="Times New Roman" panose="02020603050405020304" pitchFamily="18" charset="0"/>
              </a:rPr>
              <a:t>Bugzilla is free</a:t>
            </a:r>
            <a:r>
              <a:rPr lang="en-US" sz="2300" dirty="0">
                <a:latin typeface="Times New Roman" panose="02020603050405020304" pitchFamily="18" charset="0"/>
                <a:cs typeface="Times New Roman" panose="02020603050405020304" pitchFamily="18" charset="0"/>
              </a:rPr>
              <a:t>, open source software that you can install and use without having to pay any license fee. </a:t>
            </a:r>
            <a:endParaRPr lang="en-IN" sz="2300" dirty="0">
              <a:latin typeface="Times New Roman" panose="02020603050405020304" pitchFamily="18" charset="0"/>
              <a:cs typeface="Times New Roman" panose="02020603050405020304" pitchFamily="18" charset="0"/>
            </a:endParaRPr>
          </a:p>
          <a:p>
            <a:pPr algn="just"/>
            <a:r>
              <a:rPr lang="en-US" sz="2300" dirty="0">
                <a:latin typeface="Times New Roman" panose="02020603050405020304" pitchFamily="18" charset="0"/>
                <a:cs typeface="Times New Roman" panose="02020603050405020304" pitchFamily="18" charset="0"/>
              </a:rPr>
              <a:t>Bugzilla is a </a:t>
            </a:r>
            <a:r>
              <a:rPr lang="en-US" sz="2300" dirty="0">
                <a:solidFill>
                  <a:srgbClr val="FF0000"/>
                </a:solidFill>
                <a:latin typeface="Times New Roman" panose="02020603050405020304" pitchFamily="18" charset="0"/>
                <a:cs typeface="Times New Roman" panose="02020603050405020304" pitchFamily="18" charset="0"/>
              </a:rPr>
              <a:t>powerful, Web-based bug or defect-tracking tool </a:t>
            </a:r>
            <a:r>
              <a:rPr lang="en-US" sz="2300" dirty="0">
                <a:latin typeface="Times New Roman" panose="02020603050405020304" pitchFamily="18" charset="0"/>
                <a:cs typeface="Times New Roman" panose="02020603050405020304" pitchFamily="18" charset="0"/>
              </a:rPr>
              <a:t>originally developed by </a:t>
            </a:r>
            <a:r>
              <a:rPr lang="en-US" sz="2300" dirty="0">
                <a:solidFill>
                  <a:srgbClr val="FF0000"/>
                </a:solidFill>
                <a:latin typeface="Times New Roman" panose="02020603050405020304" pitchFamily="18" charset="0"/>
                <a:cs typeface="Times New Roman" panose="02020603050405020304" pitchFamily="18" charset="0"/>
              </a:rPr>
              <a:t>Mozilla</a:t>
            </a:r>
            <a:r>
              <a:rPr lang="en-IN" sz="2300" dirty="0">
                <a:latin typeface="Times New Roman" panose="02020603050405020304" pitchFamily="18" charset="0"/>
                <a:cs typeface="Times New Roman" panose="02020603050405020304" pitchFamily="18" charset="0"/>
              </a:rPr>
              <a:t> .</a:t>
            </a:r>
          </a:p>
          <a:p>
            <a:pPr marL="0" indent="0" algn="just">
              <a:buNone/>
            </a:pPr>
            <a:endParaRPr lang="en-IN" sz="2300" dirty="0">
              <a:latin typeface="Times New Roman" panose="02020603050405020304" pitchFamily="18" charset="0"/>
              <a:cs typeface="Times New Roman" panose="02020603050405020304" pitchFamily="18" charset="0"/>
            </a:endParaRPr>
          </a:p>
          <a:p>
            <a:pPr algn="just"/>
            <a:r>
              <a:rPr lang="en-US" sz="2300" dirty="0">
                <a:latin typeface="Times New Roman" panose="02020603050405020304" pitchFamily="18" charset="0"/>
                <a:cs typeface="Times New Roman" panose="02020603050405020304" pitchFamily="18" charset="0"/>
              </a:rPr>
              <a:t>It is widely used by many organizations across the globe for reporting and managing bugs. </a:t>
            </a:r>
          </a:p>
          <a:p>
            <a:pPr marL="0" indent="0" algn="just">
              <a:buNone/>
            </a:pP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Defect tracking systems </a:t>
            </a:r>
            <a:r>
              <a:rPr lang="en-IN" sz="2300" dirty="0">
                <a:solidFill>
                  <a:srgbClr val="FF0000"/>
                </a:solidFill>
                <a:latin typeface="Times New Roman" panose="02020603050405020304" pitchFamily="18" charset="0"/>
                <a:cs typeface="Times New Roman" panose="02020603050405020304" pitchFamily="18" charset="0"/>
              </a:rPr>
              <a:t>allow developers and testers to track all the outstanding defects</a:t>
            </a:r>
            <a:r>
              <a:rPr lang="en-IN" sz="2300" dirty="0">
                <a:latin typeface="Times New Roman" panose="02020603050405020304" pitchFamily="18" charset="0"/>
                <a:cs typeface="Times New Roman" panose="02020603050405020304" pitchFamily="18" charset="0"/>
              </a:rPr>
              <a:t>. Bugzilla can be linked to other testing tools like JIRA, QC or ALM, etc.</a:t>
            </a:r>
          </a:p>
          <a:p>
            <a:pPr marL="0" indent="0" algn="just">
              <a:buNone/>
            </a:pP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This open bug-tracker enables users to stay connected with their clients or employees, to communicate about problems effectively throughout the data-management chain.</a:t>
            </a:r>
          </a:p>
          <a:p>
            <a:pPr marL="0" indent="0" algn="just">
              <a:buNone/>
            </a:pPr>
            <a:endParaRPr lang="en-IN" sz="2300" dirty="0">
              <a:latin typeface="Times New Roman" panose="02020603050405020304" pitchFamily="18" charset="0"/>
              <a:cs typeface="Times New Roman" panose="02020603050405020304" pitchFamily="18" charset="0"/>
            </a:endParaRPr>
          </a:p>
          <a:p>
            <a:pPr algn="just"/>
            <a:r>
              <a:rPr lang="en-US" sz="2300" dirty="0">
                <a:latin typeface="Times New Roman" panose="02020603050405020304" pitchFamily="18" charset="0"/>
                <a:cs typeface="Times New Roman" panose="02020603050405020304" pitchFamily="18" charset="0"/>
              </a:rPr>
              <a:t>Bugzilla helps users to </a:t>
            </a:r>
            <a:r>
              <a:rPr lang="en-US" sz="2300" dirty="0">
                <a:solidFill>
                  <a:srgbClr val="FF0000"/>
                </a:solidFill>
                <a:latin typeface="Times New Roman" panose="02020603050405020304" pitchFamily="18" charset="0"/>
                <a:cs typeface="Times New Roman" panose="02020603050405020304" pitchFamily="18" charset="0"/>
              </a:rPr>
              <a:t>report bugs, assign bugs, prioritize, and </a:t>
            </a:r>
            <a:r>
              <a:rPr lang="en-US" sz="2200" dirty="0">
                <a:solidFill>
                  <a:srgbClr val="FF0000"/>
                </a:solidFill>
                <a:latin typeface="Times New Roman" panose="02020603050405020304" pitchFamily="18" charset="0"/>
                <a:cs typeface="Times New Roman" panose="02020603050405020304" pitchFamily="18" charset="0"/>
              </a:rPr>
              <a:t>arrange bugs by product and component</a:t>
            </a:r>
            <a:endParaRPr lang="en-US" sz="2200" dirty="0">
              <a:latin typeface="Times New Roman" panose="02020603050405020304" pitchFamily="18" charset="0"/>
              <a:cs typeface="Times New Roman" panose="02020603050405020304" pitchFamily="18" charset="0"/>
            </a:endParaRPr>
          </a:p>
          <a:p>
            <a:endParaRPr lang="en-IN" sz="2200" dirty="0"/>
          </a:p>
          <a:p>
            <a:endParaRPr lang="en-IN" sz="2200" dirty="0"/>
          </a:p>
        </p:txBody>
      </p:sp>
    </p:spTree>
    <p:extLst>
      <p:ext uri="{BB962C8B-B14F-4D97-AF65-F5344CB8AC3E}">
        <p14:creationId xmlns:p14="http://schemas.microsoft.com/office/powerpoint/2010/main" val="116546336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Autofit/>
          </a:bodyPr>
          <a:lstStyle/>
          <a:p>
            <a:pPr>
              <a:buFont typeface="Wingdings" panose="05000000000000000000" pitchFamily="2" charset="2"/>
              <a:buChar char="q"/>
            </a:pPr>
            <a:r>
              <a:rPr lang="en-US" sz="2400" b="1" u="sng" dirty="0">
                <a:latin typeface="Times New Roman" panose="02020603050405020304" pitchFamily="18" charset="0"/>
                <a:cs typeface="Times New Roman" panose="02020603050405020304" pitchFamily="18" charset="0"/>
              </a:rPr>
              <a:t>Why Bugzilla? </a:t>
            </a:r>
          </a:p>
          <a:p>
            <a:pPr algn="just"/>
            <a:r>
              <a:rPr lang="en-US" sz="2400" dirty="0">
                <a:latin typeface="Times New Roman" panose="02020603050405020304" pitchFamily="18" charset="0"/>
                <a:cs typeface="Times New Roman" panose="02020603050405020304" pitchFamily="18" charset="0"/>
              </a:rPr>
              <a:t>In earlier days, companies relied on shared lists and e-mails to track and update the status of defects reported. </a:t>
            </a:r>
          </a:p>
          <a:p>
            <a:pPr algn="just"/>
            <a:r>
              <a:rPr lang="en-US" sz="2400" dirty="0">
                <a:latin typeface="Times New Roman" panose="02020603050405020304" pitchFamily="18" charset="0"/>
                <a:cs typeface="Times New Roman" panose="02020603050405020304" pitchFamily="18" charset="0"/>
              </a:rPr>
              <a:t>This was, however, an error-prone practice and caused lapse and confusion amongst developers to resolve or ignore significant bugs.</a:t>
            </a:r>
          </a:p>
          <a:p>
            <a:pPr algn="just"/>
            <a:r>
              <a:rPr lang="en-US" sz="2400" dirty="0">
                <a:latin typeface="Times New Roman" panose="02020603050405020304" pitchFamily="18" charset="0"/>
                <a:cs typeface="Times New Roman" panose="02020603050405020304" pitchFamily="18" charset="0"/>
              </a:rPr>
              <a:t>Bugzilla provides an easy way to detect ,manage bugs and report them without much effort.</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sz="2400" b="1" u="sng" dirty="0">
                <a:latin typeface="Times New Roman" panose="02020603050405020304" pitchFamily="18" charset="0"/>
                <a:cs typeface="Times New Roman" panose="02020603050405020304" pitchFamily="18" charset="0"/>
              </a:rPr>
              <a:t>What does Bugzilla do?</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It keeps </a:t>
            </a:r>
            <a:r>
              <a:rPr lang="en-IN" sz="2400" dirty="0">
                <a:solidFill>
                  <a:srgbClr val="FF0000"/>
                </a:solidFill>
                <a:latin typeface="Times New Roman" panose="02020603050405020304" pitchFamily="18" charset="0"/>
                <a:cs typeface="Times New Roman" panose="02020603050405020304" pitchFamily="18" charset="0"/>
              </a:rPr>
              <a:t>track of both bugs and changes in code.</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It enables </a:t>
            </a:r>
            <a:r>
              <a:rPr lang="en-IN" sz="2400" dirty="0">
                <a:solidFill>
                  <a:srgbClr val="FF0000"/>
                </a:solidFill>
                <a:latin typeface="Times New Roman" panose="02020603050405020304" pitchFamily="18" charset="0"/>
                <a:cs typeface="Times New Roman" panose="02020603050405020304" pitchFamily="18" charset="0"/>
              </a:rPr>
              <a:t>easy communication with teammates.</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It </a:t>
            </a:r>
            <a:r>
              <a:rPr lang="en-IN" sz="2400" dirty="0">
                <a:solidFill>
                  <a:srgbClr val="FF0000"/>
                </a:solidFill>
                <a:latin typeface="Times New Roman" panose="02020603050405020304" pitchFamily="18" charset="0"/>
                <a:cs typeface="Times New Roman" panose="02020603050405020304" pitchFamily="18" charset="0"/>
              </a:rPr>
              <a:t>submits and reviews patches.</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It is </a:t>
            </a:r>
            <a:r>
              <a:rPr lang="en-IN" sz="2400" dirty="0">
                <a:solidFill>
                  <a:srgbClr val="FF0000"/>
                </a:solidFill>
                <a:latin typeface="Times New Roman" panose="02020603050405020304" pitchFamily="18" charset="0"/>
                <a:cs typeface="Times New Roman" panose="02020603050405020304" pitchFamily="18" charset="0"/>
              </a:rPr>
              <a:t>responsible for quality assurance.</a:t>
            </a:r>
          </a:p>
          <a:p>
            <a:pPr>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It can d</a:t>
            </a:r>
            <a:r>
              <a:rPr lang="en-IN" sz="2400" dirty="0">
                <a:solidFill>
                  <a:srgbClr val="FF0000"/>
                </a:solidFill>
                <a:latin typeface="Times New Roman" panose="02020603050405020304" pitchFamily="18" charset="0"/>
                <a:cs typeface="Times New Roman" panose="02020603050405020304" pitchFamily="18" charset="0"/>
              </a:rPr>
              <a:t>ramatically increase the productivity and accountability of an individual by providing a documented workflow </a:t>
            </a:r>
            <a:r>
              <a:rPr lang="en-IN" sz="2400" dirty="0">
                <a:latin typeface="Times New Roman" panose="02020603050405020304" pitchFamily="18" charset="0"/>
                <a:cs typeface="Times New Roman" panose="02020603050405020304" pitchFamily="18" charset="0"/>
              </a:rPr>
              <a:t>and positive feedback for good performance.</a:t>
            </a:r>
          </a:p>
          <a:p>
            <a:pPr algn="just"/>
            <a:r>
              <a:rPr lang="en-IN" sz="2400" dirty="0">
                <a:latin typeface="Times New Roman" panose="02020603050405020304" pitchFamily="18" charset="0"/>
                <a:cs typeface="Times New Roman" panose="02020603050405020304" pitchFamily="18" charset="0"/>
              </a:rPr>
              <a:t>Most commercial and defect-tracking software vendors charged enormous licensing fees in the starting days of Bugzilla. As a result, Bugzilla quickly became a </a:t>
            </a:r>
            <a:r>
              <a:rPr lang="en-IN" sz="2400" dirty="0" err="1">
                <a:latin typeface="Times New Roman" panose="02020603050405020304" pitchFamily="18" charset="0"/>
                <a:cs typeface="Times New Roman" panose="02020603050405020304" pitchFamily="18" charset="0"/>
              </a:rPr>
              <a:t>favorite</a:t>
            </a:r>
            <a:r>
              <a:rPr lang="en-IN" sz="2400" dirty="0">
                <a:latin typeface="Times New Roman" panose="02020603050405020304" pitchFamily="18" charset="0"/>
                <a:cs typeface="Times New Roman" panose="02020603050405020304" pitchFamily="18" charset="0"/>
              </a:rPr>
              <a:t> among the open-source users, due to its genesis in the open-source browser project with </a:t>
            </a:r>
            <a:r>
              <a:rPr lang="en-IN" sz="2400" dirty="0">
                <a:solidFill>
                  <a:srgbClr val="0070C0"/>
                </a:solidFill>
                <a:latin typeface="Times New Roman" panose="02020603050405020304" pitchFamily="18" charset="0"/>
                <a:cs typeface="Times New Roman" panose="02020603050405020304" pitchFamily="18" charset="0"/>
              </a:rPr>
              <a:t>Mozilla</a:t>
            </a:r>
            <a:r>
              <a:rPr lang="en-IN" sz="2400" dirty="0">
                <a:latin typeface="Times New Roman" panose="02020603050405020304" pitchFamily="18" charset="0"/>
                <a:cs typeface="Times New Roman" panose="02020603050405020304" pitchFamily="18" charset="0"/>
              </a:rPr>
              <a:t>. It is now the most </a:t>
            </a:r>
            <a:r>
              <a:rPr lang="en-IN" sz="2400" dirty="0">
                <a:solidFill>
                  <a:srgbClr val="FF0000"/>
                </a:solidFill>
                <a:latin typeface="Times New Roman" panose="02020603050405020304" pitchFamily="18" charset="0"/>
                <a:cs typeface="Times New Roman" panose="02020603050405020304" pitchFamily="18" charset="0"/>
              </a:rPr>
              <a:t>precious defect-tracking system against which all the others are measured.</a:t>
            </a: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116829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A0A4F7-D8CA-49BA-A736-53272DA5F00F}"/>
              </a:ext>
            </a:extLst>
          </p:cNvPr>
          <p:cNvSpPr txBox="1"/>
          <p:nvPr/>
        </p:nvSpPr>
        <p:spPr>
          <a:xfrm>
            <a:off x="0" y="0"/>
            <a:ext cx="12192000" cy="5632311"/>
          </a:xfrm>
          <a:prstGeom prst="rect">
            <a:avLst/>
          </a:prstGeom>
          <a:noFill/>
        </p:spPr>
        <p:txBody>
          <a:bodyPr wrap="square">
            <a:spAutoFit/>
          </a:bodyPr>
          <a:lstStyle/>
          <a:p>
            <a:r>
              <a:rPr lang="en-IN" sz="2400" b="1" i="1" u="sng" dirty="0">
                <a:latin typeface="Times New Roman" panose="02020603050405020304" pitchFamily="18" charset="0"/>
                <a:cs typeface="Times New Roman" panose="02020603050405020304" pitchFamily="18" charset="0"/>
              </a:rPr>
              <a:t>Features of Bugzilla:-</a:t>
            </a:r>
          </a:p>
          <a:p>
            <a:pPr algn="just"/>
            <a:r>
              <a:rPr lang="en-US" sz="2400" dirty="0">
                <a:solidFill>
                  <a:srgbClr val="FF0000"/>
                </a:solidFill>
                <a:latin typeface="Times New Roman" panose="02020603050405020304" pitchFamily="18" charset="0"/>
                <a:cs typeface="Times New Roman" panose="02020603050405020304" pitchFamily="18" charset="0"/>
              </a:rPr>
              <a:t>Advanced search capabilities</a:t>
            </a:r>
            <a:r>
              <a:rPr lang="en-US" sz="2400" dirty="0">
                <a:latin typeface="Times New Roman" panose="02020603050405020304" pitchFamily="18" charset="0"/>
                <a:cs typeface="Times New Roman" panose="02020603050405020304" pitchFamily="18" charset="0"/>
              </a:rPr>
              <a:t> Bugzilla offers a simple search feature also called as a full-text search that spans </a:t>
            </a:r>
            <a:r>
              <a:rPr lang="en-US" sz="2400" dirty="0">
                <a:solidFill>
                  <a:srgbClr val="7030A0"/>
                </a:solidFill>
                <a:latin typeface="Times New Roman" panose="02020603050405020304" pitchFamily="18" charset="0"/>
                <a:cs typeface="Times New Roman" panose="02020603050405020304" pitchFamily="18" charset="0"/>
              </a:rPr>
              <a:t>comments, summaries, and substrings of bugs.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E-mail notification </a:t>
            </a:r>
            <a:r>
              <a:rPr lang="en-US" sz="2400" dirty="0">
                <a:latin typeface="Times New Roman" panose="02020603050405020304" pitchFamily="18" charset="0"/>
                <a:cs typeface="Times New Roman" panose="02020603050405020304" pitchFamily="18" charset="0"/>
              </a:rPr>
              <a:t>by user preferences Bugzilla gives flexibility to configure e-mail alerts as per their preferences. You can choose to or not to receive e-mails regarding the changes made to bugs. By default, an e-mail notification includes bug ID and summary of the bug report along with a list of the changes</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Reports and Charts With Bugzilla</a:t>
            </a:r>
            <a:r>
              <a:rPr lang="en-US" sz="2400" dirty="0">
                <a:latin typeface="Times New Roman" panose="02020603050405020304" pitchFamily="18" charset="0"/>
                <a:cs typeface="Times New Roman" panose="02020603050405020304" pitchFamily="18" charset="0"/>
              </a:rPr>
              <a:t>, you can generate reports to view the current state of the bug database. Bugzilla also supports a charting system, which can </a:t>
            </a:r>
            <a:r>
              <a:rPr lang="en-US" sz="2400" dirty="0">
                <a:solidFill>
                  <a:srgbClr val="FF0000"/>
                </a:solidFill>
                <a:latin typeface="Times New Roman" panose="02020603050405020304" pitchFamily="18" charset="0"/>
                <a:cs typeface="Times New Roman" panose="02020603050405020304" pitchFamily="18" charset="0"/>
              </a:rPr>
              <a:t>create graphs that track changes in the system over time. </a:t>
            </a:r>
          </a:p>
          <a:p>
            <a:pPr algn="just"/>
            <a:endParaRPr lang="en-US"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Automatic Duplicate Bug Detection </a:t>
            </a:r>
            <a:r>
              <a:rPr lang="en-US" sz="2400" dirty="0">
                <a:latin typeface="Times New Roman" panose="02020603050405020304" pitchFamily="18" charset="0"/>
                <a:cs typeface="Times New Roman" panose="02020603050405020304" pitchFamily="18" charset="0"/>
              </a:rPr>
              <a:t>With auto detection feature, you can identify if the bug you are going to file for a product in Bugzilla already exists in the database.</a:t>
            </a:r>
          </a:p>
        </p:txBody>
      </p:sp>
    </p:spTree>
    <p:extLst>
      <p:ext uri="{BB962C8B-B14F-4D97-AF65-F5344CB8AC3E}">
        <p14:creationId xmlns:p14="http://schemas.microsoft.com/office/powerpoint/2010/main" val="179869841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720157"/>
          </a:xfrm>
        </p:spPr>
        <p:txBody>
          <a:bodyPr>
            <a:normAutofit fontScale="90000"/>
          </a:bodyPr>
          <a:lstStyle/>
          <a:p>
            <a:br>
              <a:rPr lang="en-IN" dirty="0"/>
            </a:br>
            <a:endParaRPr lang="en-IN" sz="3100" b="1" i="1" u="sng"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0" y="24120"/>
            <a:ext cx="12192000" cy="6833880"/>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Time tracking With time tracking feature</a:t>
            </a:r>
            <a:r>
              <a:rPr lang="en-US" sz="2400" dirty="0">
                <a:latin typeface="Times New Roman" panose="02020603050405020304" pitchFamily="18" charset="0"/>
                <a:cs typeface="Times New Roman" panose="02020603050405020304" pitchFamily="18" charset="0"/>
              </a:rPr>
              <a:t>, you can estimate the time a bug will take to fix and the time spent on that bug. You can also set a deadline for the completion of a bug.</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Bugzilla </a:t>
            </a:r>
            <a:r>
              <a:rPr lang="en-IN" sz="2400" dirty="0">
                <a:solidFill>
                  <a:srgbClr val="FF0000"/>
                </a:solidFill>
                <a:latin typeface="Times New Roman" panose="02020603050405020304" pitchFamily="18" charset="0"/>
                <a:cs typeface="Times New Roman" panose="02020603050405020304" pitchFamily="18" charset="0"/>
              </a:rPr>
              <a:t>displays the complete bug change history</a:t>
            </a:r>
            <a:r>
              <a:rPr lang="en-IN" sz="2400" dirty="0">
                <a:latin typeface="Times New Roman" panose="02020603050405020304" pitchFamily="18" charset="0"/>
                <a:cs typeface="Times New Roman" panose="02020603050405020304" pitchFamily="18" charset="0"/>
              </a:rPr>
              <a:t>. Bugzilla provides </a:t>
            </a:r>
            <a:r>
              <a:rPr lang="en-IN" sz="2400" dirty="0">
                <a:solidFill>
                  <a:srgbClr val="FF0000"/>
                </a:solidFill>
                <a:latin typeface="Times New Roman" panose="02020603050405020304" pitchFamily="18" charset="0"/>
                <a:cs typeface="Times New Roman" panose="02020603050405020304" pitchFamily="18" charset="0"/>
              </a:rPr>
              <a:t>inter bug dependency track and graphic representation.</a:t>
            </a:r>
          </a:p>
          <a:p>
            <a:pPr algn="just"/>
            <a:r>
              <a:rPr lang="en-IN" sz="2400" dirty="0">
                <a:latin typeface="Times New Roman" panose="02020603050405020304" pitchFamily="18" charset="0"/>
                <a:cs typeface="Times New Roman" panose="02020603050405020304" pitchFamily="18" charset="0"/>
              </a:rPr>
              <a:t>Bugzilla allows users to </a:t>
            </a:r>
            <a:r>
              <a:rPr lang="en-IN" sz="2400" dirty="0">
                <a:solidFill>
                  <a:srgbClr val="FF0000"/>
                </a:solidFill>
                <a:latin typeface="Times New Roman" panose="02020603050405020304" pitchFamily="18" charset="0"/>
                <a:cs typeface="Times New Roman" panose="02020603050405020304" pitchFamily="18" charset="0"/>
              </a:rPr>
              <a:t>attach Bug supportive files and manage it.</a:t>
            </a:r>
          </a:p>
          <a:p>
            <a:pPr marL="0" indent="0" algn="just">
              <a:buNone/>
            </a:pPr>
            <a:endParaRPr lang="en-IN"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IN" sz="2400" b="1" dirty="0">
                <a:latin typeface="Times New Roman" panose="02020603050405020304" pitchFamily="18" charset="0"/>
                <a:cs typeface="Times New Roman" panose="02020603050405020304" pitchFamily="18" charset="0"/>
              </a:rPr>
              <a:t>Who benefits most from using the Bugzilla bug tracking tool?</a:t>
            </a:r>
          </a:p>
          <a:p>
            <a:pPr algn="just"/>
            <a:r>
              <a:rPr lang="en-IN" sz="2400" dirty="0">
                <a:latin typeface="Times New Roman" panose="02020603050405020304" pitchFamily="18" charset="0"/>
                <a:cs typeface="Times New Roman" panose="02020603050405020304" pitchFamily="18" charset="0"/>
              </a:rPr>
              <a:t>Organizations involved in multiple software development projects -- especially organizations </a:t>
            </a:r>
            <a:r>
              <a:rPr lang="en-IN" sz="2400" dirty="0">
                <a:solidFill>
                  <a:srgbClr val="FF0000"/>
                </a:solidFill>
                <a:latin typeface="Times New Roman" panose="02020603050405020304" pitchFamily="18" charset="0"/>
                <a:cs typeface="Times New Roman" panose="02020603050405020304" pitchFamily="18" charset="0"/>
              </a:rPr>
              <a:t>with large teams of developers and testers -- would find Bugzilla very helpful in their efforts, as it provides them with a convenient centralized location for tracking ongoing initiatives and helps cut down on duplicate and unnecessary </a:t>
            </a:r>
            <a:r>
              <a:rPr lang="en-IN" sz="2400" dirty="0">
                <a:latin typeface="Times New Roman" panose="02020603050405020304" pitchFamily="18" charset="0"/>
                <a:cs typeface="Times New Roman" panose="02020603050405020304" pitchFamily="18" charset="0"/>
              </a:rPr>
              <a:t>work. </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All members of the </a:t>
            </a:r>
            <a:r>
              <a:rPr lang="en-IN" sz="2400" u="sng" dirty="0">
                <a:latin typeface="Times New Roman" panose="02020603050405020304" pitchFamily="18" charset="0"/>
                <a:cs typeface="Times New Roman" panose="02020603050405020304" pitchFamily="18" charset="0"/>
              </a:rPr>
              <a:t>DevOps</a:t>
            </a:r>
            <a:r>
              <a:rPr lang="en-IN" sz="2400" dirty="0">
                <a:latin typeface="Times New Roman" panose="02020603050405020304" pitchFamily="18" charset="0"/>
                <a:cs typeface="Times New Roman" panose="02020603050405020304" pitchFamily="18" charset="0"/>
              </a:rPr>
              <a:t> team, no matter what their involvement is during development, will find the software simple to use.</a:t>
            </a:r>
          </a:p>
          <a:p>
            <a:pPr algn="just"/>
            <a:endParaRPr lang="en-US" sz="20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721099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ifecycle of a Bugzilla Bug">
            <a:extLst>
              <a:ext uri="{FF2B5EF4-FFF2-40B4-BE49-F238E27FC236}">
                <a16:creationId xmlns:a16="http://schemas.microsoft.com/office/drawing/2014/main" id="{D2F6B853-4A05-4C43-A61C-7430E5DFFC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 y="502332"/>
            <a:ext cx="12192001" cy="635567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B0CC0EE-BF50-48E6-87CA-70549D77F3BB}"/>
              </a:ext>
            </a:extLst>
          </p:cNvPr>
          <p:cNvSpPr txBox="1"/>
          <p:nvPr/>
        </p:nvSpPr>
        <p:spPr>
          <a:xfrm>
            <a:off x="212035" y="92765"/>
            <a:ext cx="8931965" cy="461665"/>
          </a:xfrm>
          <a:prstGeom prst="rect">
            <a:avLst/>
          </a:prstGeom>
          <a:noFill/>
        </p:spPr>
        <p:txBody>
          <a:bodyPr wrap="square">
            <a:spAutoFit/>
          </a:bodyPr>
          <a:lstStyle/>
          <a:p>
            <a:r>
              <a:rPr lang="en-US" b="1" i="0" dirty="0">
                <a:solidFill>
                  <a:srgbClr val="111111"/>
                </a:solidFill>
                <a:effectLst/>
                <a:latin typeface="Verdana" panose="020B0604030504040204" pitchFamily="34" charset="0"/>
              </a:rPr>
              <a:t> </a:t>
            </a:r>
            <a:r>
              <a:rPr lang="en-US" sz="2400" b="1" i="0" dirty="0">
                <a:effectLst/>
                <a:latin typeface="Times New Roman" panose="02020603050405020304" pitchFamily="18" charset="0"/>
                <a:cs typeface="Times New Roman" panose="02020603050405020304" pitchFamily="18" charset="0"/>
              </a:rPr>
              <a:t>Lifecycle of a Bugzilla Bug</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182446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fontScale="70000" lnSpcReduction="20000"/>
          </a:bodyPr>
          <a:lstStyle/>
          <a:p>
            <a:pPr>
              <a:lnSpc>
                <a:spcPct val="150000"/>
              </a:lnSpc>
              <a:buFont typeface="Wingdings" panose="05000000000000000000" pitchFamily="2" charset="2"/>
              <a:buChar char="q"/>
            </a:pPr>
            <a:r>
              <a:rPr lang="en-US" b="1" i="1" u="sng" dirty="0">
                <a:solidFill>
                  <a:srgbClr val="000000"/>
                </a:solidFill>
                <a:latin typeface="Times New Roman" panose="02020603050405020304" pitchFamily="18" charset="0"/>
                <a:cs typeface="Times New Roman" panose="02020603050405020304" pitchFamily="18" charset="0"/>
              </a:rPr>
              <a:t>This workflow is configurable, but the default states are as follows: </a:t>
            </a:r>
          </a:p>
          <a:p>
            <a:pPr>
              <a:lnSpc>
                <a:spcPct val="150000"/>
              </a:lnSpc>
            </a:pPr>
            <a:r>
              <a:rPr lang="en-US" b="1" dirty="0">
                <a:solidFill>
                  <a:srgbClr val="FF0000"/>
                </a:solidFill>
                <a:latin typeface="Times New Roman" panose="02020603050405020304" pitchFamily="18" charset="0"/>
                <a:cs typeface="Times New Roman" panose="02020603050405020304" pitchFamily="18" charset="0"/>
              </a:rPr>
              <a:t>Unconfirmed</a:t>
            </a:r>
            <a:r>
              <a:rPr lang="en-US" dirty="0">
                <a:solidFill>
                  <a:srgbClr val="000000"/>
                </a:solidFill>
                <a:latin typeface="Times New Roman" panose="02020603050405020304" pitchFamily="18" charset="0"/>
                <a:cs typeface="Times New Roman" panose="02020603050405020304" pitchFamily="18" charset="0"/>
              </a:rPr>
              <a:t>: A new bug by a non-</a:t>
            </a:r>
            <a:r>
              <a:rPr lang="en-US" dirty="0" err="1">
                <a:solidFill>
                  <a:srgbClr val="000000"/>
                </a:solidFill>
                <a:latin typeface="Times New Roman" panose="02020603050405020304" pitchFamily="18" charset="0"/>
                <a:cs typeface="Times New Roman" panose="02020603050405020304" pitchFamily="18" charset="0"/>
              </a:rPr>
              <a:t>EMpowered</a:t>
            </a:r>
            <a:r>
              <a:rPr lang="en-US" dirty="0">
                <a:solidFill>
                  <a:srgbClr val="000000"/>
                </a:solidFill>
                <a:latin typeface="Times New Roman" panose="02020603050405020304" pitchFamily="18" charset="0"/>
                <a:cs typeface="Times New Roman" panose="02020603050405020304" pitchFamily="18" charset="0"/>
              </a:rPr>
              <a:t> user begins in the unconfirmed state </a:t>
            </a:r>
          </a:p>
          <a:p>
            <a:pPr>
              <a:lnSpc>
                <a:spcPct val="150000"/>
              </a:lnSpc>
            </a:pPr>
            <a:r>
              <a:rPr lang="en-US" b="1" dirty="0">
                <a:solidFill>
                  <a:srgbClr val="FF0000"/>
                </a:solidFill>
                <a:latin typeface="Times New Roman" panose="02020603050405020304" pitchFamily="18" charset="0"/>
                <a:cs typeface="Times New Roman" panose="02020603050405020304" pitchFamily="18" charset="0"/>
              </a:rPr>
              <a:t>Confirmed</a:t>
            </a:r>
            <a:r>
              <a:rPr lang="en-US" dirty="0">
                <a:solidFill>
                  <a:srgbClr val="000000"/>
                </a:solidFill>
                <a:latin typeface="Times New Roman" panose="02020603050405020304" pitchFamily="18" charset="0"/>
                <a:cs typeface="Times New Roman" panose="02020603050405020304" pitchFamily="18" charset="0"/>
              </a:rPr>
              <a:t>: If the bug is confirmed to be worthy of investigation, it is put in the confirmed state </a:t>
            </a:r>
          </a:p>
          <a:p>
            <a:pPr>
              <a:lnSpc>
                <a:spcPct val="150000"/>
              </a:lnSpc>
            </a:pPr>
            <a:r>
              <a:rPr lang="en-US" b="1" dirty="0">
                <a:solidFill>
                  <a:srgbClr val="FF0000"/>
                </a:solidFill>
                <a:latin typeface="Times New Roman" panose="02020603050405020304" pitchFamily="18" charset="0"/>
                <a:cs typeface="Times New Roman" panose="02020603050405020304" pitchFamily="18" charset="0"/>
              </a:rPr>
              <a:t>In progress</a:t>
            </a:r>
            <a:r>
              <a:rPr lang="en-US" dirty="0">
                <a:solidFill>
                  <a:srgbClr val="000000"/>
                </a:solidFill>
                <a:latin typeface="Times New Roman" panose="02020603050405020304" pitchFamily="18" charset="0"/>
                <a:cs typeface="Times New Roman" panose="02020603050405020304" pitchFamily="18" charset="0"/>
              </a:rPr>
              <a:t>: When a developer starts working on resolving the bug, the in progress state is used </a:t>
            </a:r>
          </a:p>
          <a:p>
            <a:pPr>
              <a:lnSpc>
                <a:spcPct val="150000"/>
              </a:lnSpc>
            </a:pPr>
            <a:r>
              <a:rPr lang="en-US" b="1" dirty="0">
                <a:solidFill>
                  <a:srgbClr val="FF0000"/>
                </a:solidFill>
                <a:latin typeface="Times New Roman" panose="02020603050405020304" pitchFamily="18" charset="0"/>
                <a:cs typeface="Times New Roman" panose="02020603050405020304" pitchFamily="18" charset="0"/>
              </a:rPr>
              <a:t>Resolved</a:t>
            </a:r>
            <a:r>
              <a:rPr lang="en-US" dirty="0">
                <a:solidFill>
                  <a:srgbClr val="000000"/>
                </a:solidFill>
                <a:latin typeface="Times New Roman" panose="02020603050405020304" pitchFamily="18" charset="0"/>
                <a:cs typeface="Times New Roman" panose="02020603050405020304" pitchFamily="18" charset="0"/>
              </a:rPr>
              <a:t>: When developers believe that they have finished fixing the bug, they put it in the resolved state </a:t>
            </a:r>
          </a:p>
          <a:p>
            <a:pPr>
              <a:lnSpc>
                <a:spcPct val="150000"/>
              </a:lnSpc>
            </a:pPr>
            <a:r>
              <a:rPr lang="en-US" b="1" dirty="0">
                <a:solidFill>
                  <a:srgbClr val="FF0000"/>
                </a:solidFill>
                <a:latin typeface="Times New Roman" panose="02020603050405020304" pitchFamily="18" charset="0"/>
                <a:cs typeface="Times New Roman" panose="02020603050405020304" pitchFamily="18" charset="0"/>
              </a:rPr>
              <a:t>Verified</a:t>
            </a:r>
            <a:r>
              <a:rPr lang="en-US" dirty="0">
                <a:solidFill>
                  <a:srgbClr val="000000"/>
                </a:solidFill>
                <a:latin typeface="Times New Roman" panose="02020603050405020304" pitchFamily="18" charset="0"/>
                <a:cs typeface="Times New Roman" panose="02020603050405020304" pitchFamily="18" charset="0"/>
              </a:rPr>
              <a:t>: When the quality assurance team agrees that the bug is fixed, it is put in the verified state</a:t>
            </a:r>
          </a:p>
          <a:p>
            <a:pPr>
              <a:lnSpc>
                <a:spcPct val="150000"/>
              </a:lnSpc>
            </a:pPr>
            <a:endParaRPr lang="en-US" dirty="0">
              <a:solidFill>
                <a:srgbClr val="000000"/>
              </a:solidFill>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q"/>
            </a:pPr>
            <a:r>
              <a:rPr lang="en-US" b="1" i="1" u="sng" dirty="0">
                <a:latin typeface="Times New Roman" panose="02020603050405020304" pitchFamily="18" charset="0"/>
                <a:cs typeface="Times New Roman" panose="02020603050405020304" pitchFamily="18" charset="0"/>
              </a:rPr>
              <a:t>Advantages of Bugzilla</a:t>
            </a:r>
            <a:endParaRPr lang="en-US" i="1" u="sng"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Improves quality</a:t>
            </a:r>
          </a:p>
          <a:p>
            <a:pPr>
              <a:lnSpc>
                <a:spcPct val="150000"/>
              </a:lnSpc>
            </a:pPr>
            <a:r>
              <a:rPr lang="en-US" dirty="0">
                <a:latin typeface="Times New Roman" panose="02020603050405020304" pitchFamily="18" charset="0"/>
                <a:cs typeface="Times New Roman" panose="02020603050405020304" pitchFamily="18" charset="0"/>
              </a:rPr>
              <a:t>Improves communication</a:t>
            </a:r>
          </a:p>
          <a:p>
            <a:pPr>
              <a:lnSpc>
                <a:spcPct val="150000"/>
              </a:lnSpc>
            </a:pPr>
            <a:r>
              <a:rPr lang="en-US" dirty="0">
                <a:latin typeface="Times New Roman" panose="02020603050405020304" pitchFamily="18" charset="0"/>
                <a:cs typeface="Times New Roman" panose="02020603050405020304" pitchFamily="18" charset="0"/>
              </a:rPr>
              <a:t>Increase productivity</a:t>
            </a:r>
          </a:p>
          <a:p>
            <a:pPr>
              <a:lnSpc>
                <a:spcPct val="150000"/>
              </a:lnSpc>
            </a:pPr>
            <a:r>
              <a:rPr lang="en-US" dirty="0">
                <a:latin typeface="Times New Roman" panose="02020603050405020304" pitchFamily="18" charset="0"/>
                <a:cs typeface="Times New Roman" panose="02020603050405020304" pitchFamily="18" charset="0"/>
              </a:rPr>
              <a:t>Improve customer satisfaction</a:t>
            </a:r>
          </a:p>
          <a:p>
            <a:pPr>
              <a:lnSpc>
                <a:spcPct val="150000"/>
              </a:lnSpc>
            </a:pPr>
            <a:r>
              <a:rPr lang="en-US" dirty="0">
                <a:latin typeface="Times New Roman" panose="02020603050405020304" pitchFamily="18" charset="0"/>
                <a:cs typeface="Times New Roman" panose="02020603050405020304" pitchFamily="18" charset="0"/>
              </a:rPr>
              <a:t>Reduce costs</a:t>
            </a:r>
          </a:p>
          <a:p>
            <a:endParaRPr lang="en-IN" dirty="0"/>
          </a:p>
        </p:txBody>
      </p:sp>
    </p:spTree>
    <p:extLst>
      <p:ext uri="{BB962C8B-B14F-4D97-AF65-F5344CB8AC3E}">
        <p14:creationId xmlns:p14="http://schemas.microsoft.com/office/powerpoint/2010/main" val="233948323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96036"/>
          </a:xfrm>
        </p:spPr>
        <p:txBody>
          <a:bodyPr>
            <a:normAutofit fontScale="90000"/>
          </a:bodyPr>
          <a:lstStyle/>
          <a:p>
            <a:br>
              <a:rPr lang="en-US" dirty="0">
                <a:solidFill>
                  <a:srgbClr val="FF0000"/>
                </a:solidFill>
                <a:latin typeface="Times New Roman" panose="02020603050405020304" pitchFamily="18" charset="0"/>
                <a:cs typeface="Times New Roman" panose="02020603050405020304" pitchFamily="18" charset="0"/>
              </a:rPr>
            </a:br>
            <a:r>
              <a:rPr lang="en-US" sz="3600" b="1" i="1" dirty="0" err="1">
                <a:solidFill>
                  <a:srgbClr val="FF0000"/>
                </a:solidFill>
                <a:latin typeface="Times New Roman" panose="02020603050405020304" pitchFamily="18" charset="0"/>
                <a:cs typeface="Times New Roman" panose="02020603050405020304" pitchFamily="18" charset="0"/>
              </a:rPr>
              <a:t>GitLab</a:t>
            </a:r>
            <a:r>
              <a:rPr lang="en-US" sz="3600" b="1" i="1" dirty="0">
                <a:solidFill>
                  <a:srgbClr val="FF0000"/>
                </a:solidFill>
                <a:latin typeface="Times New Roman" panose="02020603050405020304" pitchFamily="18" charset="0"/>
                <a:cs typeface="Times New Roman" panose="02020603050405020304" pitchFamily="18" charset="0"/>
              </a:rPr>
              <a:t> tracker:</a:t>
            </a:r>
            <a:br>
              <a:rPr lang="en-US" b="1" i="1" dirty="0">
                <a:solidFill>
                  <a:srgbClr val="FF0000"/>
                </a:solidFill>
                <a:latin typeface="Times New Roman" panose="02020603050405020304" pitchFamily="18" charset="0"/>
                <a:cs typeface="Times New Roman" panose="02020603050405020304" pitchFamily="18" charset="0"/>
              </a:rPr>
            </a:br>
            <a:endParaRPr lang="en-IN" b="1" i="1" dirty="0"/>
          </a:p>
        </p:txBody>
      </p:sp>
      <p:sp>
        <p:nvSpPr>
          <p:cNvPr id="3" name="Content Placeholder 2"/>
          <p:cNvSpPr>
            <a:spLocks noGrp="1"/>
          </p:cNvSpPr>
          <p:nvPr>
            <p:ph idx="1"/>
          </p:nvPr>
        </p:nvSpPr>
        <p:spPr>
          <a:xfrm>
            <a:off x="0" y="696036"/>
            <a:ext cx="12192000" cy="6161964"/>
          </a:xfrm>
        </p:spPr>
        <p:txBody>
          <a:bodyPr>
            <a:normAutofit/>
          </a:bodyPr>
          <a:lstStyle/>
          <a:p>
            <a:pPr algn="just"/>
            <a:r>
              <a:rPr lang="en-IN" sz="2400" dirty="0">
                <a:latin typeface="Times New Roman" panose="02020603050405020304" pitchFamily="18" charset="0"/>
                <a:cs typeface="Times New Roman" panose="02020603050405020304" pitchFamily="18" charset="0"/>
              </a:rPr>
              <a:t>The GitLab Issue Tracker is an advanced and complete tool for tracking the issues.</a:t>
            </a:r>
          </a:p>
          <a:p>
            <a:pPr marL="0" indent="0" algn="just">
              <a:buNone/>
            </a:pPr>
            <a:endParaRPr lang="en-IN" sz="2400" dirty="0">
              <a:latin typeface="Times New Roman" panose="02020603050405020304" pitchFamily="18" charset="0"/>
              <a:cs typeface="Times New Roman" panose="02020603050405020304" pitchFamily="18" charset="0"/>
            </a:endParaRPr>
          </a:p>
          <a:p>
            <a:pPr algn="just"/>
            <a:r>
              <a:rPr lang="en-US" sz="2400" dirty="0">
                <a:solidFill>
                  <a:srgbClr val="333333"/>
                </a:solidFill>
                <a:latin typeface="Times New Roman" panose="02020603050405020304" pitchFamily="18" charset="0"/>
                <a:cs typeface="Times New Roman" panose="02020603050405020304" pitchFamily="18" charset="0"/>
              </a:rPr>
              <a:t>Client constantly </a:t>
            </a:r>
            <a:r>
              <a:rPr lang="en-US" sz="2400" dirty="0">
                <a:solidFill>
                  <a:srgbClr val="FF0000"/>
                </a:solidFill>
                <a:latin typeface="Times New Roman" panose="02020603050405020304" pitchFamily="18" charset="0"/>
                <a:cs typeface="Times New Roman" panose="02020603050405020304" pitchFamily="18" charset="0"/>
              </a:rPr>
              <a:t>pushing out new features and improvements to your product</a:t>
            </a:r>
            <a:r>
              <a:rPr lang="en-US" sz="2400" dirty="0">
                <a:solidFill>
                  <a:srgbClr val="333333"/>
                </a:solidFill>
                <a:latin typeface="Times New Roman" panose="02020603050405020304" pitchFamily="18" charset="0"/>
                <a:cs typeface="Times New Roman" panose="02020603050405020304" pitchFamily="18" charset="0"/>
              </a:rPr>
              <a:t>, but with those updates and changes comes the </a:t>
            </a:r>
            <a:r>
              <a:rPr lang="en-US" sz="2400" dirty="0">
                <a:solidFill>
                  <a:srgbClr val="FF0000"/>
                </a:solidFill>
                <a:latin typeface="Times New Roman" panose="02020603050405020304" pitchFamily="18" charset="0"/>
                <a:cs typeface="Times New Roman" panose="02020603050405020304" pitchFamily="18" charset="0"/>
              </a:rPr>
              <a:t>inevitable risk of bugs</a:t>
            </a:r>
            <a:r>
              <a:rPr lang="en-US" sz="2400" dirty="0">
                <a:solidFill>
                  <a:srgbClr val="333333"/>
                </a:solidFill>
                <a:latin typeface="Times New Roman" panose="02020603050405020304" pitchFamily="18" charset="0"/>
                <a:cs typeface="Times New Roman" panose="02020603050405020304" pitchFamily="18" charset="0"/>
              </a:rPr>
              <a:t>. </a:t>
            </a:r>
          </a:p>
          <a:p>
            <a:pPr marL="0" indent="0" algn="just">
              <a:buNone/>
            </a:pPr>
            <a:endParaRPr lang="en-US" sz="2400" dirty="0">
              <a:solidFill>
                <a:srgbClr val="333333"/>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a:t>
            </a:r>
            <a:r>
              <a:rPr lang="en-US" sz="2400" dirty="0">
                <a:solidFill>
                  <a:srgbClr val="FF0000"/>
                </a:solidFill>
                <a:latin typeface="Times New Roman" panose="02020603050405020304" pitchFamily="18" charset="0"/>
                <a:cs typeface="Times New Roman" panose="02020603050405020304" pitchFamily="18" charset="0"/>
              </a:rPr>
              <a:t>Issue Tracker is the collection of  all issues opened and closed that are created in a project.</a:t>
            </a:r>
            <a:r>
              <a:rPr lang="en-US" sz="2400" dirty="0">
                <a:latin typeface="Times New Roman" panose="02020603050405020304" pitchFamily="18" charset="0"/>
                <a:cs typeface="Times New Roman" panose="02020603050405020304" pitchFamily="18" charset="0"/>
              </a:rPr>
              <a:t> It is </a:t>
            </a:r>
            <a:r>
              <a:rPr lang="en-US" sz="2400" dirty="0">
                <a:solidFill>
                  <a:srgbClr val="FF0000"/>
                </a:solidFill>
                <a:latin typeface="Times New Roman" panose="02020603050405020304" pitchFamily="18" charset="0"/>
                <a:cs typeface="Times New Roman" panose="02020603050405020304" pitchFamily="18" charset="0"/>
              </a:rPr>
              <a:t>available for all projects, from the moment the project is created.</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Gitlab tracker  uses </a:t>
            </a:r>
            <a:r>
              <a:rPr lang="en-US" sz="2400" dirty="0" err="1">
                <a:latin typeface="Times New Roman" panose="02020603050405020304" pitchFamily="18" charset="0"/>
                <a:cs typeface="Times New Roman" panose="02020603050405020304" pitchFamily="18" charset="0"/>
              </a:rPr>
              <a:t>gitlab</a:t>
            </a:r>
            <a:r>
              <a:rPr lang="en-US" sz="2400" dirty="0">
                <a:latin typeface="Times New Roman" panose="02020603050405020304" pitchFamily="18" charset="0"/>
                <a:cs typeface="Times New Roman" panose="02020603050405020304" pitchFamily="18" charset="0"/>
              </a:rPr>
              <a:t> issue boards to tackle and manage issues.</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When you access your project's issues, </a:t>
            </a:r>
            <a:r>
              <a:rPr lang="en-US" sz="2400" dirty="0" err="1">
                <a:latin typeface="Times New Roman" panose="02020603050405020304" pitchFamily="18" charset="0"/>
                <a:cs typeface="Times New Roman" panose="02020603050405020304" pitchFamily="18" charset="0"/>
              </a:rPr>
              <a:t>GitLab</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will present them in a list,</a:t>
            </a:r>
            <a:r>
              <a:rPr lang="en-US" sz="2400" dirty="0">
                <a:latin typeface="Times New Roman" panose="02020603050405020304" pitchFamily="18" charset="0"/>
                <a:cs typeface="Times New Roman" panose="02020603050405020304" pitchFamily="18" charset="0"/>
              </a:rPr>
              <a:t> and you can use the tabs available to quickly filter by open and closed issues.</a:t>
            </a:r>
          </a:p>
          <a:p>
            <a:endParaRPr lang="en-US" dirty="0">
              <a:latin typeface="Times New Roman" panose="02020603050405020304" pitchFamily="18" charset="0"/>
              <a:cs typeface="Times New Roman" panose="02020603050405020304" pitchFamily="18" charset="0"/>
            </a:endParaRPr>
          </a:p>
          <a:p>
            <a:endParaRPr lang="en-SG" dirty="0"/>
          </a:p>
          <a:p>
            <a:endParaRPr lang="en-US" dirty="0">
              <a:latin typeface="Times New Roman" panose="02020603050405020304" pitchFamily="18" charset="0"/>
              <a:cs typeface="Times New Roman" panose="02020603050405020304" pitchFamily="18" charset="0"/>
            </a:endParaRPr>
          </a:p>
          <a:p>
            <a:endParaRPr lang="en-US" dirty="0">
              <a:solidFill>
                <a:srgbClr val="333333"/>
              </a:solidFill>
              <a:latin typeface="Times New Roman" panose="02020603050405020304" pitchFamily="18" charset="0"/>
              <a:cs typeface="Times New Roman" panose="02020603050405020304" pitchFamily="18" charset="0"/>
            </a:endParaRPr>
          </a:p>
          <a:p>
            <a:endParaRPr lang="en-IN" dirty="0"/>
          </a:p>
          <a:p>
            <a:endParaRPr lang="en-IN" dirty="0"/>
          </a:p>
        </p:txBody>
      </p:sp>
    </p:spTree>
    <p:extLst>
      <p:ext uri="{BB962C8B-B14F-4D97-AF65-F5344CB8AC3E}">
        <p14:creationId xmlns:p14="http://schemas.microsoft.com/office/powerpoint/2010/main" val="351062867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a:buFont typeface="Wingdings" panose="05000000000000000000" pitchFamily="2" charset="2"/>
              <a:buChar char="v"/>
            </a:pPr>
            <a:r>
              <a:rPr lang="en-IN" sz="2400" b="1" u="sng" dirty="0">
                <a:solidFill>
                  <a:srgbClr val="FF0000"/>
                </a:solidFill>
                <a:latin typeface="Times New Roman" panose="02020603050405020304" pitchFamily="18" charset="0"/>
                <a:cs typeface="Times New Roman" panose="02020603050405020304" pitchFamily="18" charset="0"/>
              </a:rPr>
              <a:t>GitLab Issues Board:-</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GitLab Issue Board is </a:t>
            </a:r>
            <a:r>
              <a:rPr lang="en-US" sz="2400" b="1" dirty="0">
                <a:solidFill>
                  <a:srgbClr val="FF0000"/>
                </a:solidFill>
                <a:latin typeface="Times New Roman" panose="02020603050405020304" pitchFamily="18" charset="0"/>
                <a:cs typeface="Times New Roman" panose="02020603050405020304" pitchFamily="18" charset="0"/>
              </a:rPr>
              <a:t>a software project management tool used to plan, organize, and visualize a workflow</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for issues and  feature or product release.</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It can be used as a </a:t>
            </a:r>
            <a:r>
              <a:rPr lang="en-US" sz="2400" dirty="0" err="1">
                <a:solidFill>
                  <a:srgbClr val="FF0000"/>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Kanban</a:t>
            </a:r>
            <a:r>
              <a:rPr lang="en-US" sz="2400" dirty="0">
                <a:latin typeface="Times New Roman" panose="02020603050405020304" pitchFamily="18" charset="0"/>
                <a:cs typeface="Times New Roman" panose="02020603050405020304" pitchFamily="18" charset="0"/>
              </a:rPr>
              <a:t> or a </a:t>
            </a:r>
            <a:r>
              <a:rPr lang="en-US" sz="2400" dirty="0">
                <a:solidFill>
                  <a:srgbClr val="FF0000"/>
                </a:solidFill>
                <a:latin typeface="Times New Roman" panose="02020603050405020304" pitchFamily="18" charset="0"/>
                <a:cs typeface="Times New Roman" panose="02020603050405020304" pitchFamily="18" charset="0"/>
              </a:rPr>
              <a:t>Scrum</a:t>
            </a:r>
            <a:r>
              <a:rPr lang="en-US" sz="2400" dirty="0">
                <a:latin typeface="Times New Roman" panose="02020603050405020304" pitchFamily="18" charset="0"/>
                <a:cs typeface="Times New Roman" panose="02020603050405020304" pitchFamily="18" charset="0"/>
              </a:rPr>
              <a:t> board.</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It pairs </a:t>
            </a:r>
            <a:r>
              <a:rPr lang="en-US" sz="2400" dirty="0">
                <a:solidFill>
                  <a:srgbClr val="FF0000"/>
                </a:solidFill>
                <a:latin typeface="Times New Roman" panose="02020603050405020304" pitchFamily="18" charset="0"/>
                <a:cs typeface="Times New Roman" panose="02020603050405020304" pitchFamily="18" charset="0"/>
              </a:rPr>
              <a:t>issue tracking and project management</a:t>
            </a:r>
            <a:r>
              <a:rPr lang="en-US" sz="2400" dirty="0">
                <a:latin typeface="Times New Roman" panose="02020603050405020304" pitchFamily="18" charset="0"/>
                <a:cs typeface="Times New Roman" panose="02020603050405020304" pitchFamily="18" charset="0"/>
              </a:rPr>
              <a:t>, keeping everything together, so that you don’t need to jump between different platforms to organize your workflow.</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solidFill>
                  <a:srgbClr val="FF0000"/>
                </a:solidFill>
                <a:latin typeface="Times New Roman" panose="02020603050405020304" pitchFamily="18" charset="0"/>
                <a:cs typeface="Times New Roman" panose="02020603050405020304" pitchFamily="18" charset="0"/>
              </a:rPr>
              <a:t>Issue boards build on the </a:t>
            </a:r>
            <a:r>
              <a:rPr lang="en-US" sz="2400" dirty="0" err="1">
                <a:solidFill>
                  <a:srgbClr val="FF0000"/>
                </a:solidFill>
                <a:latin typeface="Times New Roman" panose="02020603050405020304" pitchFamily="18" charset="0"/>
                <a:cs typeface="Times New Roman" panose="02020603050405020304" pitchFamily="18" charset="0"/>
              </a:rPr>
              <a:t>gitlab’s</a:t>
            </a:r>
            <a:r>
              <a:rPr lang="en-US" sz="2400" dirty="0">
                <a:solidFill>
                  <a:srgbClr val="FF0000"/>
                </a:solidFill>
                <a:latin typeface="Times New Roman" panose="02020603050405020304" pitchFamily="18" charset="0"/>
                <a:cs typeface="Times New Roman" panose="02020603050405020304" pitchFamily="18" charset="0"/>
              </a:rPr>
              <a:t> existing issue tracking functionality</a:t>
            </a:r>
            <a:r>
              <a:rPr lang="en-US" sz="2400" dirty="0">
                <a:latin typeface="Times New Roman" panose="02020603050405020304" pitchFamily="18" charset="0"/>
                <a:cs typeface="Times New Roman" panose="02020603050405020304" pitchFamily="18" charset="0"/>
              </a:rPr>
              <a:t> and </a:t>
            </a:r>
            <a:r>
              <a:rPr lang="en-IN" sz="2400" dirty="0">
                <a:latin typeface="Times New Roman" panose="02020603050405020304" pitchFamily="18" charset="0"/>
                <a:cs typeface="Times New Roman" panose="02020603050405020304" pitchFamily="18" charset="0"/>
              </a:rPr>
              <a:t> and </a:t>
            </a:r>
            <a:r>
              <a:rPr lang="en-IN" sz="2400" dirty="0">
                <a:solidFill>
                  <a:srgbClr val="FF0000"/>
                </a:solidFill>
                <a:latin typeface="Times New Roman" panose="02020603050405020304" pitchFamily="18" charset="0"/>
                <a:cs typeface="Times New Roman" panose="02020603050405020304" pitchFamily="18" charset="0"/>
              </a:rPr>
              <a:t>leverage the power of GitLab </a:t>
            </a:r>
            <a:r>
              <a:rPr lang="en-US" sz="2400" dirty="0">
                <a:solidFill>
                  <a:srgbClr val="FF0000"/>
                </a:solidFill>
                <a:latin typeface="Times New Roman" panose="02020603050405020304" pitchFamily="18" charset="0"/>
                <a:cs typeface="Times New Roman" panose="02020603050405020304" pitchFamily="18" charset="0"/>
              </a:rPr>
              <a:t>labels</a:t>
            </a:r>
            <a:r>
              <a:rPr lang="en-US" sz="2400"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GitLab issue labels can be  utilized as a lists on a Kanban board.</a:t>
            </a:r>
            <a:r>
              <a:rPr lang="en-US" sz="2400" dirty="0">
                <a:latin typeface="Times New Roman" panose="02020603050405020304" pitchFamily="18" charset="0"/>
                <a:cs typeface="Times New Roman" panose="02020603050405020304" pitchFamily="18" charset="0"/>
              </a:rPr>
              <a:t> Your issues appear as cards in vertical lists, organized by their assigned labels, milestones, or assignees.</a:t>
            </a:r>
          </a:p>
          <a:p>
            <a:endParaRPr lang="en-IN" sz="2400" b="1" u="sng"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795605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Index · Issues · Project · User · Help · GitLab">
            <a:extLst>
              <a:ext uri="{FF2B5EF4-FFF2-40B4-BE49-F238E27FC236}">
                <a16:creationId xmlns:a16="http://schemas.microsoft.com/office/drawing/2014/main" id="{638051E1-984A-4853-903B-1CB5DFC252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6727"/>
            <a:ext cx="11830050" cy="7411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410468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190AE6-C1EB-4C02-B6E6-4801FD6FDBDF}"/>
              </a:ext>
            </a:extLst>
          </p:cNvPr>
          <p:cNvSpPr txBox="1"/>
          <p:nvPr/>
        </p:nvSpPr>
        <p:spPr>
          <a:xfrm>
            <a:off x="128337" y="0"/>
            <a:ext cx="11951368" cy="4893647"/>
          </a:xfrm>
          <a:prstGeom prst="rect">
            <a:avLst/>
          </a:prstGeom>
          <a:noFill/>
        </p:spPr>
        <p:txBody>
          <a:bodyPr wrap="square">
            <a:spAutoFit/>
          </a:bodyPr>
          <a:lstStyle/>
          <a:p>
            <a:pPr algn="just"/>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An </a:t>
            </a:r>
            <a:r>
              <a:rPr lang="en-IN" sz="2400" dirty="0">
                <a:solidFill>
                  <a:srgbClr val="FF0000"/>
                </a:solidFill>
                <a:latin typeface="Times New Roman" panose="02020603050405020304" pitchFamily="18" charset="0"/>
                <a:cs typeface="Times New Roman" panose="02020603050405020304" pitchFamily="18" charset="0"/>
              </a:rPr>
              <a:t>Issue Board shows you what issues your team is working on, who is assigned to each, and where in the workflow those issues are</a:t>
            </a:r>
          </a:p>
          <a:p>
            <a:pPr algn="just"/>
            <a:endParaRPr lang="en-IN"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Issue boards help you to </a:t>
            </a:r>
            <a:r>
              <a:rPr lang="en-US" sz="2400" dirty="0">
                <a:solidFill>
                  <a:srgbClr val="FF0000"/>
                </a:solidFill>
                <a:latin typeface="Times New Roman" panose="02020603050405020304" pitchFamily="18" charset="0"/>
                <a:cs typeface="Times New Roman" panose="02020603050405020304" pitchFamily="18" charset="0"/>
              </a:rPr>
              <a:t>visualize and manage your entire process in GitLab</a:t>
            </a:r>
            <a:r>
              <a:rPr lang="en-US" sz="2400" dirty="0">
                <a:latin typeface="Times New Roman" panose="02020603050405020304" pitchFamily="18" charset="0"/>
                <a:cs typeface="Times New Roman" panose="02020603050405020304" pitchFamily="18" charset="0"/>
              </a:rPr>
              <a:t>. You add your </a:t>
            </a:r>
            <a:r>
              <a:rPr lang="en-US" sz="2400" dirty="0">
                <a:solidFill>
                  <a:srgbClr val="FF0000"/>
                </a:solidFill>
                <a:latin typeface="Times New Roman" panose="02020603050405020304" pitchFamily="18" charset="0"/>
                <a:cs typeface="Times New Roman" panose="02020603050405020304" pitchFamily="18" charset="0"/>
              </a:rPr>
              <a:t>labels, and then create the corresponding list for your existing issues</a:t>
            </a:r>
            <a:r>
              <a:rPr lang="en-US" sz="2400" dirty="0">
                <a:latin typeface="Times New Roman" panose="02020603050405020304" pitchFamily="18" charset="0"/>
                <a:cs typeface="Times New Roman" panose="02020603050405020304" pitchFamily="18" charset="0"/>
              </a:rPr>
              <a:t>. When you’re ready, you can drag your issue cards from one step to another one.</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To let your team members organize their own workflows, use multiple issue boards. </a:t>
            </a:r>
            <a:r>
              <a:rPr lang="en-US" sz="2400" dirty="0">
                <a:solidFill>
                  <a:srgbClr val="FF0000"/>
                </a:solidFill>
                <a:latin typeface="Times New Roman" panose="02020603050405020304" pitchFamily="18" charset="0"/>
                <a:cs typeface="Times New Roman" panose="02020603050405020304" pitchFamily="18" charset="0"/>
              </a:rPr>
              <a:t>This allows creating multiple issue boards in the same project.</a:t>
            </a:r>
          </a:p>
        </p:txBody>
      </p:sp>
    </p:spTree>
    <p:extLst>
      <p:ext uri="{BB962C8B-B14F-4D97-AF65-F5344CB8AC3E}">
        <p14:creationId xmlns:p14="http://schemas.microsoft.com/office/powerpoint/2010/main" val="161599194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marL="0" indent="0" algn="just">
              <a:buNone/>
            </a:pPr>
            <a:endParaRPr lang="en-IN" sz="2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IN" sz="2600" b="1" u="sng" dirty="0">
                <a:latin typeface="Times New Roman" panose="02020603050405020304" pitchFamily="18" charset="0"/>
                <a:cs typeface="Times New Roman" panose="02020603050405020304" pitchFamily="18" charset="0"/>
              </a:rPr>
              <a:t>Components of </a:t>
            </a:r>
            <a:r>
              <a:rPr lang="en-IN" sz="2600" b="1" u="sng" dirty="0" err="1">
                <a:latin typeface="Times New Roman" panose="02020603050405020304" pitchFamily="18" charset="0"/>
                <a:cs typeface="Times New Roman" panose="02020603050405020304" pitchFamily="18" charset="0"/>
              </a:rPr>
              <a:t>gitlab</a:t>
            </a:r>
            <a:r>
              <a:rPr lang="en-IN" sz="2600" b="1" u="sng" dirty="0">
                <a:latin typeface="Times New Roman" panose="02020603050405020304" pitchFamily="18" charset="0"/>
                <a:cs typeface="Times New Roman" panose="02020603050405020304" pitchFamily="18" charset="0"/>
              </a:rPr>
              <a:t> Issue Board:-</a:t>
            </a:r>
          </a:p>
          <a:p>
            <a:pPr marL="0" indent="0">
              <a:buNone/>
            </a:pPr>
            <a:endParaRPr lang="en-IN" sz="2600" b="1" u="sng"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sz="2600" dirty="0">
                <a:solidFill>
                  <a:srgbClr val="FF0000"/>
                </a:solidFill>
                <a:latin typeface="Times New Roman" panose="02020603050405020304" pitchFamily="18" charset="0"/>
                <a:cs typeface="Times New Roman" panose="02020603050405020304" pitchFamily="18" charset="0"/>
              </a:rPr>
              <a:t>Create a New Issue</a:t>
            </a:r>
          </a:p>
          <a:p>
            <a:r>
              <a:rPr lang="en-IN" sz="2600" dirty="0">
                <a:latin typeface="Times New Roman" panose="02020603050405020304" pitchFamily="18" charset="0"/>
                <a:cs typeface="Times New Roman" panose="02020603050405020304" pitchFamily="18" charset="0"/>
              </a:rPr>
              <a:t>Issues help you summarize your ideas and align the team on a common goal.</a:t>
            </a:r>
          </a:p>
          <a:p>
            <a:pPr marL="0" indent="0">
              <a:buNone/>
            </a:pPr>
            <a:endParaRPr lang="en-IN" sz="2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sz="2600" dirty="0">
                <a:solidFill>
                  <a:srgbClr val="FF0000"/>
                </a:solidFill>
                <a:latin typeface="Times New Roman" panose="02020603050405020304" pitchFamily="18" charset="0"/>
                <a:cs typeface="Times New Roman" panose="02020603050405020304" pitchFamily="18" charset="0"/>
              </a:rPr>
              <a:t>Label your issue</a:t>
            </a:r>
          </a:p>
          <a:p>
            <a:r>
              <a:rPr lang="en-IN" sz="2600" dirty="0">
                <a:latin typeface="Times New Roman" panose="02020603050405020304" pitchFamily="18" charset="0"/>
                <a:cs typeface="Times New Roman" panose="02020603050405020304" pitchFamily="18" charset="0"/>
                <a:hlinkClick r:id="rId2"/>
              </a:rPr>
              <a:t>Labels</a:t>
            </a:r>
            <a:r>
              <a:rPr lang="en-IN" sz="2600" dirty="0">
                <a:latin typeface="Times New Roman" panose="02020603050405020304" pitchFamily="18" charset="0"/>
                <a:cs typeface="Times New Roman" panose="02020603050405020304" pitchFamily="18" charset="0"/>
              </a:rPr>
              <a:t> make it easy to categorize issues based on descriptive titles. They help teams </a:t>
            </a:r>
            <a:r>
              <a:rPr lang="en-IN" sz="2600" dirty="0">
                <a:solidFill>
                  <a:srgbClr val="FF0000"/>
                </a:solidFill>
                <a:latin typeface="Times New Roman" panose="02020603050405020304" pitchFamily="18" charset="0"/>
                <a:cs typeface="Times New Roman" panose="02020603050405020304" pitchFamily="18" charset="0"/>
              </a:rPr>
              <a:t>quickly understand the context of an issue</a:t>
            </a:r>
            <a:r>
              <a:rPr lang="en-IN" sz="2600" dirty="0">
                <a:latin typeface="Times New Roman" panose="02020603050405020304" pitchFamily="18" charset="0"/>
                <a:cs typeface="Times New Roman" panose="02020603050405020304" pitchFamily="18" charset="0"/>
              </a:rPr>
              <a:t>. Labels can be used to describe the issue type, like "</a:t>
            </a:r>
            <a:r>
              <a:rPr lang="en-IN" sz="2600" dirty="0">
                <a:solidFill>
                  <a:srgbClr val="7030A0"/>
                </a:solidFill>
                <a:latin typeface="Times New Roman" panose="02020603050405020304" pitchFamily="18" charset="0"/>
                <a:cs typeface="Times New Roman" panose="02020603050405020304" pitchFamily="18" charset="0"/>
              </a:rPr>
              <a:t>new feature</a:t>
            </a:r>
            <a:r>
              <a:rPr lang="en-IN" sz="2600" dirty="0">
                <a:latin typeface="Times New Roman" panose="02020603050405020304" pitchFamily="18" charset="0"/>
                <a:cs typeface="Times New Roman" panose="02020603050405020304" pitchFamily="18" charset="0"/>
              </a:rPr>
              <a:t>," or describe the issue stage, like "</a:t>
            </a:r>
            <a:r>
              <a:rPr lang="en-IN" sz="2600" dirty="0">
                <a:solidFill>
                  <a:srgbClr val="7030A0"/>
                </a:solidFill>
                <a:latin typeface="Times New Roman" panose="02020603050405020304" pitchFamily="18" charset="0"/>
                <a:cs typeface="Times New Roman" panose="02020603050405020304" pitchFamily="18" charset="0"/>
              </a:rPr>
              <a:t>QA</a:t>
            </a:r>
            <a:r>
              <a:rPr lang="en-IN" sz="2600" dirty="0">
                <a:latin typeface="Times New Roman" panose="02020603050405020304" pitchFamily="18" charset="0"/>
                <a:cs typeface="Times New Roman" panose="02020603050405020304" pitchFamily="18" charset="0"/>
              </a:rPr>
              <a:t>.“</a:t>
            </a:r>
          </a:p>
          <a:p>
            <a:pPr marL="0" indent="0">
              <a:buNone/>
            </a:pPr>
            <a:endParaRPr lang="en-IN" sz="2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sz="2600" dirty="0">
                <a:solidFill>
                  <a:srgbClr val="FF0000"/>
                </a:solidFill>
                <a:latin typeface="Times New Roman" panose="02020603050405020304" pitchFamily="18" charset="0"/>
                <a:cs typeface="Times New Roman" panose="02020603050405020304" pitchFamily="18" charset="0"/>
              </a:rPr>
              <a:t>Navigate to your Issue Board</a:t>
            </a:r>
          </a:p>
          <a:p>
            <a:r>
              <a:rPr lang="en-IN" sz="2600" dirty="0">
                <a:latin typeface="Times New Roman" panose="02020603050405020304" pitchFamily="18" charset="0"/>
                <a:cs typeface="Times New Roman" panose="02020603050405020304" pitchFamily="18" charset="0"/>
              </a:rPr>
              <a:t>Issues appear as cards on the Issue Board.</a:t>
            </a:r>
            <a:br>
              <a:rPr lang="en-IN" sz="2600" dirty="0">
                <a:latin typeface="Times New Roman" panose="02020603050405020304" pitchFamily="18" charset="0"/>
                <a:cs typeface="Times New Roman" panose="02020603050405020304" pitchFamily="18" charset="0"/>
              </a:rPr>
            </a:br>
            <a:r>
              <a:rPr lang="en-IN" sz="2600" dirty="0">
                <a:latin typeface="Times New Roman" panose="02020603050405020304" pitchFamily="18" charset="0"/>
                <a:cs typeface="Times New Roman" panose="02020603050405020304" pitchFamily="18" charset="0"/>
              </a:rPr>
              <a:t>They can be arranged across a number of columns using lists.</a:t>
            </a:r>
          </a:p>
          <a:p>
            <a:pPr marL="0" indent="0">
              <a:buNone/>
            </a:pPr>
            <a:endParaRPr lang="en-IN" sz="2200" dirty="0">
              <a:latin typeface="Times New Roman" panose="02020603050405020304" pitchFamily="18" charset="0"/>
              <a:cs typeface="Times New Roman" panose="02020603050405020304" pitchFamily="18" charset="0"/>
            </a:endParaRPr>
          </a:p>
          <a:p>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768048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fontScale="92500" lnSpcReduction="20000"/>
          </a:bodyPr>
          <a:lstStyle/>
          <a:p>
            <a:pPr>
              <a:buFont typeface="Wingdings" panose="05000000000000000000" pitchFamily="2" charset="2"/>
              <a:buChar char="q"/>
            </a:pPr>
            <a:r>
              <a:rPr lang="en-IN" sz="2600" dirty="0">
                <a:solidFill>
                  <a:srgbClr val="FF0000"/>
                </a:solidFill>
                <a:latin typeface="Times New Roman" panose="02020603050405020304" pitchFamily="18" charset="0"/>
                <a:cs typeface="Times New Roman" panose="02020603050405020304" pitchFamily="18" charset="0"/>
              </a:rPr>
              <a:t>Create a new list</a:t>
            </a:r>
          </a:p>
          <a:p>
            <a:r>
              <a:rPr lang="en-IN" sz="2600" dirty="0">
                <a:latin typeface="Times New Roman" panose="02020603050405020304" pitchFamily="18" charset="0"/>
                <a:cs typeface="Times New Roman" panose="02020603050405020304" pitchFamily="18" charset="0"/>
              </a:rPr>
              <a:t>Lists are based on the labels already created for your project.</a:t>
            </a:r>
            <a:br>
              <a:rPr lang="en-IN" sz="2600" dirty="0">
                <a:latin typeface="Times New Roman" panose="02020603050405020304" pitchFamily="18" charset="0"/>
                <a:cs typeface="Times New Roman" panose="02020603050405020304" pitchFamily="18" charset="0"/>
              </a:rPr>
            </a:br>
            <a:r>
              <a:rPr lang="en-IN" sz="2600" dirty="0">
                <a:latin typeface="Times New Roman" panose="02020603050405020304" pitchFamily="18" charset="0"/>
                <a:cs typeface="Times New Roman" panose="02020603050405020304" pitchFamily="18" charset="0"/>
              </a:rPr>
              <a:t>Each list contains the issues that are assigned to the corresponding label.</a:t>
            </a:r>
          </a:p>
          <a:p>
            <a:pPr marL="0" indent="0">
              <a:buNone/>
            </a:pPr>
            <a:endParaRPr lang="en-IN" sz="2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sz="2600" dirty="0">
                <a:solidFill>
                  <a:srgbClr val="FF0000"/>
                </a:solidFill>
                <a:latin typeface="Times New Roman" panose="02020603050405020304" pitchFamily="18" charset="0"/>
                <a:cs typeface="Times New Roman" panose="02020603050405020304" pitchFamily="18" charset="0"/>
              </a:rPr>
              <a:t>Move issues between lists</a:t>
            </a:r>
            <a:r>
              <a:rPr lang="en-IN" sz="2600" dirty="0">
                <a:latin typeface="Times New Roman" panose="02020603050405020304" pitchFamily="18" charset="0"/>
                <a:cs typeface="Times New Roman" panose="02020603050405020304" pitchFamily="18" charset="0"/>
              </a:rPr>
              <a:t>:- Communicate progress on your release and easily adjust your plans right from the Issue Board</a:t>
            </a:r>
          </a:p>
          <a:p>
            <a:pPr marL="0" indent="0">
              <a:buNone/>
            </a:pPr>
            <a:endParaRPr lang="en-IN" sz="2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sz="2600" dirty="0">
                <a:solidFill>
                  <a:srgbClr val="FF0000"/>
                </a:solidFill>
                <a:latin typeface="Times New Roman" panose="02020603050405020304" pitchFamily="18" charset="0"/>
                <a:cs typeface="Times New Roman" panose="02020603050405020304" pitchFamily="18" charset="0"/>
              </a:rPr>
              <a:t>Multiple Project Issue Boards </a:t>
            </a:r>
            <a:r>
              <a:rPr lang="en-IN" sz="2600" dirty="0">
                <a:latin typeface="Times New Roman" panose="02020603050405020304" pitchFamily="18" charset="0"/>
                <a:cs typeface="Times New Roman" panose="02020603050405020304" pitchFamily="18" charset="0"/>
              </a:rPr>
              <a:t>:-Create multiple Issue Boards for each of your projects.</a:t>
            </a:r>
          </a:p>
          <a:p>
            <a:pPr marL="0" indent="0">
              <a:buNone/>
            </a:pPr>
            <a:endParaRPr lang="en-IN" sz="2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sz="2600" dirty="0">
                <a:solidFill>
                  <a:srgbClr val="FF0000"/>
                </a:solidFill>
                <a:latin typeface="Times New Roman" panose="02020603050405020304" pitchFamily="18" charset="0"/>
                <a:cs typeface="Times New Roman" panose="02020603050405020304" pitchFamily="18" charset="0"/>
              </a:rPr>
              <a:t>It's simple to use</a:t>
            </a:r>
            <a:r>
              <a:rPr lang="en-IN" sz="2600" dirty="0">
                <a:latin typeface="Times New Roman" panose="02020603050405020304" pitchFamily="18" charset="0"/>
                <a:cs typeface="Times New Roman" panose="02020603050405020304" pitchFamily="18" charset="0"/>
              </a:rPr>
              <a:t>:- navigate to your Issue Board, click  to open a dropdown menu that will give you the option to create new boards, edit the existing ones, or delete the boards you don't need anymore. Use the same dropdown menu to navigate between your boards.</a:t>
            </a:r>
          </a:p>
          <a:p>
            <a:pPr marL="0" indent="0">
              <a:buNone/>
            </a:pPr>
            <a:endParaRPr lang="en-IN" sz="2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sz="2600" dirty="0">
                <a:solidFill>
                  <a:srgbClr val="FF0000"/>
                </a:solidFill>
                <a:latin typeface="Times New Roman" panose="02020603050405020304" pitchFamily="18" charset="0"/>
                <a:cs typeface="Times New Roman" panose="02020603050405020304" pitchFamily="18" charset="0"/>
              </a:rPr>
              <a:t>Group Issue Boards</a:t>
            </a:r>
          </a:p>
          <a:p>
            <a:r>
              <a:rPr lang="en-IN" sz="2600" dirty="0">
                <a:latin typeface="Times New Roman" panose="02020603050405020304" pitchFamily="18" charset="0"/>
                <a:cs typeface="Times New Roman" panose="02020603050405020304" pitchFamily="18" charset="0"/>
              </a:rPr>
              <a:t>Create Issue Boards at the group level and manage all issues of the underlying projects in a single and concentrated view.</a:t>
            </a:r>
          </a:p>
          <a:p>
            <a:pPr marL="0" indent="0">
              <a:buNone/>
            </a:pPr>
            <a:endParaRPr lang="en-IN" sz="2600" dirty="0">
              <a:latin typeface="Times New Roman" panose="02020603050405020304" pitchFamily="18" charset="0"/>
              <a:cs typeface="Times New Roman" panose="02020603050405020304" pitchFamily="18" charset="0"/>
            </a:endParaRPr>
          </a:p>
          <a:p>
            <a:r>
              <a:rPr lang="en-IN" sz="2600" dirty="0">
                <a:solidFill>
                  <a:srgbClr val="FF0000"/>
                </a:solidFill>
                <a:latin typeface="Times New Roman" panose="02020603050405020304" pitchFamily="18" charset="0"/>
                <a:cs typeface="Times New Roman" panose="02020603050405020304" pitchFamily="18" charset="0"/>
              </a:rPr>
              <a:t>Lists, labels, and milestones are all managed at the group level</a:t>
            </a:r>
            <a:r>
              <a:rPr lang="en-IN" sz="2600" dirty="0">
                <a:latin typeface="Times New Roman" panose="02020603050405020304" pitchFamily="18" charset="0"/>
                <a:cs typeface="Times New Roman" panose="02020603050405020304" pitchFamily="18" charset="0"/>
              </a:rPr>
              <a:t>, </a:t>
            </a:r>
            <a:r>
              <a:rPr lang="en-IN" sz="2600" dirty="0">
                <a:solidFill>
                  <a:srgbClr val="FF0000"/>
                </a:solidFill>
                <a:latin typeface="Times New Roman" panose="02020603050405020304" pitchFamily="18" charset="0"/>
                <a:cs typeface="Times New Roman" panose="02020603050405020304" pitchFamily="18" charset="0"/>
              </a:rPr>
              <a:t>allowing you to focus on the group</a:t>
            </a:r>
            <a:r>
              <a:rPr lang="en-IN" sz="2600" dirty="0">
                <a:latin typeface="Times New Roman" panose="02020603050405020304" pitchFamily="18" charset="0"/>
                <a:cs typeface="Times New Roman" panose="02020603050405020304" pitchFamily="18" charset="0"/>
              </a:rPr>
              <a:t>. This means a team may naturally be working across multiple projects, making it extremely helpful to manage issues across all those projects together.</a:t>
            </a:r>
          </a:p>
          <a:p>
            <a:endParaRPr lang="en-IN" sz="22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12396800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D64575-4330-41FB-AF82-C78FC15483B6}"/>
              </a:ext>
            </a:extLst>
          </p:cNvPr>
          <p:cNvSpPr txBox="1"/>
          <p:nvPr/>
        </p:nvSpPr>
        <p:spPr>
          <a:xfrm>
            <a:off x="209724" y="-27295"/>
            <a:ext cx="11912367" cy="1015663"/>
          </a:xfrm>
          <a:prstGeom prst="rect">
            <a:avLst/>
          </a:prstGeom>
          <a:noFill/>
        </p:spPr>
        <p:txBody>
          <a:bodyPr wrap="square">
            <a:spAutoFit/>
          </a:bodyPr>
          <a:lstStyle/>
          <a:p>
            <a:r>
              <a:rPr lang="en-SG" sz="2400" b="1" i="0" dirty="0">
                <a:solidFill>
                  <a:srgbClr val="FF0000"/>
                </a:solidFill>
                <a:effectLst/>
                <a:latin typeface="Times New Roman" panose="02020603050405020304" pitchFamily="18" charset="0"/>
                <a:cs typeface="Times New Roman" panose="02020603050405020304" pitchFamily="18" charset="0"/>
              </a:rPr>
              <a:t>What is GitLab board?</a:t>
            </a:r>
          </a:p>
          <a:p>
            <a:endParaRPr lang="en-SG" dirty="0">
              <a:solidFill>
                <a:srgbClr val="202124"/>
              </a:solidFill>
              <a:latin typeface="arial" panose="020B0604020202020204" pitchFamily="34" charset="0"/>
            </a:endParaRPr>
          </a:p>
          <a:p>
            <a:endParaRPr lang="en-SG" dirty="0"/>
          </a:p>
        </p:txBody>
      </p:sp>
      <p:pic>
        <p:nvPicPr>
          <p:cNvPr id="4" name="Picture 3">
            <a:extLst>
              <a:ext uri="{FF2B5EF4-FFF2-40B4-BE49-F238E27FC236}">
                <a16:creationId xmlns:a16="http://schemas.microsoft.com/office/drawing/2014/main" id="{41677E00-FC01-438E-8715-F8E8332A9C36}"/>
              </a:ext>
            </a:extLst>
          </p:cNvPr>
          <p:cNvPicPr>
            <a:picLocks noChangeAspect="1"/>
          </p:cNvPicPr>
          <p:nvPr/>
        </p:nvPicPr>
        <p:blipFill>
          <a:blip r:embed="rId2"/>
          <a:stretch>
            <a:fillRect/>
          </a:stretch>
        </p:blipFill>
        <p:spPr>
          <a:xfrm>
            <a:off x="368491" y="678105"/>
            <a:ext cx="11083484" cy="5965813"/>
          </a:xfrm>
          <a:prstGeom prst="rect">
            <a:avLst/>
          </a:prstGeom>
        </p:spPr>
      </p:pic>
    </p:spTree>
    <p:extLst>
      <p:ext uri="{BB962C8B-B14F-4D97-AF65-F5344CB8AC3E}">
        <p14:creationId xmlns:p14="http://schemas.microsoft.com/office/powerpoint/2010/main" val="259142667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7999"/>
          </a:xfrm>
        </p:spPr>
        <p:txBody>
          <a:bodyPr>
            <a:normAutofit fontScale="85000" lnSpcReduction="20000"/>
          </a:bodyPr>
          <a:lstStyle/>
          <a:p>
            <a:r>
              <a:rPr lang="en-US" dirty="0">
                <a:solidFill>
                  <a:srgbClr val="FF0000"/>
                </a:solidFill>
                <a:latin typeface="Times New Roman" panose="02020603050405020304" pitchFamily="18" charset="0"/>
                <a:cs typeface="Times New Roman" panose="02020603050405020304" pitchFamily="18" charset="0"/>
              </a:rPr>
              <a:t>To share reports that are helpful for your developers. </a:t>
            </a:r>
          </a:p>
          <a:p>
            <a:r>
              <a:rPr lang="en-US" dirty="0">
                <a:solidFill>
                  <a:srgbClr val="FF0000"/>
                </a:solidFill>
                <a:latin typeface="Times New Roman" panose="02020603050405020304" pitchFamily="18" charset="0"/>
                <a:cs typeface="Times New Roman" panose="02020603050405020304" pitchFamily="18" charset="0"/>
              </a:rPr>
              <a:t>The process is long, complicated, and tracking down the crucial technical information isn’t always easy.</a:t>
            </a:r>
          </a:p>
          <a:p>
            <a:pPr>
              <a:buFont typeface="Wingdings" panose="05000000000000000000" pitchFamily="2" charset="2"/>
              <a:buChar char="q"/>
            </a:pPr>
            <a:r>
              <a:rPr lang="en-US" b="1" u="sng" dirty="0">
                <a:solidFill>
                  <a:srgbClr val="FF0000"/>
                </a:solidFill>
                <a:latin typeface="Times New Roman" panose="02020603050405020304" pitchFamily="18" charset="0"/>
                <a:cs typeface="Times New Roman" panose="02020603050405020304" pitchFamily="18" charset="0"/>
              </a:rPr>
              <a:t>In most teams, reporting bugs into </a:t>
            </a:r>
            <a:r>
              <a:rPr lang="en-US" b="1" u="sng" dirty="0" err="1">
                <a:solidFill>
                  <a:srgbClr val="FF0000"/>
                </a:solidFill>
                <a:latin typeface="Times New Roman" panose="02020603050405020304" pitchFamily="18" charset="0"/>
                <a:cs typeface="Times New Roman" panose="02020603050405020304" pitchFamily="18" charset="0"/>
              </a:rPr>
              <a:t>GitLab</a:t>
            </a:r>
            <a:r>
              <a:rPr lang="en-US" b="1" u="sng" dirty="0">
                <a:solidFill>
                  <a:srgbClr val="FF0000"/>
                </a:solidFill>
                <a:latin typeface="Times New Roman" panose="02020603050405020304" pitchFamily="18" charset="0"/>
                <a:cs typeface="Times New Roman" panose="02020603050405020304" pitchFamily="18" charset="0"/>
              </a:rPr>
              <a:t> looks like this:</a:t>
            </a:r>
          </a:p>
          <a:p>
            <a:pPr>
              <a:lnSpc>
                <a:spcPct val="150000"/>
              </a:lnSpc>
              <a:buFont typeface="+mj-lt"/>
              <a:buAutoNum type="arabicPeriod"/>
            </a:pPr>
            <a:r>
              <a:rPr lang="en-US" sz="2600" dirty="0">
                <a:solidFill>
                  <a:srgbClr val="7030A0"/>
                </a:solidFill>
                <a:latin typeface="Times New Roman" panose="02020603050405020304" pitchFamily="18" charset="0"/>
                <a:cs typeface="Times New Roman" panose="02020603050405020304" pitchFamily="18" charset="0"/>
              </a:rPr>
              <a:t>Find the bug.</a:t>
            </a:r>
          </a:p>
          <a:p>
            <a:pPr>
              <a:lnSpc>
                <a:spcPct val="150000"/>
              </a:lnSpc>
              <a:buFont typeface="+mj-lt"/>
              <a:buAutoNum type="arabicPeriod"/>
            </a:pPr>
            <a:r>
              <a:rPr lang="en-US" sz="2600" dirty="0">
                <a:solidFill>
                  <a:srgbClr val="7030A0"/>
                </a:solidFill>
                <a:latin typeface="Times New Roman" panose="02020603050405020304" pitchFamily="18" charset="0"/>
                <a:cs typeface="Times New Roman" panose="02020603050405020304" pitchFamily="18" charset="0"/>
              </a:rPr>
              <a:t>Open screenshot tool, capture bug.</a:t>
            </a:r>
          </a:p>
          <a:p>
            <a:pPr>
              <a:lnSpc>
                <a:spcPct val="150000"/>
              </a:lnSpc>
              <a:buFont typeface="+mj-lt"/>
              <a:buAutoNum type="arabicPeriod"/>
            </a:pPr>
            <a:r>
              <a:rPr lang="en-US" sz="2600" dirty="0">
                <a:solidFill>
                  <a:srgbClr val="7030A0"/>
                </a:solidFill>
                <a:latin typeface="Times New Roman" panose="02020603050405020304" pitchFamily="18" charset="0"/>
                <a:cs typeface="Times New Roman" panose="02020603050405020304" pitchFamily="18" charset="0"/>
              </a:rPr>
              <a:t>Open software to annotate screenshot, add comments.</a:t>
            </a:r>
          </a:p>
          <a:p>
            <a:pPr>
              <a:lnSpc>
                <a:spcPct val="150000"/>
              </a:lnSpc>
              <a:buFont typeface="+mj-lt"/>
              <a:buAutoNum type="arabicPeriod"/>
            </a:pPr>
            <a:r>
              <a:rPr lang="en-US" sz="2600" dirty="0">
                <a:solidFill>
                  <a:srgbClr val="7030A0"/>
                </a:solidFill>
                <a:latin typeface="Times New Roman" panose="02020603050405020304" pitchFamily="18" charset="0"/>
                <a:cs typeface="Times New Roman" panose="02020603050405020304" pitchFamily="18" charset="0"/>
              </a:rPr>
              <a:t>Open and log into </a:t>
            </a:r>
            <a:r>
              <a:rPr lang="en-US" sz="2600" dirty="0" err="1">
                <a:solidFill>
                  <a:srgbClr val="7030A0"/>
                </a:solidFill>
                <a:latin typeface="Times New Roman" panose="02020603050405020304" pitchFamily="18" charset="0"/>
                <a:cs typeface="Times New Roman" panose="02020603050405020304" pitchFamily="18" charset="0"/>
              </a:rPr>
              <a:t>GitLab</a:t>
            </a:r>
            <a:r>
              <a:rPr lang="en-US" sz="2600" dirty="0">
                <a:solidFill>
                  <a:srgbClr val="7030A0"/>
                </a:solidFill>
                <a:latin typeface="Times New Roman" panose="02020603050405020304" pitchFamily="18" charset="0"/>
                <a:cs typeface="Times New Roman" panose="02020603050405020304" pitchFamily="18" charset="0"/>
              </a:rPr>
              <a:t>.</a:t>
            </a:r>
          </a:p>
          <a:p>
            <a:pPr>
              <a:lnSpc>
                <a:spcPct val="150000"/>
              </a:lnSpc>
              <a:buFont typeface="+mj-lt"/>
              <a:buAutoNum type="arabicPeriod"/>
            </a:pPr>
            <a:r>
              <a:rPr lang="en-US" sz="2600" dirty="0">
                <a:solidFill>
                  <a:srgbClr val="7030A0"/>
                </a:solidFill>
                <a:latin typeface="Times New Roman" panose="02020603050405020304" pitchFamily="18" charset="0"/>
                <a:cs typeface="Times New Roman" panose="02020603050405020304" pitchFamily="18" charset="0"/>
              </a:rPr>
              <a:t>Select the correct project.</a:t>
            </a:r>
          </a:p>
          <a:p>
            <a:pPr>
              <a:lnSpc>
                <a:spcPct val="150000"/>
              </a:lnSpc>
              <a:buFont typeface="+mj-lt"/>
              <a:buAutoNum type="arabicPeriod"/>
            </a:pPr>
            <a:r>
              <a:rPr lang="en-US" sz="2600" dirty="0">
                <a:solidFill>
                  <a:srgbClr val="7030A0"/>
                </a:solidFill>
                <a:latin typeface="Times New Roman" panose="02020603050405020304" pitchFamily="18" charset="0"/>
                <a:cs typeface="Times New Roman" panose="02020603050405020304" pitchFamily="18" charset="0"/>
              </a:rPr>
              <a:t>Create new issue.</a:t>
            </a:r>
          </a:p>
          <a:p>
            <a:pPr>
              <a:lnSpc>
                <a:spcPct val="150000"/>
              </a:lnSpc>
              <a:buFont typeface="+mj-lt"/>
              <a:buAutoNum type="arabicPeriod"/>
            </a:pPr>
            <a:r>
              <a:rPr lang="en-US" sz="2600" dirty="0">
                <a:solidFill>
                  <a:srgbClr val="7030A0"/>
                </a:solidFill>
                <a:latin typeface="Times New Roman" panose="02020603050405020304" pitchFamily="18" charset="0"/>
                <a:cs typeface="Times New Roman" panose="02020603050405020304" pitchFamily="18" charset="0"/>
              </a:rPr>
              <a:t>Document the bug. </a:t>
            </a:r>
          </a:p>
          <a:p>
            <a:pPr>
              <a:lnSpc>
                <a:spcPct val="150000"/>
              </a:lnSpc>
              <a:buFont typeface="+mj-lt"/>
              <a:buAutoNum type="arabicPeriod"/>
            </a:pPr>
            <a:r>
              <a:rPr lang="en-US" sz="2600" dirty="0">
                <a:solidFill>
                  <a:srgbClr val="7030A0"/>
                </a:solidFill>
                <a:latin typeface="Times New Roman" panose="02020603050405020304" pitchFamily="18" charset="0"/>
                <a:cs typeface="Times New Roman" panose="02020603050405020304" pitchFamily="18" charset="0"/>
              </a:rPr>
              <a:t>Add technical information. Attach screenshots.</a:t>
            </a:r>
          </a:p>
          <a:p>
            <a:pPr>
              <a:lnSpc>
                <a:spcPct val="150000"/>
              </a:lnSpc>
              <a:buFont typeface="+mj-lt"/>
              <a:buAutoNum type="arabicPeriod"/>
            </a:pPr>
            <a:r>
              <a:rPr lang="en-US" sz="2600" dirty="0">
                <a:solidFill>
                  <a:srgbClr val="7030A0"/>
                </a:solidFill>
                <a:latin typeface="Times New Roman" panose="02020603050405020304" pitchFamily="18" charset="0"/>
                <a:cs typeface="Times New Roman" panose="02020603050405020304" pitchFamily="18" charset="0"/>
              </a:rPr>
              <a:t>And then finally: submit report.</a:t>
            </a:r>
            <a:endParaRPr lang="en-SG" sz="26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149986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GitLab issue board - Core">
            <a:extLst>
              <a:ext uri="{FF2B5EF4-FFF2-40B4-BE49-F238E27FC236}">
                <a16:creationId xmlns:a16="http://schemas.microsoft.com/office/drawing/2014/main" id="{8DA2F04A-70A2-459D-8E53-DC7A3CF837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27085"/>
            <a:ext cx="12192001" cy="6943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82984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1469</TotalTime>
  <Words>9986</Words>
  <Application>Microsoft Office PowerPoint</Application>
  <PresentationFormat>Widescreen</PresentationFormat>
  <Paragraphs>728</Paragraphs>
  <Slides>99</Slides>
  <Notes>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99</vt:i4>
      </vt:variant>
    </vt:vector>
  </HeadingPairs>
  <TitlesOfParts>
    <vt:vector size="112" baseType="lpstr">
      <vt:lpstr>Arial</vt:lpstr>
      <vt:lpstr>Arial</vt:lpstr>
      <vt:lpstr>Calibri</vt:lpstr>
      <vt:lpstr>Calibri Light</vt:lpstr>
      <vt:lpstr>Harmonia Sans</vt:lpstr>
      <vt:lpstr>myriad-pro</vt:lpstr>
      <vt:lpstr>Noto Sans</vt:lpstr>
      <vt:lpstr>noto-sans</vt:lpstr>
      <vt:lpstr>Source Sans Pro</vt:lpstr>
      <vt:lpstr>Times New Roman</vt:lpstr>
      <vt:lpstr>Verdana</vt:lpstr>
      <vt:lpstr>Wingdings</vt:lpstr>
      <vt:lpstr>Office Theme</vt:lpstr>
      <vt:lpstr>UNIT-5 Code monitoring and Issue Tracking</vt:lpstr>
      <vt:lpstr>Code monitoring tools: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Nagios </vt:lpstr>
      <vt:lpstr>PowerPoint Presentation</vt:lpstr>
      <vt:lpstr>PowerPoint Presentation</vt:lpstr>
      <vt:lpstr>How Nagios works:   a basic workflow diagram</vt:lpstr>
      <vt:lpstr>PowerPoint Presentation</vt:lpstr>
      <vt:lpstr>PowerPoint Presentation</vt:lpstr>
      <vt:lpstr>PowerPoint Presentation</vt:lpstr>
      <vt:lpstr>munin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Ganglia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Log Handling</vt:lpstr>
      <vt:lpstr>PowerPoint Presentation</vt:lpstr>
      <vt:lpstr>PowerPoint Presentation</vt:lpstr>
      <vt:lpstr>PowerPoint Presentation</vt:lpstr>
      <vt:lpstr> Introduction to issue trackers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Some examples of workflows and issues </vt:lpstr>
      <vt:lpstr>PowerPoint Presentation</vt:lpstr>
      <vt:lpstr>PowerPoint Presentation</vt:lpstr>
      <vt:lpstr>PowerPoint Presentation</vt:lpstr>
      <vt:lpstr>PowerPoint Presentation</vt:lpstr>
      <vt:lpstr>Jira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Problems with issue tracker proliferation </vt:lpstr>
      <vt:lpstr>PowerPoint Presentation</vt:lpstr>
      <vt:lpstr>PowerPoint Presentation</vt:lpstr>
      <vt:lpstr>BUGZILLA</vt:lpstr>
      <vt:lpstr>PowerPoint Presentation</vt:lpstr>
      <vt:lpstr>PowerPoint Presentation</vt:lpstr>
      <vt:lpstr> </vt:lpstr>
      <vt:lpstr>PowerPoint Presentation</vt:lpstr>
      <vt:lpstr>PowerPoint Presentation</vt:lpstr>
      <vt:lpstr> GitLab tracker: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chakra</dc:creator>
  <cp:lastModifiedBy>SAI CHARAN THOTA</cp:lastModifiedBy>
  <cp:revision>141</cp:revision>
  <dcterms:created xsi:type="dcterms:W3CDTF">2021-11-01T04:34:51Z</dcterms:created>
  <dcterms:modified xsi:type="dcterms:W3CDTF">2021-12-04T08:56:58Z</dcterms:modified>
</cp:coreProperties>
</file>