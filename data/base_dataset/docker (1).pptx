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sldIdLst>
    <p:sldId id="277" r:id="rId2"/>
    <p:sldId id="269" r:id="rId3"/>
    <p:sldId id="270" r:id="rId4"/>
    <p:sldId id="271" r:id="rId5"/>
    <p:sldId id="278" r:id="rId6"/>
    <p:sldId id="279" r:id="rId7"/>
    <p:sldId id="272" r:id="rId8"/>
    <p:sldId id="273" r:id="rId9"/>
    <p:sldId id="274" r:id="rId10"/>
    <p:sldId id="282" r:id="rId11"/>
    <p:sldId id="275" r:id="rId12"/>
    <p:sldId id="260" r:id="rId13"/>
    <p:sldId id="283" r:id="rId14"/>
    <p:sldId id="257" r:id="rId15"/>
    <p:sldId id="281" r:id="rId16"/>
    <p:sldId id="276" r:id="rId17"/>
    <p:sldId id="284" r:id="rId18"/>
    <p:sldId id="258" r:id="rId19"/>
    <p:sldId id="28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0103-FC6A-49B8-BF82-E4B58479D7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BA4C2D-EC29-4732-B73C-E872B01F39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A9AABF5-81E4-4F43-A033-BB3E38A13129}"/>
              </a:ext>
            </a:extLst>
          </p:cNvPr>
          <p:cNvSpPr>
            <a:spLocks noGrp="1"/>
          </p:cNvSpPr>
          <p:nvPr>
            <p:ph type="dt" sz="half" idx="10"/>
          </p:nvPr>
        </p:nvSpPr>
        <p:spPr/>
        <p:txBody>
          <a:bodyPr/>
          <a:lstStyle/>
          <a:p>
            <a:fld id="{1F671B11-23D5-4166-8EE5-BCB148B18A59}" type="datetimeFigureOut">
              <a:rPr lang="en-IN" smtClean="0"/>
              <a:t>11-10-2021</a:t>
            </a:fld>
            <a:endParaRPr lang="en-IN"/>
          </a:p>
        </p:txBody>
      </p:sp>
      <p:sp>
        <p:nvSpPr>
          <p:cNvPr id="5" name="Footer Placeholder 4">
            <a:extLst>
              <a:ext uri="{FF2B5EF4-FFF2-40B4-BE49-F238E27FC236}">
                <a16:creationId xmlns:a16="http://schemas.microsoft.com/office/drawing/2014/main" id="{C4E832EA-05CD-45DD-AC36-1861046972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3E4048-14F0-4560-8F2F-695C830DC5E5}"/>
              </a:ext>
            </a:extLst>
          </p:cNvPr>
          <p:cNvSpPr>
            <a:spLocks noGrp="1"/>
          </p:cNvSpPr>
          <p:nvPr>
            <p:ph type="sldNum" sz="quarter" idx="12"/>
          </p:nvPr>
        </p:nvSpPr>
        <p:spPr/>
        <p:txBody>
          <a:bodyPr/>
          <a:lstStyle/>
          <a:p>
            <a:fld id="{347EE429-31B2-45C7-B392-EE3A3A9D355A}" type="slidenum">
              <a:rPr lang="en-IN" smtClean="0"/>
              <a:t>‹#›</a:t>
            </a:fld>
            <a:endParaRPr lang="en-IN"/>
          </a:p>
        </p:txBody>
      </p:sp>
    </p:spTree>
    <p:extLst>
      <p:ext uri="{BB962C8B-B14F-4D97-AF65-F5344CB8AC3E}">
        <p14:creationId xmlns:p14="http://schemas.microsoft.com/office/powerpoint/2010/main" val="1608589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A3742-C72C-455F-88AB-1DC31A4AC8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F71799-39C8-4D47-B18D-8CCAF3019C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C177DF-C451-4568-BDCF-5E7B40D45E81}"/>
              </a:ext>
            </a:extLst>
          </p:cNvPr>
          <p:cNvSpPr>
            <a:spLocks noGrp="1"/>
          </p:cNvSpPr>
          <p:nvPr>
            <p:ph type="dt" sz="half" idx="10"/>
          </p:nvPr>
        </p:nvSpPr>
        <p:spPr/>
        <p:txBody>
          <a:bodyPr/>
          <a:lstStyle/>
          <a:p>
            <a:fld id="{1F671B11-23D5-4166-8EE5-BCB148B18A59}" type="datetimeFigureOut">
              <a:rPr lang="en-IN" smtClean="0"/>
              <a:t>11-10-2021</a:t>
            </a:fld>
            <a:endParaRPr lang="en-IN"/>
          </a:p>
        </p:txBody>
      </p:sp>
      <p:sp>
        <p:nvSpPr>
          <p:cNvPr id="5" name="Footer Placeholder 4">
            <a:extLst>
              <a:ext uri="{FF2B5EF4-FFF2-40B4-BE49-F238E27FC236}">
                <a16:creationId xmlns:a16="http://schemas.microsoft.com/office/drawing/2014/main" id="{787BDDB4-0FEA-4D54-97F2-EA7F3910B8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F4142A-668D-423F-B783-CCEB5A743EC0}"/>
              </a:ext>
            </a:extLst>
          </p:cNvPr>
          <p:cNvSpPr>
            <a:spLocks noGrp="1"/>
          </p:cNvSpPr>
          <p:nvPr>
            <p:ph type="sldNum" sz="quarter" idx="12"/>
          </p:nvPr>
        </p:nvSpPr>
        <p:spPr/>
        <p:txBody>
          <a:bodyPr/>
          <a:lstStyle/>
          <a:p>
            <a:fld id="{347EE429-31B2-45C7-B392-EE3A3A9D355A}" type="slidenum">
              <a:rPr lang="en-IN" smtClean="0"/>
              <a:t>‹#›</a:t>
            </a:fld>
            <a:endParaRPr lang="en-IN"/>
          </a:p>
        </p:txBody>
      </p:sp>
    </p:spTree>
    <p:extLst>
      <p:ext uri="{BB962C8B-B14F-4D97-AF65-F5344CB8AC3E}">
        <p14:creationId xmlns:p14="http://schemas.microsoft.com/office/powerpoint/2010/main" val="1306965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70B5-887E-44DB-A924-813981C2FB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ED66E9E-E2AB-4226-A7CA-051F2E1C8F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3EDE8C-8C73-45A1-9ACE-6AB9C94B589F}"/>
              </a:ext>
            </a:extLst>
          </p:cNvPr>
          <p:cNvSpPr>
            <a:spLocks noGrp="1"/>
          </p:cNvSpPr>
          <p:nvPr>
            <p:ph type="dt" sz="half" idx="10"/>
          </p:nvPr>
        </p:nvSpPr>
        <p:spPr/>
        <p:txBody>
          <a:bodyPr/>
          <a:lstStyle/>
          <a:p>
            <a:fld id="{1F671B11-23D5-4166-8EE5-BCB148B18A59}" type="datetimeFigureOut">
              <a:rPr lang="en-IN" smtClean="0"/>
              <a:t>11-10-2021</a:t>
            </a:fld>
            <a:endParaRPr lang="en-IN"/>
          </a:p>
        </p:txBody>
      </p:sp>
      <p:sp>
        <p:nvSpPr>
          <p:cNvPr id="5" name="Footer Placeholder 4">
            <a:extLst>
              <a:ext uri="{FF2B5EF4-FFF2-40B4-BE49-F238E27FC236}">
                <a16:creationId xmlns:a16="http://schemas.microsoft.com/office/drawing/2014/main" id="{C8773F3C-6D0E-48FC-8271-438659A71D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A88586-05C9-4354-BAEA-6C79EF382F1B}"/>
              </a:ext>
            </a:extLst>
          </p:cNvPr>
          <p:cNvSpPr>
            <a:spLocks noGrp="1"/>
          </p:cNvSpPr>
          <p:nvPr>
            <p:ph type="sldNum" sz="quarter" idx="12"/>
          </p:nvPr>
        </p:nvSpPr>
        <p:spPr/>
        <p:txBody>
          <a:bodyPr/>
          <a:lstStyle/>
          <a:p>
            <a:fld id="{347EE429-31B2-45C7-B392-EE3A3A9D355A}" type="slidenum">
              <a:rPr lang="en-IN" smtClean="0"/>
              <a:t>‹#›</a:t>
            </a:fld>
            <a:endParaRPr lang="en-IN"/>
          </a:p>
        </p:txBody>
      </p:sp>
    </p:spTree>
    <p:extLst>
      <p:ext uri="{BB962C8B-B14F-4D97-AF65-F5344CB8AC3E}">
        <p14:creationId xmlns:p14="http://schemas.microsoft.com/office/powerpoint/2010/main" val="3831657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EF23C-6712-45B8-90C0-B7B8955C95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525BBAB-6571-4F40-AFC2-CB5C43AFD6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5BB77A9-6B09-4BEE-948A-7C8F32D4AC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9760CE2-EA08-4D89-9B92-22FE2B881CFE}"/>
              </a:ext>
            </a:extLst>
          </p:cNvPr>
          <p:cNvSpPr>
            <a:spLocks noGrp="1"/>
          </p:cNvSpPr>
          <p:nvPr>
            <p:ph type="dt" sz="half" idx="10"/>
          </p:nvPr>
        </p:nvSpPr>
        <p:spPr/>
        <p:txBody>
          <a:bodyPr/>
          <a:lstStyle/>
          <a:p>
            <a:fld id="{1F671B11-23D5-4166-8EE5-BCB148B18A59}" type="datetimeFigureOut">
              <a:rPr lang="en-IN" smtClean="0"/>
              <a:t>11-10-2021</a:t>
            </a:fld>
            <a:endParaRPr lang="en-IN"/>
          </a:p>
        </p:txBody>
      </p:sp>
      <p:sp>
        <p:nvSpPr>
          <p:cNvPr id="6" name="Footer Placeholder 5">
            <a:extLst>
              <a:ext uri="{FF2B5EF4-FFF2-40B4-BE49-F238E27FC236}">
                <a16:creationId xmlns:a16="http://schemas.microsoft.com/office/drawing/2014/main" id="{3DF37379-1A9C-4431-805F-71B0431D8E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9AC13F-B258-44CF-B999-57D8588572F6}"/>
              </a:ext>
            </a:extLst>
          </p:cNvPr>
          <p:cNvSpPr>
            <a:spLocks noGrp="1"/>
          </p:cNvSpPr>
          <p:nvPr>
            <p:ph type="sldNum" sz="quarter" idx="12"/>
          </p:nvPr>
        </p:nvSpPr>
        <p:spPr/>
        <p:txBody>
          <a:bodyPr/>
          <a:lstStyle/>
          <a:p>
            <a:fld id="{347EE429-31B2-45C7-B392-EE3A3A9D355A}" type="slidenum">
              <a:rPr lang="en-IN" smtClean="0"/>
              <a:t>‹#›</a:t>
            </a:fld>
            <a:endParaRPr lang="en-IN"/>
          </a:p>
        </p:txBody>
      </p:sp>
    </p:spTree>
    <p:extLst>
      <p:ext uri="{BB962C8B-B14F-4D97-AF65-F5344CB8AC3E}">
        <p14:creationId xmlns:p14="http://schemas.microsoft.com/office/powerpoint/2010/main" val="4117104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78D19-8F44-471B-B2B2-F675100E7D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D7D67F-E25F-493E-8265-32CE518E22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99B5EB-4076-4B22-B34A-3582C45DEE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3A1F1DB-501C-4CEE-BFB5-C4692B1A5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AC3298-9A94-4631-8AEF-F1270312A1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80B15C0-91BB-43F4-AB7C-418819B5D85B}"/>
              </a:ext>
            </a:extLst>
          </p:cNvPr>
          <p:cNvSpPr>
            <a:spLocks noGrp="1"/>
          </p:cNvSpPr>
          <p:nvPr>
            <p:ph type="dt" sz="half" idx="10"/>
          </p:nvPr>
        </p:nvSpPr>
        <p:spPr/>
        <p:txBody>
          <a:bodyPr/>
          <a:lstStyle/>
          <a:p>
            <a:fld id="{1F671B11-23D5-4166-8EE5-BCB148B18A59}" type="datetimeFigureOut">
              <a:rPr lang="en-IN" smtClean="0"/>
              <a:t>11-10-2021</a:t>
            </a:fld>
            <a:endParaRPr lang="en-IN"/>
          </a:p>
        </p:txBody>
      </p:sp>
      <p:sp>
        <p:nvSpPr>
          <p:cNvPr id="8" name="Footer Placeholder 7">
            <a:extLst>
              <a:ext uri="{FF2B5EF4-FFF2-40B4-BE49-F238E27FC236}">
                <a16:creationId xmlns:a16="http://schemas.microsoft.com/office/drawing/2014/main" id="{1BD5FA9D-E538-483D-ACAB-4393A0EF7FC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7A4F647-5E97-4482-9349-11F9D694F1EC}"/>
              </a:ext>
            </a:extLst>
          </p:cNvPr>
          <p:cNvSpPr>
            <a:spLocks noGrp="1"/>
          </p:cNvSpPr>
          <p:nvPr>
            <p:ph type="sldNum" sz="quarter" idx="12"/>
          </p:nvPr>
        </p:nvSpPr>
        <p:spPr/>
        <p:txBody>
          <a:bodyPr/>
          <a:lstStyle/>
          <a:p>
            <a:fld id="{347EE429-31B2-45C7-B392-EE3A3A9D355A}" type="slidenum">
              <a:rPr lang="en-IN" smtClean="0"/>
              <a:t>‹#›</a:t>
            </a:fld>
            <a:endParaRPr lang="en-IN"/>
          </a:p>
        </p:txBody>
      </p:sp>
    </p:spTree>
    <p:extLst>
      <p:ext uri="{BB962C8B-B14F-4D97-AF65-F5344CB8AC3E}">
        <p14:creationId xmlns:p14="http://schemas.microsoft.com/office/powerpoint/2010/main" val="361843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F18E7-0067-42BC-96B9-165A8256DC0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E4E42D-376B-4530-9284-E7B848D0E8D0}"/>
              </a:ext>
            </a:extLst>
          </p:cNvPr>
          <p:cNvSpPr>
            <a:spLocks noGrp="1"/>
          </p:cNvSpPr>
          <p:nvPr>
            <p:ph type="dt" sz="half" idx="10"/>
          </p:nvPr>
        </p:nvSpPr>
        <p:spPr/>
        <p:txBody>
          <a:bodyPr/>
          <a:lstStyle/>
          <a:p>
            <a:fld id="{1F671B11-23D5-4166-8EE5-BCB148B18A59}" type="datetimeFigureOut">
              <a:rPr lang="en-IN" smtClean="0"/>
              <a:t>11-10-2021</a:t>
            </a:fld>
            <a:endParaRPr lang="en-IN"/>
          </a:p>
        </p:txBody>
      </p:sp>
      <p:sp>
        <p:nvSpPr>
          <p:cNvPr id="4" name="Footer Placeholder 3">
            <a:extLst>
              <a:ext uri="{FF2B5EF4-FFF2-40B4-BE49-F238E27FC236}">
                <a16:creationId xmlns:a16="http://schemas.microsoft.com/office/drawing/2014/main" id="{10DD433D-1148-49B2-8F0F-F2F932E335B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B113CCA-D73E-4231-B7C6-27C7B29CE230}"/>
              </a:ext>
            </a:extLst>
          </p:cNvPr>
          <p:cNvSpPr>
            <a:spLocks noGrp="1"/>
          </p:cNvSpPr>
          <p:nvPr>
            <p:ph type="sldNum" sz="quarter" idx="12"/>
          </p:nvPr>
        </p:nvSpPr>
        <p:spPr/>
        <p:txBody>
          <a:bodyPr/>
          <a:lstStyle/>
          <a:p>
            <a:fld id="{347EE429-31B2-45C7-B392-EE3A3A9D355A}" type="slidenum">
              <a:rPr lang="en-IN" smtClean="0"/>
              <a:t>‹#›</a:t>
            </a:fld>
            <a:endParaRPr lang="en-IN"/>
          </a:p>
        </p:txBody>
      </p:sp>
    </p:spTree>
    <p:extLst>
      <p:ext uri="{BB962C8B-B14F-4D97-AF65-F5344CB8AC3E}">
        <p14:creationId xmlns:p14="http://schemas.microsoft.com/office/powerpoint/2010/main" val="858062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7A4321-73CC-4859-A3A4-95FE60ADFAEE}"/>
              </a:ext>
            </a:extLst>
          </p:cNvPr>
          <p:cNvSpPr>
            <a:spLocks noGrp="1"/>
          </p:cNvSpPr>
          <p:nvPr>
            <p:ph type="dt" sz="half" idx="10"/>
          </p:nvPr>
        </p:nvSpPr>
        <p:spPr/>
        <p:txBody>
          <a:bodyPr/>
          <a:lstStyle/>
          <a:p>
            <a:fld id="{1F671B11-23D5-4166-8EE5-BCB148B18A59}" type="datetimeFigureOut">
              <a:rPr lang="en-IN" smtClean="0"/>
              <a:t>11-10-2021</a:t>
            </a:fld>
            <a:endParaRPr lang="en-IN"/>
          </a:p>
        </p:txBody>
      </p:sp>
      <p:sp>
        <p:nvSpPr>
          <p:cNvPr id="3" name="Footer Placeholder 2">
            <a:extLst>
              <a:ext uri="{FF2B5EF4-FFF2-40B4-BE49-F238E27FC236}">
                <a16:creationId xmlns:a16="http://schemas.microsoft.com/office/drawing/2014/main" id="{00BEA2FF-2F22-46AD-B365-177413C2D3F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A6B5822-B6B8-4E97-98A5-4B823E0598D6}"/>
              </a:ext>
            </a:extLst>
          </p:cNvPr>
          <p:cNvSpPr>
            <a:spLocks noGrp="1"/>
          </p:cNvSpPr>
          <p:nvPr>
            <p:ph type="sldNum" sz="quarter" idx="12"/>
          </p:nvPr>
        </p:nvSpPr>
        <p:spPr/>
        <p:txBody>
          <a:bodyPr/>
          <a:lstStyle/>
          <a:p>
            <a:fld id="{347EE429-31B2-45C7-B392-EE3A3A9D355A}" type="slidenum">
              <a:rPr lang="en-IN" smtClean="0"/>
              <a:t>‹#›</a:t>
            </a:fld>
            <a:endParaRPr lang="en-IN"/>
          </a:p>
        </p:txBody>
      </p:sp>
    </p:spTree>
    <p:extLst>
      <p:ext uri="{BB962C8B-B14F-4D97-AF65-F5344CB8AC3E}">
        <p14:creationId xmlns:p14="http://schemas.microsoft.com/office/powerpoint/2010/main" val="1401503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34C02-01E6-49C9-A7A0-BF2CC117C2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150C4EF-3FC3-4E74-B1A1-1C43A106BE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5650DFA-F1F3-406C-A474-CB8FF50B0E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BBE605-4BB7-46DE-AFCD-4359A22C6A25}"/>
              </a:ext>
            </a:extLst>
          </p:cNvPr>
          <p:cNvSpPr>
            <a:spLocks noGrp="1"/>
          </p:cNvSpPr>
          <p:nvPr>
            <p:ph type="dt" sz="half" idx="10"/>
          </p:nvPr>
        </p:nvSpPr>
        <p:spPr/>
        <p:txBody>
          <a:bodyPr/>
          <a:lstStyle/>
          <a:p>
            <a:fld id="{1F671B11-23D5-4166-8EE5-BCB148B18A59}" type="datetimeFigureOut">
              <a:rPr lang="en-IN" smtClean="0"/>
              <a:t>11-10-2021</a:t>
            </a:fld>
            <a:endParaRPr lang="en-IN"/>
          </a:p>
        </p:txBody>
      </p:sp>
      <p:sp>
        <p:nvSpPr>
          <p:cNvPr id="6" name="Footer Placeholder 5">
            <a:extLst>
              <a:ext uri="{FF2B5EF4-FFF2-40B4-BE49-F238E27FC236}">
                <a16:creationId xmlns:a16="http://schemas.microsoft.com/office/drawing/2014/main" id="{2CCD9ECE-8D55-47A4-AD69-C19EC49DCB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3F9072-A3B4-45EA-AFED-8780DE2E762E}"/>
              </a:ext>
            </a:extLst>
          </p:cNvPr>
          <p:cNvSpPr>
            <a:spLocks noGrp="1"/>
          </p:cNvSpPr>
          <p:nvPr>
            <p:ph type="sldNum" sz="quarter" idx="12"/>
          </p:nvPr>
        </p:nvSpPr>
        <p:spPr/>
        <p:txBody>
          <a:bodyPr/>
          <a:lstStyle/>
          <a:p>
            <a:fld id="{347EE429-31B2-45C7-B392-EE3A3A9D355A}" type="slidenum">
              <a:rPr lang="en-IN" smtClean="0"/>
              <a:t>‹#›</a:t>
            </a:fld>
            <a:endParaRPr lang="en-IN"/>
          </a:p>
        </p:txBody>
      </p:sp>
    </p:spTree>
    <p:extLst>
      <p:ext uri="{BB962C8B-B14F-4D97-AF65-F5344CB8AC3E}">
        <p14:creationId xmlns:p14="http://schemas.microsoft.com/office/powerpoint/2010/main" val="3820237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E8743-E031-4A20-8198-62F97FF64C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872B50C-06A9-4D13-9F37-D1D4A6FCD6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CCA796A-F99C-47AF-A340-B3A22D618A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6345DA-4A00-42BE-99DB-152128A941C8}"/>
              </a:ext>
            </a:extLst>
          </p:cNvPr>
          <p:cNvSpPr>
            <a:spLocks noGrp="1"/>
          </p:cNvSpPr>
          <p:nvPr>
            <p:ph type="dt" sz="half" idx="10"/>
          </p:nvPr>
        </p:nvSpPr>
        <p:spPr/>
        <p:txBody>
          <a:bodyPr/>
          <a:lstStyle/>
          <a:p>
            <a:fld id="{1F671B11-23D5-4166-8EE5-BCB148B18A59}" type="datetimeFigureOut">
              <a:rPr lang="en-IN" smtClean="0"/>
              <a:t>11-10-2021</a:t>
            </a:fld>
            <a:endParaRPr lang="en-IN"/>
          </a:p>
        </p:txBody>
      </p:sp>
      <p:sp>
        <p:nvSpPr>
          <p:cNvPr id="6" name="Footer Placeholder 5">
            <a:extLst>
              <a:ext uri="{FF2B5EF4-FFF2-40B4-BE49-F238E27FC236}">
                <a16:creationId xmlns:a16="http://schemas.microsoft.com/office/drawing/2014/main" id="{1DE0299C-6582-4936-8EFE-3852AC1311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D209A5-73E1-417D-84F2-2B3029898B13}"/>
              </a:ext>
            </a:extLst>
          </p:cNvPr>
          <p:cNvSpPr>
            <a:spLocks noGrp="1"/>
          </p:cNvSpPr>
          <p:nvPr>
            <p:ph type="sldNum" sz="quarter" idx="12"/>
          </p:nvPr>
        </p:nvSpPr>
        <p:spPr/>
        <p:txBody>
          <a:bodyPr/>
          <a:lstStyle/>
          <a:p>
            <a:fld id="{347EE429-31B2-45C7-B392-EE3A3A9D355A}" type="slidenum">
              <a:rPr lang="en-IN" smtClean="0"/>
              <a:t>‹#›</a:t>
            </a:fld>
            <a:endParaRPr lang="en-IN"/>
          </a:p>
        </p:txBody>
      </p:sp>
    </p:spTree>
    <p:extLst>
      <p:ext uri="{BB962C8B-B14F-4D97-AF65-F5344CB8AC3E}">
        <p14:creationId xmlns:p14="http://schemas.microsoft.com/office/powerpoint/2010/main" val="221769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78211-F6C1-4C74-9D7B-31465BEBD36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F6BF95-F6D3-492B-9594-5A97D44E9C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4FB23D-E7F8-4181-AD43-007387446325}"/>
              </a:ext>
            </a:extLst>
          </p:cNvPr>
          <p:cNvSpPr>
            <a:spLocks noGrp="1"/>
          </p:cNvSpPr>
          <p:nvPr>
            <p:ph type="dt" sz="half" idx="10"/>
          </p:nvPr>
        </p:nvSpPr>
        <p:spPr/>
        <p:txBody>
          <a:bodyPr/>
          <a:lstStyle/>
          <a:p>
            <a:fld id="{1F671B11-23D5-4166-8EE5-BCB148B18A59}" type="datetimeFigureOut">
              <a:rPr lang="en-IN" smtClean="0"/>
              <a:t>11-10-2021</a:t>
            </a:fld>
            <a:endParaRPr lang="en-IN"/>
          </a:p>
        </p:txBody>
      </p:sp>
      <p:sp>
        <p:nvSpPr>
          <p:cNvPr id="5" name="Footer Placeholder 4">
            <a:extLst>
              <a:ext uri="{FF2B5EF4-FFF2-40B4-BE49-F238E27FC236}">
                <a16:creationId xmlns:a16="http://schemas.microsoft.com/office/drawing/2014/main" id="{523B2B3F-0BC7-4C52-A86E-292EA77FD3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B2AAF7-2AAF-413A-9481-21AA4F047807}"/>
              </a:ext>
            </a:extLst>
          </p:cNvPr>
          <p:cNvSpPr>
            <a:spLocks noGrp="1"/>
          </p:cNvSpPr>
          <p:nvPr>
            <p:ph type="sldNum" sz="quarter" idx="12"/>
          </p:nvPr>
        </p:nvSpPr>
        <p:spPr/>
        <p:txBody>
          <a:bodyPr/>
          <a:lstStyle/>
          <a:p>
            <a:fld id="{347EE429-31B2-45C7-B392-EE3A3A9D355A}" type="slidenum">
              <a:rPr lang="en-IN" smtClean="0"/>
              <a:t>‹#›</a:t>
            </a:fld>
            <a:endParaRPr lang="en-IN"/>
          </a:p>
        </p:txBody>
      </p:sp>
    </p:spTree>
    <p:extLst>
      <p:ext uri="{BB962C8B-B14F-4D97-AF65-F5344CB8AC3E}">
        <p14:creationId xmlns:p14="http://schemas.microsoft.com/office/powerpoint/2010/main" val="4226421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CC128C-A0CE-4169-B24E-6BC41BC50F1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FC912E-4B82-4BAA-BDBA-0DBADF53AA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989137-CD01-443B-9DC0-65E63DA4A402}"/>
              </a:ext>
            </a:extLst>
          </p:cNvPr>
          <p:cNvSpPr>
            <a:spLocks noGrp="1"/>
          </p:cNvSpPr>
          <p:nvPr>
            <p:ph type="dt" sz="half" idx="10"/>
          </p:nvPr>
        </p:nvSpPr>
        <p:spPr/>
        <p:txBody>
          <a:bodyPr/>
          <a:lstStyle/>
          <a:p>
            <a:fld id="{1F671B11-23D5-4166-8EE5-BCB148B18A59}" type="datetimeFigureOut">
              <a:rPr lang="en-IN" smtClean="0"/>
              <a:t>11-10-2021</a:t>
            </a:fld>
            <a:endParaRPr lang="en-IN"/>
          </a:p>
        </p:txBody>
      </p:sp>
      <p:sp>
        <p:nvSpPr>
          <p:cNvPr id="5" name="Footer Placeholder 4">
            <a:extLst>
              <a:ext uri="{FF2B5EF4-FFF2-40B4-BE49-F238E27FC236}">
                <a16:creationId xmlns:a16="http://schemas.microsoft.com/office/drawing/2014/main" id="{D381268E-DA4E-412C-93DA-5216B973C3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F374BC-417E-44B0-9A3C-F24DB4E28518}"/>
              </a:ext>
            </a:extLst>
          </p:cNvPr>
          <p:cNvSpPr>
            <a:spLocks noGrp="1"/>
          </p:cNvSpPr>
          <p:nvPr>
            <p:ph type="sldNum" sz="quarter" idx="12"/>
          </p:nvPr>
        </p:nvSpPr>
        <p:spPr/>
        <p:txBody>
          <a:bodyPr/>
          <a:lstStyle/>
          <a:p>
            <a:fld id="{347EE429-31B2-45C7-B392-EE3A3A9D355A}" type="slidenum">
              <a:rPr lang="en-IN" smtClean="0"/>
              <a:t>‹#›</a:t>
            </a:fld>
            <a:endParaRPr lang="en-IN"/>
          </a:p>
        </p:txBody>
      </p:sp>
    </p:spTree>
    <p:extLst>
      <p:ext uri="{BB962C8B-B14F-4D97-AF65-F5344CB8AC3E}">
        <p14:creationId xmlns:p14="http://schemas.microsoft.com/office/powerpoint/2010/main" val="2152539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BF4003-D1DA-44EF-B6CF-0E344007EF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4DA622-27C7-499A-B81D-8D0491AF02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FACECD-0B14-42B4-8430-8561445A50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671B11-23D5-4166-8EE5-BCB148B18A59}" type="datetimeFigureOut">
              <a:rPr lang="en-IN" smtClean="0"/>
              <a:t>11-10-2021</a:t>
            </a:fld>
            <a:endParaRPr lang="en-IN"/>
          </a:p>
        </p:txBody>
      </p:sp>
      <p:sp>
        <p:nvSpPr>
          <p:cNvPr id="5" name="Footer Placeholder 4">
            <a:extLst>
              <a:ext uri="{FF2B5EF4-FFF2-40B4-BE49-F238E27FC236}">
                <a16:creationId xmlns:a16="http://schemas.microsoft.com/office/drawing/2014/main" id="{BB31CFBF-1B71-40B3-924D-28CE42CDDE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CB9B920-0BC6-4A82-B7E0-4AEA916F69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7EE429-31B2-45C7-B392-EE3A3A9D355A}" type="slidenum">
              <a:rPr lang="en-IN" smtClean="0"/>
              <a:t>‹#›</a:t>
            </a:fld>
            <a:endParaRPr lang="en-IN"/>
          </a:p>
        </p:txBody>
      </p:sp>
    </p:spTree>
    <p:extLst>
      <p:ext uri="{BB962C8B-B14F-4D97-AF65-F5344CB8AC3E}">
        <p14:creationId xmlns:p14="http://schemas.microsoft.com/office/powerpoint/2010/main" val="3001131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Docker Logos | Docker">
            <a:extLst>
              <a:ext uri="{FF2B5EF4-FFF2-40B4-BE49-F238E27FC236}">
                <a16:creationId xmlns:a16="http://schemas.microsoft.com/office/drawing/2014/main" id="{AA58966E-5263-414F-A24E-968E8894C4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7826" y="1314901"/>
            <a:ext cx="7633252" cy="4383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871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11F247-0958-4089-8F71-80CB3E3ED4DA}"/>
              </a:ext>
            </a:extLst>
          </p:cNvPr>
          <p:cNvSpPr txBox="1"/>
          <p:nvPr/>
        </p:nvSpPr>
        <p:spPr>
          <a:xfrm>
            <a:off x="145774" y="318052"/>
            <a:ext cx="12046226" cy="4154984"/>
          </a:xfrm>
          <a:prstGeom prst="rect">
            <a:avLst/>
          </a:prstGeom>
          <a:noFill/>
        </p:spPr>
        <p:txBody>
          <a:bodyPr wrap="square">
            <a:spAutoFit/>
          </a:bodyPr>
          <a:lstStyle/>
          <a:p>
            <a:pPr algn="just"/>
            <a:r>
              <a:rPr lang="en-US" sz="2400" b="0" i="0" dirty="0">
                <a:solidFill>
                  <a:srgbClr val="FF0000"/>
                </a:solidFill>
                <a:effectLst/>
                <a:latin typeface="Times New Roman" panose="02020603050405020304" pitchFamily="18" charset="0"/>
                <a:cs typeface="Times New Roman" panose="02020603050405020304" pitchFamily="18" charset="0"/>
              </a:rPr>
              <a:t>Docker</a:t>
            </a:r>
          </a:p>
          <a:p>
            <a:pPr algn="just"/>
            <a:endParaRPr lang="en-US" sz="2400" dirty="0">
              <a:solidFill>
                <a:srgbClr val="4A4A4A"/>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Docker is gaining popularity and its usage is spreading like wildfire. The reason for Docker’s growing popularity is the extent to which it can be used in an IT organization. Very few tools out there have the functionality to find itself useful to both developers and as well as system administrators. Docker is one such tool that truly lives up to its promise of </a:t>
            </a:r>
            <a:r>
              <a:rPr lang="en-US" sz="2400" b="1" i="0" dirty="0">
                <a:solidFill>
                  <a:srgbClr val="4A4A4A"/>
                </a:solidFill>
                <a:effectLst/>
                <a:latin typeface="Times New Roman" panose="02020603050405020304" pitchFamily="18" charset="0"/>
                <a:cs typeface="Times New Roman" panose="02020603050405020304" pitchFamily="18" charset="0"/>
              </a:rPr>
              <a:t>Build</a:t>
            </a:r>
            <a:r>
              <a:rPr lang="en-US" sz="2400" b="0" i="0" dirty="0">
                <a:solidFill>
                  <a:srgbClr val="4A4A4A"/>
                </a:solidFill>
                <a:effectLst/>
                <a:latin typeface="Times New Roman" panose="02020603050405020304" pitchFamily="18" charset="0"/>
                <a:cs typeface="Times New Roman" panose="02020603050405020304" pitchFamily="18" charset="0"/>
              </a:rPr>
              <a:t>, </a:t>
            </a:r>
            <a:r>
              <a:rPr lang="en-US" sz="2400" b="1" i="0" dirty="0">
                <a:solidFill>
                  <a:srgbClr val="4A4A4A"/>
                </a:solidFill>
                <a:effectLst/>
                <a:latin typeface="Times New Roman" panose="02020603050405020304" pitchFamily="18" charset="0"/>
                <a:cs typeface="Times New Roman" panose="02020603050405020304" pitchFamily="18" charset="0"/>
              </a:rPr>
              <a:t>Ship</a:t>
            </a:r>
            <a:r>
              <a:rPr lang="en-US" sz="2400" b="0" i="0" dirty="0">
                <a:solidFill>
                  <a:srgbClr val="4A4A4A"/>
                </a:solidFill>
                <a:effectLst/>
                <a:latin typeface="Times New Roman" panose="02020603050405020304" pitchFamily="18" charset="0"/>
                <a:cs typeface="Times New Roman" panose="02020603050405020304" pitchFamily="18" charset="0"/>
              </a:rPr>
              <a:t> and</a:t>
            </a:r>
            <a:r>
              <a:rPr lang="en-US" sz="2400" b="1" i="0" dirty="0">
                <a:solidFill>
                  <a:srgbClr val="4A4A4A"/>
                </a:solidFill>
                <a:effectLst/>
                <a:latin typeface="Times New Roman" panose="02020603050405020304" pitchFamily="18" charset="0"/>
                <a:cs typeface="Times New Roman" panose="02020603050405020304" pitchFamily="18" charset="0"/>
              </a:rPr>
              <a:t> Run</a:t>
            </a:r>
            <a:r>
              <a:rPr lang="en-US" sz="2400" b="0" i="0" dirty="0">
                <a:solidFill>
                  <a:srgbClr val="4A4A4A"/>
                </a:solidFill>
                <a:effectLst/>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pPr>
            <a:endParaRPr lang="en-US" sz="2400" dirty="0">
              <a:solidFill>
                <a:srgbClr val="4A4A4A"/>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In simple words, </a:t>
            </a:r>
            <a:r>
              <a:rPr lang="en-US" sz="2400" b="0" i="0" dirty="0">
                <a:solidFill>
                  <a:srgbClr val="FF0000"/>
                </a:solidFill>
                <a:effectLst/>
                <a:latin typeface="Times New Roman" panose="02020603050405020304" pitchFamily="18" charset="0"/>
                <a:cs typeface="Times New Roman" panose="02020603050405020304" pitchFamily="18" charset="0"/>
              </a:rPr>
              <a:t>Docker is a software containerization platform, meaning you can build your application, package them along with their dependencies into a container and then these containers can be easily shipped to run on other machines. </a:t>
            </a:r>
          </a:p>
        </p:txBody>
      </p:sp>
      <p:pic>
        <p:nvPicPr>
          <p:cNvPr id="4" name="Picture 3">
            <a:extLst>
              <a:ext uri="{FF2B5EF4-FFF2-40B4-BE49-F238E27FC236}">
                <a16:creationId xmlns:a16="http://schemas.microsoft.com/office/drawing/2014/main" id="{B206F706-B591-4274-A718-06B3E3850AC8}"/>
              </a:ext>
            </a:extLst>
          </p:cNvPr>
          <p:cNvPicPr>
            <a:picLocks noChangeAspect="1"/>
          </p:cNvPicPr>
          <p:nvPr/>
        </p:nvPicPr>
        <p:blipFill>
          <a:blip r:embed="rId2"/>
          <a:stretch>
            <a:fillRect/>
          </a:stretch>
        </p:blipFill>
        <p:spPr>
          <a:xfrm>
            <a:off x="3366052" y="4670110"/>
            <a:ext cx="4585252" cy="1763819"/>
          </a:xfrm>
          <a:prstGeom prst="rect">
            <a:avLst/>
          </a:prstGeom>
        </p:spPr>
      </p:pic>
    </p:spTree>
    <p:extLst>
      <p:ext uri="{BB962C8B-B14F-4D97-AF65-F5344CB8AC3E}">
        <p14:creationId xmlns:p14="http://schemas.microsoft.com/office/powerpoint/2010/main" val="3010304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90B8BA-E357-434B-BDF4-F392A3BAA0CA}"/>
              </a:ext>
            </a:extLst>
          </p:cNvPr>
          <p:cNvSpPr txBox="1"/>
          <p:nvPr/>
        </p:nvSpPr>
        <p:spPr>
          <a:xfrm>
            <a:off x="145773" y="0"/>
            <a:ext cx="12046227" cy="5632311"/>
          </a:xfrm>
          <a:prstGeom prst="rect">
            <a:avLst/>
          </a:prstGeom>
          <a:noFill/>
        </p:spPr>
        <p:txBody>
          <a:bodyPr wrap="square">
            <a:spAutoFit/>
          </a:bodyPr>
          <a:lstStyle/>
          <a:p>
            <a:endParaRPr lang="en-US" sz="2400" dirty="0">
              <a:solidFill>
                <a:srgbClr val="4A4A4A"/>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dirty="0">
                <a:solidFill>
                  <a:srgbClr val="FF0000"/>
                </a:solidFill>
                <a:effectLst/>
                <a:latin typeface="Times New Roman" panose="02020603050405020304" pitchFamily="18" charset="0"/>
                <a:cs typeface="Times New Roman" panose="02020603050405020304" pitchFamily="18" charset="0"/>
              </a:rPr>
              <a:t>For example:</a:t>
            </a:r>
            <a:r>
              <a:rPr lang="en-US" sz="2400" b="0" i="0" dirty="0">
                <a:solidFill>
                  <a:srgbClr val="FF0000"/>
                </a:solidFill>
                <a:effectLst/>
                <a:latin typeface="Times New Roman" panose="02020603050405020304" pitchFamily="18" charset="0"/>
                <a:cs typeface="Times New Roman" panose="02020603050405020304" pitchFamily="18" charset="0"/>
              </a:rPr>
              <a:t> </a:t>
            </a:r>
            <a:r>
              <a:rPr lang="en-US" sz="2400" b="0" i="0" dirty="0">
                <a:solidFill>
                  <a:srgbClr val="4A4A4A"/>
                </a:solidFill>
                <a:effectLst/>
                <a:latin typeface="Times New Roman" panose="02020603050405020304" pitchFamily="18" charset="0"/>
                <a:cs typeface="Times New Roman" panose="02020603050405020304" pitchFamily="18" charset="0"/>
              </a:rPr>
              <a:t>Lets consider a </a:t>
            </a:r>
            <a:r>
              <a:rPr lang="en-US" sz="2400" b="0" i="0" dirty="0" err="1">
                <a:solidFill>
                  <a:srgbClr val="4A4A4A"/>
                </a:solidFill>
                <a:effectLst/>
                <a:latin typeface="Times New Roman" panose="02020603050405020304" pitchFamily="18" charset="0"/>
                <a:cs typeface="Times New Roman" panose="02020603050405020304" pitchFamily="18" charset="0"/>
              </a:rPr>
              <a:t>linux</a:t>
            </a:r>
            <a:r>
              <a:rPr lang="en-US" sz="2400" b="0" i="0" dirty="0">
                <a:solidFill>
                  <a:srgbClr val="4A4A4A"/>
                </a:solidFill>
                <a:effectLst/>
                <a:latin typeface="Times New Roman" panose="02020603050405020304" pitchFamily="18" charset="0"/>
                <a:cs typeface="Times New Roman" panose="02020603050405020304" pitchFamily="18" charset="0"/>
              </a:rPr>
              <a:t> based application which has been written both in Ruby and Python. This application requires a specific version of </a:t>
            </a:r>
            <a:r>
              <a:rPr lang="en-US" sz="2400" b="0" i="0" dirty="0" err="1">
                <a:solidFill>
                  <a:srgbClr val="4A4A4A"/>
                </a:solidFill>
                <a:effectLst/>
                <a:latin typeface="Times New Roman" panose="02020603050405020304" pitchFamily="18" charset="0"/>
                <a:cs typeface="Times New Roman" panose="02020603050405020304" pitchFamily="18" charset="0"/>
              </a:rPr>
              <a:t>linux</a:t>
            </a:r>
            <a:r>
              <a:rPr lang="en-US" sz="2400" b="0" i="0" dirty="0">
                <a:solidFill>
                  <a:srgbClr val="4A4A4A"/>
                </a:solidFill>
                <a:effectLst/>
                <a:latin typeface="Times New Roman" panose="02020603050405020304" pitchFamily="18" charset="0"/>
                <a:cs typeface="Times New Roman" panose="02020603050405020304" pitchFamily="18" charset="0"/>
              </a:rPr>
              <a:t>, Ruby and Python. </a:t>
            </a:r>
          </a:p>
          <a:p>
            <a:pPr marL="342900" indent="-342900">
              <a:buFont typeface="Wingdings" panose="05000000000000000000" pitchFamily="2" charset="2"/>
              <a:buChar char="Ø"/>
            </a:pPr>
            <a:endParaRPr lang="en-US" sz="2400" dirty="0">
              <a:solidFill>
                <a:srgbClr val="4A4A4A"/>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In order to avoid any version conflicts on user’s end, a </a:t>
            </a:r>
            <a:r>
              <a:rPr lang="en-US" sz="2400" b="0" i="0" dirty="0" err="1">
                <a:solidFill>
                  <a:srgbClr val="4A4A4A"/>
                </a:solidFill>
                <a:effectLst/>
                <a:latin typeface="Times New Roman" panose="02020603050405020304" pitchFamily="18" charset="0"/>
                <a:cs typeface="Times New Roman" panose="02020603050405020304" pitchFamily="18" charset="0"/>
              </a:rPr>
              <a:t>linux</a:t>
            </a:r>
            <a:r>
              <a:rPr lang="en-US" sz="2400" b="0" i="0" dirty="0">
                <a:solidFill>
                  <a:srgbClr val="4A4A4A"/>
                </a:solidFill>
                <a:effectLst/>
                <a:latin typeface="Times New Roman" panose="02020603050405020304" pitchFamily="18" charset="0"/>
                <a:cs typeface="Times New Roman" panose="02020603050405020304" pitchFamily="18" charset="0"/>
              </a:rPr>
              <a:t> docker container can be  created with the required versions of Ruby and Python installed along with the application. </a:t>
            </a:r>
          </a:p>
          <a:p>
            <a:pPr marL="342900" indent="-342900">
              <a:buFont typeface="Wingdings" panose="05000000000000000000" pitchFamily="2" charset="2"/>
              <a:buChar char="Ø"/>
            </a:pPr>
            <a:endParaRPr lang="en-US" sz="2400" dirty="0">
              <a:solidFill>
                <a:srgbClr val="4A4A4A"/>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Now the end users can use the application easily by running this container without worrying about the dependencies or any version conflicts. </a:t>
            </a:r>
          </a:p>
          <a:p>
            <a:endParaRPr lang="en-US" sz="2400" dirty="0">
              <a:solidFill>
                <a:srgbClr val="4A4A4A"/>
              </a:solidFill>
              <a:latin typeface="Times New Roman" panose="02020603050405020304" pitchFamily="18" charset="0"/>
              <a:cs typeface="Times New Roman" panose="02020603050405020304" pitchFamily="18" charset="0"/>
            </a:endParaRPr>
          </a:p>
          <a:p>
            <a:endParaRPr lang="en-US" sz="2400" dirty="0">
              <a:solidFill>
                <a:srgbClr val="4A4A4A"/>
              </a:solidFill>
              <a:latin typeface="Times New Roman" panose="02020603050405020304" pitchFamily="18" charset="0"/>
              <a:cs typeface="Times New Roman" panose="02020603050405020304" pitchFamily="18" charset="0"/>
            </a:endParaRPr>
          </a:p>
          <a:p>
            <a:r>
              <a:rPr lang="en-US" sz="2400" b="0" i="0" dirty="0">
                <a:solidFill>
                  <a:srgbClr val="4A4A4A"/>
                </a:solidFill>
                <a:effectLst/>
                <a:latin typeface="Times New Roman" panose="02020603050405020304" pitchFamily="18" charset="0"/>
                <a:cs typeface="Times New Roman" panose="02020603050405020304" pitchFamily="18" charset="0"/>
              </a:rPr>
              <a:t>The same task can also be achieved using </a:t>
            </a:r>
            <a:r>
              <a:rPr lang="en-US" sz="2400" b="0" i="0" dirty="0">
                <a:solidFill>
                  <a:srgbClr val="FF0000"/>
                </a:solidFill>
                <a:effectLst/>
                <a:latin typeface="Times New Roman" panose="02020603050405020304" pitchFamily="18" charset="0"/>
                <a:cs typeface="Times New Roman" panose="02020603050405020304" pitchFamily="18" charset="0"/>
              </a:rPr>
              <a:t>Virtual Machines</a:t>
            </a:r>
            <a:r>
              <a:rPr lang="en-US" sz="2400" b="0" i="0" dirty="0">
                <a:solidFill>
                  <a:srgbClr val="4A4A4A"/>
                </a:solidFill>
                <a:effectLst/>
                <a:latin typeface="Times New Roman" panose="02020603050405020304" pitchFamily="18" charset="0"/>
                <a:cs typeface="Times New Roman" panose="02020603050405020304" pitchFamily="18" charset="0"/>
              </a:rPr>
              <a:t>, however it is not very efficient. </a:t>
            </a:r>
          </a:p>
          <a:p>
            <a:endParaRPr lang="en-US" sz="2400" dirty="0">
              <a:solidFill>
                <a:srgbClr val="4A4A4A"/>
              </a:solidFill>
              <a:latin typeface="Times New Roman" panose="02020603050405020304" pitchFamily="18" charset="0"/>
              <a:cs typeface="Times New Roman" panose="02020603050405020304" pitchFamily="18" charset="0"/>
            </a:endParaRPr>
          </a:p>
          <a:p>
            <a:endParaRPr lang="en-US" sz="2400" dirty="0">
              <a:solidFill>
                <a:srgbClr val="4A4A4A"/>
              </a:solidFill>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3621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68471B-CE13-44E8-A2CA-F73E28C7F180}"/>
              </a:ext>
            </a:extLst>
          </p:cNvPr>
          <p:cNvSpPr txBox="1"/>
          <p:nvPr/>
        </p:nvSpPr>
        <p:spPr>
          <a:xfrm>
            <a:off x="172278" y="1"/>
            <a:ext cx="12019722" cy="5262979"/>
          </a:xfrm>
          <a:prstGeom prst="rect">
            <a:avLst/>
          </a:prstGeom>
          <a:noFill/>
        </p:spPr>
        <p:txBody>
          <a:bodyPr wrap="square">
            <a:spAutoFit/>
          </a:bodyPr>
          <a:lstStyle/>
          <a:p>
            <a:pPr algn="l"/>
            <a:r>
              <a:rPr lang="en-US" sz="2400" b="1" i="0" dirty="0">
                <a:solidFill>
                  <a:srgbClr val="FF0000"/>
                </a:solidFill>
                <a:effectLst/>
                <a:latin typeface="Times New Roman" panose="02020603050405020304" pitchFamily="18" charset="0"/>
                <a:cs typeface="Times New Roman" panose="02020603050405020304" pitchFamily="18" charset="0"/>
              </a:rPr>
              <a:t>What is Virtualization?</a:t>
            </a:r>
            <a:endParaRPr lang="en-US" sz="2400" b="0" i="0" dirty="0">
              <a:solidFill>
                <a:srgbClr val="FF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Virtualization is the technique of importing a Guest operating system on top of a Host operating system. </a:t>
            </a:r>
          </a:p>
          <a:p>
            <a:pPr marL="342900" indent="-342900" algn="just">
              <a:buFont typeface="Wingdings" panose="05000000000000000000" pitchFamily="2" charset="2"/>
              <a:buChar char="Ø"/>
            </a:pPr>
            <a:endParaRPr lang="en-US" sz="2400" dirty="0">
              <a:solidFill>
                <a:srgbClr val="4A4A4A"/>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This technique was a revelation at the beginning because it allowed developers to run multiple operating systems in different virtual machines all running on the same host. </a:t>
            </a:r>
          </a:p>
          <a:p>
            <a:pPr marL="342900" indent="-342900" algn="just">
              <a:buFont typeface="Wingdings" panose="05000000000000000000" pitchFamily="2" charset="2"/>
              <a:buChar char="Ø"/>
            </a:pPr>
            <a:endParaRPr lang="en-US" sz="2400" dirty="0">
              <a:solidFill>
                <a:srgbClr val="4A4A4A"/>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This eliminated the need for extra hardware resource. </a:t>
            </a:r>
            <a:r>
              <a:rPr lang="en-US" sz="2400" b="0" i="0" dirty="0">
                <a:solidFill>
                  <a:srgbClr val="FF0000"/>
                </a:solidFill>
                <a:effectLst/>
                <a:latin typeface="Times New Roman" panose="02020603050405020304" pitchFamily="18" charset="0"/>
                <a:cs typeface="Times New Roman" panose="02020603050405020304" pitchFamily="18" charset="0"/>
              </a:rPr>
              <a:t>The advantages of Virtual Machines or Virtualization are:</a:t>
            </a:r>
          </a:p>
          <a:p>
            <a:pPr algn="just"/>
            <a:endParaRPr lang="en-US" sz="2400" dirty="0">
              <a:solidFill>
                <a:srgbClr val="4A4A4A"/>
              </a:solidFill>
              <a:latin typeface="Times New Roman" panose="02020603050405020304" pitchFamily="18" charset="0"/>
              <a:cs typeface="Times New Roman" panose="02020603050405020304" pitchFamily="18" charset="0"/>
            </a:endParaRPr>
          </a:p>
          <a:p>
            <a:pPr algn="just"/>
            <a:endParaRPr lang="en-US" sz="2400" b="0" i="0" dirty="0">
              <a:solidFill>
                <a:srgbClr val="4A4A4A"/>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400" b="0" i="0" dirty="0">
                <a:solidFill>
                  <a:srgbClr val="00B050"/>
                </a:solidFill>
                <a:effectLst/>
                <a:latin typeface="Times New Roman" panose="02020603050405020304" pitchFamily="18" charset="0"/>
                <a:cs typeface="Times New Roman" panose="02020603050405020304" pitchFamily="18" charset="0"/>
              </a:rPr>
              <a:t>Multiple operating systems can run on the same machine</a:t>
            </a:r>
          </a:p>
          <a:p>
            <a:pPr marL="342900" indent="-342900" algn="just">
              <a:buFont typeface="Wingdings" panose="05000000000000000000" pitchFamily="2" charset="2"/>
              <a:buChar char="ü"/>
            </a:pPr>
            <a:r>
              <a:rPr lang="en-US" sz="2400" b="0" i="0" dirty="0">
                <a:solidFill>
                  <a:srgbClr val="00B050"/>
                </a:solidFill>
                <a:effectLst/>
                <a:latin typeface="Times New Roman" panose="02020603050405020304" pitchFamily="18" charset="0"/>
                <a:cs typeface="Times New Roman" panose="02020603050405020304" pitchFamily="18" charset="0"/>
              </a:rPr>
              <a:t>Maintenance and Recovery were easy in case of failure conditions</a:t>
            </a:r>
          </a:p>
          <a:p>
            <a:pPr marL="342900" indent="-342900" algn="just">
              <a:buFont typeface="Wingdings" panose="05000000000000000000" pitchFamily="2" charset="2"/>
              <a:buChar char="ü"/>
            </a:pPr>
            <a:r>
              <a:rPr lang="en-US" sz="2400" b="0" i="0" dirty="0">
                <a:solidFill>
                  <a:srgbClr val="00B050"/>
                </a:solidFill>
                <a:effectLst/>
                <a:latin typeface="Times New Roman" panose="02020603050405020304" pitchFamily="18" charset="0"/>
                <a:cs typeface="Times New Roman" panose="02020603050405020304" pitchFamily="18" charset="0"/>
              </a:rPr>
              <a:t>Total cost of ownership was also less due to the reduced need for infrastructure</a:t>
            </a:r>
          </a:p>
        </p:txBody>
      </p:sp>
    </p:spTree>
    <p:extLst>
      <p:ext uri="{BB962C8B-B14F-4D97-AF65-F5344CB8AC3E}">
        <p14:creationId xmlns:p14="http://schemas.microsoft.com/office/powerpoint/2010/main" val="1670318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47BA04-4180-47AC-8968-0C4A1F8B8E9C}"/>
              </a:ext>
            </a:extLst>
          </p:cNvPr>
          <p:cNvPicPr>
            <a:picLocks noChangeAspect="1"/>
          </p:cNvPicPr>
          <p:nvPr/>
        </p:nvPicPr>
        <p:blipFill>
          <a:blip r:embed="rId2"/>
          <a:stretch>
            <a:fillRect/>
          </a:stretch>
        </p:blipFill>
        <p:spPr>
          <a:xfrm>
            <a:off x="3425894" y="3868392"/>
            <a:ext cx="3590925" cy="2381250"/>
          </a:xfrm>
          <a:prstGeom prst="rect">
            <a:avLst/>
          </a:prstGeom>
        </p:spPr>
      </p:pic>
      <p:pic>
        <p:nvPicPr>
          <p:cNvPr id="8" name="Picture 7">
            <a:extLst>
              <a:ext uri="{FF2B5EF4-FFF2-40B4-BE49-F238E27FC236}">
                <a16:creationId xmlns:a16="http://schemas.microsoft.com/office/drawing/2014/main" id="{9A20F388-FB33-463B-9C8E-74A4DF3460E6}"/>
              </a:ext>
            </a:extLst>
          </p:cNvPr>
          <p:cNvPicPr>
            <a:picLocks noChangeAspect="1"/>
          </p:cNvPicPr>
          <p:nvPr/>
        </p:nvPicPr>
        <p:blipFill>
          <a:blip r:embed="rId3"/>
          <a:stretch>
            <a:fillRect/>
          </a:stretch>
        </p:blipFill>
        <p:spPr>
          <a:xfrm>
            <a:off x="384106" y="571500"/>
            <a:ext cx="5248275" cy="2857500"/>
          </a:xfrm>
          <a:prstGeom prst="rect">
            <a:avLst/>
          </a:prstGeom>
        </p:spPr>
      </p:pic>
      <p:pic>
        <p:nvPicPr>
          <p:cNvPr id="10" name="Picture 9">
            <a:extLst>
              <a:ext uri="{FF2B5EF4-FFF2-40B4-BE49-F238E27FC236}">
                <a16:creationId xmlns:a16="http://schemas.microsoft.com/office/drawing/2014/main" id="{7A47C19B-C5B4-4CF7-8947-A19F973F67C6}"/>
              </a:ext>
            </a:extLst>
          </p:cNvPr>
          <p:cNvPicPr>
            <a:picLocks noChangeAspect="1"/>
          </p:cNvPicPr>
          <p:nvPr/>
        </p:nvPicPr>
        <p:blipFill>
          <a:blip r:embed="rId4"/>
          <a:stretch>
            <a:fillRect/>
          </a:stretch>
        </p:blipFill>
        <p:spPr>
          <a:xfrm>
            <a:off x="6083369" y="390525"/>
            <a:ext cx="5724525" cy="3219450"/>
          </a:xfrm>
          <a:prstGeom prst="rect">
            <a:avLst/>
          </a:prstGeom>
        </p:spPr>
      </p:pic>
    </p:spTree>
    <p:extLst>
      <p:ext uri="{BB962C8B-B14F-4D97-AF65-F5344CB8AC3E}">
        <p14:creationId xmlns:p14="http://schemas.microsoft.com/office/powerpoint/2010/main" val="4156121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25C323-80D4-4BC8-8DCD-5497628E1377}"/>
              </a:ext>
            </a:extLst>
          </p:cNvPr>
          <p:cNvPicPr>
            <a:picLocks noChangeAspect="1"/>
          </p:cNvPicPr>
          <p:nvPr/>
        </p:nvPicPr>
        <p:blipFill>
          <a:blip r:embed="rId2"/>
          <a:stretch>
            <a:fillRect/>
          </a:stretch>
        </p:blipFill>
        <p:spPr>
          <a:xfrm>
            <a:off x="538369" y="1434341"/>
            <a:ext cx="5372100" cy="3989318"/>
          </a:xfrm>
          <a:prstGeom prst="rect">
            <a:avLst/>
          </a:prstGeom>
        </p:spPr>
      </p:pic>
      <p:pic>
        <p:nvPicPr>
          <p:cNvPr id="5" name="Picture 4">
            <a:extLst>
              <a:ext uri="{FF2B5EF4-FFF2-40B4-BE49-F238E27FC236}">
                <a16:creationId xmlns:a16="http://schemas.microsoft.com/office/drawing/2014/main" id="{298FC0EF-E3FB-4787-9B36-D5300113EB96}"/>
              </a:ext>
            </a:extLst>
          </p:cNvPr>
          <p:cNvPicPr>
            <a:picLocks noChangeAspect="1"/>
          </p:cNvPicPr>
          <p:nvPr/>
        </p:nvPicPr>
        <p:blipFill>
          <a:blip r:embed="rId3"/>
          <a:stretch>
            <a:fillRect/>
          </a:stretch>
        </p:blipFill>
        <p:spPr>
          <a:xfrm>
            <a:off x="6281532" y="1316831"/>
            <a:ext cx="5224667" cy="4079471"/>
          </a:xfrm>
          <a:prstGeom prst="rect">
            <a:avLst/>
          </a:prstGeom>
        </p:spPr>
      </p:pic>
      <p:sp>
        <p:nvSpPr>
          <p:cNvPr id="6" name="TextBox 5">
            <a:extLst>
              <a:ext uri="{FF2B5EF4-FFF2-40B4-BE49-F238E27FC236}">
                <a16:creationId xmlns:a16="http://schemas.microsoft.com/office/drawing/2014/main" id="{C2A9660B-6699-49A1-AA06-5A55BEA146C5}"/>
              </a:ext>
            </a:extLst>
          </p:cNvPr>
          <p:cNvSpPr txBox="1"/>
          <p:nvPr/>
        </p:nvSpPr>
        <p:spPr>
          <a:xfrm>
            <a:off x="1033670" y="5883965"/>
            <a:ext cx="7500730" cy="369332"/>
          </a:xfrm>
          <a:prstGeom prst="rect">
            <a:avLst/>
          </a:prstGeom>
          <a:noFill/>
        </p:spPr>
        <p:txBody>
          <a:bodyPr wrap="square" rtlCol="0">
            <a:spAutoFit/>
          </a:bodyPr>
          <a:lstStyle/>
          <a:p>
            <a:r>
              <a:rPr lang="en-US" dirty="0"/>
              <a:t>In case of any failure, the other server is ready</a:t>
            </a:r>
            <a:endParaRPr lang="en-IN" dirty="0"/>
          </a:p>
        </p:txBody>
      </p:sp>
    </p:spTree>
    <p:extLst>
      <p:ext uri="{BB962C8B-B14F-4D97-AF65-F5344CB8AC3E}">
        <p14:creationId xmlns:p14="http://schemas.microsoft.com/office/powerpoint/2010/main" val="1691375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ACB761-47B2-43B7-8E67-4F3AF1E74F1A}"/>
              </a:ext>
            </a:extLst>
          </p:cNvPr>
          <p:cNvSpPr txBox="1"/>
          <p:nvPr/>
        </p:nvSpPr>
        <p:spPr>
          <a:xfrm>
            <a:off x="-1" y="0"/>
            <a:ext cx="6732105" cy="6001643"/>
          </a:xfrm>
          <a:prstGeom prst="rect">
            <a:avLst/>
          </a:prstGeom>
          <a:noFill/>
        </p:spPr>
        <p:txBody>
          <a:bodyPr wrap="square">
            <a:spAutoFit/>
          </a:bodyPr>
          <a:lstStyle/>
          <a:p>
            <a:pPr marL="285750" indent="-28575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In the diagram on the right, you can see there is a host operating system on which there are 3 guest operating systems running which is nothing but the virtual machines.</a:t>
            </a:r>
          </a:p>
          <a:p>
            <a:pPr algn="just"/>
            <a:endParaRPr lang="en-US" sz="2400" b="0" i="0" dirty="0">
              <a:solidFill>
                <a:srgbClr val="4A4A4A"/>
              </a:solidFill>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As you know nothing is perfect, Virtualization also has some shortcomings. Running multiple Virtual Machines in the same host operating system leads to performance degradation. </a:t>
            </a:r>
          </a:p>
          <a:p>
            <a:pPr marL="285750" indent="-285750" algn="just">
              <a:buFont typeface="Wingdings" panose="05000000000000000000" pitchFamily="2" charset="2"/>
              <a:buChar char="Ø"/>
            </a:pPr>
            <a:endParaRPr lang="en-US" sz="2400" dirty="0">
              <a:solidFill>
                <a:srgbClr val="4A4A4A"/>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Another problem with Virtual Machines which uses virtualization is that it takes almost a minute to boot-up. This is very critical in case of real-time applications.</a:t>
            </a:r>
          </a:p>
          <a:p>
            <a:pPr marL="285750" indent="-285750" algn="just">
              <a:buFont typeface="Wingdings" panose="05000000000000000000" pitchFamily="2" charset="2"/>
              <a:buChar char="Ø"/>
            </a:pPr>
            <a:endParaRPr lang="en-US" sz="2400" dirty="0">
              <a:solidFill>
                <a:srgbClr val="4A4A4A"/>
              </a:solidFill>
              <a:latin typeface="Times New Roman" panose="02020603050405020304" pitchFamily="18" charset="0"/>
              <a:cs typeface="Times New Roman" panose="02020603050405020304" pitchFamily="18" charset="0"/>
            </a:endParaRPr>
          </a:p>
          <a:p>
            <a:pPr algn="just"/>
            <a:endParaRPr lang="en-US" sz="2400" b="0" i="0" dirty="0">
              <a:solidFill>
                <a:srgbClr val="4A4A4A"/>
              </a:solidFill>
              <a:effectLst/>
              <a:latin typeface="Times New Roman" panose="02020603050405020304" pitchFamily="18" charset="0"/>
              <a:cs typeface="Times New Roman" panose="02020603050405020304" pitchFamily="18" charset="0"/>
            </a:endParaRPr>
          </a:p>
        </p:txBody>
      </p:sp>
      <p:pic>
        <p:nvPicPr>
          <p:cNvPr id="4" name="Picture 2" descr="Virtual Machine Architecture - Docker Tutorial On Introduction To Docker - Edureka">
            <a:extLst>
              <a:ext uri="{FF2B5EF4-FFF2-40B4-BE49-F238E27FC236}">
                <a16:creationId xmlns:a16="http://schemas.microsoft.com/office/drawing/2014/main" id="{64E69539-3B80-43FC-B830-81EECF53C6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9425" y="503583"/>
            <a:ext cx="3631095" cy="5451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4459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EFED10B-1009-4B51-A402-DF6E49EBF68E}"/>
              </a:ext>
            </a:extLst>
          </p:cNvPr>
          <p:cNvSpPr txBox="1"/>
          <p:nvPr/>
        </p:nvSpPr>
        <p:spPr>
          <a:xfrm>
            <a:off x="357809" y="265044"/>
            <a:ext cx="10588487" cy="3785652"/>
          </a:xfrm>
          <a:prstGeom prst="rect">
            <a:avLst/>
          </a:prstGeom>
          <a:noFill/>
        </p:spPr>
        <p:txBody>
          <a:bodyPr wrap="square">
            <a:spAutoFit/>
          </a:bodyPr>
          <a:lstStyle/>
          <a:p>
            <a:pPr algn="just"/>
            <a:r>
              <a:rPr lang="en-US" sz="2400" b="0" i="0" dirty="0">
                <a:solidFill>
                  <a:srgbClr val="FF0000"/>
                </a:solidFill>
                <a:effectLst/>
                <a:latin typeface="Times New Roman" panose="02020603050405020304" pitchFamily="18" charset="0"/>
                <a:cs typeface="Times New Roman" panose="02020603050405020304" pitchFamily="18" charset="0"/>
              </a:rPr>
              <a:t>Following are the disadvantages of Virtualization:</a:t>
            </a:r>
          </a:p>
          <a:p>
            <a:pPr algn="just"/>
            <a:endParaRPr lang="en-US" sz="2400" b="0" i="0" dirty="0">
              <a:solidFill>
                <a:srgbClr val="FF0000"/>
              </a:solidFill>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Running multiple Virtual Machines leads to unstable performance</a:t>
            </a:r>
          </a:p>
          <a:p>
            <a:pPr algn="just"/>
            <a:endParaRPr lang="en-US" sz="2400" b="0" i="0" dirty="0">
              <a:solidFill>
                <a:srgbClr val="4A4A4A"/>
              </a:solidFill>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Hypervisors are not as efficient as the host operating system</a:t>
            </a:r>
          </a:p>
          <a:p>
            <a:pPr algn="just"/>
            <a:endParaRPr lang="en-US" sz="2400" b="0" i="0" dirty="0">
              <a:solidFill>
                <a:srgbClr val="4A4A4A"/>
              </a:solidFill>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Boot up process is long and takes time</a:t>
            </a:r>
          </a:p>
          <a:p>
            <a:pPr algn="just"/>
            <a:endParaRPr lang="en-US" sz="2400" b="0" i="0" dirty="0">
              <a:solidFill>
                <a:srgbClr val="4A4A4A"/>
              </a:solidFill>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400" b="0" i="0" dirty="0">
                <a:solidFill>
                  <a:srgbClr val="4A4A4A"/>
                </a:solidFill>
                <a:effectLst/>
                <a:latin typeface="Times New Roman" panose="02020603050405020304" pitchFamily="18" charset="0"/>
                <a:cs typeface="Times New Roman" panose="02020603050405020304" pitchFamily="18" charset="0"/>
              </a:rPr>
              <a:t>These drawbacks led to the emergence of a new technique called Containerization. Now let me tell you about Containerization.</a:t>
            </a:r>
            <a:endParaRPr lang="en-IN" sz="2400" dirty="0"/>
          </a:p>
        </p:txBody>
      </p:sp>
    </p:spTree>
    <p:extLst>
      <p:ext uri="{BB962C8B-B14F-4D97-AF65-F5344CB8AC3E}">
        <p14:creationId xmlns:p14="http://schemas.microsoft.com/office/powerpoint/2010/main" val="994057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800D7B-CB9E-4622-A7E4-1DA51D30C797}"/>
              </a:ext>
            </a:extLst>
          </p:cNvPr>
          <p:cNvSpPr txBox="1"/>
          <p:nvPr/>
        </p:nvSpPr>
        <p:spPr>
          <a:xfrm>
            <a:off x="318051" y="339159"/>
            <a:ext cx="11343861" cy="6370975"/>
          </a:xfrm>
          <a:prstGeom prst="rect">
            <a:avLst/>
          </a:prstGeom>
          <a:noFill/>
        </p:spPr>
        <p:txBody>
          <a:bodyPr wrap="square">
            <a:spAutoFit/>
          </a:bodyPr>
          <a:lstStyle/>
          <a:p>
            <a:pPr algn="just"/>
            <a:r>
              <a:rPr lang="en-US" sz="2400" b="1" i="0" dirty="0">
                <a:solidFill>
                  <a:srgbClr val="FF0000"/>
                </a:solidFill>
                <a:effectLst/>
                <a:latin typeface="Times New Roman" panose="02020603050405020304" pitchFamily="18" charset="0"/>
                <a:cs typeface="Times New Roman" panose="02020603050405020304" pitchFamily="18" charset="0"/>
              </a:rPr>
              <a:t>What is Containerization?</a:t>
            </a:r>
            <a:endParaRPr lang="en-US" sz="2400" b="0" i="0" dirty="0">
              <a:solidFill>
                <a:srgbClr val="FF0000"/>
              </a:solidFill>
              <a:effectLst/>
              <a:latin typeface="Times New Roman" panose="02020603050405020304" pitchFamily="18" charset="0"/>
              <a:cs typeface="Times New Roman" panose="02020603050405020304" pitchFamily="18" charset="0"/>
            </a:endParaRPr>
          </a:p>
          <a:p>
            <a:pPr algn="just"/>
            <a:r>
              <a:rPr lang="en-US" sz="2400" b="0" i="0" dirty="0">
                <a:solidFill>
                  <a:srgbClr val="4A4A4A"/>
                </a:solidFill>
                <a:effectLst/>
                <a:latin typeface="Times New Roman" panose="02020603050405020304" pitchFamily="18" charset="0"/>
                <a:cs typeface="Times New Roman" panose="02020603050405020304" pitchFamily="18" charset="0"/>
              </a:rPr>
              <a:t>Containerization is the technique of bringing virtualization to the operating system level. </a:t>
            </a:r>
          </a:p>
          <a:p>
            <a:pPr algn="just"/>
            <a:endParaRPr lang="en-US" sz="2400" dirty="0">
              <a:solidFill>
                <a:srgbClr val="4A4A4A"/>
              </a:solidFill>
              <a:latin typeface="Times New Roman" panose="02020603050405020304" pitchFamily="18" charset="0"/>
              <a:cs typeface="Times New Roman" panose="02020603050405020304" pitchFamily="18" charset="0"/>
            </a:endParaRPr>
          </a:p>
          <a:p>
            <a:pPr algn="just"/>
            <a:r>
              <a:rPr lang="en-US" sz="2400" b="0" i="0" dirty="0">
                <a:solidFill>
                  <a:srgbClr val="4A4A4A"/>
                </a:solidFill>
                <a:effectLst/>
                <a:latin typeface="Times New Roman" panose="02020603050405020304" pitchFamily="18" charset="0"/>
                <a:cs typeface="Times New Roman" panose="02020603050405020304" pitchFamily="18" charset="0"/>
              </a:rPr>
              <a:t>Containerization brings abstraction to the operating system. Do note that Containerization is also a type of Virtualization. </a:t>
            </a:r>
          </a:p>
          <a:p>
            <a:pPr algn="just"/>
            <a:endParaRPr lang="en-US" sz="2400" dirty="0">
              <a:solidFill>
                <a:srgbClr val="4A4A4A"/>
              </a:solidFill>
              <a:latin typeface="Times New Roman" panose="02020603050405020304" pitchFamily="18" charset="0"/>
              <a:cs typeface="Times New Roman" panose="02020603050405020304" pitchFamily="18" charset="0"/>
            </a:endParaRPr>
          </a:p>
          <a:p>
            <a:pPr algn="just"/>
            <a:r>
              <a:rPr lang="en-US" sz="2400" b="0" i="0" dirty="0">
                <a:solidFill>
                  <a:srgbClr val="4A4A4A"/>
                </a:solidFill>
                <a:effectLst/>
                <a:latin typeface="Times New Roman" panose="02020603050405020304" pitchFamily="18" charset="0"/>
                <a:cs typeface="Times New Roman" panose="02020603050405020304" pitchFamily="18" charset="0"/>
              </a:rPr>
              <a:t>Containerization is however more efficient because there is no guest OS here and utilizes a host’s operating system, share relevant libraries &amp; resources as and when needed unlike virtual machines. </a:t>
            </a:r>
          </a:p>
          <a:p>
            <a:pPr algn="just"/>
            <a:endParaRPr lang="en-US" sz="2400" dirty="0">
              <a:solidFill>
                <a:srgbClr val="4A4A4A"/>
              </a:solidFill>
              <a:latin typeface="Times New Roman" panose="02020603050405020304" pitchFamily="18" charset="0"/>
              <a:cs typeface="Times New Roman" panose="02020603050405020304" pitchFamily="18" charset="0"/>
            </a:endParaRPr>
          </a:p>
          <a:p>
            <a:pPr algn="just"/>
            <a:r>
              <a:rPr lang="en-US" sz="2400" b="0" i="0" dirty="0">
                <a:solidFill>
                  <a:srgbClr val="4A4A4A"/>
                </a:solidFill>
                <a:effectLst/>
                <a:latin typeface="Times New Roman" panose="02020603050405020304" pitchFamily="18" charset="0"/>
                <a:cs typeface="Times New Roman" panose="02020603050405020304" pitchFamily="18" charset="0"/>
              </a:rPr>
              <a:t>Application specific binaries and libraries of containers run on the host kernel, which makes processing and execution very fast. Even booting-up a container takes only a fraction of a second. Because all the containers share, host operating system and holds only the application related binaries &amp; libraries. They are lightweight and faster than Virtual Machines.</a:t>
            </a:r>
          </a:p>
          <a:p>
            <a:pPr algn="just"/>
            <a:endParaRPr lang="en-US" sz="2400" dirty="0">
              <a:solidFill>
                <a:srgbClr val="4A4A4A"/>
              </a:solidFill>
              <a:latin typeface="Times New Roman" panose="02020603050405020304" pitchFamily="18" charset="0"/>
              <a:cs typeface="Times New Roman" panose="02020603050405020304" pitchFamily="18" charset="0"/>
            </a:endParaRPr>
          </a:p>
          <a:p>
            <a:pPr algn="just"/>
            <a:endParaRPr lang="en-US" sz="2400" b="0" i="0" dirty="0">
              <a:solidFill>
                <a:srgbClr val="4A4A4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5382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CAF925-81CE-46E0-B965-294CF72B3EE9}"/>
              </a:ext>
            </a:extLst>
          </p:cNvPr>
          <p:cNvSpPr txBox="1"/>
          <p:nvPr/>
        </p:nvSpPr>
        <p:spPr>
          <a:xfrm>
            <a:off x="0" y="159026"/>
            <a:ext cx="12046226" cy="1569660"/>
          </a:xfrm>
          <a:prstGeom prst="rect">
            <a:avLst/>
          </a:prstGeom>
          <a:noFill/>
        </p:spPr>
        <p:txBody>
          <a:bodyPr wrap="square">
            <a:spAutoFit/>
          </a:bodyPr>
          <a:lstStyle/>
          <a:p>
            <a:pPr algn="just"/>
            <a:r>
              <a:rPr lang="en-US" sz="2400" b="1" i="0" dirty="0">
                <a:solidFill>
                  <a:srgbClr val="FF0000"/>
                </a:solidFill>
                <a:effectLst/>
                <a:latin typeface="Times New Roman" panose="02020603050405020304" pitchFamily="18" charset="0"/>
                <a:cs typeface="Times New Roman" panose="02020603050405020304" pitchFamily="18" charset="0"/>
              </a:rPr>
              <a:t>Advantages of Containerization over Virtualization:</a:t>
            </a:r>
            <a:endParaRPr lang="en-US" sz="2400" b="0" i="0" dirty="0">
              <a:solidFill>
                <a:srgbClr val="FF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4A4A4A"/>
                </a:solidFill>
                <a:effectLst/>
                <a:latin typeface="Times New Roman" panose="02020603050405020304" pitchFamily="18" charset="0"/>
                <a:cs typeface="Times New Roman" panose="02020603050405020304" pitchFamily="18" charset="0"/>
              </a:rPr>
              <a:t>Containers on the same OS kernel are lighter and smaller</a:t>
            </a:r>
          </a:p>
          <a:p>
            <a:pPr algn="l">
              <a:buFont typeface="Arial" panose="020B0604020202020204" pitchFamily="34" charset="0"/>
              <a:buChar char="•"/>
            </a:pPr>
            <a:r>
              <a:rPr lang="en-US" sz="2400" b="0" i="0" dirty="0">
                <a:solidFill>
                  <a:srgbClr val="4A4A4A"/>
                </a:solidFill>
                <a:effectLst/>
                <a:latin typeface="Times New Roman" panose="02020603050405020304" pitchFamily="18" charset="0"/>
                <a:cs typeface="Times New Roman" panose="02020603050405020304" pitchFamily="18" charset="0"/>
              </a:rPr>
              <a:t>Better resource utilization compared to VMs</a:t>
            </a:r>
          </a:p>
          <a:p>
            <a:pPr algn="l">
              <a:buFont typeface="Arial" panose="020B0604020202020204" pitchFamily="34" charset="0"/>
              <a:buChar char="•"/>
            </a:pPr>
            <a:r>
              <a:rPr lang="en-US" sz="2400" b="0" i="0" dirty="0">
                <a:solidFill>
                  <a:srgbClr val="4A4A4A"/>
                </a:solidFill>
                <a:effectLst/>
                <a:latin typeface="Times New Roman" panose="02020603050405020304" pitchFamily="18" charset="0"/>
                <a:cs typeface="Times New Roman" panose="02020603050405020304" pitchFamily="18" charset="0"/>
              </a:rPr>
              <a:t>Boot-up process is short and takes few seconds</a:t>
            </a:r>
          </a:p>
        </p:txBody>
      </p:sp>
    </p:spTree>
    <p:extLst>
      <p:ext uri="{BB962C8B-B14F-4D97-AF65-F5344CB8AC3E}">
        <p14:creationId xmlns:p14="http://schemas.microsoft.com/office/powerpoint/2010/main" val="3868425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ontainer Architecture - Docker Tutorial On Introduction To Docker - Edureka">
            <a:extLst>
              <a:ext uri="{FF2B5EF4-FFF2-40B4-BE49-F238E27FC236}">
                <a16:creationId xmlns:a16="http://schemas.microsoft.com/office/drawing/2014/main" id="{2A361ED9-65A3-4FA7-B6A0-D6C992651F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0991" y="943907"/>
            <a:ext cx="8362122" cy="4970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1335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A0EA8F-7FC0-442F-B15D-7DD769E65B0A}"/>
              </a:ext>
            </a:extLst>
          </p:cNvPr>
          <p:cNvSpPr txBox="1"/>
          <p:nvPr/>
        </p:nvSpPr>
        <p:spPr>
          <a:xfrm>
            <a:off x="185530" y="132522"/>
            <a:ext cx="11688418" cy="3139321"/>
          </a:xfrm>
          <a:prstGeom prst="rect">
            <a:avLst/>
          </a:prstGeom>
          <a:noFill/>
        </p:spPr>
        <p:txBody>
          <a:bodyPr wrap="square">
            <a:spAutoFit/>
          </a:bodyPr>
          <a:lstStyle/>
          <a:p>
            <a:pPr algn="just"/>
            <a:r>
              <a:rPr lang="en-US" b="1" i="0" dirty="0">
                <a:solidFill>
                  <a:srgbClr val="4A4A4A"/>
                </a:solidFill>
                <a:effectLst/>
                <a:latin typeface="Open Sans" panose="020B0606030504020204" pitchFamily="34" charset="0"/>
              </a:rPr>
              <a:t>Virtualization vs Containerization</a:t>
            </a:r>
            <a:endParaRPr lang="en-US" b="0" i="0" dirty="0">
              <a:solidFill>
                <a:srgbClr val="4A4A4A"/>
              </a:solidFill>
              <a:effectLst/>
              <a:latin typeface="Open Sans" panose="020B0606030504020204" pitchFamily="34" charset="0"/>
            </a:endParaRPr>
          </a:p>
          <a:p>
            <a:pPr algn="just"/>
            <a:r>
              <a:rPr lang="en-US" b="0" i="0" dirty="0">
                <a:solidFill>
                  <a:srgbClr val="4A4A4A"/>
                </a:solidFill>
                <a:effectLst/>
                <a:latin typeface="Open Sans" panose="020B0606030504020204" pitchFamily="34" charset="0"/>
              </a:rPr>
              <a:t>Virtualization and Containerization both let you run multiple operating systems inside a host machine.</a:t>
            </a:r>
          </a:p>
          <a:p>
            <a:pPr algn="just"/>
            <a:r>
              <a:rPr lang="en-US" b="0" i="0" dirty="0">
                <a:solidFill>
                  <a:srgbClr val="4A4A4A"/>
                </a:solidFill>
                <a:effectLst/>
                <a:latin typeface="Open Sans" panose="020B0606030504020204" pitchFamily="34" charset="0"/>
              </a:rPr>
              <a:t>Virtualization deals with creating many operating systems in a single host machine. Containerization on the other hand will create multiple containers for every type of application as required.</a:t>
            </a:r>
          </a:p>
          <a:p>
            <a:pPr algn="just"/>
            <a:endParaRPr lang="en-US" dirty="0">
              <a:solidFill>
                <a:srgbClr val="4A4A4A"/>
              </a:solidFill>
              <a:latin typeface="Open Sans" panose="020B0606030504020204" pitchFamily="34" charset="0"/>
            </a:endParaRPr>
          </a:p>
          <a:p>
            <a:pPr algn="just"/>
            <a:r>
              <a:rPr lang="en-US" b="0" i="0" dirty="0">
                <a:solidFill>
                  <a:srgbClr val="4A4A4A"/>
                </a:solidFill>
                <a:effectLst/>
                <a:latin typeface="Open Sans" panose="020B0606030504020204" pitchFamily="34" charset="0"/>
              </a:rPr>
              <a:t>As we can see from the image, the major difference is that there are multiple Guest Operating Systems in Virtualization which are absent in Containerization. The best part of Containerization is that it is very lightweight as compared to the heavy virtualization.</a:t>
            </a:r>
          </a:p>
          <a:p>
            <a:pPr algn="just"/>
            <a:endParaRPr lang="en-US" b="0" i="0" dirty="0">
              <a:solidFill>
                <a:srgbClr val="4A4A4A"/>
              </a:solidFill>
              <a:effectLst/>
              <a:latin typeface="Open Sans" panose="020B0606030504020204" pitchFamily="34" charset="0"/>
            </a:endParaRPr>
          </a:p>
          <a:p>
            <a:br>
              <a:rPr lang="en-US" b="0" i="0" dirty="0">
                <a:solidFill>
                  <a:srgbClr val="4A4A4A"/>
                </a:solidFill>
                <a:effectLst/>
                <a:latin typeface="Open Sans" panose="020B0606030504020204" pitchFamily="34" charset="0"/>
              </a:rPr>
            </a:br>
            <a:endParaRPr lang="en-IN" dirty="0"/>
          </a:p>
        </p:txBody>
      </p:sp>
      <p:pic>
        <p:nvPicPr>
          <p:cNvPr id="4" name="Picture 3" descr="Virtual Machine Architecture - Docker Tutorial On Introduction To Docker - Edureka">
            <a:extLst>
              <a:ext uri="{FF2B5EF4-FFF2-40B4-BE49-F238E27FC236}">
                <a16:creationId xmlns:a16="http://schemas.microsoft.com/office/drawing/2014/main" id="{BA3EE447-010B-4464-B62C-D9A7FC27F1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068" y="2743200"/>
            <a:ext cx="2914341" cy="286247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Container Architecture - Docker Tutorial On Introduction To Docker - Edureka">
            <a:extLst>
              <a:ext uri="{FF2B5EF4-FFF2-40B4-BE49-F238E27FC236}">
                <a16:creationId xmlns:a16="http://schemas.microsoft.com/office/drawing/2014/main" id="{11F29C01-59A2-45BC-ADA1-6785665E79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3149" y="2289731"/>
            <a:ext cx="5406887" cy="33159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3987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ontainerization vs Virtualization – An introduction to Docker - JAXenter">
            <a:extLst>
              <a:ext uri="{FF2B5EF4-FFF2-40B4-BE49-F238E27FC236}">
                <a16:creationId xmlns:a16="http://schemas.microsoft.com/office/drawing/2014/main" id="{034D21FC-ABAA-453E-8CFD-350287B4C3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8555" y="2769705"/>
            <a:ext cx="8759687" cy="364476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BA4AE6F-52CF-4187-8DC7-18BD353A9934}"/>
              </a:ext>
            </a:extLst>
          </p:cNvPr>
          <p:cNvSpPr txBox="1"/>
          <p:nvPr/>
        </p:nvSpPr>
        <p:spPr>
          <a:xfrm rot="10800000" flipV="1">
            <a:off x="371061" y="893313"/>
            <a:ext cx="10681250" cy="1569660"/>
          </a:xfrm>
          <a:prstGeom prst="rect">
            <a:avLst/>
          </a:prstGeom>
          <a:noFill/>
        </p:spPr>
        <p:txBody>
          <a:bodyPr wrap="square">
            <a:spAutoFit/>
          </a:bodyPr>
          <a:lstStyle/>
          <a:p>
            <a:r>
              <a:rPr lang="en-US" sz="2400" b="0" i="0" dirty="0">
                <a:solidFill>
                  <a:srgbClr val="4A4A4A"/>
                </a:solidFill>
                <a:effectLst/>
                <a:latin typeface="Times New Roman" panose="02020603050405020304" pitchFamily="18" charset="0"/>
                <a:cs typeface="Times New Roman" panose="02020603050405020304" pitchFamily="18" charset="0"/>
              </a:rPr>
              <a:t>In the diagram on the right, you can see that there is a host operating system which is shared by all the containers. Containers only contain application specific libraries which are separate for each container and they are faster and do not waste any resources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6164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00D449D-6D83-4703-ACE9-366B19BEE979}"/>
              </a:ext>
            </a:extLst>
          </p:cNvPr>
          <p:cNvSpPr txBox="1"/>
          <p:nvPr/>
        </p:nvSpPr>
        <p:spPr>
          <a:xfrm>
            <a:off x="397565" y="132522"/>
            <a:ext cx="6069495" cy="6740307"/>
          </a:xfrm>
          <a:prstGeom prst="rect">
            <a:avLst/>
          </a:prstGeom>
          <a:noFill/>
        </p:spPr>
        <p:txBody>
          <a:bodyPr wrap="square">
            <a:spAutoFit/>
          </a:bodyPr>
          <a:lstStyle/>
          <a:p>
            <a:r>
              <a:rPr lang="en-US" sz="2400" b="1" i="0" dirty="0">
                <a:solidFill>
                  <a:srgbClr val="FF0000"/>
                </a:solidFill>
                <a:effectLst/>
                <a:latin typeface="Times New Roman" panose="02020603050405020304" pitchFamily="18" charset="0"/>
                <a:cs typeface="Times New Roman" panose="02020603050405020304" pitchFamily="18" charset="0"/>
              </a:rPr>
              <a:t>DOCKER</a:t>
            </a:r>
          </a:p>
          <a:p>
            <a:endParaRPr lang="en-US" sz="2400" b="1" i="0" dirty="0">
              <a:solidFill>
                <a:srgbClr val="FF0000"/>
              </a:solidFill>
              <a:effectLst/>
              <a:latin typeface="Times New Roman" panose="02020603050405020304" pitchFamily="18" charset="0"/>
              <a:cs typeface="Times New Roman" panose="02020603050405020304" pitchFamily="18" charset="0"/>
            </a:endParaRPr>
          </a:p>
          <a:p>
            <a:r>
              <a:rPr lang="en-US" sz="2400" b="0" i="0" dirty="0">
                <a:solidFill>
                  <a:srgbClr val="4A4A4A"/>
                </a:solidFill>
                <a:effectLst/>
                <a:latin typeface="Times New Roman" panose="02020603050405020304" pitchFamily="18" charset="0"/>
                <a:cs typeface="Times New Roman" panose="02020603050405020304" pitchFamily="18" charset="0"/>
              </a:rPr>
              <a:t>Docker is a </a:t>
            </a:r>
            <a:r>
              <a:rPr lang="en-US" sz="2400" b="0" i="0" dirty="0">
                <a:solidFill>
                  <a:srgbClr val="FF0000"/>
                </a:solidFill>
                <a:effectLst/>
                <a:latin typeface="Times New Roman" panose="02020603050405020304" pitchFamily="18" charset="0"/>
                <a:cs typeface="Times New Roman" panose="02020603050405020304" pitchFamily="18" charset="0"/>
              </a:rPr>
              <a:t>containerization platform that packages your application and all its dependencies together in the form of Containers to ensure that your application works seamlessly in any environment.</a:t>
            </a:r>
          </a:p>
          <a:p>
            <a:endParaRPr lang="en-US" sz="2400" dirty="0">
              <a:solidFill>
                <a:srgbClr val="4A4A4A"/>
              </a:solidFill>
              <a:latin typeface="Times New Roman" panose="02020603050405020304" pitchFamily="18" charset="0"/>
              <a:cs typeface="Times New Roman" panose="02020603050405020304" pitchFamily="18" charset="0"/>
            </a:endParaRPr>
          </a:p>
          <a:p>
            <a:pPr algn="just"/>
            <a:r>
              <a:rPr lang="en-US" sz="2400" b="0" i="0" dirty="0">
                <a:solidFill>
                  <a:srgbClr val="4A4A4A"/>
                </a:solidFill>
                <a:effectLst/>
                <a:latin typeface="Times New Roman" panose="02020603050405020304" pitchFamily="18" charset="0"/>
                <a:cs typeface="Times New Roman" panose="02020603050405020304" pitchFamily="18" charset="0"/>
              </a:rPr>
              <a:t>As you can see in the diagram on the right, each application will run on a separate container and will have its own set of libraries and dependencies. This also ensures that there is process level isolation, meaning each application is independent of other applications, giving developers surety that they can build applications that will not interfere with one another.</a:t>
            </a:r>
          </a:p>
          <a:p>
            <a:endParaRPr lang="en-IN" sz="2400" dirty="0">
              <a:latin typeface="Times New Roman" panose="02020603050405020304" pitchFamily="18" charset="0"/>
              <a:cs typeface="Times New Roman" panose="02020603050405020304" pitchFamily="18" charset="0"/>
            </a:endParaRPr>
          </a:p>
        </p:txBody>
      </p:sp>
      <p:pic>
        <p:nvPicPr>
          <p:cNvPr id="3" name="Picture 2" descr="Container Apps Using Docker Engine - Docker Tutorial On Introduction To Docker - Edureka">
            <a:extLst>
              <a:ext uri="{FF2B5EF4-FFF2-40B4-BE49-F238E27FC236}">
                <a16:creationId xmlns:a16="http://schemas.microsoft.com/office/drawing/2014/main" id="{FD5B9E00-12EB-4542-BDE2-38C6B9F492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5605" y="304801"/>
            <a:ext cx="4660778" cy="5512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825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550063-D41E-4048-89F6-85B52C86B10C}"/>
              </a:ext>
            </a:extLst>
          </p:cNvPr>
          <p:cNvSpPr txBox="1"/>
          <p:nvPr/>
        </p:nvSpPr>
        <p:spPr>
          <a:xfrm>
            <a:off x="0" y="1"/>
            <a:ext cx="11887200" cy="6555641"/>
          </a:xfrm>
          <a:prstGeom prst="rect">
            <a:avLst/>
          </a:prstGeom>
          <a:noFill/>
        </p:spPr>
        <p:txBody>
          <a:bodyPr wrap="square">
            <a:spAutoFit/>
          </a:bodyPr>
          <a:lstStyle/>
          <a:p>
            <a:pPr algn="just"/>
            <a:r>
              <a:rPr lang="en-US" sz="2000" b="0" i="0" dirty="0">
                <a:solidFill>
                  <a:srgbClr val="4A4A4A"/>
                </a:solidFill>
                <a:effectLst/>
                <a:latin typeface="Times New Roman" panose="02020603050405020304" pitchFamily="18" charset="0"/>
                <a:cs typeface="Times New Roman" panose="02020603050405020304" pitchFamily="18" charset="0"/>
              </a:rPr>
              <a:t>As a developer, I can build a container which has different applications installed on it and give it to my QA team who will only need to run the container to replicate the developer environment.</a:t>
            </a:r>
          </a:p>
          <a:p>
            <a:pPr algn="l"/>
            <a:r>
              <a:rPr lang="en-US" sz="2000" b="0" i="0" dirty="0">
                <a:solidFill>
                  <a:srgbClr val="4A4A4A"/>
                </a:solidFill>
                <a:effectLst/>
                <a:latin typeface="Times New Roman" panose="02020603050405020304" pitchFamily="18" charset="0"/>
                <a:cs typeface="Times New Roman" panose="02020603050405020304" pitchFamily="18" charset="0"/>
              </a:rPr>
              <a:t> </a:t>
            </a:r>
          </a:p>
          <a:p>
            <a:pPr algn="l"/>
            <a:r>
              <a:rPr lang="en-US" sz="2000" b="1" i="0" dirty="0">
                <a:solidFill>
                  <a:srgbClr val="FF0000"/>
                </a:solidFill>
                <a:effectLst/>
                <a:latin typeface="Times New Roman" panose="02020603050405020304" pitchFamily="18" charset="0"/>
                <a:cs typeface="Times New Roman" panose="02020603050405020304" pitchFamily="18" charset="0"/>
              </a:rPr>
              <a:t>Benefits of Docker</a:t>
            </a:r>
            <a:endParaRPr lang="en-US" sz="2000" b="0" i="0" dirty="0">
              <a:solidFill>
                <a:srgbClr val="FF0000"/>
              </a:solidFill>
              <a:effectLst/>
              <a:latin typeface="Times New Roman" panose="02020603050405020304" pitchFamily="18" charset="0"/>
              <a:cs typeface="Times New Roman" panose="02020603050405020304" pitchFamily="18" charset="0"/>
            </a:endParaRPr>
          </a:p>
          <a:p>
            <a:pPr algn="just"/>
            <a:r>
              <a:rPr lang="en-US" sz="2000" b="0" i="0" dirty="0">
                <a:solidFill>
                  <a:srgbClr val="4A4A4A"/>
                </a:solidFill>
                <a:effectLst/>
                <a:latin typeface="Times New Roman" panose="02020603050405020304" pitchFamily="18" charset="0"/>
                <a:cs typeface="Times New Roman" panose="02020603050405020304" pitchFamily="18" charset="0"/>
              </a:rPr>
              <a:t>Now, the QA team need not install all the dependent software and applications to test the code and this helps them save lots of time and energy. </a:t>
            </a:r>
          </a:p>
          <a:p>
            <a:pPr algn="just"/>
            <a:endParaRPr lang="en-US" sz="2000" dirty="0">
              <a:solidFill>
                <a:srgbClr val="4A4A4A"/>
              </a:solidFill>
              <a:latin typeface="Times New Roman" panose="02020603050405020304" pitchFamily="18" charset="0"/>
              <a:cs typeface="Times New Roman" panose="02020603050405020304" pitchFamily="18" charset="0"/>
            </a:endParaRPr>
          </a:p>
          <a:p>
            <a:pPr algn="just"/>
            <a:r>
              <a:rPr lang="en-US" sz="2000" b="0" i="0" dirty="0">
                <a:solidFill>
                  <a:srgbClr val="4A4A4A"/>
                </a:solidFill>
                <a:effectLst/>
                <a:latin typeface="Times New Roman" panose="02020603050405020304" pitchFamily="18" charset="0"/>
                <a:cs typeface="Times New Roman" panose="02020603050405020304" pitchFamily="18" charset="0"/>
              </a:rPr>
              <a:t>This also ensures that the working environment is consistent across all the individuals involved in the process, starting from development to deployment. The number of systems can be scaled up easily and the code can be deployed on them effortlessly.</a:t>
            </a:r>
          </a:p>
          <a:p>
            <a:pPr algn="just"/>
            <a:endParaRPr lang="en-US" sz="2000" dirty="0">
              <a:solidFill>
                <a:srgbClr val="4A4A4A"/>
              </a:solidFill>
              <a:latin typeface="Times New Roman" panose="02020603050405020304" pitchFamily="18" charset="0"/>
              <a:cs typeface="Times New Roman" panose="02020603050405020304" pitchFamily="18" charset="0"/>
            </a:endParaRPr>
          </a:p>
          <a:p>
            <a:pPr algn="l"/>
            <a:r>
              <a:rPr lang="en-US" sz="2000" b="1" i="0" dirty="0">
                <a:solidFill>
                  <a:srgbClr val="FF0000"/>
                </a:solidFill>
                <a:effectLst/>
                <a:latin typeface="Times New Roman" panose="02020603050405020304" pitchFamily="18" charset="0"/>
                <a:cs typeface="Times New Roman" panose="02020603050405020304" pitchFamily="18" charset="0"/>
              </a:rPr>
              <a:t>Advantages</a:t>
            </a:r>
          </a:p>
          <a:p>
            <a:pPr algn="l"/>
            <a:r>
              <a:rPr lang="en-US" sz="2000" b="0" i="0" dirty="0">
                <a:solidFill>
                  <a:srgbClr val="07242D"/>
                </a:solidFill>
                <a:effectLst/>
                <a:latin typeface="Times New Roman" panose="02020603050405020304" pitchFamily="18" charset="0"/>
                <a:cs typeface="Times New Roman" panose="02020603050405020304" pitchFamily="18" charset="0"/>
              </a:rPr>
              <a:t>The main advantages of Docker are:</a:t>
            </a:r>
          </a:p>
          <a:p>
            <a:pPr algn="l">
              <a:buFont typeface="Arial" panose="020B0604020202020204" pitchFamily="34" charset="0"/>
              <a:buChar char="•"/>
            </a:pPr>
            <a:r>
              <a:rPr lang="en-US" sz="2000" b="1" i="0" dirty="0">
                <a:solidFill>
                  <a:srgbClr val="FF0000"/>
                </a:solidFill>
                <a:effectLst/>
                <a:latin typeface="Times New Roman" panose="02020603050405020304" pitchFamily="18" charset="0"/>
                <a:cs typeface="Times New Roman" panose="02020603050405020304" pitchFamily="18" charset="0"/>
              </a:rPr>
              <a:t>Resource Efficiency</a:t>
            </a:r>
            <a:r>
              <a:rPr lang="en-US" sz="2000" b="0" i="0" dirty="0">
                <a:solidFill>
                  <a:srgbClr val="FF0000"/>
                </a:solidFill>
                <a:effectLst/>
                <a:latin typeface="Times New Roman" panose="02020603050405020304" pitchFamily="18" charset="0"/>
                <a:cs typeface="Times New Roman" panose="02020603050405020304" pitchFamily="18" charset="0"/>
              </a:rPr>
              <a:t>: </a:t>
            </a:r>
            <a:r>
              <a:rPr lang="en-US" sz="2000" b="0" i="0" dirty="0">
                <a:solidFill>
                  <a:srgbClr val="07242D"/>
                </a:solidFill>
                <a:effectLst/>
                <a:latin typeface="Times New Roman" panose="02020603050405020304" pitchFamily="18" charset="0"/>
                <a:cs typeface="Times New Roman" panose="02020603050405020304" pitchFamily="18" charset="0"/>
              </a:rPr>
              <a:t>Process level isolation and usage of the container host’s kernel is more efficient when compared to virtualizing an entire hardware server.</a:t>
            </a:r>
          </a:p>
          <a:p>
            <a:pPr algn="l">
              <a:buFont typeface="Arial" panose="020B0604020202020204" pitchFamily="34" charset="0"/>
              <a:buChar char="•"/>
            </a:pPr>
            <a:r>
              <a:rPr lang="en-US" sz="2000" b="1" i="0" dirty="0">
                <a:solidFill>
                  <a:srgbClr val="FF0000"/>
                </a:solidFill>
                <a:effectLst/>
                <a:latin typeface="Times New Roman" panose="02020603050405020304" pitchFamily="18" charset="0"/>
                <a:cs typeface="Times New Roman" panose="02020603050405020304" pitchFamily="18" charset="0"/>
              </a:rPr>
              <a:t>Portability</a:t>
            </a:r>
            <a:r>
              <a:rPr lang="en-US" sz="2000" b="0" i="0" dirty="0">
                <a:solidFill>
                  <a:srgbClr val="FF0000"/>
                </a:solidFill>
                <a:effectLst/>
                <a:latin typeface="Times New Roman" panose="02020603050405020304" pitchFamily="18" charset="0"/>
                <a:cs typeface="Times New Roman" panose="02020603050405020304" pitchFamily="18" charset="0"/>
              </a:rPr>
              <a:t>: </a:t>
            </a:r>
            <a:r>
              <a:rPr lang="en-US" sz="2000" b="0" i="0" dirty="0">
                <a:solidFill>
                  <a:srgbClr val="07242D"/>
                </a:solidFill>
                <a:effectLst/>
                <a:latin typeface="Times New Roman" panose="02020603050405020304" pitchFamily="18" charset="0"/>
                <a:cs typeface="Times New Roman" panose="02020603050405020304" pitchFamily="18" charset="0"/>
              </a:rPr>
              <a:t>All the dependencies for an application are bundled in the container. This means they can be easily moved between development, test, and production environments.</a:t>
            </a:r>
          </a:p>
          <a:p>
            <a:pPr algn="l">
              <a:buFont typeface="Arial" panose="020B0604020202020204" pitchFamily="34" charset="0"/>
              <a:buChar char="•"/>
            </a:pPr>
            <a:r>
              <a:rPr lang="en-US" sz="2000" b="1" i="0" dirty="0">
                <a:solidFill>
                  <a:srgbClr val="FF0000"/>
                </a:solidFill>
                <a:effectLst/>
                <a:latin typeface="Times New Roman" panose="02020603050405020304" pitchFamily="18" charset="0"/>
                <a:cs typeface="Times New Roman" panose="02020603050405020304" pitchFamily="18" charset="0"/>
              </a:rPr>
              <a:t>Continuous Deployment and Testing</a:t>
            </a:r>
            <a:r>
              <a:rPr lang="en-US" sz="2000" b="0" i="0" dirty="0">
                <a:solidFill>
                  <a:srgbClr val="FF0000"/>
                </a:solidFill>
                <a:effectLst/>
                <a:latin typeface="Times New Roman" panose="02020603050405020304" pitchFamily="18" charset="0"/>
                <a:cs typeface="Times New Roman" panose="02020603050405020304" pitchFamily="18" charset="0"/>
              </a:rPr>
              <a:t>: </a:t>
            </a:r>
            <a:r>
              <a:rPr lang="en-US" sz="2000" b="0" i="0" dirty="0">
                <a:solidFill>
                  <a:srgbClr val="07242D"/>
                </a:solidFill>
                <a:effectLst/>
                <a:latin typeface="Times New Roman" panose="02020603050405020304" pitchFamily="18" charset="0"/>
                <a:cs typeface="Times New Roman" panose="02020603050405020304" pitchFamily="18" charset="0"/>
              </a:rPr>
              <a:t>The ability to have consistent environments and flexibility with patching has made Docker a great choice for teams that want to move from waterfall to the modern DevOps approach to software delivery.</a:t>
            </a:r>
          </a:p>
          <a:p>
            <a:pPr algn="just"/>
            <a:endParaRPr lang="en-US" sz="2000" b="0" i="0" dirty="0">
              <a:solidFill>
                <a:srgbClr val="4A4A4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1623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B4FC58-A950-43DA-8FF5-BDEB6C925C93}"/>
              </a:ext>
            </a:extLst>
          </p:cNvPr>
          <p:cNvPicPr>
            <a:picLocks noChangeAspect="1"/>
          </p:cNvPicPr>
          <p:nvPr/>
        </p:nvPicPr>
        <p:blipFill>
          <a:blip r:embed="rId2"/>
          <a:stretch>
            <a:fillRect/>
          </a:stretch>
        </p:blipFill>
        <p:spPr>
          <a:xfrm>
            <a:off x="901147" y="460823"/>
            <a:ext cx="11025809" cy="5936353"/>
          </a:xfrm>
          <a:prstGeom prst="rect">
            <a:avLst/>
          </a:prstGeom>
        </p:spPr>
      </p:pic>
    </p:spTree>
    <p:extLst>
      <p:ext uri="{BB962C8B-B14F-4D97-AF65-F5344CB8AC3E}">
        <p14:creationId xmlns:p14="http://schemas.microsoft.com/office/powerpoint/2010/main" val="24267438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04C9F4-AA2D-45CD-98E6-DB6DCF781FA9}"/>
              </a:ext>
            </a:extLst>
          </p:cNvPr>
          <p:cNvSpPr txBox="1"/>
          <p:nvPr/>
        </p:nvSpPr>
        <p:spPr>
          <a:xfrm>
            <a:off x="291548" y="159027"/>
            <a:ext cx="11754678" cy="1200329"/>
          </a:xfrm>
          <a:prstGeom prst="rect">
            <a:avLst/>
          </a:prstGeom>
          <a:noFill/>
        </p:spPr>
        <p:txBody>
          <a:bodyPr wrap="square">
            <a:spAutoFit/>
          </a:bodyPr>
          <a:lstStyle/>
          <a:p>
            <a:pPr algn="l"/>
            <a:r>
              <a:rPr lang="en-US" b="1" i="0" dirty="0">
                <a:solidFill>
                  <a:srgbClr val="4A4A4A"/>
                </a:solidFill>
                <a:effectLst/>
                <a:latin typeface="Open Sans" panose="020B0606030504020204" pitchFamily="34" charset="0"/>
              </a:rPr>
              <a:t>Docker file, Images &amp; Containers</a:t>
            </a:r>
          </a:p>
          <a:p>
            <a:pPr algn="l"/>
            <a:endParaRPr lang="en-US" b="0" i="0" dirty="0">
              <a:solidFill>
                <a:srgbClr val="4A4A4A"/>
              </a:solidFill>
              <a:effectLst/>
              <a:latin typeface="Open Sans" panose="020B0606030504020204" pitchFamily="34" charset="0"/>
            </a:endParaRPr>
          </a:p>
          <a:p>
            <a:pPr algn="just"/>
            <a:r>
              <a:rPr lang="en-US" b="0" i="0" dirty="0">
                <a:solidFill>
                  <a:srgbClr val="4A4A4A"/>
                </a:solidFill>
                <a:effectLst/>
                <a:latin typeface="Open Sans" panose="020B0606030504020204" pitchFamily="34" charset="0"/>
              </a:rPr>
              <a:t>Docker file, Docker Images &amp; Docker Containers are three important terms that you need to understand while using Docker.</a:t>
            </a:r>
          </a:p>
        </p:txBody>
      </p:sp>
      <p:pic>
        <p:nvPicPr>
          <p:cNvPr id="12290" name="Picture 2" descr="Docker File, Images &amp; Containers - Docker Explained - Edureka">
            <a:extLst>
              <a:ext uri="{FF2B5EF4-FFF2-40B4-BE49-F238E27FC236}">
                <a16:creationId xmlns:a16="http://schemas.microsoft.com/office/drawing/2014/main" id="{FC506F83-ED01-4300-941B-C5327FC9B5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817" y="1457739"/>
            <a:ext cx="11863801" cy="363109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E3A6492-B078-4448-9647-D51309B9ACC8}"/>
              </a:ext>
            </a:extLst>
          </p:cNvPr>
          <p:cNvSpPr txBox="1"/>
          <p:nvPr/>
        </p:nvSpPr>
        <p:spPr>
          <a:xfrm>
            <a:off x="437321" y="3423500"/>
            <a:ext cx="11105321" cy="3139321"/>
          </a:xfrm>
          <a:prstGeom prst="rect">
            <a:avLst/>
          </a:prstGeom>
          <a:noFill/>
        </p:spPr>
        <p:txBody>
          <a:bodyPr wrap="square">
            <a:spAutoFit/>
          </a:bodyPr>
          <a:lstStyle/>
          <a:p>
            <a:endParaRPr lang="en-US" b="0" i="0" dirty="0">
              <a:solidFill>
                <a:srgbClr val="4A4A4A"/>
              </a:solidFill>
              <a:effectLst/>
              <a:latin typeface="Open Sans" panose="020B0606030504020204" pitchFamily="34" charset="0"/>
            </a:endParaRPr>
          </a:p>
          <a:p>
            <a:endParaRPr lang="en-US" dirty="0">
              <a:solidFill>
                <a:srgbClr val="4A4A4A"/>
              </a:solidFill>
              <a:latin typeface="Open Sans" panose="020B0606030504020204" pitchFamily="34" charset="0"/>
            </a:endParaRPr>
          </a:p>
          <a:p>
            <a:endParaRPr lang="en-US" b="0" i="0" dirty="0">
              <a:solidFill>
                <a:srgbClr val="4A4A4A"/>
              </a:solidFill>
              <a:effectLst/>
              <a:latin typeface="Open Sans" panose="020B0606030504020204" pitchFamily="34" charset="0"/>
            </a:endParaRPr>
          </a:p>
          <a:p>
            <a:endParaRPr lang="en-US" dirty="0">
              <a:solidFill>
                <a:srgbClr val="4A4A4A"/>
              </a:solidFill>
              <a:latin typeface="Open Sans" panose="020B0606030504020204" pitchFamily="34" charset="0"/>
            </a:endParaRPr>
          </a:p>
          <a:p>
            <a:endParaRPr lang="en-US" b="0" i="0" dirty="0">
              <a:solidFill>
                <a:srgbClr val="4A4A4A"/>
              </a:solidFill>
              <a:effectLst/>
              <a:latin typeface="Open Sans" panose="020B0606030504020204" pitchFamily="34" charset="0"/>
            </a:endParaRPr>
          </a:p>
          <a:p>
            <a:endParaRPr lang="en-US" dirty="0">
              <a:solidFill>
                <a:srgbClr val="4A4A4A"/>
              </a:solidFill>
              <a:latin typeface="Open Sans" panose="020B0606030504020204" pitchFamily="34" charset="0"/>
            </a:endParaRPr>
          </a:p>
          <a:p>
            <a:endParaRPr lang="en-US" b="0" i="0" dirty="0">
              <a:solidFill>
                <a:srgbClr val="4A4A4A"/>
              </a:solidFill>
              <a:effectLst/>
              <a:latin typeface="Open Sans" panose="020B0606030504020204" pitchFamily="34" charset="0"/>
            </a:endParaRPr>
          </a:p>
          <a:p>
            <a:endParaRPr lang="en-US" dirty="0">
              <a:solidFill>
                <a:srgbClr val="4A4A4A"/>
              </a:solidFill>
              <a:latin typeface="Open Sans" panose="020B0606030504020204" pitchFamily="34" charset="0"/>
            </a:endParaRPr>
          </a:p>
          <a:p>
            <a:endParaRPr lang="en-US" b="0" i="0" dirty="0">
              <a:solidFill>
                <a:srgbClr val="4A4A4A"/>
              </a:solidFill>
              <a:effectLst/>
              <a:latin typeface="Open Sans" panose="020B0606030504020204" pitchFamily="34" charset="0"/>
            </a:endParaRPr>
          </a:p>
          <a:p>
            <a:r>
              <a:rPr lang="en-US" b="0" i="0" dirty="0">
                <a:solidFill>
                  <a:srgbClr val="4A4A4A"/>
                </a:solidFill>
                <a:effectLst/>
                <a:latin typeface="Open Sans" panose="020B0606030504020204" pitchFamily="34" charset="0"/>
              </a:rPr>
              <a:t>As you can see in the above diagram when the </a:t>
            </a:r>
            <a:r>
              <a:rPr lang="en-US" b="0" i="0" dirty="0" err="1">
                <a:solidFill>
                  <a:srgbClr val="4A4A4A"/>
                </a:solidFill>
                <a:effectLst/>
                <a:latin typeface="Open Sans" panose="020B0606030504020204" pitchFamily="34" charset="0"/>
              </a:rPr>
              <a:t>Dockerfile</a:t>
            </a:r>
            <a:r>
              <a:rPr lang="en-US" b="0" i="0" dirty="0">
                <a:solidFill>
                  <a:srgbClr val="4A4A4A"/>
                </a:solidFill>
                <a:effectLst/>
                <a:latin typeface="Open Sans" panose="020B0606030504020204" pitchFamily="34" charset="0"/>
              </a:rPr>
              <a:t> is built, it becomes a Docker Image and when we run the Docker Image then it finally becomes a Docker Container.</a:t>
            </a:r>
            <a:endParaRPr lang="en-IN" dirty="0"/>
          </a:p>
        </p:txBody>
      </p:sp>
    </p:spTree>
    <p:extLst>
      <p:ext uri="{BB962C8B-B14F-4D97-AF65-F5344CB8AC3E}">
        <p14:creationId xmlns:p14="http://schemas.microsoft.com/office/powerpoint/2010/main" val="1902612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C58D0A4-DE37-4A4C-BDC9-96B674120085}"/>
              </a:ext>
            </a:extLst>
          </p:cNvPr>
          <p:cNvSpPr txBox="1"/>
          <p:nvPr/>
        </p:nvSpPr>
        <p:spPr>
          <a:xfrm>
            <a:off x="318052" y="265043"/>
            <a:ext cx="11582399" cy="1200329"/>
          </a:xfrm>
          <a:prstGeom prst="rect">
            <a:avLst/>
          </a:prstGeom>
          <a:noFill/>
        </p:spPr>
        <p:txBody>
          <a:bodyPr wrap="square">
            <a:spAutoFit/>
          </a:bodyPr>
          <a:lstStyle/>
          <a:p>
            <a:pPr algn="l"/>
            <a:r>
              <a:rPr lang="en-US" b="1" i="0" dirty="0">
                <a:solidFill>
                  <a:srgbClr val="FF0000"/>
                </a:solidFill>
                <a:effectLst/>
                <a:latin typeface="Open Sans" panose="020B0606030504020204" pitchFamily="34" charset="0"/>
              </a:rPr>
              <a:t>What is Docker Architecture?</a:t>
            </a:r>
            <a:endParaRPr lang="en-US" b="0" i="0" dirty="0">
              <a:solidFill>
                <a:srgbClr val="FF0000"/>
              </a:solidFill>
              <a:effectLst/>
              <a:latin typeface="Open Sans" panose="020B0606030504020204" pitchFamily="34" charset="0"/>
            </a:endParaRPr>
          </a:p>
          <a:p>
            <a:pPr algn="just"/>
            <a:r>
              <a:rPr lang="en-US" b="0" i="0" dirty="0">
                <a:solidFill>
                  <a:srgbClr val="4A4A4A"/>
                </a:solidFill>
                <a:effectLst/>
                <a:latin typeface="Open Sans" panose="020B0606030504020204" pitchFamily="34" charset="0"/>
              </a:rPr>
              <a:t>Docker Architecture includes a Docker client – used to trigger Docker commands, a Docker Host – running the Docker Daemon and a Docker Registry – storing Docker Images. The Docker Daemon running within Docker Host is responsible for the images and containers.</a:t>
            </a:r>
          </a:p>
        </p:txBody>
      </p:sp>
      <p:pic>
        <p:nvPicPr>
          <p:cNvPr id="10244" name="Picture 4" descr="Docker Architecture - What Is Docker Container - Edureka">
            <a:extLst>
              <a:ext uri="{FF2B5EF4-FFF2-40B4-BE49-F238E27FC236}">
                <a16:creationId xmlns:a16="http://schemas.microsoft.com/office/drawing/2014/main" id="{1539BDE5-0983-42B9-BE0D-916462E87E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8836" y="1802451"/>
            <a:ext cx="8954328" cy="4633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19407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80EFA8-3F25-45AA-ADD1-02B513474035}"/>
              </a:ext>
            </a:extLst>
          </p:cNvPr>
          <p:cNvSpPr txBox="1"/>
          <p:nvPr/>
        </p:nvSpPr>
        <p:spPr>
          <a:xfrm>
            <a:off x="331303" y="145775"/>
            <a:ext cx="11608905" cy="3139321"/>
          </a:xfrm>
          <a:prstGeom prst="rect">
            <a:avLst/>
          </a:prstGeom>
          <a:noFill/>
        </p:spPr>
        <p:txBody>
          <a:bodyPr wrap="square">
            <a:spAutoFit/>
          </a:bodyPr>
          <a:lstStyle/>
          <a:p>
            <a:pPr algn="just">
              <a:buFont typeface="Arial" panose="020B0604020202020204" pitchFamily="34" charset="0"/>
              <a:buChar char="•"/>
            </a:pPr>
            <a:r>
              <a:rPr lang="en-US" b="0" i="0" dirty="0">
                <a:solidFill>
                  <a:srgbClr val="4A4A4A"/>
                </a:solidFill>
                <a:effectLst/>
                <a:latin typeface="Open Sans" panose="020B0606030504020204" pitchFamily="34" charset="0"/>
              </a:rPr>
              <a:t>To build a Docker Image, we can use the CLI (client) to issue a build command to the Docker Daemon (running on Docker Host). The Daemon will then build an image based on our inputs and save it in the Registry, which can be either Docker hub or a local repository</a:t>
            </a:r>
          </a:p>
          <a:p>
            <a:pPr algn="just"/>
            <a:endParaRPr lang="en-US" b="0" i="0" dirty="0">
              <a:solidFill>
                <a:srgbClr val="4A4A4A"/>
              </a:solidFill>
              <a:effectLst/>
              <a:latin typeface="Open Sans" panose="020B0606030504020204" pitchFamily="34" charset="0"/>
            </a:endParaRPr>
          </a:p>
          <a:p>
            <a:pPr algn="just">
              <a:buFont typeface="Arial" panose="020B0604020202020204" pitchFamily="34" charset="0"/>
              <a:buChar char="•"/>
            </a:pPr>
            <a:r>
              <a:rPr lang="en-US" b="0" i="0" dirty="0">
                <a:solidFill>
                  <a:srgbClr val="4A4A4A"/>
                </a:solidFill>
                <a:effectLst/>
                <a:latin typeface="Open Sans" panose="020B0606030504020204" pitchFamily="34" charset="0"/>
              </a:rPr>
              <a:t>If we do not want to create an image, then we can just pull an image from the Docker hub, which would have been built by a different user</a:t>
            </a:r>
          </a:p>
          <a:p>
            <a:pPr algn="just"/>
            <a:endParaRPr lang="en-US" b="0" i="0" dirty="0">
              <a:solidFill>
                <a:srgbClr val="4A4A4A"/>
              </a:solidFill>
              <a:effectLst/>
              <a:latin typeface="Open Sans" panose="020B0606030504020204" pitchFamily="34" charset="0"/>
            </a:endParaRPr>
          </a:p>
          <a:p>
            <a:pPr algn="just">
              <a:buFont typeface="Arial" panose="020B0604020202020204" pitchFamily="34" charset="0"/>
              <a:buChar char="•"/>
            </a:pPr>
            <a:r>
              <a:rPr lang="en-US" b="0" i="0" dirty="0">
                <a:solidFill>
                  <a:srgbClr val="4A4A4A"/>
                </a:solidFill>
                <a:effectLst/>
                <a:latin typeface="Open Sans" panose="020B0606030504020204" pitchFamily="34" charset="0"/>
              </a:rPr>
              <a:t>Finally, if we have to create a running instance of my Docker image, we can issue a run command from the CLI, which will create a Container.</a:t>
            </a:r>
          </a:p>
          <a:p>
            <a:pPr algn="just">
              <a:buFont typeface="Arial" panose="020B0604020202020204" pitchFamily="34" charset="0"/>
              <a:buChar char="•"/>
            </a:pPr>
            <a:endParaRPr lang="en-US" dirty="0">
              <a:solidFill>
                <a:srgbClr val="4A4A4A"/>
              </a:solidFill>
              <a:latin typeface="Open Sans" panose="020B0606030504020204" pitchFamily="34" charset="0"/>
            </a:endParaRPr>
          </a:p>
          <a:p>
            <a:pPr algn="just"/>
            <a:endParaRPr lang="en-US" b="0" i="0" dirty="0">
              <a:solidFill>
                <a:srgbClr val="4A4A4A"/>
              </a:solidFill>
              <a:effectLst/>
              <a:latin typeface="Open Sans" panose="020B0606030504020204" pitchFamily="34" charset="0"/>
            </a:endParaRPr>
          </a:p>
        </p:txBody>
      </p:sp>
    </p:spTree>
    <p:extLst>
      <p:ext uri="{BB962C8B-B14F-4D97-AF65-F5344CB8AC3E}">
        <p14:creationId xmlns:p14="http://schemas.microsoft.com/office/powerpoint/2010/main" val="10642854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TotalTime>
  <Words>1315</Words>
  <Application>Microsoft Office PowerPoint</Application>
  <PresentationFormat>Widescreen</PresentationFormat>
  <Paragraphs>98</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Open Sans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CHARAN THOTA</dc:creator>
  <cp:lastModifiedBy>SAI CHARAN THOTA</cp:lastModifiedBy>
  <cp:revision>10</cp:revision>
  <dcterms:created xsi:type="dcterms:W3CDTF">2021-10-11T06:17:45Z</dcterms:created>
  <dcterms:modified xsi:type="dcterms:W3CDTF">2021-10-11T10:35:06Z</dcterms:modified>
</cp:coreProperties>
</file>