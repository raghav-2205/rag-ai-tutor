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Proxima Nova"/>
      <p:regular r:id="rId18"/>
      <p:bold r:id="rId19"/>
      <p:italic r:id="rId20"/>
      <p:boldItalic r:id="rId21"/>
    </p:embeddedFont>
    <p:embeddedFont>
      <p:font typeface="Book Antiqua"/>
      <p:regular r:id="rId22"/>
      <p:bold r:id="rId23"/>
      <p:italic r:id="rId24"/>
      <p:boldItalic r:id="rId25"/>
    </p:embeddedFont>
    <p:embeddedFont>
      <p:font typeface="Work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0" roundtripDataSignature="AMtx7mgRDWRZaIxHMkM985slRTMpOcVN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roximaNova-italic.fntdata"/><Relationship Id="rId22" Type="http://schemas.openxmlformats.org/officeDocument/2006/relationships/font" Target="fonts/BookAntiqua-regular.fntdata"/><Relationship Id="rId21" Type="http://schemas.openxmlformats.org/officeDocument/2006/relationships/font" Target="fonts/ProximaNova-boldItalic.fntdata"/><Relationship Id="rId24" Type="http://schemas.openxmlformats.org/officeDocument/2006/relationships/font" Target="fonts/BookAntiqua-italic.fntdata"/><Relationship Id="rId23" Type="http://schemas.openxmlformats.org/officeDocument/2006/relationships/font" Target="fonts/BookAntiqua-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WorkSans-regular.fntdata"/><Relationship Id="rId25" Type="http://schemas.openxmlformats.org/officeDocument/2006/relationships/font" Target="fonts/BookAntiqua-boldItalic.fntdata"/><Relationship Id="rId28" Type="http://schemas.openxmlformats.org/officeDocument/2006/relationships/font" Target="fonts/WorkSans-italic.fntdata"/><Relationship Id="rId27" Type="http://schemas.openxmlformats.org/officeDocument/2006/relationships/font" Target="fonts/WorkSans-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WorkSans-boldItalic.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ProximaNova-bold.fntdata"/><Relationship Id="rId18" Type="http://schemas.openxmlformats.org/officeDocument/2006/relationships/font" Target="fonts/ProximaNova-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5183188" y="987425"/>
            <a:ext cx="6172200" cy="4873625"/>
          </a:xfrm>
          <a:prstGeom prst="rect">
            <a:avLst/>
          </a:prstGeom>
          <a:noFill/>
          <a:ln>
            <a:noFill/>
          </a:ln>
        </p:spPr>
      </p:sp>
      <p:sp>
        <p:nvSpPr>
          <p:cNvPr id="64" name="Google Shape;64;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backlog.com/blog/your-introduction-to-agile-scrum/" TargetMode="External"/><Relationship Id="rId4" Type="http://schemas.openxmlformats.org/officeDocument/2006/relationships/hyperlink" Target="https://backlog.com/blog/curious-about-continuous-integration-heres-what-you-need-to-know/" TargetMode="External"/><Relationship Id="rId5" Type="http://schemas.openxmlformats.org/officeDocument/2006/relationships/hyperlink" Target="https://backlog.com/blog/what-is-continuous-delivery-and-how-can-it-help-you/" TargetMode="External"/><Relationship Id="rId6" Type="http://schemas.openxmlformats.org/officeDocument/2006/relationships/hyperlink" Target="https://backlog.com/blog/heres-what-you-need-to-know-about-continuous-deploymen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159390" y="0"/>
            <a:ext cx="11677475"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F0000"/>
                </a:solidFill>
                <a:latin typeface="Proxima Nova"/>
                <a:ea typeface="Proxima Nova"/>
                <a:cs typeface="Proxima Nova"/>
                <a:sym typeface="Proxima Nova"/>
              </a:rPr>
              <a:t>What is the continuous delivery pipeline?</a:t>
            </a:r>
            <a:endParaRPr/>
          </a:p>
          <a:p>
            <a:pPr indent="0" lvl="0" marL="0" marR="0" rtl="0" algn="l">
              <a:spcBef>
                <a:spcPts val="0"/>
              </a:spcBef>
              <a:spcAft>
                <a:spcPts val="0"/>
              </a:spcAft>
              <a:buNone/>
            </a:pPr>
            <a:r>
              <a:t/>
            </a:r>
            <a:endParaRPr b="1" i="0" sz="1800" u="none" cap="none" strike="noStrike">
              <a:solidFill>
                <a:srgbClr val="4A4A4A"/>
              </a:solidFill>
              <a:latin typeface="Proxima Nova"/>
              <a:ea typeface="Proxima Nova"/>
              <a:cs typeface="Proxima Nova"/>
              <a:sym typeface="Proxima Nova"/>
            </a:endParaRPr>
          </a:p>
          <a:p>
            <a:pPr indent="0" lvl="0" marL="0" marR="0" rtl="0" algn="l">
              <a:spcBef>
                <a:spcPts val="0"/>
              </a:spcBef>
              <a:spcAft>
                <a:spcPts val="0"/>
              </a:spcAft>
              <a:buNone/>
            </a:pPr>
            <a:r>
              <a:rPr b="0" i="0" lang="en-US" sz="1800" u="none" cap="none" strike="noStrike">
                <a:solidFill>
                  <a:srgbClr val="4A4A4A"/>
                </a:solidFill>
                <a:latin typeface="Proxima Nova"/>
                <a:ea typeface="Proxima Nova"/>
                <a:cs typeface="Proxima Nova"/>
                <a:sym typeface="Proxima Nova"/>
              </a:rPr>
              <a:t>The continuous delivery pipeline (or CI/CD pipeline) forms the backbone of modern DevOps. It refers to a process in which</a:t>
            </a:r>
            <a:r>
              <a:rPr b="1" i="0" lang="en-US" sz="1800" u="none" cap="none" strike="noStrike">
                <a:solidFill>
                  <a:srgbClr val="4A4A4A"/>
                </a:solidFill>
                <a:latin typeface="Proxima Nova"/>
                <a:ea typeface="Proxima Nova"/>
                <a:cs typeface="Proxima Nova"/>
                <a:sym typeface="Proxima Nova"/>
              </a:rPr>
              <a:t> certain key steps in the software delivery process are automated</a:t>
            </a:r>
            <a:r>
              <a:rPr b="0" i="0" lang="en-US" sz="1800" u="none" cap="none" strike="noStrike">
                <a:solidFill>
                  <a:srgbClr val="4A4A4A"/>
                </a:solidFill>
                <a:latin typeface="Proxima Nova"/>
                <a:ea typeface="Proxima Nova"/>
                <a:cs typeface="Proxima Nova"/>
                <a:sym typeface="Proxima Nova"/>
              </a:rPr>
              <a:t>. The ultimate goal is to speed things up and reduce errors.</a:t>
            </a:r>
            <a:endParaRPr/>
          </a:p>
          <a:p>
            <a:pPr indent="0" lvl="0" marL="0" marR="0" rtl="0" algn="l">
              <a:spcBef>
                <a:spcPts val="0"/>
              </a:spcBef>
              <a:spcAft>
                <a:spcPts val="0"/>
              </a:spcAft>
              <a:buNone/>
            </a:pPr>
            <a:r>
              <a:t/>
            </a:r>
            <a:endParaRPr b="0" i="0" sz="1800" u="none" cap="none" strike="noStrike">
              <a:solidFill>
                <a:srgbClr val="4A4A4A"/>
              </a:solidFill>
              <a:latin typeface="Proxima Nova"/>
              <a:ea typeface="Proxima Nova"/>
              <a:cs typeface="Proxima Nova"/>
              <a:sym typeface="Proxima Nova"/>
            </a:endParaRPr>
          </a:p>
          <a:p>
            <a:pPr indent="0" lvl="0" marL="0" marR="0" rtl="0" algn="l">
              <a:spcBef>
                <a:spcPts val="0"/>
              </a:spcBef>
              <a:spcAft>
                <a:spcPts val="0"/>
              </a:spcAft>
              <a:buNone/>
            </a:pPr>
            <a:r>
              <a:t/>
            </a:r>
            <a:endParaRPr b="0" i="0" sz="1800" u="none" cap="none" strike="noStrike">
              <a:solidFill>
                <a:srgbClr val="4A4A4A"/>
              </a:solidFill>
              <a:latin typeface="Proxima Nova"/>
              <a:ea typeface="Proxima Nova"/>
              <a:cs typeface="Proxima Nova"/>
              <a:sym typeface="Proxima Nova"/>
            </a:endParaRPr>
          </a:p>
          <a:p>
            <a:pPr indent="0" lvl="0" marL="0" marR="0" rtl="0" algn="l">
              <a:spcBef>
                <a:spcPts val="0"/>
              </a:spcBef>
              <a:spcAft>
                <a:spcPts val="0"/>
              </a:spcAft>
              <a:buNone/>
            </a:pPr>
            <a:r>
              <a:rPr b="0" i="0" lang="en-US" sz="1800" u="none" cap="none" strike="noStrike">
                <a:solidFill>
                  <a:srgbClr val="4A4A4A"/>
                </a:solidFill>
                <a:latin typeface="Proxima Nova"/>
                <a:ea typeface="Proxima Nova"/>
                <a:cs typeface="Proxima Nova"/>
                <a:sym typeface="Proxima Nova"/>
              </a:rPr>
              <a:t>It takes its bearings from other </a:t>
            </a:r>
            <a:r>
              <a:rPr b="0" i="0" lang="en-US" sz="1800" u="sng" cap="none" strike="noStrike">
                <a:solidFill>
                  <a:srgbClr val="42CE9F"/>
                </a:solidFill>
                <a:latin typeface="Proxima Nova"/>
                <a:ea typeface="Proxima Nova"/>
                <a:cs typeface="Proxima Nova"/>
                <a:sym typeface="Proxima Nova"/>
                <a:hlinkClick r:id="rId3">
                  <a:extLst>
                    <a:ext uri="{A12FA001-AC4F-418D-AE19-62706E023703}">
                      <ahyp:hlinkClr val="tx"/>
                    </a:ext>
                  </a:extLst>
                </a:hlinkClick>
              </a:rPr>
              <a:t>agile software development</a:t>
            </a:r>
            <a:r>
              <a:rPr b="0" i="0" lang="en-US" sz="1800" u="none" cap="none" strike="noStrike">
                <a:solidFill>
                  <a:srgbClr val="4A4A4A"/>
                </a:solidFill>
                <a:latin typeface="Proxima Nova"/>
                <a:ea typeface="Proxima Nova"/>
                <a:cs typeface="Proxima Nova"/>
                <a:sym typeface="Proxima Nova"/>
              </a:rPr>
              <a:t> best practices, including build automation, version control, and automated deployments. Projects progress in small iterations and feedback (from other developers, teams, and stakeholders) is continual.</a:t>
            </a:r>
            <a:endParaRPr/>
          </a:p>
          <a:p>
            <a:pPr indent="0" lvl="0" marL="0" marR="0" rtl="0" algn="l">
              <a:spcBef>
                <a:spcPts val="0"/>
              </a:spcBef>
              <a:spcAft>
                <a:spcPts val="0"/>
              </a:spcAft>
              <a:buNone/>
            </a:pPr>
            <a:r>
              <a:t/>
            </a:r>
            <a:endParaRPr b="0" i="0" sz="1800" u="none" cap="none" strike="noStrike">
              <a:solidFill>
                <a:srgbClr val="4A4A4A"/>
              </a:solidFill>
              <a:latin typeface="Proxima Nova"/>
              <a:ea typeface="Proxima Nova"/>
              <a:cs typeface="Proxima Nova"/>
              <a:sym typeface="Proxima Nova"/>
            </a:endParaRPr>
          </a:p>
          <a:p>
            <a:pPr indent="0" lvl="0" marL="0" marR="0" rtl="0" algn="l">
              <a:spcBef>
                <a:spcPts val="0"/>
              </a:spcBef>
              <a:spcAft>
                <a:spcPts val="0"/>
              </a:spcAft>
              <a:buNone/>
            </a:pPr>
            <a:r>
              <a:t/>
            </a:r>
            <a:endParaRPr b="0" i="0" sz="1800" u="none" cap="none" strike="noStrike">
              <a:solidFill>
                <a:srgbClr val="4A4A4A"/>
              </a:solidFill>
              <a:latin typeface="Proxima Nova"/>
              <a:ea typeface="Proxima Nova"/>
              <a:cs typeface="Proxima Nova"/>
              <a:sym typeface="Proxima Nova"/>
            </a:endParaRPr>
          </a:p>
          <a:p>
            <a:pPr indent="0" lvl="0" marL="0" marR="0" rtl="0" algn="l">
              <a:spcBef>
                <a:spcPts val="0"/>
              </a:spcBef>
              <a:spcAft>
                <a:spcPts val="0"/>
              </a:spcAft>
              <a:buNone/>
            </a:pPr>
            <a:r>
              <a:rPr b="0" i="0" lang="en-US" sz="1800" u="sng" cap="none" strike="noStrike">
                <a:solidFill>
                  <a:srgbClr val="42CE9F"/>
                </a:solidFill>
                <a:latin typeface="Proxima Nova"/>
                <a:ea typeface="Proxima Nova"/>
                <a:cs typeface="Proxima Nova"/>
                <a:sym typeface="Proxima Nova"/>
                <a:hlinkClick r:id="rId4">
                  <a:extLst>
                    <a:ext uri="{A12FA001-AC4F-418D-AE19-62706E023703}">
                      <ahyp:hlinkClr val="tx"/>
                    </a:ext>
                  </a:extLst>
                </a:hlinkClick>
              </a:rPr>
              <a:t>Continuous integration</a:t>
            </a:r>
            <a:r>
              <a:rPr b="0" i="0" lang="en-US" sz="1800" u="none" cap="none" strike="noStrike">
                <a:solidFill>
                  <a:srgbClr val="4A4A4A"/>
                </a:solidFill>
                <a:latin typeface="Proxima Nova"/>
                <a:ea typeface="Proxima Nova"/>
                <a:cs typeface="Proxima Nova"/>
                <a:sym typeface="Proxima Nova"/>
              </a:rPr>
              <a:t> is the first stage, followed by </a:t>
            </a:r>
            <a:r>
              <a:rPr b="0" i="0" lang="en-US" sz="1800" u="sng" cap="none" strike="noStrike">
                <a:solidFill>
                  <a:srgbClr val="42CE9F"/>
                </a:solidFill>
                <a:latin typeface="Proxima Nova"/>
                <a:ea typeface="Proxima Nova"/>
                <a:cs typeface="Proxima Nova"/>
                <a:sym typeface="Proxima Nova"/>
                <a:hlinkClick r:id="rId5">
                  <a:extLst>
                    <a:ext uri="{A12FA001-AC4F-418D-AE19-62706E023703}">
                      <ahyp:hlinkClr val="tx"/>
                    </a:ext>
                  </a:extLst>
                </a:hlinkClick>
              </a:rPr>
              <a:t>continuous delivery</a:t>
            </a:r>
            <a:r>
              <a:rPr b="0" i="0" lang="en-US" sz="1800" u="none" cap="none" strike="noStrike">
                <a:solidFill>
                  <a:srgbClr val="4A4A4A"/>
                </a:solidFill>
                <a:latin typeface="Proxima Nova"/>
                <a:ea typeface="Proxima Nova"/>
                <a:cs typeface="Proxima Nova"/>
                <a:sym typeface="Proxima Nova"/>
              </a:rPr>
              <a:t> and then, finally, </a:t>
            </a:r>
            <a:r>
              <a:rPr b="0" i="0" lang="en-US" sz="1800" u="sng" cap="none" strike="noStrike">
                <a:solidFill>
                  <a:srgbClr val="42CE9F"/>
                </a:solidFill>
                <a:latin typeface="Proxima Nova"/>
                <a:ea typeface="Proxima Nova"/>
                <a:cs typeface="Proxima Nova"/>
                <a:sym typeface="Proxima Nova"/>
                <a:hlinkClick r:id="rId6">
                  <a:extLst>
                    <a:ext uri="{A12FA001-AC4F-418D-AE19-62706E023703}">
                      <ahyp:hlinkClr val="tx"/>
                    </a:ext>
                  </a:extLst>
                </a:hlinkClick>
              </a:rPr>
              <a:t>continuous deployment</a:t>
            </a:r>
            <a:r>
              <a:rPr b="0" i="0" lang="en-US" sz="1800" u="none" cap="none" strike="noStrike">
                <a:solidFill>
                  <a:srgbClr val="4A4A4A"/>
                </a:solidFill>
                <a:latin typeface="Proxima Nova"/>
                <a:ea typeface="Proxima Nova"/>
                <a:cs typeface="Proxima Nova"/>
                <a:sym typeface="Proxima Nova"/>
              </a:rPr>
              <a:t>. Together, these make up the pipeline.</a:t>
            </a:r>
            <a:endParaRPr/>
          </a:p>
          <a:p>
            <a:pPr indent="0" lvl="0" marL="0" marR="0" rtl="0" algn="l">
              <a:spcBef>
                <a:spcPts val="0"/>
              </a:spcBef>
              <a:spcAft>
                <a:spcPts val="0"/>
              </a:spcAft>
              <a:buNone/>
            </a:pPr>
            <a:r>
              <a:t/>
            </a:r>
            <a:endParaRPr b="1" i="0" sz="1800" u="none" cap="none" strike="noStrike">
              <a:solidFill>
                <a:srgbClr val="4A4A4A"/>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2"/>
          <p:cNvPicPr preferRelativeResize="0"/>
          <p:nvPr/>
        </p:nvPicPr>
        <p:blipFill rotWithShape="1">
          <a:blip r:embed="rId3">
            <a:alphaModFix/>
          </a:blip>
          <a:srcRect b="0" l="0" r="0" t="0"/>
          <a:stretch/>
        </p:blipFill>
        <p:spPr>
          <a:xfrm>
            <a:off x="956345" y="696286"/>
            <a:ext cx="10335237" cy="54528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172278" y="106018"/>
            <a:ext cx="11542644"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FF0000"/>
                </a:solidFill>
                <a:latin typeface="Times New Roman"/>
                <a:ea typeface="Times New Roman"/>
                <a:cs typeface="Times New Roman"/>
                <a:sym typeface="Times New Roman"/>
              </a:rPr>
              <a:t>CD pipeline &amp; Bottlenecks :</a:t>
            </a:r>
            <a:endParaRPr/>
          </a:p>
          <a:p>
            <a:pPr indent="0" lvl="0" marL="0" marR="0" rtl="0" algn="l">
              <a:spcBef>
                <a:spcPts val="0"/>
              </a:spcBef>
              <a:spcAft>
                <a:spcPts val="0"/>
              </a:spcAft>
              <a:buNone/>
            </a:pPr>
            <a:r>
              <a:t/>
            </a:r>
            <a:endParaRPr b="0" i="0" sz="2400" u="none" cap="none" strike="noStrike">
              <a:solidFill>
                <a:srgbClr val="222635"/>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400" u="none" cap="none" strike="noStrike">
                <a:solidFill>
                  <a:srgbClr val="222635"/>
                </a:solidFill>
                <a:latin typeface="Times New Roman"/>
                <a:ea typeface="Times New Roman"/>
                <a:cs typeface="Times New Roman"/>
                <a:sym typeface="Times New Roman"/>
              </a:rPr>
              <a:t>Continuous delivery is a software development process in which developers commit code and merge it into the main branch with consistency to make the product software-ready at any given moment in time.</a:t>
            </a:r>
            <a:endParaRPr/>
          </a:p>
          <a:p>
            <a:pPr indent="0" lvl="0" marL="0" marR="0" rtl="0" algn="l">
              <a:spcBef>
                <a:spcPts val="0"/>
              </a:spcBef>
              <a:spcAft>
                <a:spcPts val="0"/>
              </a:spcAft>
              <a:buNone/>
            </a:pPr>
            <a:r>
              <a:t/>
            </a:r>
            <a:endParaRPr b="0" i="0" sz="2400" u="none" cap="none" strike="noStrike">
              <a:solidFill>
                <a:srgbClr val="222635"/>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400" u="none" cap="none" strike="noStrike">
                <a:solidFill>
                  <a:srgbClr val="222635"/>
                </a:solidFill>
                <a:latin typeface="Times New Roman"/>
                <a:ea typeface="Times New Roman"/>
                <a:cs typeface="Times New Roman"/>
                <a:sym typeface="Times New Roman"/>
              </a:rPr>
              <a:t>Now, you do a lot of planning and strategy before approaching any project. Likewise, a CD pipeline is one end-to-end strategy that defines how the software development should take place going through various stages.</a:t>
            </a:r>
            <a:endParaRPr/>
          </a:p>
          <a:p>
            <a:pPr indent="0" lvl="0" marL="0" marR="0" rtl="0" algn="l">
              <a:spcBef>
                <a:spcPts val="0"/>
              </a:spcBef>
              <a:spcAft>
                <a:spcPts val="0"/>
              </a:spcAft>
              <a:buNone/>
            </a:pPr>
            <a:r>
              <a:t/>
            </a:r>
            <a:endParaRPr b="0" i="0" sz="2400" u="none" cap="none" strike="noStrike">
              <a:solidFill>
                <a:srgbClr val="222635"/>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400" u="none" cap="none" strike="noStrike">
                <a:solidFill>
                  <a:srgbClr val="222635"/>
                </a:solidFill>
                <a:latin typeface="Times New Roman"/>
                <a:ea typeface="Times New Roman"/>
                <a:cs typeface="Times New Roman"/>
                <a:sym typeface="Times New Roman"/>
              </a:rPr>
              <a:t>Usually, the CD pipeline consists of these following stages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4"/>
          <p:cNvPicPr preferRelativeResize="0"/>
          <p:nvPr/>
        </p:nvPicPr>
        <p:blipFill rotWithShape="1">
          <a:blip r:embed="rId3">
            <a:alphaModFix/>
          </a:blip>
          <a:srcRect b="0" l="0" r="0" t="0"/>
          <a:stretch/>
        </p:blipFill>
        <p:spPr>
          <a:xfrm>
            <a:off x="-478173" y="303402"/>
            <a:ext cx="12192000" cy="2894013"/>
          </a:xfrm>
          <a:prstGeom prst="rect">
            <a:avLst/>
          </a:prstGeom>
          <a:noFill/>
          <a:ln>
            <a:noFill/>
          </a:ln>
        </p:spPr>
      </p:pic>
      <p:sp>
        <p:nvSpPr>
          <p:cNvPr id="100" name="Google Shape;100;p4"/>
          <p:cNvSpPr txBox="1"/>
          <p:nvPr/>
        </p:nvSpPr>
        <p:spPr>
          <a:xfrm>
            <a:off x="687897" y="3197415"/>
            <a:ext cx="1072952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222635"/>
                </a:solidFill>
                <a:latin typeface="Cambria"/>
                <a:ea typeface="Cambria"/>
                <a:cs typeface="Cambria"/>
                <a:sym typeface="Cambria"/>
              </a:rPr>
              <a:t>The above pipeline is a logical demonstration of how software will move along the various stages in this lifecycle before it is delivered to the customer or before it is live in production.</a:t>
            </a:r>
            <a:endParaRPr/>
          </a:p>
          <a:p>
            <a:pPr indent="0" lvl="0" marL="0" marR="0" rtl="0" algn="l">
              <a:spcBef>
                <a:spcPts val="0"/>
              </a:spcBef>
              <a:spcAft>
                <a:spcPts val="0"/>
              </a:spcAft>
              <a:buNone/>
            </a:pPr>
            <a:r>
              <a:t/>
            </a:r>
            <a:endParaRPr b="0" i="0" sz="1800" u="none" cap="none" strike="noStrike">
              <a:solidFill>
                <a:srgbClr val="222635"/>
              </a:solidFill>
              <a:latin typeface="Cambria"/>
              <a:ea typeface="Cambria"/>
              <a:cs typeface="Cambria"/>
              <a:sym typeface="Cambria"/>
            </a:endParaRPr>
          </a:p>
          <a:p>
            <a:pPr indent="0" lvl="0" marL="0" marR="0" rtl="0" algn="l">
              <a:spcBef>
                <a:spcPts val="0"/>
              </a:spcBef>
              <a:spcAft>
                <a:spcPts val="0"/>
              </a:spcAft>
              <a:buNone/>
            </a:pPr>
            <a:r>
              <a:rPr b="0" i="0" lang="en-US" sz="1800" u="none" cap="none" strike="noStrike">
                <a:solidFill>
                  <a:srgbClr val="222635"/>
                </a:solidFill>
                <a:latin typeface="Cambria"/>
                <a:ea typeface="Cambria"/>
                <a:cs typeface="Cambria"/>
                <a:sym typeface="Cambria"/>
              </a:rPr>
              <a:t>Let's take a scenario of a CI/CD Pipeline. Imagine you're going to build a web application which is going to be deployed on live web servers. You will have a set of developers responsible for writing the code, who will further go on and build the web application. Now, when this code is committed into a version control system (such as git, svn) by the team of developers. Next, it goes through the </a:t>
            </a:r>
            <a:r>
              <a:rPr b="1" i="0" lang="en-US" sz="1800" u="none" cap="none" strike="noStrike">
                <a:solidFill>
                  <a:srgbClr val="222635"/>
                </a:solidFill>
                <a:latin typeface="Cambria"/>
                <a:ea typeface="Cambria"/>
                <a:cs typeface="Cambria"/>
                <a:sym typeface="Cambria"/>
              </a:rPr>
              <a:t>build phase</a:t>
            </a:r>
            <a:r>
              <a:rPr b="0" i="0" lang="en-US" sz="1800" u="none" cap="none" strike="noStrike">
                <a:solidFill>
                  <a:srgbClr val="222635"/>
                </a:solidFill>
                <a:latin typeface="Cambria"/>
                <a:ea typeface="Cambria"/>
                <a:cs typeface="Cambria"/>
                <a:sym typeface="Cambria"/>
              </a:rPr>
              <a:t>, which is the first phase of the pipeline, where developers put in their code and then again the code goes to the version control system with a proper version tag.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5"/>
          <p:cNvPicPr preferRelativeResize="0"/>
          <p:nvPr/>
        </p:nvPicPr>
        <p:blipFill rotWithShape="1">
          <a:blip r:embed="rId3">
            <a:alphaModFix/>
          </a:blip>
          <a:srcRect b="0" l="0" r="0" t="0"/>
          <a:stretch/>
        </p:blipFill>
        <p:spPr>
          <a:xfrm>
            <a:off x="784370" y="378903"/>
            <a:ext cx="10623259" cy="2894013"/>
          </a:xfrm>
          <a:prstGeom prst="rect">
            <a:avLst/>
          </a:prstGeom>
          <a:noFill/>
          <a:ln>
            <a:noFill/>
          </a:ln>
        </p:spPr>
      </p:pic>
      <p:sp>
        <p:nvSpPr>
          <p:cNvPr id="106" name="Google Shape;106;p5"/>
          <p:cNvSpPr txBox="1"/>
          <p:nvPr/>
        </p:nvSpPr>
        <p:spPr>
          <a:xfrm>
            <a:off x="327170" y="3070371"/>
            <a:ext cx="1140902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222635"/>
                </a:solidFill>
                <a:latin typeface="Cambria"/>
                <a:ea typeface="Cambria"/>
                <a:cs typeface="Cambria"/>
                <a:sym typeface="Cambria"/>
              </a:rPr>
              <a:t>Suppose we have Java code and it needs to be compiled before execution. Through the version control phase, it again goes to the build phase, where it is compiled. You get all the features of that code from various branches of the repository, which merge them and finally use a compiler to compile it. This whole process is called the </a:t>
            </a:r>
            <a:r>
              <a:rPr b="1" i="0" lang="en-US" sz="1800" u="none" cap="none" strike="noStrike">
                <a:solidFill>
                  <a:srgbClr val="222635"/>
                </a:solidFill>
                <a:latin typeface="Cambria"/>
                <a:ea typeface="Cambria"/>
                <a:cs typeface="Cambria"/>
                <a:sym typeface="Cambria"/>
              </a:rPr>
              <a:t>build phase</a:t>
            </a:r>
            <a:r>
              <a:rPr b="0" i="0" lang="en-US" sz="1800" u="none" cap="none" strike="noStrike">
                <a:solidFill>
                  <a:srgbClr val="222635"/>
                </a:solidFill>
                <a:latin typeface="Cambria"/>
                <a:ea typeface="Cambria"/>
                <a:cs typeface="Cambria"/>
                <a:sym typeface="Cambria"/>
              </a:rPr>
              <a:t>.</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6"/>
          <p:cNvPicPr preferRelativeResize="0"/>
          <p:nvPr/>
        </p:nvPicPr>
        <p:blipFill rotWithShape="1">
          <a:blip r:embed="rId3">
            <a:alphaModFix/>
          </a:blip>
          <a:srcRect b="0" l="0" r="0" t="0"/>
          <a:stretch/>
        </p:blipFill>
        <p:spPr>
          <a:xfrm>
            <a:off x="-176168" y="260085"/>
            <a:ext cx="12192000" cy="2894013"/>
          </a:xfrm>
          <a:prstGeom prst="rect">
            <a:avLst/>
          </a:prstGeom>
          <a:noFill/>
          <a:ln>
            <a:noFill/>
          </a:ln>
        </p:spPr>
      </p:pic>
      <p:sp>
        <p:nvSpPr>
          <p:cNvPr id="112" name="Google Shape;112;p6"/>
          <p:cNvSpPr txBox="1"/>
          <p:nvPr/>
        </p:nvSpPr>
        <p:spPr>
          <a:xfrm>
            <a:off x="352338" y="2830933"/>
            <a:ext cx="1088052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222635"/>
                </a:solidFill>
                <a:latin typeface="Cambria"/>
                <a:ea typeface="Cambria"/>
                <a:cs typeface="Cambria"/>
                <a:sym typeface="Cambria"/>
              </a:rPr>
              <a:t>Once the build phase is over, then you move on to the </a:t>
            </a:r>
            <a:r>
              <a:rPr b="1" i="0" lang="en-US" sz="1800">
                <a:solidFill>
                  <a:srgbClr val="222635"/>
                </a:solidFill>
                <a:latin typeface="Cambria"/>
                <a:ea typeface="Cambria"/>
                <a:cs typeface="Cambria"/>
                <a:sym typeface="Cambria"/>
              </a:rPr>
              <a:t>testing phase</a:t>
            </a:r>
            <a:r>
              <a:rPr b="0" i="0" lang="en-US" sz="1800">
                <a:solidFill>
                  <a:srgbClr val="222635"/>
                </a:solidFill>
                <a:latin typeface="Cambria"/>
                <a:ea typeface="Cambria"/>
                <a:cs typeface="Cambria"/>
                <a:sym typeface="Cambria"/>
              </a:rPr>
              <a:t>. In this phase, we have various kinds of testing. One of them is the </a:t>
            </a:r>
            <a:r>
              <a:rPr b="0" i="1" lang="en-US" sz="1800">
                <a:solidFill>
                  <a:srgbClr val="222635"/>
                </a:solidFill>
                <a:latin typeface="Cambria"/>
                <a:ea typeface="Cambria"/>
                <a:cs typeface="Cambria"/>
                <a:sym typeface="Cambria"/>
              </a:rPr>
              <a:t>unit test</a:t>
            </a:r>
            <a:r>
              <a:rPr b="0" i="0" lang="en-US" sz="1800">
                <a:solidFill>
                  <a:srgbClr val="222635"/>
                </a:solidFill>
                <a:latin typeface="Cambria"/>
                <a:ea typeface="Cambria"/>
                <a:cs typeface="Cambria"/>
                <a:sym typeface="Cambria"/>
              </a:rPr>
              <a:t> (where you test the chunk/unit of software or for its sanity test).</a:t>
            </a:r>
            <a:endParaRPr sz="1800">
              <a:solidFill>
                <a:schemeClr val="dk1"/>
              </a:solidFill>
              <a:latin typeface="Calibri"/>
              <a:ea typeface="Calibri"/>
              <a:cs typeface="Calibri"/>
              <a:sym typeface="Calibri"/>
            </a:endParaRPr>
          </a:p>
        </p:txBody>
      </p:sp>
      <p:pic>
        <p:nvPicPr>
          <p:cNvPr id="113" name="Google Shape;113;p6"/>
          <p:cNvPicPr preferRelativeResize="0"/>
          <p:nvPr/>
        </p:nvPicPr>
        <p:blipFill rotWithShape="1">
          <a:blip r:embed="rId4">
            <a:alphaModFix/>
          </a:blip>
          <a:srcRect b="0" l="0" r="0" t="0"/>
          <a:stretch/>
        </p:blipFill>
        <p:spPr>
          <a:xfrm>
            <a:off x="209725" y="3703902"/>
            <a:ext cx="12192000" cy="28940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nvSpPr>
        <p:spPr>
          <a:xfrm>
            <a:off x="67112" y="75501"/>
            <a:ext cx="1185364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222635"/>
                </a:solidFill>
                <a:latin typeface="Cambria"/>
                <a:ea typeface="Cambria"/>
                <a:cs typeface="Cambria"/>
                <a:sym typeface="Cambria"/>
              </a:rPr>
              <a:t>When the test is completed, you move on to the </a:t>
            </a:r>
            <a:r>
              <a:rPr b="1" i="0" lang="en-US" sz="1800">
                <a:solidFill>
                  <a:srgbClr val="222635"/>
                </a:solidFill>
                <a:latin typeface="Cambria"/>
                <a:ea typeface="Cambria"/>
                <a:cs typeface="Cambria"/>
                <a:sym typeface="Cambria"/>
              </a:rPr>
              <a:t>deploy phase</a:t>
            </a:r>
            <a:r>
              <a:rPr b="0" i="0" lang="en-US" sz="1800">
                <a:solidFill>
                  <a:srgbClr val="222635"/>
                </a:solidFill>
                <a:latin typeface="Cambria"/>
                <a:ea typeface="Cambria"/>
                <a:cs typeface="Cambria"/>
                <a:sym typeface="Cambria"/>
              </a:rPr>
              <a:t>, where you deploy it into a staging or a test server. Here, you can view the code or you can view the app in a simulator.</a:t>
            </a:r>
            <a:endParaRPr sz="1800">
              <a:solidFill>
                <a:schemeClr val="dk1"/>
              </a:solidFill>
              <a:latin typeface="Calibri"/>
              <a:ea typeface="Calibri"/>
              <a:cs typeface="Calibri"/>
              <a:sym typeface="Calibri"/>
            </a:endParaRPr>
          </a:p>
        </p:txBody>
      </p:sp>
      <p:pic>
        <p:nvPicPr>
          <p:cNvPr id="119" name="Google Shape;119;p7"/>
          <p:cNvPicPr preferRelativeResize="0"/>
          <p:nvPr/>
        </p:nvPicPr>
        <p:blipFill rotWithShape="1">
          <a:blip r:embed="rId3">
            <a:alphaModFix/>
          </a:blip>
          <a:srcRect b="0" l="0" r="0" t="0"/>
          <a:stretch/>
        </p:blipFill>
        <p:spPr>
          <a:xfrm>
            <a:off x="285226" y="1326859"/>
            <a:ext cx="10276514" cy="289401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8"/>
          <p:cNvPicPr preferRelativeResize="0"/>
          <p:nvPr/>
        </p:nvPicPr>
        <p:blipFill rotWithShape="1">
          <a:blip r:embed="rId3">
            <a:alphaModFix/>
          </a:blip>
          <a:srcRect b="0" l="0" r="0" t="0"/>
          <a:stretch/>
        </p:blipFill>
        <p:spPr>
          <a:xfrm>
            <a:off x="-151002" y="462793"/>
            <a:ext cx="12192000" cy="1827401"/>
          </a:xfrm>
          <a:prstGeom prst="rect">
            <a:avLst/>
          </a:prstGeom>
          <a:noFill/>
          <a:ln>
            <a:noFill/>
          </a:ln>
        </p:spPr>
      </p:pic>
      <p:pic>
        <p:nvPicPr>
          <p:cNvPr id="125" name="Google Shape;125;p8"/>
          <p:cNvPicPr preferRelativeResize="0"/>
          <p:nvPr/>
        </p:nvPicPr>
        <p:blipFill rotWithShape="1">
          <a:blip r:embed="rId4">
            <a:alphaModFix/>
          </a:blip>
          <a:srcRect b="0" l="0" r="0" t="0"/>
          <a:stretch/>
        </p:blipFill>
        <p:spPr>
          <a:xfrm>
            <a:off x="-151002" y="3717721"/>
            <a:ext cx="12192000" cy="2894013"/>
          </a:xfrm>
          <a:prstGeom prst="rect">
            <a:avLst/>
          </a:prstGeom>
          <a:noFill/>
          <a:ln>
            <a:noFill/>
          </a:ln>
        </p:spPr>
      </p:pic>
      <p:sp>
        <p:nvSpPr>
          <p:cNvPr id="126" name="Google Shape;126;p8"/>
          <p:cNvSpPr txBox="1"/>
          <p:nvPr/>
        </p:nvSpPr>
        <p:spPr>
          <a:xfrm>
            <a:off x="729841" y="2390863"/>
            <a:ext cx="1086374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222635"/>
                </a:solidFill>
                <a:latin typeface="Cambria"/>
                <a:ea typeface="Cambria"/>
                <a:cs typeface="Cambria"/>
                <a:sym typeface="Cambria"/>
              </a:rPr>
              <a:t>Meanwhile, in every step, if there is an error, you can shoot an email back to the development team so that they can fix it. Then they will push it into the version control system and it goes back into the pipeline.</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nvSpPr>
        <p:spPr>
          <a:xfrm>
            <a:off x="119269" y="278296"/>
            <a:ext cx="117414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FF0000"/>
                </a:solidFill>
                <a:latin typeface="Times New Roman"/>
                <a:ea typeface="Times New Roman"/>
                <a:cs typeface="Times New Roman"/>
                <a:sym typeface="Times New Roman"/>
              </a:rPr>
              <a:t>The Continuous Delivery Pipeline and the Top  Bottlenecks</a:t>
            </a:r>
            <a:endParaRPr/>
          </a:p>
        </p:txBody>
      </p:sp>
      <p:sp>
        <p:nvSpPr>
          <p:cNvPr id="132" name="Google Shape;132;p9"/>
          <p:cNvSpPr txBox="1"/>
          <p:nvPr/>
        </p:nvSpPr>
        <p:spPr>
          <a:xfrm>
            <a:off x="119269" y="861391"/>
            <a:ext cx="11463131"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chemeClr val="dk1"/>
                </a:solidFill>
                <a:latin typeface="Arial"/>
                <a:ea typeface="Arial"/>
                <a:cs typeface="Arial"/>
                <a:sym typeface="Arial"/>
              </a:rPr>
              <a:t>Continuous Delivery is an appealing approach, allowing rapid application updates, so end users get features and fixes as soon as they’re ready. Developers, for their part, can fix and push updates to address bug reports almost as quickly as they come in.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342900" lvl="0" marL="342900" marR="0" rtl="0" algn="l">
              <a:spcBef>
                <a:spcPts val="0"/>
              </a:spcBef>
              <a:spcAft>
                <a:spcPts val="0"/>
              </a:spcAft>
              <a:buClr>
                <a:srgbClr val="333333"/>
              </a:buClr>
              <a:buSzPts val="1800"/>
              <a:buFont typeface="Work Sans"/>
              <a:buAutoNum type="arabicPeriod"/>
            </a:pPr>
            <a:r>
              <a:rPr b="1" i="0" lang="en-US" sz="1800">
                <a:solidFill>
                  <a:srgbClr val="333333"/>
                </a:solidFill>
                <a:latin typeface="Work Sans"/>
                <a:ea typeface="Work Sans"/>
                <a:cs typeface="Work Sans"/>
                <a:sym typeface="Work Sans"/>
              </a:rPr>
              <a:t>Inconsistent Environments</a:t>
            </a:r>
            <a:endParaRPr/>
          </a:p>
          <a:p>
            <a:pPr indent="-228600" lvl="0" marL="342900" marR="0" rtl="0" algn="l">
              <a:spcBef>
                <a:spcPts val="0"/>
              </a:spcBef>
              <a:spcAft>
                <a:spcPts val="0"/>
              </a:spcAft>
              <a:buClr>
                <a:schemeClr val="dk1"/>
              </a:buClr>
              <a:buSzPts val="1800"/>
              <a:buFont typeface="Calibri"/>
              <a:buNone/>
            </a:pPr>
            <a:r>
              <a:t/>
            </a:r>
            <a:endParaRPr b="1" i="0" sz="1800">
              <a:solidFill>
                <a:schemeClr val="dk1"/>
              </a:solidFill>
              <a:latin typeface="Arial"/>
              <a:ea typeface="Arial"/>
              <a:cs typeface="Arial"/>
              <a:sym typeface="Arial"/>
            </a:endParaRPr>
          </a:p>
          <a:p>
            <a:pPr indent="0" lvl="0" marL="0" marR="0" rtl="0" algn="l">
              <a:spcBef>
                <a:spcPts val="0"/>
              </a:spcBef>
              <a:spcAft>
                <a:spcPts val="0"/>
              </a:spcAft>
              <a:buNone/>
            </a:pPr>
            <a:r>
              <a:rPr b="0" i="0" lang="en-US" sz="1800">
                <a:solidFill>
                  <a:srgbClr val="333333"/>
                </a:solidFill>
                <a:latin typeface="Georgia"/>
                <a:ea typeface="Georgia"/>
                <a:cs typeface="Georgia"/>
                <a:sym typeface="Georgia"/>
              </a:rPr>
              <a:t>In almost every company I have worked for or consulted with, a huge amount of waste exists because the various environments (dev, test, stage, prod) are configured differently. I call this “environment hell”. How many times have you heard a developer </a:t>
            </a:r>
            <a:r>
              <a:rPr b="0" i="0" lang="en-US" sz="1800">
                <a:solidFill>
                  <a:srgbClr val="FF0000"/>
                </a:solidFill>
                <a:latin typeface="Georgia"/>
                <a:ea typeface="Georgia"/>
                <a:cs typeface="Georgia"/>
                <a:sym typeface="Georgia"/>
              </a:rPr>
              <a:t>say “it worked on my laptop”? </a:t>
            </a:r>
            <a:r>
              <a:rPr b="0" i="0" lang="en-US" sz="1800">
                <a:solidFill>
                  <a:srgbClr val="333333"/>
                </a:solidFill>
                <a:latin typeface="Georgia"/>
                <a:ea typeface="Georgia"/>
                <a:cs typeface="Georgia"/>
                <a:sym typeface="Georgia"/>
              </a:rPr>
              <a:t>As code moves from one environment to the next, software breaks because of the different configurations within each environment. I have seen teams waste days and even weeks fixing bugs that are due to environmental issues and are not due to errors within the code..</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b="1" sz="18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txBox="1"/>
          <p:nvPr/>
        </p:nvSpPr>
        <p:spPr>
          <a:xfrm>
            <a:off x="384313" y="344557"/>
            <a:ext cx="11595652"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chemeClr val="dk1"/>
                </a:solidFill>
                <a:latin typeface="Arial"/>
                <a:ea typeface="Arial"/>
                <a:cs typeface="Arial"/>
                <a:sym typeface="Arial"/>
              </a:rPr>
              <a:t>2. Time Spent Testing Code</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rPr b="0" i="0" lang="en-US" sz="1800">
                <a:solidFill>
                  <a:schemeClr val="dk1"/>
                </a:solidFill>
                <a:latin typeface="Arial"/>
                <a:ea typeface="Arial"/>
                <a:cs typeface="Arial"/>
                <a:sym typeface="Arial"/>
              </a:rPr>
              <a:t>Developers know that applying fixes and updates to code is only the beginning of the process. Devs spend just 30 percent of their time writing the code, </a:t>
            </a:r>
            <a:r>
              <a:rPr b="0" i="0" lang="en-US" sz="1800">
                <a:solidFill>
                  <a:srgbClr val="FF0000"/>
                </a:solidFill>
                <a:latin typeface="Arial"/>
                <a:ea typeface="Arial"/>
                <a:cs typeface="Arial"/>
                <a:sym typeface="Arial"/>
              </a:rPr>
              <a:t>and 70 percent of their time reading and testing it. Without the proper debugging tools and automation processes</a:t>
            </a:r>
            <a:r>
              <a:rPr b="0" i="0" lang="en-US" sz="1800">
                <a:solidFill>
                  <a:schemeClr val="dk1"/>
                </a:solidFill>
                <a:latin typeface="Arial"/>
                <a:ea typeface="Arial"/>
                <a:cs typeface="Arial"/>
                <a:sym typeface="Arial"/>
              </a:rPr>
              <a:t>, the amount of time spent on testing can spiral out of control.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0" i="0" lang="en-US" sz="1800">
                <a:solidFill>
                  <a:schemeClr val="dk1"/>
                </a:solidFill>
                <a:latin typeface="Arial"/>
                <a:ea typeface="Arial"/>
                <a:cs typeface="Arial"/>
                <a:sym typeface="Arial"/>
              </a:rPr>
              <a:t>Many dev teams have found it helpful to predetermine how much time they will spend testing code to avoid this common problem. Moreover, team confidence in the Continuous Integration server can help with pushing code into production faster.</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3</a:t>
            </a:r>
            <a:r>
              <a:rPr b="1" i="0" lang="en-US" sz="1800">
                <a:solidFill>
                  <a:schemeClr val="dk1"/>
                </a:solidFill>
                <a:latin typeface="Arial"/>
                <a:ea typeface="Arial"/>
                <a:cs typeface="Arial"/>
                <a:sym typeface="Arial"/>
              </a:rPr>
              <a:t>. Time Spent Creating Code</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rPr b="0" i="0" lang="en-US" sz="1800">
                <a:solidFill>
                  <a:schemeClr val="dk1"/>
                </a:solidFill>
                <a:latin typeface="Arial"/>
                <a:ea typeface="Arial"/>
                <a:cs typeface="Arial"/>
                <a:sym typeface="Arial"/>
              </a:rPr>
              <a:t>Writing the code can be a major bottleneck. This holdup typically stems from a combination of programming inexperience and platform unfamiliarity. It’s common for developers to work on multiple projects that require different programming skills. Problems also stem from poorly organized and documented application code. The best ways to resolve delays in the code creation process include training devs in the necessary languages and platform operations, as well as intelligently organizing, separating, and documenting code.</a:t>
            </a:r>
            <a:endParaRPr/>
          </a:p>
          <a:p>
            <a:pPr indent="0" lvl="0" marL="0" marR="0" rtl="0" algn="l">
              <a:spcBef>
                <a:spcPts val="0"/>
              </a:spcBef>
              <a:spcAft>
                <a:spcPts val="0"/>
              </a:spcAft>
              <a:buNone/>
            </a:pPr>
            <a:r>
              <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1"/>
          <p:cNvSpPr txBox="1"/>
          <p:nvPr/>
        </p:nvSpPr>
        <p:spPr>
          <a:xfrm>
            <a:off x="106017" y="225287"/>
            <a:ext cx="1167516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a:solidFill>
                <a:schemeClr val="dk1"/>
              </a:solidFill>
              <a:latin typeface="Arial"/>
              <a:ea typeface="Arial"/>
              <a:cs typeface="Arial"/>
              <a:sym typeface="Arial"/>
            </a:endParaRPr>
          </a:p>
        </p:txBody>
      </p:sp>
      <p:sp>
        <p:nvSpPr>
          <p:cNvPr id="143" name="Google Shape;143;p11"/>
          <p:cNvSpPr txBox="1"/>
          <p:nvPr/>
        </p:nvSpPr>
        <p:spPr>
          <a:xfrm>
            <a:off x="106016" y="125835"/>
            <a:ext cx="11428845"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4</a:t>
            </a:r>
            <a:r>
              <a:rPr b="1" i="0" lang="en-US" sz="1800">
                <a:solidFill>
                  <a:schemeClr val="dk1"/>
                </a:solidFill>
                <a:latin typeface="Arial"/>
                <a:ea typeface="Arial"/>
                <a:cs typeface="Arial"/>
                <a:sym typeface="Arial"/>
              </a:rPr>
              <a:t>. Lack of Testing/Quality Assurance Personnel</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rPr b="0" i="0" lang="en-US" sz="1800">
                <a:solidFill>
                  <a:schemeClr val="dk1"/>
                </a:solidFill>
                <a:latin typeface="Arial"/>
                <a:ea typeface="Arial"/>
                <a:cs typeface="Arial"/>
                <a:sym typeface="Arial"/>
              </a:rPr>
              <a:t>Teams also reported that staffing shortages in the testing and QA departments often hold up the process. In many organizations, the same people who write the code are also the ones who do the testing and QA work. Staffing shortages disrupt the assembly line flow of the CD process.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5</a:t>
            </a:r>
            <a:r>
              <a:rPr b="1" i="0" lang="en-US" sz="1800">
                <a:solidFill>
                  <a:schemeClr val="dk1"/>
                </a:solidFill>
                <a:latin typeface="Arial"/>
                <a:ea typeface="Arial"/>
                <a:cs typeface="Arial"/>
                <a:sym typeface="Arial"/>
              </a:rPr>
              <a:t>. Lack of Testing Facilities, Developers, and QA Needing to Wait</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rPr b="0" i="0" lang="en-US" sz="1800">
                <a:solidFill>
                  <a:schemeClr val="dk1"/>
                </a:solidFill>
                <a:latin typeface="Arial"/>
                <a:ea typeface="Arial"/>
                <a:cs typeface="Arial"/>
                <a:sym typeface="Arial"/>
              </a:rPr>
              <a:t>The CI and CD processes work best when the development team is using a branching pattern to break off parts of the applications into smaller, more manageable chunks. Failing to do this can prevent QA staff from being able to test code because devs are holding back a feature update while working on other code. Updates can also be delayed because the testing infrastructure is unable to keep up.</a:t>
            </a:r>
            <a:endParaRPr/>
          </a:p>
          <a:p>
            <a:pPr indent="0" lvl="0" marL="0" marR="0" rtl="0" algn="l">
              <a:spcBef>
                <a:spcPts val="0"/>
              </a:spcBef>
              <a:spcAft>
                <a:spcPts val="0"/>
              </a:spcAft>
              <a:buNone/>
            </a:pPr>
            <a:r>
              <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6</a:t>
            </a:r>
            <a:r>
              <a:rPr b="1" i="0" lang="en-US" sz="1800">
                <a:solidFill>
                  <a:schemeClr val="dk1"/>
                </a:solidFill>
                <a:latin typeface="Arial"/>
                <a:ea typeface="Arial"/>
                <a:cs typeface="Arial"/>
                <a:sym typeface="Arial"/>
              </a:rPr>
              <a:t>. Lack of Workflow/Automation Tools to Drive the Continuous Delivery Pipeline</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rPr b="0" i="0" lang="en-US" sz="1800">
                <a:solidFill>
                  <a:schemeClr val="dk1"/>
                </a:solidFill>
                <a:latin typeface="Arial"/>
                <a:ea typeface="Arial"/>
                <a:cs typeface="Arial"/>
                <a:sym typeface="Arial"/>
              </a:rPr>
              <a:t>Development teams report problems with workflow and automation tools delaying CD. The source of this issue is often a lack of high-quality tools available to help manage testing for constant updates.</a:t>
            </a:r>
            <a:endParaRPr/>
          </a:p>
          <a:p>
            <a:pPr indent="0" lvl="0" marL="0" marR="0" rtl="0" algn="l">
              <a:spcBef>
                <a:spcPts val="0"/>
              </a:spcBef>
              <a:spcAft>
                <a:spcPts val="0"/>
              </a:spcAft>
              <a:buNone/>
            </a:pPr>
            <a:r>
              <a:t/>
            </a:r>
            <a:endParaRPr b="0" i="0" sz="18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2"/>
          <p:cNvSpPr txBox="1"/>
          <p:nvPr/>
        </p:nvSpPr>
        <p:spPr>
          <a:xfrm>
            <a:off x="278295" y="30247"/>
            <a:ext cx="11635409"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33333"/>
              </a:solidFill>
              <a:latin typeface="Georgia"/>
              <a:ea typeface="Georgia"/>
              <a:cs typeface="Georgia"/>
              <a:sym typeface="Georgia"/>
            </a:endParaRPr>
          </a:p>
          <a:p>
            <a:pPr indent="0" lvl="0" marL="0" marR="0" rtl="0" algn="l">
              <a:spcBef>
                <a:spcPts val="0"/>
              </a:spcBef>
              <a:spcAft>
                <a:spcPts val="0"/>
              </a:spcAft>
              <a:buNone/>
            </a:pPr>
            <a:r>
              <a:rPr b="1" lang="en-US" sz="1800">
                <a:solidFill>
                  <a:srgbClr val="333333"/>
                </a:solidFill>
                <a:latin typeface="Work Sans"/>
                <a:ea typeface="Work Sans"/>
                <a:cs typeface="Work Sans"/>
                <a:sym typeface="Work Sans"/>
              </a:rPr>
              <a:t>7</a:t>
            </a:r>
            <a:r>
              <a:rPr b="1" i="0" lang="en-US" sz="1800">
                <a:solidFill>
                  <a:srgbClr val="333333"/>
                </a:solidFill>
                <a:latin typeface="Work Sans"/>
                <a:ea typeface="Work Sans"/>
                <a:cs typeface="Work Sans"/>
                <a:sym typeface="Work Sans"/>
              </a:rPr>
              <a:t>. SDLC Maturity</a:t>
            </a:r>
            <a:endParaRPr/>
          </a:p>
          <a:p>
            <a:pPr indent="0" lvl="0" marL="0" marR="0" rtl="0" algn="l">
              <a:spcBef>
                <a:spcPts val="0"/>
              </a:spcBef>
              <a:spcAft>
                <a:spcPts val="0"/>
              </a:spcAft>
              <a:buNone/>
            </a:pPr>
            <a:r>
              <a:rPr b="0" i="0" lang="en-US" sz="1800">
                <a:solidFill>
                  <a:srgbClr val="333333"/>
                </a:solidFill>
                <a:latin typeface="Georgia"/>
                <a:ea typeface="Georgia"/>
                <a:cs typeface="Georgia"/>
                <a:sym typeface="Georgia"/>
              </a:rPr>
              <a:t>The maturity of a team’s software development lifecycle (SDLC) has a direct impact on their ability to deliver software. There is nothing new here; SDLC maturity has plagued IT for decades. In the age of DevOps, where we strive to deliver software in shorter increments with a high degree of reliability and quality, it is even more critical for a team to have a mature process.</a:t>
            </a:r>
            <a:endParaRPr/>
          </a:p>
          <a:p>
            <a:pPr indent="0" lvl="0" marL="0" marR="0" rtl="0" algn="l">
              <a:spcBef>
                <a:spcPts val="0"/>
              </a:spcBef>
              <a:spcAft>
                <a:spcPts val="0"/>
              </a:spcAft>
              <a:buNone/>
            </a:pPr>
            <a:r>
              <a:t/>
            </a:r>
            <a:endParaRPr b="0" i="0" sz="1800">
              <a:solidFill>
                <a:srgbClr val="333333"/>
              </a:solidFill>
              <a:latin typeface="Georgia"/>
              <a:ea typeface="Georgia"/>
              <a:cs typeface="Georgia"/>
              <a:sym typeface="Georgia"/>
            </a:endParaRPr>
          </a:p>
          <a:p>
            <a:pPr indent="0" lvl="0" marL="0" marR="0" rtl="0" algn="l">
              <a:spcBef>
                <a:spcPts val="0"/>
              </a:spcBef>
              <a:spcAft>
                <a:spcPts val="0"/>
              </a:spcAft>
              <a:buNone/>
            </a:pPr>
            <a:r>
              <a:rPr b="0" i="0" lang="en-US" sz="1800">
                <a:solidFill>
                  <a:srgbClr val="333333"/>
                </a:solidFill>
                <a:latin typeface="Georgia"/>
                <a:ea typeface="Georgia"/>
                <a:cs typeface="Georgia"/>
                <a:sym typeface="Georgia"/>
              </a:rPr>
              <a:t>Some companies I visit are still practicing waterfall methodologies. These companies struggle with DevOps because they don’t have any experience with agile. But not all companies that practice agile do it well. Some are early in their agile journey, while others have implemented what I call “Wagile”: waterfall tendencies with agile terminology sprinkled in. I have seen teams who have implemented Kanban but struggle with the prioritization and control of WIP. I have seen scrum teams struggle to complete the story points that they promised. It takes time to get really good at agile.</a:t>
            </a:r>
            <a:endParaRPr/>
          </a:p>
          <a:p>
            <a:pPr indent="0" lvl="0" marL="0" marR="0" rtl="0" algn="l">
              <a:spcBef>
                <a:spcPts val="0"/>
              </a:spcBef>
              <a:spcAft>
                <a:spcPts val="0"/>
              </a:spcAft>
              <a:buNone/>
            </a:pPr>
            <a:r>
              <a:t/>
            </a:r>
            <a:endParaRPr sz="1800">
              <a:solidFill>
                <a:srgbClr val="333333"/>
              </a:solidFill>
              <a:latin typeface="Georgia"/>
              <a:ea typeface="Georgia"/>
              <a:cs typeface="Georgia"/>
              <a:sym typeface="Georgia"/>
            </a:endParaRPr>
          </a:p>
          <a:p>
            <a:pPr indent="0" lvl="0" marL="0" marR="0" rtl="0" algn="l">
              <a:spcBef>
                <a:spcPts val="0"/>
              </a:spcBef>
              <a:spcAft>
                <a:spcPts val="0"/>
              </a:spcAft>
              <a:buNone/>
            </a:pPr>
            <a:r>
              <a:rPr b="1" lang="en-US" sz="1800">
                <a:solidFill>
                  <a:srgbClr val="333333"/>
                </a:solidFill>
                <a:latin typeface="Work Sans"/>
                <a:ea typeface="Work Sans"/>
                <a:cs typeface="Work Sans"/>
                <a:sym typeface="Work Sans"/>
              </a:rPr>
              <a:t>8</a:t>
            </a:r>
            <a:r>
              <a:rPr b="1" i="0" lang="en-US" sz="1800">
                <a:solidFill>
                  <a:srgbClr val="333333"/>
                </a:solidFill>
                <a:latin typeface="Work Sans"/>
                <a:ea typeface="Work Sans"/>
                <a:cs typeface="Work Sans"/>
                <a:sym typeface="Work Sans"/>
              </a:rPr>
              <a:t>. Legacy Change Management Processes</a:t>
            </a:r>
            <a:endParaRPr/>
          </a:p>
          <a:p>
            <a:pPr indent="0" lvl="0" marL="0" marR="0" rtl="0" algn="l">
              <a:spcBef>
                <a:spcPts val="0"/>
              </a:spcBef>
              <a:spcAft>
                <a:spcPts val="0"/>
              </a:spcAft>
              <a:buNone/>
            </a:pPr>
            <a:r>
              <a:rPr b="0" i="0" lang="en-US" sz="1800">
                <a:solidFill>
                  <a:srgbClr val="333333"/>
                </a:solidFill>
                <a:latin typeface="Georgia"/>
                <a:ea typeface="Georgia"/>
                <a:cs typeface="Georgia"/>
                <a:sym typeface="Georgia"/>
              </a:rPr>
              <a:t>Many companies have had their change management processes in place for years and are comfortable with it. The problem is that these processes were created back when companies were deploying and updating back office solutions or infrastructure changes that happened infrequently. </a:t>
            </a:r>
            <a:endParaRPr/>
          </a:p>
          <a:p>
            <a:pPr indent="0" lvl="0" marL="0" marR="0" rtl="0" algn="l">
              <a:spcBef>
                <a:spcPts val="0"/>
              </a:spcBef>
              <a:spcAft>
                <a:spcPts val="0"/>
              </a:spcAft>
              <a:buNone/>
            </a:pPr>
            <a:r>
              <a:t/>
            </a:r>
            <a:endParaRPr sz="1800">
              <a:solidFill>
                <a:srgbClr val="333333"/>
              </a:solidFill>
              <a:latin typeface="Georgia"/>
              <a:ea typeface="Georgia"/>
              <a:cs typeface="Georgia"/>
              <a:sym typeface="Georgia"/>
            </a:endParaRPr>
          </a:p>
          <a:p>
            <a:pPr indent="0" lvl="0" marL="0" marR="0" rtl="0" algn="l">
              <a:spcBef>
                <a:spcPts val="0"/>
              </a:spcBef>
              <a:spcAft>
                <a:spcPts val="0"/>
              </a:spcAft>
              <a:buNone/>
            </a:pPr>
            <a:r>
              <a:rPr b="0" i="0" lang="en-US" sz="1800">
                <a:solidFill>
                  <a:srgbClr val="333333"/>
                </a:solidFill>
                <a:latin typeface="Georgia"/>
                <a:ea typeface="Georgia"/>
                <a:cs typeface="Georgia"/>
                <a:sym typeface="Georgia"/>
              </a:rPr>
              <a:t>Fast forward to today’s environments where applications are made of many small components or micro services that can be changed and deployed quickly, now all of a sudden the process gets in the way.</a:t>
            </a:r>
            <a:endParaRPr/>
          </a:p>
          <a:p>
            <a:pPr indent="0" lvl="0" marL="0" marR="0" rtl="0" algn="l">
              <a:spcBef>
                <a:spcPts val="0"/>
              </a:spcBef>
              <a:spcAft>
                <a:spcPts val="0"/>
              </a:spcAft>
              <a:buNone/>
            </a:pPr>
            <a:r>
              <a:t/>
            </a:r>
            <a:endParaRPr b="0" i="0" sz="1800">
              <a:solidFill>
                <a:srgbClr val="333333"/>
              </a:solidFill>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nvSpPr>
        <p:spPr>
          <a:xfrm>
            <a:off x="167780" y="100668"/>
            <a:ext cx="11887200" cy="70173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333333"/>
                </a:solidFill>
                <a:latin typeface="Work Sans"/>
                <a:ea typeface="Work Sans"/>
                <a:cs typeface="Work Sans"/>
                <a:sym typeface="Work Sans"/>
              </a:rPr>
              <a:t>9</a:t>
            </a:r>
            <a:r>
              <a:rPr b="1" i="0" lang="en-US" sz="1800">
                <a:solidFill>
                  <a:srgbClr val="333333"/>
                </a:solidFill>
                <a:latin typeface="Work Sans"/>
                <a:ea typeface="Work Sans"/>
                <a:cs typeface="Work Sans"/>
                <a:sym typeface="Work Sans"/>
              </a:rPr>
              <a:t>. Outdated testing practices</a:t>
            </a:r>
            <a:endParaRPr/>
          </a:p>
          <a:p>
            <a:pPr indent="0" lvl="0" marL="0" marR="0" rtl="0" algn="l">
              <a:spcBef>
                <a:spcPts val="0"/>
              </a:spcBef>
              <a:spcAft>
                <a:spcPts val="0"/>
              </a:spcAft>
              <a:buNone/>
            </a:pPr>
            <a:r>
              <a:rPr b="0" i="0" lang="en-US" sz="1800">
                <a:solidFill>
                  <a:srgbClr val="333333"/>
                </a:solidFill>
                <a:latin typeface="Georgia"/>
                <a:ea typeface="Georgia"/>
                <a:cs typeface="Georgia"/>
                <a:sym typeface="Georgia"/>
              </a:rPr>
              <a:t>Too often I see clients who have a separate QA department that is not fully integrated with the development team. The code is thrown over the wall and then testing begins. Bugs are detected and sent back to developers who then have to quickly fix, build, and redeploy. This process is repeated until there is no time remaining and teams are left to agree on what defects they can tolerate and promote to production. This is a death spiral in action. With every release, they introduce more technical debt into the system lowering its quality and reliability, and increasing unplanned work. There is a better way.</a:t>
            </a:r>
            <a:endParaRPr/>
          </a:p>
          <a:p>
            <a:pPr indent="0" lvl="0" marL="0" marR="0" rtl="0" algn="l">
              <a:spcBef>
                <a:spcPts val="0"/>
              </a:spcBef>
              <a:spcAft>
                <a:spcPts val="0"/>
              </a:spcAft>
              <a:buNone/>
            </a:pPr>
            <a:r>
              <a:rPr b="0" i="0" lang="en-US" sz="1800">
                <a:solidFill>
                  <a:srgbClr val="333333"/>
                </a:solidFill>
                <a:latin typeface="Georgia"/>
                <a:ea typeface="Georgia"/>
                <a:cs typeface="Georgia"/>
                <a:sym typeface="Georgia"/>
              </a:rPr>
              <a:t>The better way is to block bugs from moving forward in the development process. This is accomplished by building automated test harnesses and by automatically failing the build if any of the tests fail. This is what continuous integration is designed for. Testing must be part of the development process, not a handoff that is performed after development. Developers need to play a bigger part in testing and testers need to play a bigger part in development. This strikes fear in some testers and not all testers can make the transition.</a:t>
            </a:r>
            <a:endParaRPr/>
          </a:p>
          <a:p>
            <a:pPr indent="0" lvl="0" marL="0" marR="0" rtl="0" algn="l">
              <a:spcBef>
                <a:spcPts val="0"/>
              </a:spcBef>
              <a:spcAft>
                <a:spcPts val="0"/>
              </a:spcAft>
              <a:buNone/>
            </a:pPr>
            <a:r>
              <a:t/>
            </a:r>
            <a:endParaRPr sz="1800">
              <a:solidFill>
                <a:srgbClr val="333333"/>
              </a:solidFill>
              <a:latin typeface="Georgia"/>
              <a:ea typeface="Georgia"/>
              <a:cs typeface="Georgia"/>
              <a:sym typeface="Georgia"/>
            </a:endParaRPr>
          </a:p>
          <a:p>
            <a:pPr indent="0" lvl="0" marL="0" marR="0" rtl="0" algn="l">
              <a:spcBef>
                <a:spcPts val="0"/>
              </a:spcBef>
              <a:spcAft>
                <a:spcPts val="0"/>
              </a:spcAft>
              <a:buNone/>
            </a:pPr>
            <a:r>
              <a:rPr b="1" lang="en-US" sz="1800">
                <a:solidFill>
                  <a:srgbClr val="333333"/>
                </a:solidFill>
                <a:latin typeface="Work Sans"/>
                <a:ea typeface="Work Sans"/>
                <a:cs typeface="Work Sans"/>
                <a:sym typeface="Work Sans"/>
              </a:rPr>
              <a:t>10</a:t>
            </a:r>
            <a:r>
              <a:rPr b="1" i="0" lang="en-US" sz="1800">
                <a:solidFill>
                  <a:srgbClr val="333333"/>
                </a:solidFill>
                <a:latin typeface="Work Sans"/>
                <a:ea typeface="Work Sans"/>
                <a:cs typeface="Work Sans"/>
                <a:sym typeface="Work Sans"/>
              </a:rPr>
              <a:t>. Automating waste</a:t>
            </a:r>
            <a:endParaRPr/>
          </a:p>
          <a:p>
            <a:pPr indent="0" lvl="0" marL="0" marR="0" rtl="0" algn="l">
              <a:spcBef>
                <a:spcPts val="0"/>
              </a:spcBef>
              <a:spcAft>
                <a:spcPts val="0"/>
              </a:spcAft>
              <a:buNone/>
            </a:pPr>
            <a:r>
              <a:rPr b="0" i="0" lang="en-US" sz="1800">
                <a:solidFill>
                  <a:srgbClr val="333333"/>
                </a:solidFill>
                <a:latin typeface="Georgia"/>
                <a:ea typeface="Georgia"/>
                <a:cs typeface="Georgia"/>
                <a:sym typeface="Georgia"/>
              </a:rPr>
              <a:t>A very common pattern I run into is the automation of waste. This occurs when a team declares itself a DevOps team or a person declares themselves a DevOps engineer and immediately starts writing hundreds or thousands of lines of Chef or Puppet scripts to automate their existing processes. The problem is that many of the existing processes are bottlenecks and need to be changed. Automating waste is like pouring concrete around unbalanced support beams. It makes bad design permanent.</a:t>
            </a:r>
            <a:endParaRPr/>
          </a:p>
          <a:p>
            <a:pPr indent="0" lvl="0" marL="0" marR="0" rtl="0" algn="l">
              <a:spcBef>
                <a:spcPts val="0"/>
              </a:spcBef>
              <a:spcAft>
                <a:spcPts val="0"/>
              </a:spcAft>
              <a:buNone/>
            </a:pPr>
            <a:r>
              <a:t/>
            </a:r>
            <a:endParaRPr sz="1800">
              <a:solidFill>
                <a:srgbClr val="333333"/>
              </a:solidFill>
              <a:latin typeface="Georgia"/>
              <a:ea typeface="Georgia"/>
              <a:cs typeface="Georgia"/>
              <a:sym typeface="Georgia"/>
            </a:endParaRPr>
          </a:p>
          <a:p>
            <a:pPr indent="-285750" lvl="0" marL="285750" marR="0" rtl="0" algn="l">
              <a:spcBef>
                <a:spcPts val="0"/>
              </a:spcBef>
              <a:spcAft>
                <a:spcPts val="0"/>
              </a:spcAft>
              <a:buClr>
                <a:srgbClr val="000000"/>
              </a:buClr>
              <a:buSzPts val="1800"/>
              <a:buFont typeface="Noto Sans Symbols"/>
              <a:buChar char="❖"/>
            </a:pPr>
            <a:r>
              <a:rPr b="0" i="0" lang="en-US" sz="1800" u="none" strike="noStrike">
                <a:solidFill>
                  <a:srgbClr val="000000"/>
                </a:solidFill>
                <a:latin typeface="Book Antiqua"/>
                <a:ea typeface="Book Antiqua"/>
                <a:cs typeface="Book Antiqua"/>
                <a:sym typeface="Book Antiqua"/>
              </a:rPr>
              <a:t>Database schema changes. </a:t>
            </a:r>
            <a:endParaRPr/>
          </a:p>
          <a:p>
            <a:pPr indent="-285750" lvl="0" marL="285750" marR="0" rtl="0" algn="l">
              <a:spcBef>
                <a:spcPts val="0"/>
              </a:spcBef>
              <a:spcAft>
                <a:spcPts val="0"/>
              </a:spcAft>
              <a:buClr>
                <a:srgbClr val="000000"/>
              </a:buClr>
              <a:buSzPts val="1800"/>
              <a:buFont typeface="Noto Sans Symbols"/>
              <a:buChar char="❖"/>
            </a:pPr>
            <a:r>
              <a:rPr b="0" i="0" lang="en-US" sz="1800" u="none" strike="noStrike">
                <a:solidFill>
                  <a:srgbClr val="000000"/>
                </a:solidFill>
                <a:latin typeface="Book Antiqua"/>
                <a:ea typeface="Book Antiqua"/>
                <a:cs typeface="Book Antiqua"/>
                <a:sym typeface="Book Antiqua"/>
              </a:rPr>
              <a:t>Test data doesn't match expectations. </a:t>
            </a:r>
            <a:endParaRPr/>
          </a:p>
          <a:p>
            <a:pPr indent="-285750" lvl="0" marL="285750" marR="0" rtl="0" algn="l">
              <a:spcBef>
                <a:spcPts val="0"/>
              </a:spcBef>
              <a:spcAft>
                <a:spcPts val="0"/>
              </a:spcAft>
              <a:buClr>
                <a:srgbClr val="000000"/>
              </a:buClr>
              <a:buSzPts val="1800"/>
              <a:buFont typeface="Noto Sans Symbols"/>
              <a:buChar char="❖"/>
            </a:pPr>
            <a:r>
              <a:rPr b="0" i="0" lang="en-US" sz="1800" u="none" strike="noStrike">
                <a:solidFill>
                  <a:srgbClr val="000000"/>
                </a:solidFill>
                <a:latin typeface="Book Antiqua"/>
                <a:ea typeface="Book Antiqua"/>
                <a:cs typeface="Book Antiqua"/>
                <a:sym typeface="Book Antiqua"/>
              </a:rPr>
              <a:t>Deploys are person dependent, and the person wasn't available.</a:t>
            </a:r>
            <a:endParaRPr/>
          </a:p>
          <a:p>
            <a:pPr indent="0" lvl="0" marL="0" marR="0" rtl="0" algn="l">
              <a:spcBef>
                <a:spcPts val="0"/>
              </a:spcBef>
              <a:spcAft>
                <a:spcPts val="0"/>
              </a:spcAft>
              <a:buNone/>
            </a:pPr>
            <a:r>
              <a:t/>
            </a:r>
            <a:endParaRPr b="0" i="0" sz="1800">
              <a:solidFill>
                <a:srgbClr val="333333"/>
              </a:solidFill>
              <a:latin typeface="Georgia"/>
              <a:ea typeface="Georgia"/>
              <a:cs typeface="Georgia"/>
              <a:sym typeface="Georgia"/>
            </a:endParaRPr>
          </a:p>
          <a:p>
            <a:pPr indent="0" lvl="0" marL="0" marR="0" rtl="0" algn="l">
              <a:spcBef>
                <a:spcPts val="0"/>
              </a:spcBef>
              <a:spcAft>
                <a:spcPts val="0"/>
              </a:spcAft>
              <a:buNone/>
            </a:pPr>
            <a:r>
              <a:t/>
            </a:r>
            <a:endParaRPr b="0" i="0" sz="1800">
              <a:solidFill>
                <a:srgbClr val="333333"/>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2021-09-02T09:21:44Z</dcterms:created>
  <dc:creator>SAI CHARAN THOTA</dc:creator>
</cp:coreProperties>
</file>