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83" r:id="rId5"/>
    <p:sldId id="292" r:id="rId6"/>
    <p:sldId id="265" r:id="rId7"/>
    <p:sldId id="266" r:id="rId8"/>
    <p:sldId id="293" r:id="rId9"/>
    <p:sldId id="294" r:id="rId10"/>
    <p:sldId id="275" r:id="rId11"/>
    <p:sldId id="267" r:id="rId12"/>
    <p:sldId id="277" r:id="rId13"/>
    <p:sldId id="373" r:id="rId14"/>
    <p:sldId id="291" r:id="rId15"/>
    <p:sldId id="279" r:id="rId16"/>
    <p:sldId id="281" r:id="rId17"/>
    <p:sldId id="374" r:id="rId18"/>
    <p:sldId id="286" r:id="rId19"/>
    <p:sldId id="288" r:id="rId20"/>
    <p:sldId id="376" r:id="rId21"/>
    <p:sldId id="303" r:id="rId22"/>
    <p:sldId id="276" r:id="rId23"/>
    <p:sldId id="261" r:id="rId24"/>
    <p:sldId id="271" r:id="rId25"/>
    <p:sldId id="289" r:id="rId26"/>
    <p:sldId id="290" r:id="rId27"/>
    <p:sldId id="273" r:id="rId28"/>
    <p:sldId id="391" r:id="rId29"/>
    <p:sldId id="395" r:id="rId30"/>
    <p:sldId id="334" r:id="rId31"/>
    <p:sldId id="344" r:id="rId32"/>
    <p:sldId id="336" r:id="rId33"/>
    <p:sldId id="392" r:id="rId34"/>
    <p:sldId id="394" r:id="rId35"/>
    <p:sldId id="34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291" autoAdjust="0"/>
  </p:normalViewPr>
  <p:slideViewPr>
    <p:cSldViewPr snapToGrid="0">
      <p:cViewPr varScale="1">
        <p:scale>
          <a:sx n="68" d="100"/>
          <a:sy n="68" d="100"/>
        </p:scale>
        <p:origin x="78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8AA4B-3780-45A7-8990-36A6E20A8C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C63EBEE8-C84F-432E-B0B7-B3A61F6E3C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DDDD8FC6-F894-47F5-B9E5-BA1B4538A8BB}"/>
              </a:ext>
            </a:extLst>
          </p:cNvPr>
          <p:cNvSpPr>
            <a:spLocks noGrp="1"/>
          </p:cNvSpPr>
          <p:nvPr>
            <p:ph type="dt" sz="half" idx="10"/>
          </p:nvPr>
        </p:nvSpPr>
        <p:spPr/>
        <p:txBody>
          <a:bodyPr/>
          <a:lstStyle/>
          <a:p>
            <a:fld id="{C1BB68A9-FA02-4B0B-A50F-E4946DD71503}" type="datetimeFigureOut">
              <a:rPr lang="en-SG" smtClean="0"/>
              <a:t>29/10/2021</a:t>
            </a:fld>
            <a:endParaRPr lang="en-SG"/>
          </a:p>
        </p:txBody>
      </p:sp>
      <p:sp>
        <p:nvSpPr>
          <p:cNvPr id="5" name="Footer Placeholder 4">
            <a:extLst>
              <a:ext uri="{FF2B5EF4-FFF2-40B4-BE49-F238E27FC236}">
                <a16:creationId xmlns:a16="http://schemas.microsoft.com/office/drawing/2014/main" id="{401A5DB5-527B-45CA-9324-22AC8BA2E42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4BEB48A6-7F43-4918-843A-58605EB056DE}"/>
              </a:ext>
            </a:extLst>
          </p:cNvPr>
          <p:cNvSpPr>
            <a:spLocks noGrp="1"/>
          </p:cNvSpPr>
          <p:nvPr>
            <p:ph type="sldNum" sz="quarter" idx="12"/>
          </p:nvPr>
        </p:nvSpPr>
        <p:spPr/>
        <p:txBody>
          <a:bodyPr/>
          <a:lstStyle/>
          <a:p>
            <a:fld id="{76BF0632-C55F-4CBD-A69F-A56EB61D13BB}" type="slidenum">
              <a:rPr lang="en-SG" smtClean="0"/>
              <a:t>‹#›</a:t>
            </a:fld>
            <a:endParaRPr lang="en-SG"/>
          </a:p>
        </p:txBody>
      </p:sp>
    </p:spTree>
    <p:extLst>
      <p:ext uri="{BB962C8B-B14F-4D97-AF65-F5344CB8AC3E}">
        <p14:creationId xmlns:p14="http://schemas.microsoft.com/office/powerpoint/2010/main" val="894206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D99CE-8626-4B4F-9F5C-9D271D22599C}"/>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B0EDFF04-77ED-4977-B93A-D9E286D30B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8BF336C-E764-4F1A-936E-F7F163AC2B7A}"/>
              </a:ext>
            </a:extLst>
          </p:cNvPr>
          <p:cNvSpPr>
            <a:spLocks noGrp="1"/>
          </p:cNvSpPr>
          <p:nvPr>
            <p:ph type="dt" sz="half" idx="10"/>
          </p:nvPr>
        </p:nvSpPr>
        <p:spPr/>
        <p:txBody>
          <a:bodyPr/>
          <a:lstStyle/>
          <a:p>
            <a:fld id="{C1BB68A9-FA02-4B0B-A50F-E4946DD71503}" type="datetimeFigureOut">
              <a:rPr lang="en-SG" smtClean="0"/>
              <a:t>29/10/2021</a:t>
            </a:fld>
            <a:endParaRPr lang="en-SG"/>
          </a:p>
        </p:txBody>
      </p:sp>
      <p:sp>
        <p:nvSpPr>
          <p:cNvPr id="5" name="Footer Placeholder 4">
            <a:extLst>
              <a:ext uri="{FF2B5EF4-FFF2-40B4-BE49-F238E27FC236}">
                <a16:creationId xmlns:a16="http://schemas.microsoft.com/office/drawing/2014/main" id="{62866328-0D73-4E92-B2EB-E76C9074B69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D58830D-224E-4DC8-BD33-1C4834AFE0EF}"/>
              </a:ext>
            </a:extLst>
          </p:cNvPr>
          <p:cNvSpPr>
            <a:spLocks noGrp="1"/>
          </p:cNvSpPr>
          <p:nvPr>
            <p:ph type="sldNum" sz="quarter" idx="12"/>
          </p:nvPr>
        </p:nvSpPr>
        <p:spPr/>
        <p:txBody>
          <a:bodyPr/>
          <a:lstStyle/>
          <a:p>
            <a:fld id="{76BF0632-C55F-4CBD-A69F-A56EB61D13BB}" type="slidenum">
              <a:rPr lang="en-SG" smtClean="0"/>
              <a:t>‹#›</a:t>
            </a:fld>
            <a:endParaRPr lang="en-SG"/>
          </a:p>
        </p:txBody>
      </p:sp>
    </p:spTree>
    <p:extLst>
      <p:ext uri="{BB962C8B-B14F-4D97-AF65-F5344CB8AC3E}">
        <p14:creationId xmlns:p14="http://schemas.microsoft.com/office/powerpoint/2010/main" val="1816201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D0BC6-6DF8-41D2-A873-C80627D960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344A2383-4E12-45A5-AB36-1630B29610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A77169-6AF1-4F23-9EE0-20C5CBA0A82F}"/>
              </a:ext>
            </a:extLst>
          </p:cNvPr>
          <p:cNvSpPr>
            <a:spLocks noGrp="1"/>
          </p:cNvSpPr>
          <p:nvPr>
            <p:ph type="dt" sz="half" idx="10"/>
          </p:nvPr>
        </p:nvSpPr>
        <p:spPr/>
        <p:txBody>
          <a:bodyPr/>
          <a:lstStyle/>
          <a:p>
            <a:fld id="{C1BB68A9-FA02-4B0B-A50F-E4946DD71503}" type="datetimeFigureOut">
              <a:rPr lang="en-SG" smtClean="0"/>
              <a:t>29/10/2021</a:t>
            </a:fld>
            <a:endParaRPr lang="en-SG"/>
          </a:p>
        </p:txBody>
      </p:sp>
      <p:sp>
        <p:nvSpPr>
          <p:cNvPr id="5" name="Footer Placeholder 4">
            <a:extLst>
              <a:ext uri="{FF2B5EF4-FFF2-40B4-BE49-F238E27FC236}">
                <a16:creationId xmlns:a16="http://schemas.microsoft.com/office/drawing/2014/main" id="{1B847A3A-E25D-4E31-A11B-7BB7402CD82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B9CEBFC-F90D-47C1-9B0B-BF02855FFD50}"/>
              </a:ext>
            </a:extLst>
          </p:cNvPr>
          <p:cNvSpPr>
            <a:spLocks noGrp="1"/>
          </p:cNvSpPr>
          <p:nvPr>
            <p:ph type="sldNum" sz="quarter" idx="12"/>
          </p:nvPr>
        </p:nvSpPr>
        <p:spPr/>
        <p:txBody>
          <a:bodyPr/>
          <a:lstStyle/>
          <a:p>
            <a:fld id="{76BF0632-C55F-4CBD-A69F-A56EB61D13BB}" type="slidenum">
              <a:rPr lang="en-SG" smtClean="0"/>
              <a:t>‹#›</a:t>
            </a:fld>
            <a:endParaRPr lang="en-SG"/>
          </a:p>
        </p:txBody>
      </p:sp>
    </p:spTree>
    <p:extLst>
      <p:ext uri="{BB962C8B-B14F-4D97-AF65-F5344CB8AC3E}">
        <p14:creationId xmlns:p14="http://schemas.microsoft.com/office/powerpoint/2010/main" val="464232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A7248-9B5B-43E8-99B8-06A98B75335D}"/>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284EE9AD-BC7E-4C47-9170-6BF63BEF91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3BA4D2AB-B6E2-4B50-8726-595AAB2989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F9CF51C1-9DE7-4B62-AF52-E8553A9AA3CF}"/>
              </a:ext>
            </a:extLst>
          </p:cNvPr>
          <p:cNvSpPr>
            <a:spLocks noGrp="1"/>
          </p:cNvSpPr>
          <p:nvPr>
            <p:ph type="dt" sz="half" idx="10"/>
          </p:nvPr>
        </p:nvSpPr>
        <p:spPr/>
        <p:txBody>
          <a:bodyPr/>
          <a:lstStyle/>
          <a:p>
            <a:fld id="{C1BB68A9-FA02-4B0B-A50F-E4946DD71503}" type="datetimeFigureOut">
              <a:rPr lang="en-SG" smtClean="0"/>
              <a:t>29/10/2021</a:t>
            </a:fld>
            <a:endParaRPr lang="en-SG"/>
          </a:p>
        </p:txBody>
      </p:sp>
      <p:sp>
        <p:nvSpPr>
          <p:cNvPr id="6" name="Footer Placeholder 5">
            <a:extLst>
              <a:ext uri="{FF2B5EF4-FFF2-40B4-BE49-F238E27FC236}">
                <a16:creationId xmlns:a16="http://schemas.microsoft.com/office/drawing/2014/main" id="{FF1E6240-CC04-4C28-86AF-168F7B7CB56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416C861E-DF71-4E8F-A0CC-C6D85D4D6B58}"/>
              </a:ext>
            </a:extLst>
          </p:cNvPr>
          <p:cNvSpPr>
            <a:spLocks noGrp="1"/>
          </p:cNvSpPr>
          <p:nvPr>
            <p:ph type="sldNum" sz="quarter" idx="12"/>
          </p:nvPr>
        </p:nvSpPr>
        <p:spPr/>
        <p:txBody>
          <a:bodyPr/>
          <a:lstStyle/>
          <a:p>
            <a:fld id="{76BF0632-C55F-4CBD-A69F-A56EB61D13BB}" type="slidenum">
              <a:rPr lang="en-SG" smtClean="0"/>
              <a:t>‹#›</a:t>
            </a:fld>
            <a:endParaRPr lang="en-SG"/>
          </a:p>
        </p:txBody>
      </p:sp>
    </p:spTree>
    <p:extLst>
      <p:ext uri="{BB962C8B-B14F-4D97-AF65-F5344CB8AC3E}">
        <p14:creationId xmlns:p14="http://schemas.microsoft.com/office/powerpoint/2010/main" val="2982231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B1B99-E350-469A-993A-F808259BAF2F}"/>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0AF2B758-59D3-42EE-902E-E61904367A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6F5F4B-0135-47A4-AE15-8D142843D7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D5D09975-68D2-43DE-AB6F-A6F7EB25E9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4F9BAD-C10C-42FB-BD08-298CA877C4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2759CC86-59D2-4BEB-9EC8-764CDA04A8B6}"/>
              </a:ext>
            </a:extLst>
          </p:cNvPr>
          <p:cNvSpPr>
            <a:spLocks noGrp="1"/>
          </p:cNvSpPr>
          <p:nvPr>
            <p:ph type="dt" sz="half" idx="10"/>
          </p:nvPr>
        </p:nvSpPr>
        <p:spPr/>
        <p:txBody>
          <a:bodyPr/>
          <a:lstStyle/>
          <a:p>
            <a:fld id="{C1BB68A9-FA02-4B0B-A50F-E4946DD71503}" type="datetimeFigureOut">
              <a:rPr lang="en-SG" smtClean="0"/>
              <a:t>29/10/2021</a:t>
            </a:fld>
            <a:endParaRPr lang="en-SG"/>
          </a:p>
        </p:txBody>
      </p:sp>
      <p:sp>
        <p:nvSpPr>
          <p:cNvPr id="8" name="Footer Placeholder 7">
            <a:extLst>
              <a:ext uri="{FF2B5EF4-FFF2-40B4-BE49-F238E27FC236}">
                <a16:creationId xmlns:a16="http://schemas.microsoft.com/office/drawing/2014/main" id="{A226A8FF-227C-432B-97F7-9BE2FC05C3D0}"/>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B2AB2547-B3FB-4BE4-A0D6-8A1E7809B149}"/>
              </a:ext>
            </a:extLst>
          </p:cNvPr>
          <p:cNvSpPr>
            <a:spLocks noGrp="1"/>
          </p:cNvSpPr>
          <p:nvPr>
            <p:ph type="sldNum" sz="quarter" idx="12"/>
          </p:nvPr>
        </p:nvSpPr>
        <p:spPr/>
        <p:txBody>
          <a:bodyPr/>
          <a:lstStyle/>
          <a:p>
            <a:fld id="{76BF0632-C55F-4CBD-A69F-A56EB61D13BB}" type="slidenum">
              <a:rPr lang="en-SG" smtClean="0"/>
              <a:t>‹#›</a:t>
            </a:fld>
            <a:endParaRPr lang="en-SG"/>
          </a:p>
        </p:txBody>
      </p:sp>
    </p:spTree>
    <p:extLst>
      <p:ext uri="{BB962C8B-B14F-4D97-AF65-F5344CB8AC3E}">
        <p14:creationId xmlns:p14="http://schemas.microsoft.com/office/powerpoint/2010/main" val="2813955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56072-332C-45DA-94FC-EF5C4903541A}"/>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FE7332E7-D84B-4136-A080-EDC540301D59}"/>
              </a:ext>
            </a:extLst>
          </p:cNvPr>
          <p:cNvSpPr>
            <a:spLocks noGrp="1"/>
          </p:cNvSpPr>
          <p:nvPr>
            <p:ph type="dt" sz="half" idx="10"/>
          </p:nvPr>
        </p:nvSpPr>
        <p:spPr/>
        <p:txBody>
          <a:bodyPr/>
          <a:lstStyle/>
          <a:p>
            <a:fld id="{C1BB68A9-FA02-4B0B-A50F-E4946DD71503}" type="datetimeFigureOut">
              <a:rPr lang="en-SG" smtClean="0"/>
              <a:t>29/10/2021</a:t>
            </a:fld>
            <a:endParaRPr lang="en-SG"/>
          </a:p>
        </p:txBody>
      </p:sp>
      <p:sp>
        <p:nvSpPr>
          <p:cNvPr id="4" name="Footer Placeholder 3">
            <a:extLst>
              <a:ext uri="{FF2B5EF4-FFF2-40B4-BE49-F238E27FC236}">
                <a16:creationId xmlns:a16="http://schemas.microsoft.com/office/drawing/2014/main" id="{E46F3A41-6D6B-4258-80AE-4A057719ECA1}"/>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549A5722-4D00-4E6F-A1FC-7E2A9E4EFB8B}"/>
              </a:ext>
            </a:extLst>
          </p:cNvPr>
          <p:cNvSpPr>
            <a:spLocks noGrp="1"/>
          </p:cNvSpPr>
          <p:nvPr>
            <p:ph type="sldNum" sz="quarter" idx="12"/>
          </p:nvPr>
        </p:nvSpPr>
        <p:spPr/>
        <p:txBody>
          <a:bodyPr/>
          <a:lstStyle/>
          <a:p>
            <a:fld id="{76BF0632-C55F-4CBD-A69F-A56EB61D13BB}" type="slidenum">
              <a:rPr lang="en-SG" smtClean="0"/>
              <a:t>‹#›</a:t>
            </a:fld>
            <a:endParaRPr lang="en-SG"/>
          </a:p>
        </p:txBody>
      </p:sp>
    </p:spTree>
    <p:extLst>
      <p:ext uri="{BB962C8B-B14F-4D97-AF65-F5344CB8AC3E}">
        <p14:creationId xmlns:p14="http://schemas.microsoft.com/office/powerpoint/2010/main" val="2981403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253C3-5322-422F-9646-AA81F0C0ED7E}"/>
              </a:ext>
            </a:extLst>
          </p:cNvPr>
          <p:cNvSpPr>
            <a:spLocks noGrp="1"/>
          </p:cNvSpPr>
          <p:nvPr>
            <p:ph type="dt" sz="half" idx="10"/>
          </p:nvPr>
        </p:nvSpPr>
        <p:spPr/>
        <p:txBody>
          <a:bodyPr/>
          <a:lstStyle/>
          <a:p>
            <a:fld id="{C1BB68A9-FA02-4B0B-A50F-E4946DD71503}" type="datetimeFigureOut">
              <a:rPr lang="en-SG" smtClean="0"/>
              <a:t>29/10/2021</a:t>
            </a:fld>
            <a:endParaRPr lang="en-SG"/>
          </a:p>
        </p:txBody>
      </p:sp>
      <p:sp>
        <p:nvSpPr>
          <p:cNvPr id="3" name="Footer Placeholder 2">
            <a:extLst>
              <a:ext uri="{FF2B5EF4-FFF2-40B4-BE49-F238E27FC236}">
                <a16:creationId xmlns:a16="http://schemas.microsoft.com/office/drawing/2014/main" id="{8322C338-A1D4-458C-B7DE-64B154248F76}"/>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19AC79A5-2112-4704-AD22-78C5A9EC3A8A}"/>
              </a:ext>
            </a:extLst>
          </p:cNvPr>
          <p:cNvSpPr>
            <a:spLocks noGrp="1"/>
          </p:cNvSpPr>
          <p:nvPr>
            <p:ph type="sldNum" sz="quarter" idx="12"/>
          </p:nvPr>
        </p:nvSpPr>
        <p:spPr/>
        <p:txBody>
          <a:bodyPr/>
          <a:lstStyle/>
          <a:p>
            <a:fld id="{76BF0632-C55F-4CBD-A69F-A56EB61D13BB}" type="slidenum">
              <a:rPr lang="en-SG" smtClean="0"/>
              <a:t>‹#›</a:t>
            </a:fld>
            <a:endParaRPr lang="en-SG"/>
          </a:p>
        </p:txBody>
      </p:sp>
    </p:spTree>
    <p:extLst>
      <p:ext uri="{BB962C8B-B14F-4D97-AF65-F5344CB8AC3E}">
        <p14:creationId xmlns:p14="http://schemas.microsoft.com/office/powerpoint/2010/main" val="1373463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A16D5-F157-45C9-9C6C-C079FC9B93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CD1F257-E729-4A33-8994-9CC924F688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9806F66-AA63-4875-9489-ED558BC2A0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729F7B-C5BF-4539-8A1E-34246BC0E489}"/>
              </a:ext>
            </a:extLst>
          </p:cNvPr>
          <p:cNvSpPr>
            <a:spLocks noGrp="1"/>
          </p:cNvSpPr>
          <p:nvPr>
            <p:ph type="dt" sz="half" idx="10"/>
          </p:nvPr>
        </p:nvSpPr>
        <p:spPr/>
        <p:txBody>
          <a:bodyPr/>
          <a:lstStyle/>
          <a:p>
            <a:fld id="{C1BB68A9-FA02-4B0B-A50F-E4946DD71503}" type="datetimeFigureOut">
              <a:rPr lang="en-SG" smtClean="0"/>
              <a:t>29/10/2021</a:t>
            </a:fld>
            <a:endParaRPr lang="en-SG"/>
          </a:p>
        </p:txBody>
      </p:sp>
      <p:sp>
        <p:nvSpPr>
          <p:cNvPr id="6" name="Footer Placeholder 5">
            <a:extLst>
              <a:ext uri="{FF2B5EF4-FFF2-40B4-BE49-F238E27FC236}">
                <a16:creationId xmlns:a16="http://schemas.microsoft.com/office/drawing/2014/main" id="{90BC2F13-9628-461F-9950-B864E1EFDB6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9FA5493-CDF9-4E1A-B27E-405731EB6439}"/>
              </a:ext>
            </a:extLst>
          </p:cNvPr>
          <p:cNvSpPr>
            <a:spLocks noGrp="1"/>
          </p:cNvSpPr>
          <p:nvPr>
            <p:ph type="sldNum" sz="quarter" idx="12"/>
          </p:nvPr>
        </p:nvSpPr>
        <p:spPr/>
        <p:txBody>
          <a:bodyPr/>
          <a:lstStyle/>
          <a:p>
            <a:fld id="{76BF0632-C55F-4CBD-A69F-A56EB61D13BB}" type="slidenum">
              <a:rPr lang="en-SG" smtClean="0"/>
              <a:t>‹#›</a:t>
            </a:fld>
            <a:endParaRPr lang="en-SG"/>
          </a:p>
        </p:txBody>
      </p:sp>
    </p:spTree>
    <p:extLst>
      <p:ext uri="{BB962C8B-B14F-4D97-AF65-F5344CB8AC3E}">
        <p14:creationId xmlns:p14="http://schemas.microsoft.com/office/powerpoint/2010/main" val="4027953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6B772-1C19-4E4F-9076-BCCE5B05AC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40D3B712-601F-44FA-BAE0-2EE8396035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B688847D-110A-4DD4-BF6D-4AF99206D2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AD143F-2E78-4C65-AF9D-8DE363958EFA}"/>
              </a:ext>
            </a:extLst>
          </p:cNvPr>
          <p:cNvSpPr>
            <a:spLocks noGrp="1"/>
          </p:cNvSpPr>
          <p:nvPr>
            <p:ph type="dt" sz="half" idx="10"/>
          </p:nvPr>
        </p:nvSpPr>
        <p:spPr/>
        <p:txBody>
          <a:bodyPr/>
          <a:lstStyle/>
          <a:p>
            <a:fld id="{C1BB68A9-FA02-4B0B-A50F-E4946DD71503}" type="datetimeFigureOut">
              <a:rPr lang="en-SG" smtClean="0"/>
              <a:t>29/10/2021</a:t>
            </a:fld>
            <a:endParaRPr lang="en-SG"/>
          </a:p>
        </p:txBody>
      </p:sp>
      <p:sp>
        <p:nvSpPr>
          <p:cNvPr id="6" name="Footer Placeholder 5">
            <a:extLst>
              <a:ext uri="{FF2B5EF4-FFF2-40B4-BE49-F238E27FC236}">
                <a16:creationId xmlns:a16="http://schemas.microsoft.com/office/drawing/2014/main" id="{15E4028D-55AA-4040-A408-F2B5C0FBD7A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9CF3842-163A-42C4-9630-0325F8384230}"/>
              </a:ext>
            </a:extLst>
          </p:cNvPr>
          <p:cNvSpPr>
            <a:spLocks noGrp="1"/>
          </p:cNvSpPr>
          <p:nvPr>
            <p:ph type="sldNum" sz="quarter" idx="12"/>
          </p:nvPr>
        </p:nvSpPr>
        <p:spPr/>
        <p:txBody>
          <a:bodyPr/>
          <a:lstStyle/>
          <a:p>
            <a:fld id="{76BF0632-C55F-4CBD-A69F-A56EB61D13BB}" type="slidenum">
              <a:rPr lang="en-SG" smtClean="0"/>
              <a:t>‹#›</a:t>
            </a:fld>
            <a:endParaRPr lang="en-SG"/>
          </a:p>
        </p:txBody>
      </p:sp>
    </p:spTree>
    <p:extLst>
      <p:ext uri="{BB962C8B-B14F-4D97-AF65-F5344CB8AC3E}">
        <p14:creationId xmlns:p14="http://schemas.microsoft.com/office/powerpoint/2010/main" val="4251376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8FD00-027A-4122-986B-ACA29CC81D2F}"/>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69AF6D2E-ADD7-458F-A1F7-8DE0560AE3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69F3940-5F6D-44B7-8816-903ED3687A0F}"/>
              </a:ext>
            </a:extLst>
          </p:cNvPr>
          <p:cNvSpPr>
            <a:spLocks noGrp="1"/>
          </p:cNvSpPr>
          <p:nvPr>
            <p:ph type="dt" sz="half" idx="10"/>
          </p:nvPr>
        </p:nvSpPr>
        <p:spPr/>
        <p:txBody>
          <a:bodyPr/>
          <a:lstStyle/>
          <a:p>
            <a:fld id="{C1BB68A9-FA02-4B0B-A50F-E4946DD71503}" type="datetimeFigureOut">
              <a:rPr lang="en-SG" smtClean="0"/>
              <a:t>29/10/2021</a:t>
            </a:fld>
            <a:endParaRPr lang="en-SG"/>
          </a:p>
        </p:txBody>
      </p:sp>
      <p:sp>
        <p:nvSpPr>
          <p:cNvPr id="5" name="Footer Placeholder 4">
            <a:extLst>
              <a:ext uri="{FF2B5EF4-FFF2-40B4-BE49-F238E27FC236}">
                <a16:creationId xmlns:a16="http://schemas.microsoft.com/office/drawing/2014/main" id="{89A035B3-FB48-4414-A59D-19D0C0FF7B60}"/>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4C4DEEE6-AFB5-4970-A9DE-8C490EF9AA6C}"/>
              </a:ext>
            </a:extLst>
          </p:cNvPr>
          <p:cNvSpPr>
            <a:spLocks noGrp="1"/>
          </p:cNvSpPr>
          <p:nvPr>
            <p:ph type="sldNum" sz="quarter" idx="12"/>
          </p:nvPr>
        </p:nvSpPr>
        <p:spPr/>
        <p:txBody>
          <a:bodyPr/>
          <a:lstStyle/>
          <a:p>
            <a:fld id="{76BF0632-C55F-4CBD-A69F-A56EB61D13BB}" type="slidenum">
              <a:rPr lang="en-SG" smtClean="0"/>
              <a:t>‹#›</a:t>
            </a:fld>
            <a:endParaRPr lang="en-SG"/>
          </a:p>
        </p:txBody>
      </p:sp>
    </p:spTree>
    <p:extLst>
      <p:ext uri="{BB962C8B-B14F-4D97-AF65-F5344CB8AC3E}">
        <p14:creationId xmlns:p14="http://schemas.microsoft.com/office/powerpoint/2010/main" val="1603625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85476B-C6FC-4233-8620-6E9E796789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7019DF2-F033-49F8-BC00-DF1AD9237B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F2D7503-DA28-475C-BB7F-A90C8C175014}"/>
              </a:ext>
            </a:extLst>
          </p:cNvPr>
          <p:cNvSpPr>
            <a:spLocks noGrp="1"/>
          </p:cNvSpPr>
          <p:nvPr>
            <p:ph type="dt" sz="half" idx="10"/>
          </p:nvPr>
        </p:nvSpPr>
        <p:spPr/>
        <p:txBody>
          <a:bodyPr/>
          <a:lstStyle/>
          <a:p>
            <a:fld id="{C1BB68A9-FA02-4B0B-A50F-E4946DD71503}" type="datetimeFigureOut">
              <a:rPr lang="en-SG" smtClean="0"/>
              <a:t>29/10/2021</a:t>
            </a:fld>
            <a:endParaRPr lang="en-SG"/>
          </a:p>
        </p:txBody>
      </p:sp>
      <p:sp>
        <p:nvSpPr>
          <p:cNvPr id="5" name="Footer Placeholder 4">
            <a:extLst>
              <a:ext uri="{FF2B5EF4-FFF2-40B4-BE49-F238E27FC236}">
                <a16:creationId xmlns:a16="http://schemas.microsoft.com/office/drawing/2014/main" id="{1A4AD2DC-9C9F-486C-9422-61FF14A343F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841819B-7362-4786-A18C-02C0DCB4E18D}"/>
              </a:ext>
            </a:extLst>
          </p:cNvPr>
          <p:cNvSpPr>
            <a:spLocks noGrp="1"/>
          </p:cNvSpPr>
          <p:nvPr>
            <p:ph type="sldNum" sz="quarter" idx="12"/>
          </p:nvPr>
        </p:nvSpPr>
        <p:spPr/>
        <p:txBody>
          <a:bodyPr/>
          <a:lstStyle/>
          <a:p>
            <a:fld id="{76BF0632-C55F-4CBD-A69F-A56EB61D13BB}" type="slidenum">
              <a:rPr lang="en-SG" smtClean="0"/>
              <a:t>‹#›</a:t>
            </a:fld>
            <a:endParaRPr lang="en-SG"/>
          </a:p>
        </p:txBody>
      </p:sp>
    </p:spTree>
    <p:extLst>
      <p:ext uri="{BB962C8B-B14F-4D97-AF65-F5344CB8AC3E}">
        <p14:creationId xmlns:p14="http://schemas.microsoft.com/office/powerpoint/2010/main" val="1946488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017837-84F2-428F-BC83-3B07D3A95F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91F6D030-D919-4676-B44D-66A2E26673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FD63F585-6FCA-4C1A-9103-872778AF11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BB68A9-FA02-4B0B-A50F-E4946DD71503}" type="datetimeFigureOut">
              <a:rPr lang="en-SG" smtClean="0"/>
              <a:t>29/10/2021</a:t>
            </a:fld>
            <a:endParaRPr lang="en-SG"/>
          </a:p>
        </p:txBody>
      </p:sp>
      <p:sp>
        <p:nvSpPr>
          <p:cNvPr id="5" name="Footer Placeholder 4">
            <a:extLst>
              <a:ext uri="{FF2B5EF4-FFF2-40B4-BE49-F238E27FC236}">
                <a16:creationId xmlns:a16="http://schemas.microsoft.com/office/drawing/2014/main" id="{0B6FC653-961E-4F96-98C4-57EE6C23D6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48EF1035-E1B0-4F62-B648-2D622AA581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BF0632-C55F-4CBD-A69F-A56EB61D13BB}" type="slidenum">
              <a:rPr lang="en-SG" smtClean="0"/>
              <a:t>‹#›</a:t>
            </a:fld>
            <a:endParaRPr lang="en-SG"/>
          </a:p>
        </p:txBody>
      </p:sp>
    </p:spTree>
    <p:extLst>
      <p:ext uri="{BB962C8B-B14F-4D97-AF65-F5344CB8AC3E}">
        <p14:creationId xmlns:p14="http://schemas.microsoft.com/office/powerpoint/2010/main" val="16115031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www.edureka.co/blog/selenium-chromedriver-and-geckodriver/" TargetMode="External"/><Relationship Id="rId2" Type="http://schemas.openxmlformats.org/officeDocument/2006/relationships/hyperlink" Target="https://www.edureka.co/blog/what-is-javascript/"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56F81-D636-4502-A6B2-E60AB624F379}"/>
              </a:ext>
            </a:extLst>
          </p:cNvPr>
          <p:cNvSpPr>
            <a:spLocks noGrp="1"/>
          </p:cNvSpPr>
          <p:nvPr>
            <p:ph type="ctrTitle"/>
          </p:nvPr>
        </p:nvSpPr>
        <p:spPr/>
        <p:txBody>
          <a:bodyPr>
            <a:normAutofit/>
          </a:bodyPr>
          <a:lstStyle/>
          <a:p>
            <a:r>
              <a:rPr lang="en-SG" sz="5400" dirty="0">
                <a:effectLst/>
                <a:latin typeface="Times New Roman" panose="02020603050405020304" pitchFamily="18" charset="0"/>
                <a:ea typeface="Calibri" panose="020F0502020204030204" pitchFamily="34" charset="0"/>
                <a:cs typeface="Times New Roman" panose="02020603050405020304" pitchFamily="18" charset="0"/>
              </a:rPr>
              <a:t>Selenium</a:t>
            </a:r>
            <a:endParaRPr lang="en-SG" sz="5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DB18D50-9054-49AA-9F01-68C710282863}"/>
              </a:ext>
            </a:extLst>
          </p:cNvPr>
          <p:cNvSpPr>
            <a:spLocks noGrp="1"/>
          </p:cNvSpPr>
          <p:nvPr>
            <p:ph type="subTitle" idx="1"/>
          </p:nvPr>
        </p:nvSpPr>
        <p:spPr/>
        <p:txBody>
          <a:bodyPr/>
          <a:lstStyle/>
          <a:p>
            <a:endParaRPr lang="en-SG"/>
          </a:p>
        </p:txBody>
      </p:sp>
    </p:spTree>
    <p:extLst>
      <p:ext uri="{BB962C8B-B14F-4D97-AF65-F5344CB8AC3E}">
        <p14:creationId xmlns:p14="http://schemas.microsoft.com/office/powerpoint/2010/main" val="761264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BF7739-26FD-48A7-BAFD-696D77A02476}"/>
              </a:ext>
            </a:extLst>
          </p:cNvPr>
          <p:cNvSpPr txBox="1"/>
          <p:nvPr/>
        </p:nvSpPr>
        <p:spPr>
          <a:xfrm>
            <a:off x="0" y="159391"/>
            <a:ext cx="12063369" cy="10064294"/>
          </a:xfrm>
          <a:prstGeom prst="rect">
            <a:avLst/>
          </a:prstGeom>
          <a:noFill/>
        </p:spPr>
        <p:txBody>
          <a:bodyPr wrap="square">
            <a:spAutoFit/>
          </a:bodyPr>
          <a:lstStyle/>
          <a:p>
            <a:pPr algn="l"/>
            <a:r>
              <a:rPr lang="en-US" sz="2400" b="1" i="0" dirty="0">
                <a:solidFill>
                  <a:srgbClr val="222222"/>
                </a:solidFill>
                <a:effectLst/>
                <a:latin typeface="Times New Roman" panose="02020603050405020304" pitchFamily="18" charset="0"/>
                <a:cs typeface="Times New Roman" panose="02020603050405020304" pitchFamily="18" charset="0"/>
              </a:rPr>
              <a:t>What is Selenium?</a:t>
            </a:r>
          </a:p>
          <a:p>
            <a:pPr algn="l"/>
            <a:r>
              <a:rPr lang="en-US" sz="2400" b="1" i="0" dirty="0">
                <a:solidFill>
                  <a:srgbClr val="222222"/>
                </a:solidFill>
                <a:effectLst/>
                <a:latin typeface="Times New Roman" panose="02020603050405020304" pitchFamily="18" charset="0"/>
                <a:cs typeface="Times New Roman" panose="02020603050405020304" pitchFamily="18" charset="0"/>
              </a:rPr>
              <a:t>Selenium</a:t>
            </a:r>
            <a:r>
              <a:rPr lang="en-US" sz="2400" b="0" i="0" dirty="0">
                <a:solidFill>
                  <a:srgbClr val="222222"/>
                </a:solidFill>
                <a:effectLst/>
                <a:latin typeface="Times New Roman" panose="02020603050405020304" pitchFamily="18" charset="0"/>
                <a:cs typeface="Times New Roman" panose="02020603050405020304" pitchFamily="18" charset="0"/>
              </a:rPr>
              <a:t> is a </a:t>
            </a:r>
            <a:r>
              <a:rPr lang="en-US" sz="2400" b="0" i="0" dirty="0">
                <a:solidFill>
                  <a:srgbClr val="FF0000"/>
                </a:solidFill>
                <a:effectLst/>
                <a:latin typeface="Times New Roman" panose="02020603050405020304" pitchFamily="18" charset="0"/>
                <a:cs typeface="Times New Roman" panose="02020603050405020304" pitchFamily="18" charset="0"/>
              </a:rPr>
              <a:t>free (open-source) functional automated testing framework </a:t>
            </a:r>
            <a:r>
              <a:rPr lang="en-US" sz="2400" b="0" i="0" dirty="0">
                <a:solidFill>
                  <a:srgbClr val="222222"/>
                </a:solidFill>
                <a:effectLst/>
                <a:latin typeface="Times New Roman" panose="02020603050405020304" pitchFamily="18" charset="0"/>
                <a:cs typeface="Times New Roman" panose="02020603050405020304" pitchFamily="18" charset="0"/>
              </a:rPr>
              <a:t>used to validate web applications across different browsers and platforms. </a:t>
            </a:r>
          </a:p>
          <a:p>
            <a:pPr algn="l"/>
            <a:endParaRPr lang="en-US" sz="2400" dirty="0">
              <a:solidFill>
                <a:srgbClr val="222222"/>
              </a:solidFill>
              <a:latin typeface="Times New Roman" panose="02020603050405020304" pitchFamily="18" charset="0"/>
              <a:cs typeface="Times New Roman" panose="02020603050405020304" pitchFamily="18" charset="0"/>
            </a:endParaRPr>
          </a:p>
          <a:p>
            <a:pPr algn="l"/>
            <a:r>
              <a:rPr lang="en-US" sz="2400" b="0" i="0" dirty="0">
                <a:solidFill>
                  <a:srgbClr val="222222"/>
                </a:solidFill>
                <a:effectLst/>
                <a:latin typeface="Times New Roman" panose="02020603050405020304" pitchFamily="18" charset="0"/>
                <a:cs typeface="Times New Roman" panose="02020603050405020304" pitchFamily="18" charset="0"/>
              </a:rPr>
              <a:t>You can use multiple programming languages like </a:t>
            </a:r>
            <a:r>
              <a:rPr lang="en-US" sz="2400" b="0" i="0" dirty="0">
                <a:solidFill>
                  <a:srgbClr val="FF0000"/>
                </a:solidFill>
                <a:effectLst/>
                <a:latin typeface="Times New Roman" panose="02020603050405020304" pitchFamily="18" charset="0"/>
                <a:cs typeface="Times New Roman" panose="02020603050405020304" pitchFamily="18" charset="0"/>
              </a:rPr>
              <a:t>Java, C#, Python </a:t>
            </a:r>
            <a:r>
              <a:rPr lang="en-US" sz="2400" b="0" i="0" dirty="0" err="1">
                <a:solidFill>
                  <a:srgbClr val="FF0000"/>
                </a:solidFill>
                <a:effectLst/>
                <a:latin typeface="Times New Roman" panose="02020603050405020304" pitchFamily="18" charset="0"/>
                <a:cs typeface="Times New Roman" panose="02020603050405020304" pitchFamily="18" charset="0"/>
              </a:rPr>
              <a:t>etc</a:t>
            </a:r>
            <a:r>
              <a:rPr lang="en-US" sz="2400" b="0" i="0" dirty="0">
                <a:solidFill>
                  <a:srgbClr val="FF0000"/>
                </a:solidFill>
                <a:effectLst/>
                <a:latin typeface="Times New Roman" panose="02020603050405020304" pitchFamily="18" charset="0"/>
                <a:cs typeface="Times New Roman" panose="02020603050405020304" pitchFamily="18" charset="0"/>
              </a:rPr>
              <a:t> </a:t>
            </a:r>
            <a:r>
              <a:rPr lang="en-US" sz="2400" b="0" i="0" dirty="0">
                <a:solidFill>
                  <a:srgbClr val="222222"/>
                </a:solidFill>
                <a:effectLst/>
                <a:latin typeface="Times New Roman" panose="02020603050405020304" pitchFamily="18" charset="0"/>
                <a:cs typeface="Times New Roman" panose="02020603050405020304" pitchFamily="18" charset="0"/>
              </a:rPr>
              <a:t>to create Selenium Test Scripts. </a:t>
            </a:r>
          </a:p>
          <a:p>
            <a:pPr algn="l"/>
            <a:endParaRPr lang="en-US" sz="2400" dirty="0">
              <a:solidFill>
                <a:srgbClr val="222222"/>
              </a:solidFill>
              <a:latin typeface="Times New Roman" panose="02020603050405020304" pitchFamily="18" charset="0"/>
              <a:cs typeface="Times New Roman" panose="02020603050405020304" pitchFamily="18" charset="0"/>
            </a:endParaRPr>
          </a:p>
          <a:p>
            <a:pPr algn="l"/>
            <a:r>
              <a:rPr lang="en-US" sz="2400" b="0" i="0" dirty="0">
                <a:solidFill>
                  <a:srgbClr val="222222"/>
                </a:solidFill>
                <a:effectLst/>
                <a:latin typeface="Times New Roman" panose="02020603050405020304" pitchFamily="18" charset="0"/>
                <a:cs typeface="Times New Roman" panose="02020603050405020304" pitchFamily="18" charset="0"/>
              </a:rPr>
              <a:t>Testing done using the Selenium testing tool is usually referred to as Selenium Testing.</a:t>
            </a:r>
          </a:p>
          <a:p>
            <a:pPr algn="l"/>
            <a:endParaRPr lang="en-US" sz="2400" b="0" i="0" dirty="0">
              <a:solidFill>
                <a:srgbClr val="222222"/>
              </a:solidFill>
              <a:effectLst/>
              <a:latin typeface="Times New Roman" panose="02020603050405020304" pitchFamily="18" charset="0"/>
              <a:cs typeface="Times New Roman" panose="02020603050405020304" pitchFamily="18" charset="0"/>
            </a:endParaRPr>
          </a:p>
          <a:p>
            <a:pPr algn="l"/>
            <a:r>
              <a:rPr lang="en-US" sz="2400" b="0" i="0" dirty="0">
                <a:solidFill>
                  <a:srgbClr val="222222"/>
                </a:solidFill>
                <a:effectLst/>
                <a:latin typeface="Times New Roman" panose="02020603050405020304" pitchFamily="18" charset="0"/>
                <a:cs typeface="Times New Roman" panose="02020603050405020304" pitchFamily="18" charset="0"/>
              </a:rPr>
              <a:t>Selenium Software is not just a single tool but </a:t>
            </a:r>
            <a:r>
              <a:rPr lang="en-US" sz="2400" b="0" i="0" dirty="0">
                <a:solidFill>
                  <a:srgbClr val="FF0000"/>
                </a:solidFill>
                <a:effectLst/>
                <a:latin typeface="Times New Roman" panose="02020603050405020304" pitchFamily="18" charset="0"/>
                <a:cs typeface="Times New Roman" panose="02020603050405020304" pitchFamily="18" charset="0"/>
              </a:rPr>
              <a:t>a suite of software</a:t>
            </a:r>
            <a:r>
              <a:rPr lang="en-US" sz="2400" b="0" i="0" dirty="0">
                <a:solidFill>
                  <a:srgbClr val="222222"/>
                </a:solidFill>
                <a:effectLst/>
                <a:latin typeface="Times New Roman" panose="02020603050405020304" pitchFamily="18" charset="0"/>
                <a:cs typeface="Times New Roman" panose="02020603050405020304" pitchFamily="18" charset="0"/>
              </a:rPr>
              <a:t>, each piece catering to different Selenium QA testing needs of an organization. </a:t>
            </a:r>
          </a:p>
          <a:p>
            <a:pPr algn="l"/>
            <a:endParaRPr lang="en-US" sz="2400" dirty="0">
              <a:solidFill>
                <a:srgbClr val="222222"/>
              </a:solidFill>
              <a:latin typeface="Times New Roman" panose="02020603050405020304" pitchFamily="18" charset="0"/>
              <a:cs typeface="Times New Roman" panose="02020603050405020304" pitchFamily="18" charset="0"/>
            </a:endParaRPr>
          </a:p>
          <a:p>
            <a:pPr algn="l"/>
            <a:r>
              <a:rPr lang="en-US" sz="2400" b="0" i="0" dirty="0">
                <a:solidFill>
                  <a:srgbClr val="222222"/>
                </a:solidFill>
                <a:effectLst/>
                <a:latin typeface="Times New Roman" panose="02020603050405020304" pitchFamily="18" charset="0"/>
                <a:cs typeface="Times New Roman" panose="02020603050405020304" pitchFamily="18" charset="0"/>
              </a:rPr>
              <a:t>Here is the list of tools</a:t>
            </a:r>
          </a:p>
          <a:p>
            <a:pPr algn="l"/>
            <a:endParaRPr lang="en-US" sz="2400" b="0" i="0" dirty="0">
              <a:solidFill>
                <a:srgbClr val="222222"/>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FF0000"/>
                </a:solidFill>
                <a:effectLst/>
                <a:latin typeface="Times New Roman" panose="02020603050405020304" pitchFamily="18" charset="0"/>
                <a:cs typeface="Times New Roman" panose="02020603050405020304" pitchFamily="18" charset="0"/>
              </a:rPr>
              <a:t>Selenium Integrated Development Environment (IDE)</a:t>
            </a:r>
          </a:p>
          <a:p>
            <a:pPr algn="l">
              <a:buFont typeface="Arial" panose="020B0604020202020204" pitchFamily="34" charset="0"/>
              <a:buChar char="•"/>
            </a:pPr>
            <a:r>
              <a:rPr lang="en-US" sz="2400" b="0" i="0" dirty="0">
                <a:solidFill>
                  <a:srgbClr val="FF0000"/>
                </a:solidFill>
                <a:effectLst/>
                <a:latin typeface="Times New Roman" panose="02020603050405020304" pitchFamily="18" charset="0"/>
                <a:cs typeface="Times New Roman" panose="02020603050405020304" pitchFamily="18" charset="0"/>
              </a:rPr>
              <a:t>Selenium Remote Control (RC)</a:t>
            </a:r>
          </a:p>
          <a:p>
            <a:pPr algn="l">
              <a:buFont typeface="Arial" panose="020B0604020202020204" pitchFamily="34" charset="0"/>
              <a:buChar char="•"/>
            </a:pPr>
            <a:r>
              <a:rPr lang="en-US" sz="2400" b="0" i="0" dirty="0">
                <a:solidFill>
                  <a:srgbClr val="FF0000"/>
                </a:solidFill>
                <a:effectLst/>
                <a:latin typeface="Times New Roman" panose="02020603050405020304" pitchFamily="18" charset="0"/>
                <a:cs typeface="Times New Roman" panose="02020603050405020304" pitchFamily="18" charset="0"/>
              </a:rPr>
              <a:t>WebDriver</a:t>
            </a:r>
          </a:p>
          <a:p>
            <a:pPr algn="l">
              <a:buFont typeface="Arial" panose="020B0604020202020204" pitchFamily="34" charset="0"/>
              <a:buChar char="•"/>
            </a:pPr>
            <a:r>
              <a:rPr lang="en-US" sz="2400" b="0" i="0" dirty="0">
                <a:solidFill>
                  <a:srgbClr val="FF0000"/>
                </a:solidFill>
                <a:effectLst/>
                <a:latin typeface="Times New Roman" panose="02020603050405020304" pitchFamily="18" charset="0"/>
                <a:cs typeface="Times New Roman" panose="02020603050405020304" pitchFamily="18" charset="0"/>
              </a:rPr>
              <a:t>Selenium Grid</a:t>
            </a:r>
          </a:p>
          <a:p>
            <a:pPr algn="l">
              <a:buFont typeface="Arial" panose="020B0604020202020204" pitchFamily="34" charset="0"/>
              <a:buChar char="•"/>
            </a:pPr>
            <a:endParaRPr lang="en-US" sz="2400" dirty="0">
              <a:solidFill>
                <a:srgbClr val="222222"/>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400" b="0" i="0" dirty="0">
              <a:solidFill>
                <a:srgbClr val="222222"/>
              </a:solidFill>
              <a:effectLst/>
              <a:latin typeface="Times New Roman" panose="02020603050405020304" pitchFamily="18" charset="0"/>
              <a:cs typeface="Times New Roman" panose="02020603050405020304" pitchFamily="18" charset="0"/>
            </a:endParaRPr>
          </a:p>
          <a:p>
            <a:pPr algn="l"/>
            <a:r>
              <a:rPr lang="en-US" sz="2400" b="0" i="0" dirty="0">
                <a:solidFill>
                  <a:srgbClr val="222222"/>
                </a:solidFill>
                <a:effectLst/>
                <a:latin typeface="Times New Roman" panose="02020603050405020304" pitchFamily="18" charset="0"/>
                <a:cs typeface="Times New Roman" panose="02020603050405020304" pitchFamily="18" charset="0"/>
              </a:rPr>
              <a:t>At the moment, Selenium RC and WebDriver are merged into a single framework to form </a:t>
            </a:r>
            <a:r>
              <a:rPr lang="en-US" sz="2400" b="1" i="0" dirty="0">
                <a:solidFill>
                  <a:srgbClr val="222222"/>
                </a:solidFill>
                <a:effectLst/>
                <a:latin typeface="Times New Roman" panose="02020603050405020304" pitchFamily="18" charset="0"/>
                <a:cs typeface="Times New Roman" panose="02020603050405020304" pitchFamily="18" charset="0"/>
              </a:rPr>
              <a:t>Selenium 2</a:t>
            </a:r>
            <a:r>
              <a:rPr lang="en-US" sz="2400" b="0" i="0" dirty="0">
                <a:solidFill>
                  <a:srgbClr val="222222"/>
                </a:solidFill>
                <a:effectLst/>
                <a:latin typeface="Times New Roman" panose="02020603050405020304" pitchFamily="18" charset="0"/>
                <a:cs typeface="Times New Roman" panose="02020603050405020304" pitchFamily="18" charset="0"/>
              </a:rPr>
              <a:t>. Selenium 1, by the way, refers to Selenium RC. </a:t>
            </a:r>
          </a:p>
          <a:p>
            <a:br>
              <a:rPr lang="en-US" sz="2400" dirty="0">
                <a:latin typeface="Times New Roman" panose="02020603050405020304" pitchFamily="18" charset="0"/>
                <a:cs typeface="Times New Roman" panose="02020603050405020304" pitchFamily="18" charset="0"/>
              </a:rPr>
            </a:br>
            <a:endParaRPr lang="en-US" sz="2400" b="0" i="0" dirty="0">
              <a:solidFill>
                <a:srgbClr val="222222"/>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400" dirty="0">
              <a:solidFill>
                <a:srgbClr val="222222"/>
              </a:solidFill>
              <a:latin typeface="Times New Roman" panose="02020603050405020304" pitchFamily="18" charset="0"/>
              <a:cs typeface="Times New Roman" panose="02020603050405020304" pitchFamily="18" charset="0"/>
            </a:endParaRPr>
          </a:p>
          <a:p>
            <a:pPr algn="l"/>
            <a:endParaRPr lang="en-US" sz="2400" b="0" i="0" dirty="0">
              <a:solidFill>
                <a:srgbClr val="22222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9877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ntroduction to Selenium">
            <a:extLst>
              <a:ext uri="{FF2B5EF4-FFF2-40B4-BE49-F238E27FC236}">
                <a16:creationId xmlns:a16="http://schemas.microsoft.com/office/drawing/2014/main" id="{5DF02CA2-3B54-42DE-87D0-E2E8821AA4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782" y="275559"/>
            <a:ext cx="11308359" cy="4774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079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9A7D18-DD8A-4433-B550-57D64DE297A0}"/>
              </a:ext>
            </a:extLst>
          </p:cNvPr>
          <p:cNvSpPr txBox="1"/>
          <p:nvPr/>
        </p:nvSpPr>
        <p:spPr>
          <a:xfrm>
            <a:off x="318052" y="278296"/>
            <a:ext cx="12032974" cy="6494085"/>
          </a:xfrm>
          <a:prstGeom prst="rect">
            <a:avLst/>
          </a:prstGeom>
          <a:noFill/>
        </p:spPr>
        <p:txBody>
          <a:bodyPr wrap="square">
            <a:spAutoFit/>
          </a:bodyPr>
          <a:lstStyle/>
          <a:p>
            <a:pPr algn="l"/>
            <a:r>
              <a:rPr lang="en-IN" sz="3200" b="1" i="0" dirty="0">
                <a:solidFill>
                  <a:srgbClr val="0000FF"/>
                </a:solidFill>
                <a:effectLst/>
                <a:latin typeface="Times New Roman" panose="02020603050405020304" pitchFamily="18" charset="0"/>
                <a:cs typeface="Times New Roman" panose="02020603050405020304" pitchFamily="18" charset="0"/>
              </a:rPr>
              <a:t>Note:</a:t>
            </a:r>
          </a:p>
          <a:p>
            <a:pPr algn="l"/>
            <a:endParaRPr lang="en-IN" sz="3200" b="0" i="0" dirty="0">
              <a:solidFill>
                <a:srgbClr val="000000"/>
              </a:solidFill>
              <a:effectLst/>
              <a:latin typeface="Times New Roman" panose="02020603050405020304" pitchFamily="18" charset="0"/>
              <a:cs typeface="Times New Roman" panose="02020603050405020304" pitchFamily="18" charset="0"/>
            </a:endParaRPr>
          </a:p>
          <a:p>
            <a:pPr marL="342900" indent="-342900" algn="l">
              <a:buAutoNum type="arabicPeriod"/>
            </a:pPr>
            <a:r>
              <a:rPr lang="en-IN" sz="3200" b="0" i="0" dirty="0">
                <a:solidFill>
                  <a:srgbClr val="000000"/>
                </a:solidFill>
                <a:effectLst/>
                <a:latin typeface="Times New Roman" panose="02020603050405020304" pitchFamily="18" charset="0"/>
                <a:cs typeface="Times New Roman" panose="02020603050405020304" pitchFamily="18" charset="0"/>
              </a:rPr>
              <a:t>Selenium 1 version consisted of the combination of Selenium IDE, Selenium Remote Control, and Selenium Grid.</a:t>
            </a:r>
          </a:p>
          <a:p>
            <a:pPr algn="l"/>
            <a:br>
              <a:rPr lang="en-IN" sz="3200" b="0" i="0" dirty="0">
                <a:solidFill>
                  <a:srgbClr val="000000"/>
                </a:solidFill>
                <a:effectLst/>
                <a:latin typeface="Times New Roman" panose="02020603050405020304" pitchFamily="18" charset="0"/>
                <a:cs typeface="Times New Roman" panose="02020603050405020304" pitchFamily="18" charset="0"/>
              </a:rPr>
            </a:br>
            <a:r>
              <a:rPr lang="en-IN" sz="3200" b="0" i="0" dirty="0">
                <a:solidFill>
                  <a:srgbClr val="7030A0"/>
                </a:solidFill>
                <a:effectLst/>
                <a:latin typeface="Times New Roman" panose="02020603050405020304" pitchFamily="18" charset="0"/>
                <a:cs typeface="Times New Roman" panose="02020603050405020304" pitchFamily="18" charset="0"/>
              </a:rPr>
              <a:t>2. Version of Selenium 2 = Selenium IDE + Selenium Remote Control + Selenium WebDriver + Selenium Grid</a:t>
            </a:r>
          </a:p>
          <a:p>
            <a:pPr algn="l"/>
            <a:br>
              <a:rPr lang="en-IN" sz="3200" b="0" i="0" dirty="0">
                <a:solidFill>
                  <a:srgbClr val="000000"/>
                </a:solidFill>
                <a:effectLst/>
                <a:latin typeface="Times New Roman" panose="02020603050405020304" pitchFamily="18" charset="0"/>
                <a:cs typeface="Times New Roman" panose="02020603050405020304" pitchFamily="18" charset="0"/>
              </a:rPr>
            </a:br>
            <a:r>
              <a:rPr lang="en-IN" sz="3200" b="0" i="0" dirty="0">
                <a:solidFill>
                  <a:srgbClr val="000000"/>
                </a:solidFill>
                <a:effectLst/>
                <a:latin typeface="Times New Roman" panose="02020603050405020304" pitchFamily="18" charset="0"/>
                <a:cs typeface="Times New Roman" panose="02020603050405020304" pitchFamily="18" charset="0"/>
              </a:rPr>
              <a:t>3. Since Selenium RC was completely removed from the version of Selenium 3, therefore, this version consisted of IDE, WebDriver, and Grid.</a:t>
            </a:r>
          </a:p>
          <a:p>
            <a:pPr algn="l"/>
            <a:br>
              <a:rPr lang="en-IN" sz="3200" b="0" i="0" dirty="0">
                <a:solidFill>
                  <a:srgbClr val="000000"/>
                </a:solidFill>
                <a:effectLst/>
                <a:latin typeface="Times New Roman" panose="02020603050405020304" pitchFamily="18" charset="0"/>
                <a:cs typeface="Times New Roman" panose="02020603050405020304" pitchFamily="18" charset="0"/>
              </a:rPr>
            </a:br>
            <a:r>
              <a:rPr lang="en-IN" sz="3200" b="0" i="0" dirty="0">
                <a:solidFill>
                  <a:srgbClr val="000000"/>
                </a:solidFill>
                <a:effectLst/>
                <a:latin typeface="Times New Roman" panose="02020603050405020304" pitchFamily="18" charset="0"/>
                <a:cs typeface="Times New Roman" panose="02020603050405020304" pitchFamily="18" charset="0"/>
              </a:rPr>
              <a:t>4</a:t>
            </a:r>
            <a:r>
              <a:rPr lang="en-IN" sz="3200" dirty="0">
                <a:solidFill>
                  <a:srgbClr val="7030A0"/>
                </a:solidFill>
                <a:latin typeface="Times New Roman" panose="02020603050405020304" pitchFamily="18" charset="0"/>
                <a:cs typeface="Times New Roman" panose="02020603050405020304" pitchFamily="18" charset="0"/>
              </a:rPr>
              <a:t>.</a:t>
            </a:r>
            <a:r>
              <a:rPr lang="en-IN" sz="3200" b="0" i="0" dirty="0">
                <a:solidFill>
                  <a:srgbClr val="7030A0"/>
                </a:solidFill>
                <a:effectLst/>
                <a:latin typeface="Times New Roman" panose="02020603050405020304" pitchFamily="18" charset="0"/>
                <a:cs typeface="Times New Roman" panose="02020603050405020304" pitchFamily="18" charset="0"/>
              </a:rPr>
              <a:t> Selenium 4.</a:t>
            </a:r>
          </a:p>
        </p:txBody>
      </p:sp>
    </p:spTree>
    <p:extLst>
      <p:ext uri="{BB962C8B-B14F-4D97-AF65-F5344CB8AC3E}">
        <p14:creationId xmlns:p14="http://schemas.microsoft.com/office/powerpoint/2010/main" val="2318524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Selenium components">
            <a:extLst>
              <a:ext uri="{FF2B5EF4-FFF2-40B4-BE49-F238E27FC236}">
                <a16:creationId xmlns:a16="http://schemas.microsoft.com/office/drawing/2014/main" id="{6B0884D3-9AB8-4CF7-96DE-FB3DEF31A9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591" y="-172278"/>
            <a:ext cx="11317357" cy="7030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4997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32D241-67D3-48A8-A372-BA147A29DA10}"/>
              </a:ext>
            </a:extLst>
          </p:cNvPr>
          <p:cNvSpPr txBox="1"/>
          <p:nvPr/>
        </p:nvSpPr>
        <p:spPr>
          <a:xfrm>
            <a:off x="145774" y="209725"/>
            <a:ext cx="11900452" cy="6740307"/>
          </a:xfrm>
          <a:prstGeom prst="rect">
            <a:avLst/>
          </a:prstGeom>
          <a:noFill/>
        </p:spPr>
        <p:txBody>
          <a:bodyPr wrap="square">
            <a:spAutoFit/>
          </a:bodyPr>
          <a:lstStyle/>
          <a:p>
            <a:r>
              <a:rPr lang="en-IN" sz="2400" b="1" i="0" dirty="0">
                <a:solidFill>
                  <a:srgbClr val="FF0000"/>
                </a:solidFill>
                <a:effectLst/>
                <a:latin typeface="Times New Roman" panose="02020603050405020304" pitchFamily="18" charset="0"/>
                <a:cs typeface="Times New Roman" panose="02020603050405020304" pitchFamily="18" charset="0"/>
              </a:rPr>
              <a:t>Selenium IDE</a:t>
            </a:r>
          </a:p>
          <a:p>
            <a:endParaRPr lang="en-US" sz="2400" b="0" i="0" dirty="0">
              <a:solidFill>
                <a:srgbClr val="222222"/>
              </a:solidFill>
              <a:effectLst/>
              <a:latin typeface="Times New Roman" panose="02020603050405020304" pitchFamily="18" charset="0"/>
              <a:cs typeface="Times New Roman" panose="02020603050405020304" pitchFamily="18" charset="0"/>
            </a:endParaRPr>
          </a:p>
          <a:p>
            <a:r>
              <a:rPr lang="en-US" sz="2400" dirty="0">
                <a:solidFill>
                  <a:srgbClr val="FF0000"/>
                </a:solidFill>
              </a:rPr>
              <a:t>Selenium Integrated Development Environment (IDE)</a:t>
            </a:r>
            <a:r>
              <a:rPr lang="en-US" sz="2400" dirty="0"/>
              <a:t> is the simplest framework in the Selenium suite and is the easiest one to learn.</a:t>
            </a:r>
          </a:p>
          <a:p>
            <a:r>
              <a:rPr lang="en-US" sz="2400" b="1" i="0" dirty="0">
                <a:solidFill>
                  <a:srgbClr val="292929"/>
                </a:solidFill>
                <a:effectLst/>
                <a:latin typeface="charter"/>
              </a:rPr>
              <a:t> </a:t>
            </a:r>
          </a:p>
          <a:p>
            <a:r>
              <a:rPr lang="en-US" sz="2400" b="1" i="0" dirty="0">
                <a:solidFill>
                  <a:srgbClr val="292929"/>
                </a:solidFill>
                <a:effectLst/>
                <a:latin typeface="charter"/>
              </a:rPr>
              <a:t>It supports Edit, </a:t>
            </a:r>
            <a:r>
              <a:rPr lang="en-US" sz="2400" b="1" i="0" dirty="0">
                <a:solidFill>
                  <a:srgbClr val="FF0000"/>
                </a:solidFill>
                <a:effectLst/>
                <a:latin typeface="charter"/>
              </a:rPr>
              <a:t>Record</a:t>
            </a:r>
            <a:r>
              <a:rPr lang="en-US" sz="2400" b="1" i="0" dirty="0">
                <a:solidFill>
                  <a:srgbClr val="292929"/>
                </a:solidFill>
                <a:effectLst/>
                <a:latin typeface="charter"/>
              </a:rPr>
              <a:t>, and debugging features, also named Record/Replay or Record/Playback. </a:t>
            </a:r>
          </a:p>
          <a:p>
            <a:endParaRPr lang="en-US" sz="2400" b="1" dirty="0">
              <a:solidFill>
                <a:srgbClr val="292929"/>
              </a:solidFill>
              <a:latin typeface="charter"/>
            </a:endParaRPr>
          </a:p>
          <a:p>
            <a:r>
              <a:rPr lang="en-US" sz="2400" b="1" i="0" dirty="0">
                <a:solidFill>
                  <a:srgbClr val="292929"/>
                </a:solidFill>
                <a:effectLst/>
                <a:latin typeface="charter"/>
              </a:rPr>
              <a:t>It is a Firefox </a:t>
            </a:r>
            <a:r>
              <a:rPr lang="en-US" sz="2400" b="1" i="0" dirty="0">
                <a:solidFill>
                  <a:srgbClr val="FF0000"/>
                </a:solidFill>
                <a:effectLst/>
                <a:latin typeface="charter"/>
              </a:rPr>
              <a:t>Add-on/Extension which works only in the old version of the Firefox browser</a:t>
            </a:r>
            <a:r>
              <a:rPr lang="en-US" sz="2400" b="1" i="0" dirty="0">
                <a:solidFill>
                  <a:srgbClr val="292929"/>
                </a:solidFill>
                <a:effectLst/>
                <a:latin typeface="charter"/>
              </a:rPr>
              <a:t>.</a:t>
            </a:r>
            <a:r>
              <a:rPr lang="en-US" sz="2400" b="0" i="0" dirty="0">
                <a:solidFill>
                  <a:srgbClr val="292929"/>
                </a:solidFill>
                <a:effectLst/>
                <a:latin typeface="charter"/>
              </a:rPr>
              <a:t> </a:t>
            </a:r>
          </a:p>
          <a:p>
            <a:endParaRPr lang="en-US" sz="2400" b="0" i="0" dirty="0">
              <a:solidFill>
                <a:srgbClr val="292929"/>
              </a:solidFill>
              <a:effectLst/>
              <a:latin typeface="charter"/>
            </a:endParaRPr>
          </a:p>
          <a:p>
            <a:r>
              <a:rPr lang="en-US" sz="2400" b="0" i="0" dirty="0">
                <a:solidFill>
                  <a:srgbClr val="292929"/>
                </a:solidFill>
                <a:effectLst/>
                <a:latin typeface="charter"/>
              </a:rPr>
              <a:t>Selenium- Integrated Development Environment is very user-friendly.</a:t>
            </a:r>
          </a:p>
          <a:p>
            <a:endParaRPr lang="en-US" sz="2400" dirty="0">
              <a:solidFill>
                <a:srgbClr val="292929"/>
              </a:solidFill>
              <a:latin typeface="charter"/>
              <a:cs typeface="Times New Roman" panose="02020603050405020304" pitchFamily="18" charset="0"/>
            </a:endParaRPr>
          </a:p>
          <a:p>
            <a:r>
              <a:rPr lang="en-US" sz="2400" dirty="0"/>
              <a:t>However, because of its simplicity, Selenium IDE should only be used as a prototyping tool. </a:t>
            </a:r>
          </a:p>
          <a:p>
            <a:r>
              <a:rPr lang="en-US" sz="2400" dirty="0"/>
              <a:t>Static pages we can execute, but not support dynamic pages.</a:t>
            </a:r>
          </a:p>
          <a:p>
            <a:endParaRPr lang="en-US" sz="2400" dirty="0"/>
          </a:p>
          <a:p>
            <a:r>
              <a:rPr lang="en-US" sz="2400" dirty="0"/>
              <a:t>If you want to create more advanced test cases, you will need to use either </a:t>
            </a:r>
            <a:r>
              <a:rPr lang="en-US" sz="2400" dirty="0">
                <a:solidFill>
                  <a:srgbClr val="FF0000"/>
                </a:solidFill>
              </a:rPr>
              <a:t>Selenium RC or WebDriver.</a:t>
            </a:r>
            <a:endParaRPr lang="en-US" sz="2400" dirty="0">
              <a:solidFill>
                <a:srgbClr val="FF0000"/>
              </a:solidFill>
              <a:latin typeface="charter"/>
            </a:endParaRPr>
          </a:p>
          <a:p>
            <a:endParaRPr lang="en-SG"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7164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95D5D5-5720-4C25-BAA9-67B1391803CD}"/>
              </a:ext>
            </a:extLst>
          </p:cNvPr>
          <p:cNvPicPr>
            <a:picLocks noChangeAspect="1"/>
          </p:cNvPicPr>
          <p:nvPr/>
        </p:nvPicPr>
        <p:blipFill>
          <a:blip r:embed="rId2"/>
          <a:stretch>
            <a:fillRect/>
          </a:stretch>
        </p:blipFill>
        <p:spPr>
          <a:xfrm>
            <a:off x="371475" y="590550"/>
            <a:ext cx="11449050" cy="5676900"/>
          </a:xfrm>
          <a:prstGeom prst="rect">
            <a:avLst/>
          </a:prstGeom>
        </p:spPr>
      </p:pic>
    </p:spTree>
    <p:extLst>
      <p:ext uri="{BB962C8B-B14F-4D97-AF65-F5344CB8AC3E}">
        <p14:creationId xmlns:p14="http://schemas.microsoft.com/office/powerpoint/2010/main" val="1241378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lenium IDE script 6">
            <a:extLst>
              <a:ext uri="{FF2B5EF4-FFF2-40B4-BE49-F238E27FC236}">
                <a16:creationId xmlns:a16="http://schemas.microsoft.com/office/drawing/2014/main" id="{AEFB4C44-BA0B-4496-AA53-B9A222D8AC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5774"/>
            <a:ext cx="12298017" cy="7084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4213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lenium IDE script 21">
            <a:extLst>
              <a:ext uri="{FF2B5EF4-FFF2-40B4-BE49-F238E27FC236}">
                <a16:creationId xmlns:a16="http://schemas.microsoft.com/office/drawing/2014/main" id="{B2D40ABB-EB69-463D-8A2D-291C0F5933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870" y="1900238"/>
            <a:ext cx="11012556" cy="456682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97A0D24-CFF9-43FD-8462-CFA31D52DD08}"/>
              </a:ext>
            </a:extLst>
          </p:cNvPr>
          <p:cNvSpPr txBox="1"/>
          <p:nvPr/>
        </p:nvSpPr>
        <p:spPr>
          <a:xfrm>
            <a:off x="1046922" y="755374"/>
            <a:ext cx="1976567" cy="369332"/>
          </a:xfrm>
          <a:prstGeom prst="rect">
            <a:avLst/>
          </a:prstGeom>
          <a:noFill/>
        </p:spPr>
        <p:txBody>
          <a:bodyPr wrap="none" rtlCol="0">
            <a:spAutoFit/>
          </a:bodyPr>
          <a:lstStyle/>
          <a:p>
            <a:r>
              <a:rPr lang="en-US" dirty="0"/>
              <a:t>We can play back…</a:t>
            </a:r>
            <a:endParaRPr lang="en-IN" dirty="0"/>
          </a:p>
        </p:txBody>
      </p:sp>
    </p:spTree>
    <p:extLst>
      <p:ext uri="{BB962C8B-B14F-4D97-AF65-F5344CB8AC3E}">
        <p14:creationId xmlns:p14="http://schemas.microsoft.com/office/powerpoint/2010/main" val="2459461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276CF1-A685-43D2-9C52-9D54E2CDBD18}"/>
              </a:ext>
            </a:extLst>
          </p:cNvPr>
          <p:cNvSpPr txBox="1"/>
          <p:nvPr/>
        </p:nvSpPr>
        <p:spPr>
          <a:xfrm>
            <a:off x="265043" y="318052"/>
            <a:ext cx="11529392" cy="3785652"/>
          </a:xfrm>
          <a:prstGeom prst="rect">
            <a:avLst/>
          </a:prstGeom>
          <a:noFill/>
        </p:spPr>
        <p:txBody>
          <a:bodyPr wrap="square">
            <a:spAutoFit/>
          </a:bodyPr>
          <a:lstStyle/>
          <a:p>
            <a:r>
              <a:rPr lang="en-US" sz="2400" b="1" i="0" dirty="0">
                <a:solidFill>
                  <a:srgbClr val="FF0000"/>
                </a:solidFill>
                <a:effectLst/>
                <a:latin typeface="Times New Roman" panose="02020603050405020304" pitchFamily="18" charset="0"/>
                <a:cs typeface="Times New Roman" panose="02020603050405020304" pitchFamily="18" charset="0"/>
              </a:rPr>
              <a:t>Selenium RC- </a:t>
            </a:r>
            <a:r>
              <a:rPr lang="en-US" sz="2400" b="0" i="0" dirty="0">
                <a:solidFill>
                  <a:srgbClr val="292929"/>
                </a:solidFill>
                <a:effectLst/>
                <a:latin typeface="Times New Roman" panose="02020603050405020304" pitchFamily="18" charset="0"/>
                <a:cs typeface="Times New Roman" panose="02020603050405020304" pitchFamily="18" charset="0"/>
              </a:rPr>
              <a:t>It was one of the first tools of Selenium Suite. Previously it was called as </a:t>
            </a:r>
            <a:r>
              <a:rPr lang="en-US" sz="2400" b="0" i="0" dirty="0">
                <a:solidFill>
                  <a:srgbClr val="FF0000"/>
                </a:solidFill>
                <a:effectLst/>
                <a:latin typeface="Times New Roman" panose="02020603050405020304" pitchFamily="18" charset="0"/>
                <a:cs typeface="Times New Roman" panose="02020603050405020304" pitchFamily="18" charset="0"/>
              </a:rPr>
              <a:t>JavaScript Executor. </a:t>
            </a:r>
          </a:p>
          <a:p>
            <a:endParaRPr lang="en-US" sz="2400" dirty="0">
              <a:solidFill>
                <a:srgbClr val="292929"/>
              </a:solidFill>
              <a:latin typeface="Times New Roman" panose="02020603050405020304" pitchFamily="18" charset="0"/>
              <a:cs typeface="Times New Roman" panose="02020603050405020304" pitchFamily="18" charset="0"/>
            </a:endParaRPr>
          </a:p>
          <a:p>
            <a:r>
              <a:rPr lang="en-US" sz="2400" b="0" i="0" dirty="0">
                <a:solidFill>
                  <a:srgbClr val="292929"/>
                </a:solidFill>
                <a:effectLst/>
                <a:latin typeface="Times New Roman" panose="02020603050405020304" pitchFamily="18" charset="0"/>
                <a:cs typeface="Times New Roman" panose="02020603050405020304" pitchFamily="18" charset="0"/>
              </a:rPr>
              <a:t>Remote Control was the tool that made Selenium prominent in the market. </a:t>
            </a:r>
            <a:r>
              <a:rPr lang="en-US" sz="2400" b="1" i="0" dirty="0">
                <a:solidFill>
                  <a:srgbClr val="FF0000"/>
                </a:solidFill>
                <a:effectLst/>
                <a:latin typeface="Times New Roman" panose="02020603050405020304" pitchFamily="18" charset="0"/>
                <a:cs typeface="Times New Roman" panose="02020603050405020304" pitchFamily="18" charset="0"/>
              </a:rPr>
              <a:t>It was one of the first tools which provided support for multiple programming languages (Perl, PHP, JAVA, Ruby, Python, and C#).</a:t>
            </a:r>
          </a:p>
          <a:p>
            <a:endParaRPr lang="en-US" sz="2400" b="1" dirty="0">
              <a:solidFill>
                <a:srgbClr val="292929"/>
              </a:solidFill>
              <a:latin typeface="Times New Roman" panose="02020603050405020304" pitchFamily="18" charset="0"/>
              <a:cs typeface="Times New Roman" panose="02020603050405020304" pitchFamily="18" charset="0"/>
            </a:endParaRPr>
          </a:p>
          <a:p>
            <a:r>
              <a:rPr lang="en-US" sz="2400" b="1" i="0" dirty="0">
                <a:solidFill>
                  <a:srgbClr val="292929"/>
                </a:solidFill>
                <a:effectLst/>
                <a:latin typeface="Times New Roman" panose="02020603050405020304" pitchFamily="18" charset="0"/>
                <a:cs typeface="Times New Roman" panose="02020603050405020304" pitchFamily="18" charset="0"/>
              </a:rPr>
              <a:t> </a:t>
            </a:r>
            <a:r>
              <a:rPr lang="en-US" sz="2400" b="0" i="0" dirty="0">
                <a:solidFill>
                  <a:srgbClr val="292929"/>
                </a:solidFill>
                <a:effectLst/>
                <a:latin typeface="Times New Roman" panose="02020603050405020304" pitchFamily="18" charset="0"/>
                <a:cs typeface="Times New Roman" panose="02020603050405020304" pitchFamily="18" charset="0"/>
              </a:rPr>
              <a:t>It also supported almost all the major names of Browsers like Google Chrome, Internet Explorer Mozilla Firefox, etc. </a:t>
            </a:r>
            <a:r>
              <a:rPr lang="en-US" sz="2400" b="0" i="0" dirty="0">
                <a:solidFill>
                  <a:srgbClr val="FF0000"/>
                </a:solidFill>
                <a:effectLst/>
                <a:latin typeface="Times New Roman" panose="02020603050405020304" pitchFamily="18" charset="0"/>
                <a:cs typeface="Times New Roman" panose="02020603050405020304" pitchFamily="18" charset="0"/>
              </a:rPr>
              <a:t>Selenium RC is also known as Selenium 1.</a:t>
            </a:r>
          </a:p>
          <a:p>
            <a:endParaRPr 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4598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B18E4C-2785-4DCD-864E-42676CDA0ADB}"/>
              </a:ext>
            </a:extLst>
          </p:cNvPr>
          <p:cNvPicPr>
            <a:picLocks noChangeAspect="1"/>
          </p:cNvPicPr>
          <p:nvPr/>
        </p:nvPicPr>
        <p:blipFill>
          <a:blip r:embed="rId2"/>
          <a:stretch>
            <a:fillRect/>
          </a:stretch>
        </p:blipFill>
        <p:spPr>
          <a:xfrm>
            <a:off x="452437" y="0"/>
            <a:ext cx="11287125" cy="6858000"/>
          </a:xfrm>
          <a:prstGeom prst="rect">
            <a:avLst/>
          </a:prstGeom>
        </p:spPr>
      </p:pic>
    </p:spTree>
    <p:extLst>
      <p:ext uri="{BB962C8B-B14F-4D97-AF65-F5344CB8AC3E}">
        <p14:creationId xmlns:p14="http://schemas.microsoft.com/office/powerpoint/2010/main" val="4168509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886463-C7F6-4802-8893-885F7DD4075B}"/>
              </a:ext>
            </a:extLst>
          </p:cNvPr>
          <p:cNvSpPr txBox="1"/>
          <p:nvPr/>
        </p:nvSpPr>
        <p:spPr>
          <a:xfrm>
            <a:off x="384312" y="172279"/>
            <a:ext cx="11807687" cy="5262979"/>
          </a:xfrm>
          <a:prstGeom prst="rect">
            <a:avLst/>
          </a:prstGeom>
          <a:noFill/>
        </p:spPr>
        <p:txBody>
          <a:bodyPr wrap="square">
            <a:spAutoFit/>
          </a:bodyPr>
          <a:lstStyle/>
          <a:p>
            <a:pPr algn="l"/>
            <a:r>
              <a:rPr lang="en-US" sz="2400" b="0" i="0" dirty="0">
                <a:solidFill>
                  <a:srgbClr val="FF0000"/>
                </a:solidFill>
                <a:effectLst/>
                <a:latin typeface="Times New Roman" panose="02020603050405020304" pitchFamily="18" charset="0"/>
                <a:cs typeface="Times New Roman" panose="02020603050405020304" pitchFamily="18" charset="0"/>
              </a:rPr>
              <a:t>Selenium WebDriver </a:t>
            </a:r>
            <a:r>
              <a:rPr lang="en-US" sz="2400" b="0" i="0" dirty="0">
                <a:solidFill>
                  <a:srgbClr val="333333"/>
                </a:solidFill>
                <a:effectLst/>
                <a:latin typeface="Times New Roman" panose="02020603050405020304" pitchFamily="18" charset="0"/>
                <a:cs typeface="Times New Roman" panose="02020603050405020304" pitchFamily="18" charset="0"/>
              </a:rPr>
              <a:t>is a web framework that </a:t>
            </a:r>
            <a:r>
              <a:rPr lang="en-US" sz="2400" b="0" i="0" dirty="0">
                <a:solidFill>
                  <a:srgbClr val="FF0000"/>
                </a:solidFill>
                <a:effectLst/>
                <a:latin typeface="Times New Roman" panose="02020603050405020304" pitchFamily="18" charset="0"/>
                <a:cs typeface="Times New Roman" panose="02020603050405020304" pitchFamily="18" charset="0"/>
              </a:rPr>
              <a:t>permits you to execute cross-browser tests</a:t>
            </a:r>
            <a:r>
              <a:rPr lang="en-US" sz="2400" b="0" i="0" dirty="0">
                <a:solidFill>
                  <a:srgbClr val="333333"/>
                </a:solidFill>
                <a:effectLst/>
                <a:latin typeface="Times New Roman" panose="02020603050405020304" pitchFamily="18" charset="0"/>
                <a:cs typeface="Times New Roman" panose="02020603050405020304" pitchFamily="18" charset="0"/>
              </a:rPr>
              <a:t>.</a:t>
            </a:r>
          </a:p>
          <a:p>
            <a:pPr algn="l"/>
            <a:endParaRPr lang="en-US" sz="2400" dirty="0">
              <a:solidFill>
                <a:srgbClr val="333333"/>
              </a:solidFill>
              <a:latin typeface="Times New Roman" panose="02020603050405020304" pitchFamily="18" charset="0"/>
              <a:cs typeface="Times New Roman" panose="02020603050405020304" pitchFamily="18" charset="0"/>
            </a:endParaRPr>
          </a:p>
          <a:p>
            <a:pPr algn="l"/>
            <a:r>
              <a:rPr lang="en-US" sz="2400" b="0" i="0" dirty="0">
                <a:solidFill>
                  <a:srgbClr val="333333"/>
                </a:solidFill>
                <a:effectLst/>
                <a:latin typeface="Times New Roman" panose="02020603050405020304" pitchFamily="18" charset="0"/>
                <a:cs typeface="Times New Roman" panose="02020603050405020304" pitchFamily="18" charset="0"/>
              </a:rPr>
              <a:t>This tool is used for </a:t>
            </a:r>
            <a:r>
              <a:rPr lang="en-US" sz="2400" b="0" i="0" dirty="0">
                <a:solidFill>
                  <a:srgbClr val="FF0000"/>
                </a:solidFill>
                <a:effectLst/>
                <a:latin typeface="Times New Roman" panose="02020603050405020304" pitchFamily="18" charset="0"/>
                <a:cs typeface="Times New Roman" panose="02020603050405020304" pitchFamily="18" charset="0"/>
              </a:rPr>
              <a:t>automating web-based application </a:t>
            </a:r>
            <a:r>
              <a:rPr lang="en-US" sz="2400" b="0" i="0" dirty="0">
                <a:solidFill>
                  <a:srgbClr val="333333"/>
                </a:solidFill>
                <a:effectLst/>
                <a:latin typeface="Times New Roman" panose="02020603050405020304" pitchFamily="18" charset="0"/>
                <a:cs typeface="Times New Roman" panose="02020603050405020304" pitchFamily="18" charset="0"/>
              </a:rPr>
              <a:t>testing to verify that it performs expectedly.</a:t>
            </a:r>
          </a:p>
          <a:p>
            <a:pPr algn="l"/>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r>
              <a:rPr lang="en-US" sz="2400" b="0" i="0" dirty="0">
                <a:solidFill>
                  <a:srgbClr val="333333"/>
                </a:solidFill>
                <a:effectLst/>
                <a:latin typeface="Times New Roman" panose="02020603050405020304" pitchFamily="18" charset="0"/>
                <a:cs typeface="Times New Roman" panose="02020603050405020304" pitchFamily="18" charset="0"/>
              </a:rPr>
              <a:t>Selenium WebDriver allows you to choose a programming language to create test scripts. As discussed earlier, it is </a:t>
            </a:r>
            <a:r>
              <a:rPr lang="en-US" sz="2400" b="0" i="0" dirty="0">
                <a:solidFill>
                  <a:srgbClr val="FF0000"/>
                </a:solidFill>
                <a:effectLst/>
                <a:latin typeface="Times New Roman" panose="02020603050405020304" pitchFamily="18" charset="0"/>
                <a:cs typeface="Times New Roman" panose="02020603050405020304" pitchFamily="18" charset="0"/>
              </a:rPr>
              <a:t>an advancement over Selenium RC </a:t>
            </a:r>
            <a:r>
              <a:rPr lang="en-US" sz="2400" b="0" i="0" dirty="0">
                <a:solidFill>
                  <a:srgbClr val="333333"/>
                </a:solidFill>
                <a:effectLst/>
                <a:latin typeface="Times New Roman" panose="02020603050405020304" pitchFamily="18" charset="0"/>
                <a:cs typeface="Times New Roman" panose="02020603050405020304" pitchFamily="18" charset="0"/>
              </a:rPr>
              <a:t>to overcome a few limitations. </a:t>
            </a:r>
          </a:p>
          <a:p>
            <a:pPr algn="l"/>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In WebDriver, test scripts can be developed using any of the supported programming languages and can be run directly in most modern web browsers.</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Languages supported by </a:t>
            </a:r>
            <a:r>
              <a:rPr lang="en-US" sz="2400" b="0" i="0" dirty="0">
                <a:solidFill>
                  <a:srgbClr val="FF0000"/>
                </a:solidFill>
                <a:effectLst/>
                <a:latin typeface="Times New Roman" panose="02020603050405020304" pitchFamily="18" charset="0"/>
                <a:cs typeface="Times New Roman" panose="02020603050405020304" pitchFamily="18" charset="0"/>
              </a:rPr>
              <a:t>WebDriver include C#, Java, Perl, PHP, Python and Ruby.</a:t>
            </a:r>
          </a:p>
          <a:p>
            <a:pPr algn="l"/>
            <a:endParaRPr lang="en-US" sz="2400" b="0" i="0" dirty="0">
              <a:solidFill>
                <a:srgbClr val="FF0000"/>
              </a:solidFill>
              <a:effectLst/>
              <a:latin typeface="Times New Roman" panose="02020603050405020304" pitchFamily="18" charset="0"/>
              <a:cs typeface="Times New Roman" panose="02020603050405020304" pitchFamily="18" charset="0"/>
            </a:endParaRPr>
          </a:p>
          <a:p>
            <a:pPr algn="l"/>
            <a:endParaRPr lang="en-US" sz="2400" b="0"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1477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3647"/>
            <a:ext cx="12192000" cy="6830704"/>
          </a:xfrm>
        </p:spPr>
        <p:txBody>
          <a:bodyPr>
            <a:normAutofit/>
          </a:bodyPr>
          <a:lstStyle/>
          <a:p>
            <a:pPr fontAlgn="base"/>
            <a:r>
              <a:rPr lang="en-IN" sz="3200" b="1" u="sng" dirty="0">
                <a:latin typeface="Times New Roman" panose="02020603050405020304" pitchFamily="18" charset="0"/>
                <a:cs typeface="Times New Roman" panose="02020603050405020304" pitchFamily="18" charset="0"/>
              </a:rPr>
              <a:t>Features of Selenium WebDriver:</a:t>
            </a:r>
          </a:p>
          <a:p>
            <a:pPr fontAlgn="base"/>
            <a:r>
              <a:rPr lang="en-IN" sz="2000" dirty="0">
                <a:latin typeface="Times New Roman" panose="02020603050405020304" pitchFamily="18" charset="0"/>
                <a:cs typeface="Times New Roman" panose="02020603050405020304" pitchFamily="18" charset="0"/>
              </a:rPr>
              <a:t>Open source</a:t>
            </a:r>
          </a:p>
          <a:p>
            <a:pPr fontAlgn="base"/>
            <a:r>
              <a:rPr lang="en-IN" sz="2000" dirty="0">
                <a:latin typeface="Times New Roman" panose="02020603050405020304" pitchFamily="18" charset="0"/>
                <a:cs typeface="Times New Roman" panose="02020603050405020304" pitchFamily="18" charset="0"/>
              </a:rPr>
              <a:t>Supports all the key vendors of the browser like Mozilla Firefox, Internet Explorer, Google Chrome, Safari, etc.</a:t>
            </a:r>
          </a:p>
          <a:p>
            <a:pPr fontAlgn="base"/>
            <a:r>
              <a:rPr lang="en-IN" sz="2000" dirty="0">
                <a:latin typeface="Times New Roman" panose="02020603050405020304" pitchFamily="18" charset="0"/>
                <a:cs typeface="Times New Roman" panose="02020603050405020304" pitchFamily="18" charset="0"/>
              </a:rPr>
              <a:t>Support Multiple languages like C#, JAVA, Ruby, Perl, Python, and PHP.</a:t>
            </a:r>
          </a:p>
          <a:p>
            <a:pPr fontAlgn="base"/>
            <a:r>
              <a:rPr lang="en-IN" sz="2000" dirty="0">
                <a:latin typeface="Times New Roman" panose="02020603050405020304" pitchFamily="18" charset="0"/>
                <a:cs typeface="Times New Roman" panose="02020603050405020304" pitchFamily="18" charset="0"/>
              </a:rPr>
              <a:t>Supports multiple platforms like Linux, Windows, MAC, etc.</a:t>
            </a:r>
          </a:p>
          <a:p>
            <a:pPr fontAlgn="base"/>
            <a:r>
              <a:rPr lang="en-IN" sz="2000" dirty="0">
                <a:latin typeface="Times New Roman" panose="02020603050405020304" pitchFamily="18" charset="0"/>
                <a:cs typeface="Times New Roman" panose="02020603050405020304" pitchFamily="18" charset="0"/>
              </a:rPr>
              <a:t>No middleman like Selenium RC server is required.</a:t>
            </a:r>
          </a:p>
          <a:p>
            <a:pPr fontAlgn="base"/>
            <a:r>
              <a:rPr lang="en-IN" sz="2000" dirty="0">
                <a:latin typeface="Times New Roman" panose="02020603050405020304" pitchFamily="18" charset="0"/>
                <a:cs typeface="Times New Roman" panose="02020603050405020304" pitchFamily="18" charset="0"/>
              </a:rPr>
              <a:t>Easy to integrate with Testing frameworks.</a:t>
            </a:r>
          </a:p>
          <a:p>
            <a:pPr fontAlgn="base"/>
            <a:r>
              <a:rPr lang="en-IN" sz="2000" dirty="0">
                <a:latin typeface="Times New Roman" panose="02020603050405020304" pitchFamily="18" charset="0"/>
                <a:cs typeface="Times New Roman" panose="02020603050405020304" pitchFamily="18" charset="0"/>
              </a:rPr>
              <a:t>Parallel Testing capabilities.</a:t>
            </a:r>
          </a:p>
          <a:p>
            <a:endParaRPr lang="en-IN" dirty="0"/>
          </a:p>
          <a:p>
            <a:endParaRPr lang="en-IN" dirty="0"/>
          </a:p>
        </p:txBody>
      </p:sp>
    </p:spTree>
    <p:extLst>
      <p:ext uri="{BB962C8B-B14F-4D97-AF65-F5344CB8AC3E}">
        <p14:creationId xmlns:p14="http://schemas.microsoft.com/office/powerpoint/2010/main" val="1253250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3631D2-7426-48C0-9BD4-467A063C3C34}"/>
              </a:ext>
            </a:extLst>
          </p:cNvPr>
          <p:cNvSpPr txBox="1"/>
          <p:nvPr/>
        </p:nvSpPr>
        <p:spPr>
          <a:xfrm>
            <a:off x="212035" y="119270"/>
            <a:ext cx="11979965" cy="4154984"/>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Selenium WebDriver performs </a:t>
            </a:r>
            <a:r>
              <a:rPr lang="en-US" sz="2400" b="0" i="0" dirty="0">
                <a:solidFill>
                  <a:srgbClr val="FF0000"/>
                </a:solidFill>
                <a:effectLst/>
                <a:latin typeface="Times New Roman" panose="02020603050405020304" pitchFamily="18" charset="0"/>
                <a:cs typeface="Times New Roman" panose="02020603050405020304" pitchFamily="18" charset="0"/>
              </a:rPr>
              <a:t>much faster as compared to Selenium RC because it makes direct calls to the web browsers.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Most commonly used WebDriver's include:</a:t>
            </a:r>
          </a:p>
          <a:p>
            <a:pPr algn="just"/>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Google Chrome Driver</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Internet Explorer Driver</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Opera Driver</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Safari Driver</a:t>
            </a:r>
          </a:p>
          <a:p>
            <a:pPr algn="l"/>
            <a:endParaRPr lang="en-US" sz="2400" b="0"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0944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954AAFF-0527-464F-AD24-4FA0F09135DC}"/>
              </a:ext>
            </a:extLst>
          </p:cNvPr>
          <p:cNvSpPr txBox="1"/>
          <p:nvPr/>
        </p:nvSpPr>
        <p:spPr>
          <a:xfrm>
            <a:off x="0" y="1"/>
            <a:ext cx="11820938" cy="1200329"/>
          </a:xfrm>
          <a:prstGeom prst="rect">
            <a:avLst/>
          </a:prstGeom>
          <a:noFill/>
        </p:spPr>
        <p:txBody>
          <a:bodyPr wrap="square">
            <a:spAutoFit/>
          </a:bodyPr>
          <a:lstStyle/>
          <a:p>
            <a:pPr algn="just"/>
            <a:r>
              <a:rPr lang="en-US" sz="2400" b="1" i="0" dirty="0">
                <a:solidFill>
                  <a:srgbClr val="FF0000"/>
                </a:solidFill>
                <a:effectLst/>
                <a:latin typeface="Times New Roman" panose="02020603050405020304" pitchFamily="18" charset="0"/>
                <a:cs typeface="Times New Roman" panose="02020603050405020304" pitchFamily="18" charset="0"/>
              </a:rPr>
              <a:t>Selenium WebDriver- Architecture</a:t>
            </a:r>
          </a:p>
          <a:p>
            <a:pPr algn="just"/>
            <a:r>
              <a:rPr lang="en-US" sz="2400" b="0" i="0" dirty="0">
                <a:solidFill>
                  <a:srgbClr val="333333"/>
                </a:solidFill>
                <a:effectLst/>
                <a:latin typeface="Times New Roman" panose="02020603050405020304" pitchFamily="18" charset="0"/>
                <a:cs typeface="Times New Roman" panose="02020603050405020304" pitchFamily="18" charset="0"/>
              </a:rPr>
              <a:t>Selenium WebDriver API provides communication facility between languages and browsers.</a:t>
            </a:r>
          </a:p>
          <a:p>
            <a:pPr algn="just"/>
            <a:r>
              <a:rPr lang="en-US" sz="2400" b="0" i="0" dirty="0">
                <a:solidFill>
                  <a:srgbClr val="333333"/>
                </a:solidFill>
                <a:effectLst/>
                <a:latin typeface="Times New Roman" panose="02020603050405020304" pitchFamily="18" charset="0"/>
                <a:cs typeface="Times New Roman" panose="02020603050405020304" pitchFamily="18" charset="0"/>
              </a:rPr>
              <a:t>The following image shows the architectural representation of Selenium WebDriver.</a:t>
            </a:r>
          </a:p>
        </p:txBody>
      </p:sp>
      <p:pic>
        <p:nvPicPr>
          <p:cNvPr id="3076" name="Picture 4" descr="Selenium WebDriver Architecture">
            <a:extLst>
              <a:ext uri="{FF2B5EF4-FFF2-40B4-BE49-F238E27FC236}">
                <a16:creationId xmlns:a16="http://schemas.microsoft.com/office/drawing/2014/main" id="{1BB79AEA-18EB-4756-B777-BBEAFC90D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330" y="1285875"/>
            <a:ext cx="11555896" cy="5313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8518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486ED0-B6B6-4F1E-B840-F8B916A38D7D}"/>
              </a:ext>
            </a:extLst>
          </p:cNvPr>
          <p:cNvSpPr txBox="1"/>
          <p:nvPr/>
        </p:nvSpPr>
        <p:spPr>
          <a:xfrm>
            <a:off x="0" y="119270"/>
            <a:ext cx="12192000" cy="4524315"/>
          </a:xfrm>
          <a:prstGeom prst="rect">
            <a:avLst/>
          </a:prstGeom>
          <a:noFill/>
        </p:spPr>
        <p:txBody>
          <a:bodyPr wrap="square">
            <a:spAutoFit/>
          </a:bodyPr>
          <a:lstStyle/>
          <a:p>
            <a:r>
              <a:rPr lang="en-US" sz="2400" b="0" i="0" dirty="0">
                <a:solidFill>
                  <a:srgbClr val="FF0000"/>
                </a:solidFill>
                <a:effectLst/>
                <a:latin typeface="Times New Roman" panose="02020603050405020304" pitchFamily="18" charset="0"/>
                <a:cs typeface="Times New Roman" panose="02020603050405020304" pitchFamily="18" charset="0"/>
              </a:rPr>
              <a:t>There are four basic components of WebDriver Architecture:</a:t>
            </a:r>
          </a:p>
          <a:p>
            <a:endParaRPr lang="en-US" sz="2400" dirty="0">
              <a:solidFill>
                <a:srgbClr val="333333"/>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400" b="0" i="0" dirty="0">
                <a:solidFill>
                  <a:srgbClr val="000000"/>
                </a:solidFill>
                <a:effectLst/>
                <a:latin typeface="Times New Roman" panose="02020603050405020304" pitchFamily="18" charset="0"/>
                <a:cs typeface="Times New Roman" panose="02020603050405020304" pitchFamily="18" charset="0"/>
              </a:rPr>
              <a:t>Selenium Language Bindings</a:t>
            </a:r>
          </a:p>
          <a:p>
            <a:pPr algn="just">
              <a:buFont typeface="Arial" panose="020B0604020202020204" pitchFamily="34" charset="0"/>
              <a:buChar char="•"/>
            </a:pPr>
            <a:r>
              <a:rPr lang="en-IN" sz="2400" b="0" i="0" dirty="0">
                <a:solidFill>
                  <a:srgbClr val="000000"/>
                </a:solidFill>
                <a:effectLst/>
                <a:latin typeface="Times New Roman" panose="02020603050405020304" pitchFamily="18" charset="0"/>
                <a:cs typeface="Times New Roman" panose="02020603050405020304" pitchFamily="18" charset="0"/>
              </a:rPr>
              <a:t>JSON Wire Protocol</a:t>
            </a:r>
          </a:p>
          <a:p>
            <a:pPr algn="just">
              <a:buFont typeface="Arial" panose="020B0604020202020204" pitchFamily="34" charset="0"/>
              <a:buChar char="•"/>
            </a:pPr>
            <a:r>
              <a:rPr lang="en-IN" sz="2400" b="0" i="0" dirty="0">
                <a:solidFill>
                  <a:srgbClr val="000000"/>
                </a:solidFill>
                <a:effectLst/>
                <a:latin typeface="Times New Roman" panose="02020603050405020304" pitchFamily="18" charset="0"/>
                <a:cs typeface="Times New Roman" panose="02020603050405020304" pitchFamily="18" charset="0"/>
              </a:rPr>
              <a:t>Browser Drivers</a:t>
            </a:r>
          </a:p>
          <a:p>
            <a:pPr algn="just">
              <a:buFont typeface="Arial" panose="020B0604020202020204" pitchFamily="34" charset="0"/>
              <a:buChar char="•"/>
            </a:pPr>
            <a:r>
              <a:rPr lang="en-IN" sz="2400" b="0" i="0" dirty="0">
                <a:solidFill>
                  <a:srgbClr val="000000"/>
                </a:solidFill>
                <a:effectLst/>
                <a:latin typeface="Times New Roman" panose="02020603050405020304" pitchFamily="18" charset="0"/>
                <a:cs typeface="Times New Roman" panose="02020603050405020304" pitchFamily="18" charset="0"/>
              </a:rPr>
              <a:t>Real Browsers</a:t>
            </a:r>
          </a:p>
          <a:p>
            <a:endParaRPr lang="en-IN" sz="2400" dirty="0">
              <a:latin typeface="Times New Roman" panose="02020603050405020304" pitchFamily="18" charset="0"/>
              <a:cs typeface="Times New Roman" panose="02020603050405020304" pitchFamily="18" charset="0"/>
            </a:endParaRPr>
          </a:p>
          <a:p>
            <a:pPr marL="457200" indent="-457200" algn="just">
              <a:buAutoNum type="arabicPeriod"/>
            </a:pPr>
            <a:r>
              <a:rPr lang="en-US" sz="2400" b="1" i="0" dirty="0">
                <a:solidFill>
                  <a:srgbClr val="4A4A4A"/>
                </a:solidFill>
                <a:effectLst/>
                <a:latin typeface="Open Sans" panose="020B0606030504020204" pitchFamily="34" charset="0"/>
              </a:rPr>
              <a:t>Selenium Client Libraries/Language Bindings</a:t>
            </a:r>
          </a:p>
          <a:p>
            <a:pPr algn="just"/>
            <a:endParaRPr lang="en-US" sz="2400" b="0" i="0" dirty="0">
              <a:solidFill>
                <a:srgbClr val="4A4A4A"/>
              </a:solidFill>
              <a:effectLst/>
              <a:latin typeface="Open Sans" panose="020B0606030504020204" pitchFamily="34" charset="0"/>
            </a:endParaRPr>
          </a:p>
          <a:p>
            <a:pPr algn="just"/>
            <a:r>
              <a:rPr lang="en-US" sz="2400" b="0" i="0" dirty="0">
                <a:solidFill>
                  <a:srgbClr val="4A4A4A"/>
                </a:solidFill>
                <a:effectLst/>
                <a:latin typeface="Open Sans" panose="020B0606030504020204" pitchFamily="34" charset="0"/>
              </a:rPr>
              <a:t>Selenium </a:t>
            </a:r>
            <a:r>
              <a:rPr lang="en-US" sz="2400" b="0" i="0" dirty="0">
                <a:solidFill>
                  <a:srgbClr val="FF0000"/>
                </a:solidFill>
                <a:effectLst/>
                <a:latin typeface="Open Sans" panose="020B0606030504020204" pitchFamily="34" charset="0"/>
              </a:rPr>
              <a:t>supports multiple libraries such as Java, Ruby, Python, etc. Selenium </a:t>
            </a:r>
            <a:r>
              <a:rPr lang="en-US" sz="2400" b="0" i="0" dirty="0">
                <a:solidFill>
                  <a:srgbClr val="4A4A4A"/>
                </a:solidFill>
                <a:effectLst/>
                <a:latin typeface="Open Sans" panose="020B0606030504020204" pitchFamily="34" charset="0"/>
              </a:rPr>
              <a:t>Developers have developed language bindings to allow Selenium to support multiple languages.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7415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95A345-F445-4B67-A2EB-5F35A869C96C}"/>
              </a:ext>
            </a:extLst>
          </p:cNvPr>
          <p:cNvSpPr txBox="1"/>
          <p:nvPr/>
        </p:nvSpPr>
        <p:spPr>
          <a:xfrm>
            <a:off x="112542" y="1"/>
            <a:ext cx="12079458" cy="8586966"/>
          </a:xfrm>
          <a:prstGeom prst="rect">
            <a:avLst/>
          </a:prstGeom>
          <a:noFill/>
        </p:spPr>
        <p:txBody>
          <a:bodyPr wrap="square">
            <a:spAutoFit/>
          </a:bodyPr>
          <a:lstStyle/>
          <a:p>
            <a:pPr algn="just"/>
            <a:r>
              <a:rPr lang="en-US" sz="2400" b="1" i="0" dirty="0">
                <a:solidFill>
                  <a:srgbClr val="4A4A4A"/>
                </a:solidFill>
                <a:effectLst/>
                <a:latin typeface="Times New Roman" panose="02020603050405020304" pitchFamily="18" charset="0"/>
                <a:cs typeface="Times New Roman" panose="02020603050405020304" pitchFamily="18" charset="0"/>
              </a:rPr>
              <a:t>2. JSON WIRE PROTOCOL Over HTTP Client</a:t>
            </a: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a:p>
            <a:pPr algn="just"/>
            <a:r>
              <a:rPr lang="en-US" sz="2400" b="0" i="0" dirty="0">
                <a:solidFill>
                  <a:srgbClr val="4A4A4A"/>
                </a:solidFill>
                <a:effectLst/>
                <a:latin typeface="Times New Roman" panose="02020603050405020304" pitchFamily="18" charset="0"/>
                <a:cs typeface="Times New Roman" panose="02020603050405020304" pitchFamily="18" charset="0"/>
              </a:rPr>
              <a:t>JSON stands for </a:t>
            </a:r>
            <a:r>
              <a:rPr lang="en-US" sz="2400" b="0" i="0" u="none" strike="noStrike" dirty="0">
                <a:solidFill>
                  <a:srgbClr val="FF0000"/>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JavaScript</a:t>
            </a:r>
            <a:r>
              <a:rPr lang="en-US" sz="2400" b="0" i="0" dirty="0">
                <a:solidFill>
                  <a:srgbClr val="FF0000"/>
                </a:solidFill>
                <a:effectLst/>
                <a:latin typeface="Times New Roman" panose="02020603050405020304" pitchFamily="18" charset="0"/>
                <a:cs typeface="Times New Roman" panose="02020603050405020304" pitchFamily="18" charset="0"/>
              </a:rPr>
              <a:t> Object Notation</a:t>
            </a:r>
            <a:r>
              <a:rPr lang="en-US" sz="2400" b="0" i="0" dirty="0">
                <a:solidFill>
                  <a:srgbClr val="4A4A4A"/>
                </a:solidFill>
                <a:effectLst/>
                <a:latin typeface="Times New Roman" panose="02020603050405020304" pitchFamily="18" charset="0"/>
                <a:cs typeface="Times New Roman" panose="02020603050405020304" pitchFamily="18" charset="0"/>
              </a:rPr>
              <a:t>. It is used to transfer data between a server and a client on the web. JSON Wire Protocol is a REST API that transfers the information between HTTP server. Each </a:t>
            </a:r>
            <a:r>
              <a:rPr lang="en-US" sz="2400" b="0" i="0" dirty="0" err="1">
                <a:solidFill>
                  <a:srgbClr val="4A4A4A"/>
                </a:solidFill>
                <a:effectLst/>
                <a:latin typeface="Times New Roman" panose="02020603050405020304" pitchFamily="18" charset="0"/>
                <a:cs typeface="Times New Roman" panose="02020603050405020304" pitchFamily="18" charset="0"/>
              </a:rPr>
              <a:t>BrowserDriver</a:t>
            </a:r>
            <a:r>
              <a:rPr lang="en-US" sz="2400" b="0" i="0" dirty="0">
                <a:solidFill>
                  <a:srgbClr val="4A4A4A"/>
                </a:solidFill>
                <a:effectLst/>
                <a:latin typeface="Times New Roman" panose="02020603050405020304" pitchFamily="18" charset="0"/>
                <a:cs typeface="Times New Roman" panose="02020603050405020304" pitchFamily="18" charset="0"/>
              </a:rPr>
              <a:t> (such as </a:t>
            </a:r>
            <a:r>
              <a:rPr lang="en-US" sz="2400" b="0" i="0" dirty="0" err="1">
                <a:solidFill>
                  <a:srgbClr val="4A4A4A"/>
                </a:solidFill>
                <a:effectLst/>
                <a:latin typeface="Times New Roman" panose="02020603050405020304" pitchFamily="18" charset="0"/>
                <a:cs typeface="Times New Roman" panose="02020603050405020304" pitchFamily="18" charset="0"/>
              </a:rPr>
              <a:t>FirefoxDriver</a:t>
            </a:r>
            <a:r>
              <a:rPr lang="en-US" sz="2400" b="0" i="0" dirty="0">
                <a:solidFill>
                  <a:srgbClr val="4A4A4A"/>
                </a:solidFill>
                <a:effectLst/>
                <a:latin typeface="Times New Roman" panose="02020603050405020304" pitchFamily="18" charset="0"/>
                <a:cs typeface="Times New Roman" panose="02020603050405020304" pitchFamily="18" charset="0"/>
              </a:rPr>
              <a:t>, </a:t>
            </a:r>
            <a:r>
              <a:rPr lang="en-US" sz="2400" b="0" i="0" u="none" strike="noStrike" dirty="0" err="1">
                <a:solidFill>
                  <a:srgbClr val="007BFF"/>
                </a:solidFill>
                <a:effectLst/>
                <a:latin typeface="Times New Roman" panose="02020603050405020304" pitchFamily="18" charset="0"/>
                <a:cs typeface="Times New Roman" panose="02020603050405020304" pitchFamily="18" charset="0"/>
                <a:hlinkClick r:id="rId3"/>
              </a:rPr>
              <a:t>ChromeDriver</a:t>
            </a:r>
            <a:r>
              <a:rPr lang="en-US" sz="2400" b="0" i="0" dirty="0">
                <a:solidFill>
                  <a:srgbClr val="4A4A4A"/>
                </a:solidFill>
                <a:effectLst/>
                <a:latin typeface="Times New Roman" panose="02020603050405020304" pitchFamily="18" charset="0"/>
                <a:cs typeface="Times New Roman" panose="02020603050405020304" pitchFamily="18" charset="0"/>
              </a:rPr>
              <a:t>, etc.) has its own HTTP server.</a:t>
            </a: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a:p>
            <a:pPr algn="l"/>
            <a:r>
              <a:rPr lang="en-US" sz="2400" b="0" i="0" dirty="0">
                <a:solidFill>
                  <a:srgbClr val="0070C0"/>
                </a:solidFill>
                <a:effectLst/>
                <a:latin typeface="arial" panose="020B0604020202020204" pitchFamily="34" charset="0"/>
              </a:rPr>
              <a:t>How does JSON wire protocol work?</a:t>
            </a:r>
          </a:p>
          <a:p>
            <a:pPr algn="l"/>
            <a:r>
              <a:rPr lang="en-US" sz="2400" b="0" i="0" dirty="0">
                <a:solidFill>
                  <a:srgbClr val="0070C0"/>
                </a:solidFill>
                <a:effectLst/>
                <a:latin typeface="arial" panose="020B0604020202020204" pitchFamily="34" charset="0"/>
              </a:rPr>
              <a:t>Json Wire Protocol: A client </a:t>
            </a:r>
            <a:r>
              <a:rPr lang="en-US" sz="2400" b="1" i="0" dirty="0">
                <a:solidFill>
                  <a:srgbClr val="0070C0"/>
                </a:solidFill>
                <a:effectLst/>
                <a:latin typeface="arial" panose="020B0604020202020204" pitchFamily="34" charset="0"/>
              </a:rPr>
              <a:t>has an object that has to be sent to a server</a:t>
            </a:r>
            <a:r>
              <a:rPr lang="en-US" sz="2400" b="0" i="0" dirty="0">
                <a:solidFill>
                  <a:srgbClr val="0070C0"/>
                </a:solidFill>
                <a:effectLst/>
                <a:latin typeface="arial" panose="020B0604020202020204" pitchFamily="34" charset="0"/>
              </a:rPr>
              <a:t>. The client converts this object into a JSON object and sends it to the server. The server parses the JSON object and converts it back to object for use. The server converts the response object into a JSON object and sends it back to the client.</a:t>
            </a: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a:p>
            <a:pPr algn="just"/>
            <a:r>
              <a:rPr lang="en-US" sz="2400" b="1" i="0" dirty="0">
                <a:solidFill>
                  <a:srgbClr val="4A4A4A"/>
                </a:solidFill>
                <a:effectLst/>
                <a:latin typeface="Times New Roman" panose="02020603050405020304" pitchFamily="18" charset="0"/>
                <a:cs typeface="Times New Roman" panose="02020603050405020304" pitchFamily="18" charset="0"/>
              </a:rPr>
              <a:t>3. Browser Drivers</a:t>
            </a:r>
            <a:endParaRPr lang="en-US" sz="2400" b="0" i="0" dirty="0">
              <a:solidFill>
                <a:srgbClr val="4A4A4A"/>
              </a:solidFill>
              <a:effectLst/>
              <a:latin typeface="Times New Roman" panose="02020603050405020304" pitchFamily="18" charset="0"/>
              <a:cs typeface="Times New Roman" panose="02020603050405020304" pitchFamily="18" charset="0"/>
            </a:endParaRPr>
          </a:p>
          <a:p>
            <a:pPr algn="just"/>
            <a:r>
              <a:rPr lang="en-US" sz="2400" b="0" i="0" dirty="0">
                <a:solidFill>
                  <a:srgbClr val="4A4A4A"/>
                </a:solidFill>
                <a:effectLst/>
                <a:latin typeface="Times New Roman" panose="02020603050405020304" pitchFamily="18" charset="0"/>
                <a:cs typeface="Times New Roman" panose="02020603050405020304" pitchFamily="18" charset="0"/>
              </a:rPr>
              <a:t>Each browser contains a separate browser driver. Browser drivers communicate with the respective browser without revealing the internal logic of the browser’s functionality. When a browser driver has received any command then that command will be executed on the respective browser and the response will go back in the form of an HTTP response.</a:t>
            </a:r>
          </a:p>
          <a:p>
            <a:pPr algn="just"/>
            <a:endParaRPr lang="en-US" sz="2400" dirty="0">
              <a:solidFill>
                <a:srgbClr val="4A4A4A"/>
              </a:solidFill>
              <a:latin typeface="Times New Roman" panose="02020603050405020304" pitchFamily="18" charset="0"/>
              <a:cs typeface="Times New Roman" panose="02020603050405020304" pitchFamily="18" charset="0"/>
            </a:endParaRPr>
          </a:p>
          <a:p>
            <a:pPr algn="just"/>
            <a:r>
              <a:rPr lang="en-US" sz="2400" b="1" i="0" dirty="0">
                <a:solidFill>
                  <a:srgbClr val="4A4A4A"/>
                </a:solidFill>
                <a:effectLst/>
                <a:latin typeface="Times New Roman" panose="02020603050405020304" pitchFamily="18" charset="0"/>
                <a:cs typeface="Times New Roman" panose="02020603050405020304" pitchFamily="18" charset="0"/>
              </a:rPr>
              <a:t>4. Browsers</a:t>
            </a:r>
            <a:endParaRPr lang="en-US" sz="2400" b="0" i="0" dirty="0">
              <a:solidFill>
                <a:srgbClr val="4A4A4A"/>
              </a:solidFill>
              <a:effectLst/>
              <a:latin typeface="Times New Roman" panose="02020603050405020304" pitchFamily="18" charset="0"/>
              <a:cs typeface="Times New Roman" panose="02020603050405020304" pitchFamily="18" charset="0"/>
            </a:endParaRPr>
          </a:p>
          <a:p>
            <a:pPr algn="just"/>
            <a:r>
              <a:rPr lang="en-US" sz="2400" b="0" i="0" dirty="0">
                <a:solidFill>
                  <a:srgbClr val="4A4A4A"/>
                </a:solidFill>
                <a:effectLst/>
                <a:latin typeface="Times New Roman" panose="02020603050405020304" pitchFamily="18" charset="0"/>
                <a:cs typeface="Times New Roman" panose="02020603050405020304" pitchFamily="18" charset="0"/>
              </a:rPr>
              <a:t>Selenium supports multiple browsers such as Firefox, Chrome, IE, Safari, etc.</a:t>
            </a: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4591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F352ADC-DCBC-4FE0-88C0-FE99378552BA}"/>
              </a:ext>
            </a:extLst>
          </p:cNvPr>
          <p:cNvPicPr>
            <a:picLocks noChangeAspect="1"/>
          </p:cNvPicPr>
          <p:nvPr/>
        </p:nvPicPr>
        <p:blipFill>
          <a:blip r:embed="rId2"/>
          <a:stretch>
            <a:fillRect/>
          </a:stretch>
        </p:blipFill>
        <p:spPr>
          <a:xfrm>
            <a:off x="302638" y="198783"/>
            <a:ext cx="11465291" cy="4290805"/>
          </a:xfrm>
          <a:prstGeom prst="rect">
            <a:avLst/>
          </a:prstGeom>
        </p:spPr>
      </p:pic>
    </p:spTree>
    <p:extLst>
      <p:ext uri="{BB962C8B-B14F-4D97-AF65-F5344CB8AC3E}">
        <p14:creationId xmlns:p14="http://schemas.microsoft.com/office/powerpoint/2010/main" val="1917013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1A566E4-82ED-4678-874E-BD340D792B88}"/>
              </a:ext>
            </a:extLst>
          </p:cNvPr>
          <p:cNvPicPr>
            <a:picLocks noChangeAspect="1"/>
          </p:cNvPicPr>
          <p:nvPr/>
        </p:nvPicPr>
        <p:blipFill>
          <a:blip r:embed="rId2"/>
          <a:stretch>
            <a:fillRect/>
          </a:stretch>
        </p:blipFill>
        <p:spPr>
          <a:xfrm>
            <a:off x="1249475" y="450575"/>
            <a:ext cx="9957102" cy="5101879"/>
          </a:xfrm>
          <a:prstGeom prst="rect">
            <a:avLst/>
          </a:prstGeom>
        </p:spPr>
      </p:pic>
    </p:spTree>
    <p:extLst>
      <p:ext uri="{BB962C8B-B14F-4D97-AF65-F5344CB8AC3E}">
        <p14:creationId xmlns:p14="http://schemas.microsoft.com/office/powerpoint/2010/main" val="1363254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fontAlgn="base">
              <a:buNone/>
            </a:pPr>
            <a:r>
              <a:rPr lang="en-IN" sz="4000" u="sng" dirty="0">
                <a:latin typeface="Times New Roman" panose="02020603050405020304" pitchFamily="18" charset="0"/>
                <a:cs typeface="Times New Roman" panose="02020603050405020304" pitchFamily="18" charset="0"/>
              </a:rPr>
              <a:t>4.</a:t>
            </a:r>
            <a:r>
              <a:rPr lang="en-IN" sz="4000" b="1" u="sng" dirty="0">
                <a:latin typeface="Times New Roman" panose="02020603050405020304" pitchFamily="18" charset="0"/>
                <a:cs typeface="Times New Roman" panose="02020603050405020304" pitchFamily="18" charset="0"/>
              </a:rPr>
              <a:t> Selenium Grid</a:t>
            </a:r>
            <a:endParaRPr lang="en-IN" sz="4000" u="sng" dirty="0">
              <a:latin typeface="Times New Roman" panose="02020603050405020304" pitchFamily="18" charset="0"/>
              <a:cs typeface="Times New Roman" panose="02020603050405020304" pitchFamily="18" charset="0"/>
            </a:endParaRPr>
          </a:p>
          <a:p>
            <a:pPr algn="just" fontAlgn="base"/>
            <a:r>
              <a:rPr lang="en-IN" sz="2900" dirty="0">
                <a:latin typeface="Times New Roman" panose="02020603050405020304" pitchFamily="18" charset="0"/>
                <a:cs typeface="Times New Roman" panose="02020603050405020304" pitchFamily="18" charset="0"/>
              </a:rPr>
              <a:t>It is the </a:t>
            </a:r>
            <a:r>
              <a:rPr lang="en-IN" sz="2900" dirty="0">
                <a:solidFill>
                  <a:srgbClr val="FF0000"/>
                </a:solidFill>
                <a:latin typeface="Times New Roman" panose="02020603050405020304" pitchFamily="18" charset="0"/>
                <a:cs typeface="Times New Roman" panose="02020603050405020304" pitchFamily="18" charset="0"/>
              </a:rPr>
              <a:t>last component of the selenium suite </a:t>
            </a:r>
            <a:r>
              <a:rPr lang="en-IN" sz="2900" dirty="0">
                <a:latin typeface="Times New Roman" panose="02020603050405020304" pitchFamily="18" charset="0"/>
                <a:cs typeface="Times New Roman" panose="02020603050405020304" pitchFamily="18" charset="0"/>
              </a:rPr>
              <a:t>and is </a:t>
            </a:r>
            <a:r>
              <a:rPr lang="en-IN" sz="2900" dirty="0">
                <a:solidFill>
                  <a:srgbClr val="FF0000"/>
                </a:solidFill>
                <a:latin typeface="Times New Roman" panose="02020603050405020304" pitchFamily="18" charset="0"/>
                <a:cs typeface="Times New Roman" panose="02020603050405020304" pitchFamily="18" charset="0"/>
              </a:rPr>
              <a:t>used for parallel testing or distributive testing </a:t>
            </a:r>
            <a:r>
              <a:rPr lang="en-IN" sz="2900" dirty="0">
                <a:latin typeface="Times New Roman" panose="02020603050405020304" pitchFamily="18" charset="0"/>
                <a:cs typeface="Times New Roman" panose="02020603050405020304" pitchFamily="18" charset="0"/>
              </a:rPr>
              <a:t>or as well as </a:t>
            </a:r>
            <a:r>
              <a:rPr lang="en-IN" sz="2900" dirty="0">
                <a:solidFill>
                  <a:srgbClr val="FF0000"/>
                </a:solidFill>
                <a:latin typeface="Times New Roman" panose="02020603050405020304" pitchFamily="18" charset="0"/>
                <a:cs typeface="Times New Roman" panose="02020603050405020304" pitchFamily="18" charset="0"/>
              </a:rPr>
              <a:t>remote execution.</a:t>
            </a:r>
          </a:p>
          <a:p>
            <a:pPr marL="0" indent="0" algn="just" fontAlgn="base">
              <a:buNone/>
            </a:pPr>
            <a:endParaRPr lang="en-IN" sz="2900" dirty="0">
              <a:latin typeface="Times New Roman" panose="02020603050405020304" pitchFamily="18" charset="0"/>
              <a:cs typeface="Times New Roman" panose="02020603050405020304" pitchFamily="18" charset="0"/>
            </a:endParaRPr>
          </a:p>
          <a:p>
            <a:pPr algn="just" fontAlgn="base"/>
            <a:r>
              <a:rPr lang="en-IN" sz="2900" dirty="0">
                <a:latin typeface="Times New Roman" panose="02020603050405020304" pitchFamily="18" charset="0"/>
                <a:cs typeface="Times New Roman" panose="02020603050405020304" pitchFamily="18" charset="0"/>
              </a:rPr>
              <a:t>It allows </a:t>
            </a:r>
            <a:r>
              <a:rPr lang="en-IN" sz="2900" dirty="0">
                <a:solidFill>
                  <a:srgbClr val="FF0000"/>
                </a:solidFill>
                <a:latin typeface="Times New Roman" panose="02020603050405020304" pitchFamily="18" charset="0"/>
                <a:cs typeface="Times New Roman" panose="02020603050405020304" pitchFamily="18" charset="0"/>
              </a:rPr>
              <a:t>us to execute test scripts on different machines at same time.</a:t>
            </a:r>
          </a:p>
          <a:p>
            <a:pPr marL="0" indent="0" algn="just" fontAlgn="base">
              <a:buNone/>
            </a:pPr>
            <a:endParaRPr lang="en-IN" sz="2900" dirty="0">
              <a:latin typeface="Times New Roman" panose="02020603050405020304" pitchFamily="18" charset="0"/>
              <a:cs typeface="Times New Roman" panose="02020603050405020304" pitchFamily="18" charset="0"/>
            </a:endParaRPr>
          </a:p>
          <a:p>
            <a:pPr algn="just" fontAlgn="base"/>
            <a:r>
              <a:rPr lang="en-IN" sz="2900" dirty="0">
                <a:latin typeface="Times New Roman" panose="02020603050405020304" pitchFamily="18" charset="0"/>
                <a:cs typeface="Times New Roman" panose="02020603050405020304" pitchFamily="18" charset="0"/>
              </a:rPr>
              <a:t>Selenium Grid allows </a:t>
            </a:r>
            <a:r>
              <a:rPr lang="en-IN" sz="2900" dirty="0">
                <a:solidFill>
                  <a:srgbClr val="FF0000"/>
                </a:solidFill>
                <a:latin typeface="Times New Roman" panose="02020603050405020304" pitchFamily="18" charset="0"/>
                <a:cs typeface="Times New Roman" panose="02020603050405020304" pitchFamily="18" charset="0"/>
              </a:rPr>
              <a:t>running tests in parallel on multiple machines </a:t>
            </a:r>
            <a:r>
              <a:rPr lang="en-IN" sz="2900" dirty="0">
                <a:latin typeface="Times New Roman" panose="02020603050405020304" pitchFamily="18" charset="0"/>
                <a:cs typeface="Times New Roman" panose="02020603050405020304" pitchFamily="18" charset="0"/>
              </a:rPr>
              <a:t>and to </a:t>
            </a:r>
            <a:r>
              <a:rPr lang="en-IN" sz="2900" dirty="0">
                <a:solidFill>
                  <a:srgbClr val="FF0000"/>
                </a:solidFill>
                <a:latin typeface="Times New Roman" panose="02020603050405020304" pitchFamily="18" charset="0"/>
                <a:cs typeface="Times New Roman" panose="02020603050405020304" pitchFamily="18" charset="0"/>
              </a:rPr>
              <a:t>manage different browser versions </a:t>
            </a:r>
            <a:r>
              <a:rPr lang="en-IN" sz="2900" dirty="0">
                <a:latin typeface="Times New Roman" panose="02020603050405020304" pitchFamily="18" charset="0"/>
                <a:cs typeface="Times New Roman" panose="02020603050405020304" pitchFamily="18" charset="0"/>
              </a:rPr>
              <a:t>and </a:t>
            </a:r>
            <a:r>
              <a:rPr lang="en-IN" sz="2900" dirty="0">
                <a:solidFill>
                  <a:srgbClr val="FF0000"/>
                </a:solidFill>
                <a:latin typeface="Times New Roman" panose="02020603050405020304" pitchFamily="18" charset="0"/>
                <a:cs typeface="Times New Roman" panose="02020603050405020304" pitchFamily="18" charset="0"/>
              </a:rPr>
              <a:t>browser configurations centrally </a:t>
            </a:r>
            <a:r>
              <a:rPr lang="en-IN" sz="2900" dirty="0">
                <a:latin typeface="Times New Roman" panose="02020603050405020304" pitchFamily="18" charset="0"/>
                <a:cs typeface="Times New Roman" panose="02020603050405020304" pitchFamily="18" charset="0"/>
              </a:rPr>
              <a:t>(instead of in each individual test).</a:t>
            </a:r>
          </a:p>
          <a:p>
            <a:pPr marL="0" indent="0" algn="just" fontAlgn="base">
              <a:buNone/>
            </a:pPr>
            <a:endParaRPr lang="en-IN" sz="2900" dirty="0">
              <a:latin typeface="Times New Roman" panose="02020603050405020304" pitchFamily="18" charset="0"/>
              <a:cs typeface="Times New Roman" panose="02020603050405020304" pitchFamily="18" charset="0"/>
            </a:endParaRPr>
          </a:p>
          <a:p>
            <a:pPr algn="just" fontAlgn="base"/>
            <a:r>
              <a:rPr lang="en-IN" sz="2900" dirty="0">
                <a:latin typeface="Times New Roman" panose="02020603050405020304" pitchFamily="18" charset="0"/>
                <a:cs typeface="Times New Roman" panose="02020603050405020304" pitchFamily="18" charset="0"/>
              </a:rPr>
              <a:t>The </a:t>
            </a:r>
            <a:r>
              <a:rPr lang="en-IN" sz="2900" dirty="0">
                <a:solidFill>
                  <a:srgbClr val="FF0000"/>
                </a:solidFill>
                <a:latin typeface="Times New Roman" panose="02020603050405020304" pitchFamily="18" charset="0"/>
                <a:cs typeface="Times New Roman" panose="02020603050405020304" pitchFamily="18" charset="0"/>
              </a:rPr>
              <a:t>ability to run tests on remote browser instances is useful to spread the load of testing across several machines </a:t>
            </a:r>
            <a:r>
              <a:rPr lang="en-IN" sz="2900" dirty="0">
                <a:latin typeface="Times New Roman" panose="02020603050405020304" pitchFamily="18" charset="0"/>
                <a:cs typeface="Times New Roman" panose="02020603050405020304" pitchFamily="18" charset="0"/>
              </a:rPr>
              <a:t>and </a:t>
            </a:r>
            <a:r>
              <a:rPr lang="en-IN" sz="2900" dirty="0">
                <a:solidFill>
                  <a:srgbClr val="FF0000"/>
                </a:solidFill>
                <a:latin typeface="Times New Roman" panose="02020603050405020304" pitchFamily="18" charset="0"/>
                <a:cs typeface="Times New Roman" panose="02020603050405020304" pitchFamily="18" charset="0"/>
              </a:rPr>
              <a:t>to run tests in browsers running on different platforms or operating systems</a:t>
            </a:r>
            <a:r>
              <a:rPr lang="en-IN" sz="29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306969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r>
              <a:rPr lang="en-IN" sz="2400" dirty="0">
                <a:latin typeface="Times New Roman" panose="02020603050405020304" pitchFamily="18" charset="0"/>
                <a:cs typeface="Times New Roman" panose="02020603050405020304" pitchFamily="18" charset="0"/>
              </a:rPr>
              <a:t>If we want to execute the test cases, say 6 different test cases with 3 different nodes connected to a hub, then the hub's responsibility is to distribute the six different test cases among 3 different nodes which are connected to a hub.</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If Chrome, Firefox, and Opera are connected to a hub then two cases will be executed in Chrome, two in Firefox, and two in Opera. With the help of parallel as well as remote execution, the test cases will be executed in various machines which are connected via LAN network which saves a lot of time and human resources.</a:t>
            </a:r>
          </a:p>
          <a:p>
            <a:pPr marL="0" indent="0">
              <a:buNone/>
            </a:pPr>
            <a:endParaRPr lang="en-IN" sz="20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Features of the Grid:</a:t>
            </a:r>
          </a:p>
          <a:p>
            <a:pPr fontAlgn="base"/>
            <a:r>
              <a:rPr lang="en-IN" sz="2000" dirty="0">
                <a:solidFill>
                  <a:srgbClr val="FF0000"/>
                </a:solidFill>
                <a:latin typeface="Times New Roman" panose="02020603050405020304" pitchFamily="18" charset="0"/>
                <a:cs typeface="Times New Roman" panose="02020603050405020304" pitchFamily="18" charset="0"/>
              </a:rPr>
              <a:t>Parallel Execution on multiple nodes</a:t>
            </a:r>
          </a:p>
          <a:p>
            <a:pPr fontAlgn="base"/>
            <a:r>
              <a:rPr lang="en-IN" sz="2000" dirty="0">
                <a:solidFill>
                  <a:srgbClr val="FF0000"/>
                </a:solidFill>
                <a:latin typeface="Times New Roman" panose="02020603050405020304" pitchFamily="18" charset="0"/>
                <a:cs typeface="Times New Roman" panose="02020603050405020304" pitchFamily="18" charset="0"/>
              </a:rPr>
              <a:t>Platform Independent</a:t>
            </a:r>
            <a:r>
              <a:rPr lang="en-IN" sz="2000" dirty="0">
                <a:latin typeface="Times New Roman" panose="02020603050405020304" pitchFamily="18" charset="0"/>
                <a:cs typeface="Times New Roman" panose="02020603050405020304" pitchFamily="18" charset="0"/>
              </a:rPr>
              <a:t>, </a:t>
            </a:r>
            <a:r>
              <a:rPr lang="en-IN" sz="2000" dirty="0">
                <a:solidFill>
                  <a:srgbClr val="FF0000"/>
                </a:solidFill>
                <a:latin typeface="Times New Roman" panose="02020603050405020304" pitchFamily="18" charset="0"/>
                <a:cs typeface="Times New Roman" panose="02020603050405020304" pitchFamily="18" charset="0"/>
              </a:rPr>
              <a:t>support almost all Operating System</a:t>
            </a:r>
          </a:p>
          <a:p>
            <a:pPr fontAlgn="base"/>
            <a:r>
              <a:rPr lang="en-IN" sz="2000" dirty="0">
                <a:solidFill>
                  <a:srgbClr val="FF0000"/>
                </a:solidFill>
                <a:latin typeface="Times New Roman" panose="02020603050405020304" pitchFamily="18" charset="0"/>
                <a:cs typeface="Times New Roman" panose="02020603050405020304" pitchFamily="18" charset="0"/>
              </a:rPr>
              <a:t>Language Independent</a:t>
            </a:r>
            <a:r>
              <a:rPr lang="en-IN" sz="2000" dirty="0">
                <a:latin typeface="Times New Roman" panose="02020603050405020304" pitchFamily="18" charset="0"/>
                <a:cs typeface="Times New Roman" panose="02020603050405020304" pitchFamily="18" charset="0"/>
              </a:rPr>
              <a:t>.</a:t>
            </a:r>
          </a:p>
          <a:p>
            <a:pPr fontAlgn="base"/>
            <a:r>
              <a:rPr lang="en-IN" sz="2000" dirty="0">
                <a:latin typeface="Times New Roman" panose="02020603050405020304" pitchFamily="18" charset="0"/>
                <a:cs typeface="Times New Roman" panose="02020603050405020304" pitchFamily="18" charset="0"/>
              </a:rPr>
              <a:t>Browser Independent supports </a:t>
            </a:r>
            <a:r>
              <a:rPr lang="en-IN" sz="2000" dirty="0">
                <a:solidFill>
                  <a:srgbClr val="FF0000"/>
                </a:solidFill>
                <a:latin typeface="Times New Roman" panose="02020603050405020304" pitchFamily="18" charset="0"/>
                <a:cs typeface="Times New Roman" panose="02020603050405020304" pitchFamily="18" charset="0"/>
              </a:rPr>
              <a:t>almost all the main vendors of Browser.</a:t>
            </a:r>
          </a:p>
          <a:p>
            <a:pPr fontAlgn="base"/>
            <a:r>
              <a:rPr lang="en-IN" sz="2000" dirty="0">
                <a:solidFill>
                  <a:srgbClr val="FF0000"/>
                </a:solidFill>
                <a:latin typeface="Times New Roman" panose="02020603050405020304" pitchFamily="18" charset="0"/>
                <a:cs typeface="Times New Roman" panose="02020603050405020304" pitchFamily="18" charset="0"/>
              </a:rPr>
              <a:t>Fast Execution</a:t>
            </a:r>
            <a:r>
              <a:rPr lang="en-IN" sz="2000" dirty="0">
                <a:latin typeface="Times New Roman" panose="02020603050405020304" pitchFamily="18" charset="0"/>
                <a:cs typeface="Times New Roman" panose="02020603050405020304" pitchFamily="18" charset="0"/>
              </a:rPr>
              <a:t>, </a:t>
            </a:r>
            <a:r>
              <a:rPr lang="en-IN" sz="2000" dirty="0">
                <a:solidFill>
                  <a:srgbClr val="FF0000"/>
                </a:solidFill>
                <a:latin typeface="Times New Roman" panose="02020603050405020304" pitchFamily="18" charset="0"/>
                <a:cs typeface="Times New Roman" panose="02020603050405020304" pitchFamily="18" charset="0"/>
              </a:rPr>
              <a:t>reduces the execution </a:t>
            </a:r>
            <a:r>
              <a:rPr lang="en-IN" sz="2000" dirty="0">
                <a:latin typeface="Times New Roman" panose="02020603050405020304" pitchFamily="18" charset="0"/>
                <a:cs typeface="Times New Roman" panose="02020603050405020304" pitchFamily="18" charset="0"/>
              </a:rPr>
              <a:t>time as </a:t>
            </a:r>
            <a:r>
              <a:rPr lang="en-IN" sz="2000" dirty="0">
                <a:solidFill>
                  <a:srgbClr val="FF0000"/>
                </a:solidFill>
                <a:latin typeface="Times New Roman" panose="02020603050405020304" pitchFamily="18" charset="0"/>
                <a:cs typeface="Times New Roman" panose="02020603050405020304" pitchFamily="18" charset="0"/>
              </a:rPr>
              <a:t>test cases are executed </a:t>
            </a:r>
            <a:r>
              <a:rPr lang="en-IN" sz="2000" dirty="0" err="1">
                <a:solidFill>
                  <a:srgbClr val="FF0000"/>
                </a:solidFill>
                <a:latin typeface="Times New Roman" panose="02020603050405020304" pitchFamily="18" charset="0"/>
                <a:cs typeface="Times New Roman" panose="02020603050405020304" pitchFamily="18" charset="0"/>
              </a:rPr>
              <a:t>parallelly</a:t>
            </a:r>
            <a:endParaRPr lang="en-IN" sz="2000" dirty="0">
              <a:solidFill>
                <a:srgbClr val="FF0000"/>
              </a:solidFill>
              <a:latin typeface="Times New Roman" panose="02020603050405020304" pitchFamily="18" charset="0"/>
              <a:cs typeface="Times New Roman" panose="02020603050405020304" pitchFamily="18" charset="0"/>
            </a:endParaRPr>
          </a:p>
          <a:p>
            <a:pPr marL="0" indent="0">
              <a:buNone/>
            </a:pPr>
            <a:endParaRPr lang="en-IN" sz="2000" b="1" dirty="0">
              <a:solidFill>
                <a:srgbClr val="FF0000"/>
              </a:solidFill>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2358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estingTips_003">
            <a:extLst>
              <a:ext uri="{FF2B5EF4-FFF2-40B4-BE49-F238E27FC236}">
                <a16:creationId xmlns:a16="http://schemas.microsoft.com/office/drawing/2014/main" id="{A5726DFE-42A9-4A0C-A2A0-459FED79FB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078" y="266700"/>
            <a:ext cx="11277600" cy="632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6077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6CF33D-545E-4539-A8F5-ADA1FE53EFA4}"/>
              </a:ext>
            </a:extLst>
          </p:cNvPr>
          <p:cNvPicPr>
            <a:picLocks noChangeAspect="1"/>
          </p:cNvPicPr>
          <p:nvPr/>
        </p:nvPicPr>
        <p:blipFill>
          <a:blip r:embed="rId2"/>
          <a:stretch>
            <a:fillRect/>
          </a:stretch>
        </p:blipFill>
        <p:spPr>
          <a:xfrm>
            <a:off x="-198783" y="92433"/>
            <a:ext cx="12112487" cy="6673134"/>
          </a:xfrm>
          <a:prstGeom prst="rect">
            <a:avLst/>
          </a:prstGeom>
        </p:spPr>
      </p:pic>
    </p:spTree>
    <p:extLst>
      <p:ext uri="{BB962C8B-B14F-4D97-AF65-F5344CB8AC3E}">
        <p14:creationId xmlns:p14="http://schemas.microsoft.com/office/powerpoint/2010/main" val="27408878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Selenium WebDriver Tutorial, Features of Selenium WebDriver, Advantages of  Selenium WebDriver. | Selenium, Browser support, Tutorial">
            <a:extLst>
              <a:ext uri="{FF2B5EF4-FFF2-40B4-BE49-F238E27FC236}">
                <a16:creationId xmlns:a16="http://schemas.microsoft.com/office/drawing/2014/main" id="{C12FC971-D338-4DC5-A3AC-37CE41989F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455" y="88985"/>
            <a:ext cx="10234570" cy="6404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19080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A65C6A-B765-4C60-B5E1-5107008D2827}"/>
              </a:ext>
            </a:extLst>
          </p:cNvPr>
          <p:cNvSpPr txBox="1"/>
          <p:nvPr/>
        </p:nvSpPr>
        <p:spPr>
          <a:xfrm>
            <a:off x="0" y="0"/>
            <a:ext cx="12192000" cy="5262979"/>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1. Multiple Browser Support:</a:t>
            </a:r>
            <a:r>
              <a:rPr lang="en-US" sz="2400" b="0" i="0" dirty="0">
                <a:solidFill>
                  <a:srgbClr val="000000"/>
                </a:solidFill>
                <a:effectLst/>
                <a:latin typeface="Times New Roman" panose="02020603050405020304" pitchFamily="18" charset="0"/>
                <a:cs typeface="Times New Roman" panose="02020603050405020304" pitchFamily="18" charset="0"/>
              </a:rPr>
              <a:t> Selenium WebDriver supports a diverse range of multiple web browser and their version such as Firefox, Chrome, Internet Explorer, Safari, Opera, etc.</a:t>
            </a:r>
          </a:p>
          <a:p>
            <a:pPr algn="l"/>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l"/>
            <a:r>
              <a:rPr lang="en-US" sz="2400" b="1" i="0" dirty="0">
                <a:solidFill>
                  <a:srgbClr val="FF0000"/>
                </a:solidFill>
                <a:effectLst/>
                <a:latin typeface="Times New Roman" panose="02020603050405020304" pitchFamily="18" charset="0"/>
                <a:cs typeface="Times New Roman" panose="02020603050405020304" pitchFamily="18" charset="0"/>
              </a:rPr>
              <a:t>2. Multiple Languages Support:</a:t>
            </a:r>
            <a:r>
              <a:rPr lang="en-US" sz="2400" b="0" i="0" dirty="0">
                <a:solidFill>
                  <a:srgbClr val="000000"/>
                </a:solidFill>
                <a:effectLst/>
                <a:latin typeface="Times New Roman" panose="02020603050405020304" pitchFamily="18" charset="0"/>
                <a:cs typeface="Times New Roman" panose="02020603050405020304" pitchFamily="18" charset="0"/>
              </a:rPr>
              <a:t> WebDriver also supports most of the commonly used programming languages such as Java, C#, Python, Ruby, Pearl, PHP, JavaScript.</a:t>
            </a:r>
          </a:p>
          <a:p>
            <a:pPr algn="l"/>
            <a:r>
              <a:rPr lang="en-US" sz="2400" b="0" i="0" dirty="0">
                <a:solidFill>
                  <a:srgbClr val="000000"/>
                </a:solidFill>
                <a:effectLst/>
                <a:latin typeface="Times New Roman" panose="02020603050405020304" pitchFamily="18" charset="0"/>
                <a:cs typeface="Times New Roman" panose="02020603050405020304" pitchFamily="18" charset="0"/>
              </a:rPr>
              <a:t>You don’t have to know all of them. WebDriver provides facilities to choose any one of the programming languages based on competency and starts to create test scripts.</a:t>
            </a:r>
          </a:p>
          <a:p>
            <a:pPr algn="l"/>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l"/>
            <a:r>
              <a:rPr lang="en-US" sz="2400" b="1" i="0" dirty="0">
                <a:solidFill>
                  <a:srgbClr val="FF0000"/>
                </a:solidFill>
                <a:effectLst/>
                <a:latin typeface="Times New Roman" panose="02020603050405020304" pitchFamily="18" charset="0"/>
                <a:cs typeface="Times New Roman" panose="02020603050405020304" pitchFamily="18" charset="0"/>
              </a:rPr>
              <a:t>3. Speed:</a:t>
            </a:r>
            <a:r>
              <a:rPr lang="en-US" sz="2400" b="0" i="0" dirty="0">
                <a:solidFill>
                  <a:srgbClr val="000000"/>
                </a:solidFill>
                <a:effectLst/>
                <a:latin typeface="Times New Roman" panose="02020603050405020304" pitchFamily="18" charset="0"/>
                <a:cs typeface="Times New Roman" panose="02020603050405020304" pitchFamily="18" charset="0"/>
              </a:rPr>
              <a:t> WebDriver performs the faster operation as compared to other tools of Selenium Suite. It provides direct communication between WebDriver Client Libraries and Web Browser.</a:t>
            </a:r>
          </a:p>
          <a:p>
            <a:pPr algn="l"/>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l"/>
            <a:r>
              <a:rPr lang="en-US" sz="2400" b="1" i="0" dirty="0">
                <a:solidFill>
                  <a:srgbClr val="FF0000"/>
                </a:solidFill>
                <a:effectLst/>
                <a:latin typeface="Times New Roman" panose="02020603050405020304" pitchFamily="18" charset="0"/>
                <a:cs typeface="Times New Roman" panose="02020603050405020304" pitchFamily="18" charset="0"/>
              </a:rPr>
              <a:t>4. Simple and Easy Commands:</a:t>
            </a:r>
            <a:r>
              <a:rPr lang="en-US" sz="2400" b="0" i="0" dirty="0">
                <a:solidFill>
                  <a:srgbClr val="000000"/>
                </a:solidFill>
                <a:effectLst/>
                <a:latin typeface="Times New Roman" panose="02020603050405020304" pitchFamily="18" charset="0"/>
                <a:cs typeface="Times New Roman" panose="02020603050405020304" pitchFamily="18" charset="0"/>
              </a:rPr>
              <a:t> Selenium WebDriver provides very simple and easy commands to implement in the scripts. For example, If you want to launch the browser using web driver, the following commands have to use:</a:t>
            </a:r>
          </a:p>
        </p:txBody>
      </p:sp>
    </p:spTree>
    <p:extLst>
      <p:ext uri="{BB962C8B-B14F-4D97-AF65-F5344CB8AC3E}">
        <p14:creationId xmlns:p14="http://schemas.microsoft.com/office/powerpoint/2010/main" val="583215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C8C0BC-B98C-43EC-B77B-629D63657F70}"/>
              </a:ext>
            </a:extLst>
          </p:cNvPr>
          <p:cNvSpPr txBox="1"/>
          <p:nvPr/>
        </p:nvSpPr>
        <p:spPr>
          <a:xfrm>
            <a:off x="0" y="119270"/>
            <a:ext cx="12006470" cy="4893647"/>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5. Drivers, Methods, and Classes:</a:t>
            </a:r>
            <a:r>
              <a:rPr lang="en-US" sz="2400" b="0" i="0" dirty="0">
                <a:solidFill>
                  <a:srgbClr val="000000"/>
                </a:solidFill>
                <a:effectLst/>
                <a:latin typeface="Times New Roman" panose="02020603050405020304" pitchFamily="18" charset="0"/>
                <a:cs typeface="Times New Roman" panose="02020603050405020304" pitchFamily="18" charset="0"/>
              </a:rPr>
              <a:t> Selenium web driver offers multiple solutions to handle some potential challenges in automation testing. It also helps the testers in an easy way to handle the complex type of web elements such as check boxes, dropdowns, and alerts with the help of dynamic finders.</a:t>
            </a:r>
          </a:p>
          <a:p>
            <a:pPr algn="l"/>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l"/>
            <a:r>
              <a:rPr lang="en-US" sz="2400" b="1" i="0" dirty="0">
                <a:solidFill>
                  <a:srgbClr val="FF0000"/>
                </a:solidFill>
                <a:effectLst/>
                <a:latin typeface="Times New Roman" panose="02020603050405020304" pitchFamily="18" charset="0"/>
                <a:cs typeface="Times New Roman" panose="02020603050405020304" pitchFamily="18" charset="0"/>
              </a:rPr>
              <a:t>6. Record and Playback:</a:t>
            </a:r>
            <a:r>
              <a:rPr lang="en-US" sz="2400" b="0" i="0" dirty="0">
                <a:solidFill>
                  <a:srgbClr val="000000"/>
                </a:solidFill>
                <a:effectLst/>
                <a:latin typeface="Times New Roman" panose="02020603050405020304" pitchFamily="18" charset="0"/>
                <a:cs typeface="Times New Roman" panose="02020603050405020304" pitchFamily="18" charset="0"/>
              </a:rPr>
              <a:t> Web driver does not support record and playback features like Selenium IDE.</a:t>
            </a:r>
          </a:p>
          <a:p>
            <a:pPr algn="l"/>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l"/>
            <a:r>
              <a:rPr lang="en-US" sz="2400" b="1" i="0" dirty="0">
                <a:solidFill>
                  <a:srgbClr val="FF0000"/>
                </a:solidFill>
                <a:effectLst/>
                <a:latin typeface="Times New Roman" panose="02020603050405020304" pitchFamily="18" charset="0"/>
                <a:cs typeface="Times New Roman" panose="02020603050405020304" pitchFamily="18" charset="0"/>
              </a:rPr>
              <a:t>7. Dynamic Finder:</a:t>
            </a:r>
            <a:r>
              <a:rPr lang="en-US" sz="2400" b="0" i="0" dirty="0">
                <a:solidFill>
                  <a:srgbClr val="000000"/>
                </a:solidFill>
                <a:effectLst/>
                <a:latin typeface="Times New Roman" panose="02020603050405020304" pitchFamily="18" charset="0"/>
                <a:cs typeface="Times New Roman" panose="02020603050405020304" pitchFamily="18" charset="0"/>
              </a:rPr>
              <a:t> It also supports dynamic finder for locating the web element on the web pages.</a:t>
            </a:r>
          </a:p>
          <a:p>
            <a:pPr algn="l"/>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l"/>
            <a:r>
              <a:rPr lang="en-US" sz="2400" b="0" i="0" dirty="0">
                <a:solidFill>
                  <a:srgbClr val="000000"/>
                </a:solidFill>
                <a:effectLst/>
                <a:latin typeface="Times New Roman" panose="02020603050405020304" pitchFamily="18" charset="0"/>
                <a:cs typeface="Times New Roman" panose="02020603050405020304" pitchFamily="18" charset="0"/>
              </a:rPr>
              <a:t>9. Easy to install and configure.</a:t>
            </a:r>
          </a:p>
          <a:p>
            <a:pPr algn="l"/>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4707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D329A1-D070-445B-8008-F9FEB1D3F2E0}"/>
              </a:ext>
            </a:extLst>
          </p:cNvPr>
          <p:cNvPicPr>
            <a:picLocks noChangeAspect="1"/>
          </p:cNvPicPr>
          <p:nvPr/>
        </p:nvPicPr>
        <p:blipFill>
          <a:blip r:embed="rId2"/>
          <a:stretch>
            <a:fillRect/>
          </a:stretch>
        </p:blipFill>
        <p:spPr>
          <a:xfrm>
            <a:off x="0" y="0"/>
            <a:ext cx="12099235" cy="6858000"/>
          </a:xfrm>
          <a:prstGeom prst="rect">
            <a:avLst/>
          </a:prstGeom>
        </p:spPr>
      </p:pic>
    </p:spTree>
    <p:extLst>
      <p:ext uri="{BB962C8B-B14F-4D97-AF65-F5344CB8AC3E}">
        <p14:creationId xmlns:p14="http://schemas.microsoft.com/office/powerpoint/2010/main" val="36206010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42" y="0"/>
            <a:ext cx="12079458" cy="573206"/>
          </a:xfrm>
        </p:spPr>
        <p:txBody>
          <a:bodyPr>
            <a:normAutofit fontScale="90000"/>
          </a:bodyPr>
          <a:lstStyle/>
          <a:p>
            <a:br>
              <a:rPr lang="en-IN" dirty="0"/>
            </a:br>
            <a:br>
              <a:rPr lang="en-IN" dirty="0"/>
            </a:br>
            <a:r>
              <a:rPr lang="en-IN" sz="4000" b="1" i="1" dirty="0">
                <a:solidFill>
                  <a:srgbClr val="FF0000"/>
                </a:solidFill>
                <a:latin typeface="Times New Roman" panose="02020603050405020304" pitchFamily="18" charset="0"/>
                <a:cs typeface="Times New Roman" panose="02020603050405020304" pitchFamily="18" charset="0"/>
              </a:rPr>
              <a:t>Test Driven Development (TDD)?</a:t>
            </a:r>
            <a:br>
              <a:rPr lang="en-IN" sz="4000" b="1" i="1" dirty="0">
                <a:solidFill>
                  <a:srgbClr val="FF0000"/>
                </a:solidFill>
                <a:latin typeface="Times New Roman" panose="02020603050405020304" pitchFamily="18" charset="0"/>
                <a:cs typeface="Times New Roman" panose="02020603050405020304" pitchFamily="18" charset="0"/>
              </a:rPr>
            </a:br>
            <a:br>
              <a:rPr lang="en-IN" sz="4000" b="1" i="1" dirty="0">
                <a:solidFill>
                  <a:srgbClr val="FF0000"/>
                </a:solidFill>
                <a:latin typeface="Times New Roman" panose="02020603050405020304" pitchFamily="18" charset="0"/>
                <a:cs typeface="Times New Roman" panose="02020603050405020304" pitchFamily="18" charset="0"/>
              </a:rPr>
            </a:br>
            <a:endParaRPr lang="en-IN" sz="4000" b="1" i="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573206"/>
            <a:ext cx="12192000" cy="6284794"/>
          </a:xfrm>
        </p:spPr>
        <p:txBody>
          <a:bodyPr>
            <a:noAutofit/>
          </a:bodyPr>
          <a:lstStyle/>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What is Test Driven Development (TDD)?</a:t>
            </a:r>
          </a:p>
          <a:p>
            <a:pPr algn="just"/>
            <a:r>
              <a:rPr lang="en-IN" sz="2400" dirty="0">
                <a:latin typeface="Times New Roman" panose="02020603050405020304" pitchFamily="18" charset="0"/>
                <a:cs typeface="Times New Roman" panose="02020603050405020304" pitchFamily="18" charset="0"/>
              </a:rPr>
              <a:t>Test Driven Development (TDD) is a </a:t>
            </a:r>
            <a:r>
              <a:rPr lang="en-IN" sz="2400" dirty="0">
                <a:solidFill>
                  <a:srgbClr val="FF0000"/>
                </a:solidFill>
                <a:latin typeface="Times New Roman" panose="02020603050405020304" pitchFamily="18" charset="0"/>
                <a:cs typeface="Times New Roman" panose="02020603050405020304" pitchFamily="18" charset="0"/>
              </a:rPr>
              <a:t>software development practice </a:t>
            </a:r>
            <a:r>
              <a:rPr lang="en-IN" sz="2400" dirty="0">
                <a:latin typeface="Times New Roman" panose="02020603050405020304" pitchFamily="18" charset="0"/>
                <a:cs typeface="Times New Roman" panose="02020603050405020304" pitchFamily="18" charset="0"/>
              </a:rPr>
              <a:t>that </a:t>
            </a:r>
            <a:r>
              <a:rPr lang="en-IN" sz="2400" dirty="0">
                <a:solidFill>
                  <a:srgbClr val="FF0000"/>
                </a:solidFill>
                <a:latin typeface="Times New Roman" panose="02020603050405020304" pitchFamily="18" charset="0"/>
                <a:cs typeface="Times New Roman" panose="02020603050405020304" pitchFamily="18" charset="0"/>
              </a:rPr>
              <a:t>focuses on creating unit test cases before developing the actual code</a:t>
            </a:r>
            <a:r>
              <a:rPr lang="en-IN" sz="2400" dirty="0">
                <a:latin typeface="Times New Roman" panose="02020603050405020304" pitchFamily="18" charset="0"/>
                <a:cs typeface="Times New Roman" panose="02020603050405020304" pitchFamily="18" charset="0"/>
              </a:rPr>
              <a:t>. It is an iterative approach that </a:t>
            </a:r>
            <a:r>
              <a:rPr lang="en-IN" sz="2400" dirty="0">
                <a:solidFill>
                  <a:srgbClr val="FF0000"/>
                </a:solidFill>
                <a:latin typeface="Times New Roman" panose="02020603050405020304" pitchFamily="18" charset="0"/>
                <a:cs typeface="Times New Roman" panose="02020603050405020304" pitchFamily="18" charset="0"/>
              </a:rPr>
              <a:t>combines programming, the creation of unit tests, and refactoring.</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Test Driven Development</a:t>
            </a:r>
            <a:r>
              <a:rPr lang="en-IN" sz="2400" dirty="0">
                <a:latin typeface="Times New Roman" panose="02020603050405020304" pitchFamily="18" charset="0"/>
                <a:cs typeface="Times New Roman" panose="02020603050405020304" pitchFamily="18" charset="0"/>
              </a:rPr>
              <a:t> is the process in which </a:t>
            </a:r>
            <a:r>
              <a:rPr lang="en-IN" sz="2400" dirty="0">
                <a:solidFill>
                  <a:srgbClr val="FF0000"/>
                </a:solidFill>
                <a:latin typeface="Times New Roman" panose="02020603050405020304" pitchFamily="18" charset="0"/>
                <a:cs typeface="Times New Roman" panose="02020603050405020304" pitchFamily="18" charset="0"/>
              </a:rPr>
              <a:t>test cases are written before the code that validates those </a:t>
            </a:r>
            <a:r>
              <a:rPr lang="en-IN" sz="2400" dirty="0" err="1">
                <a:solidFill>
                  <a:srgbClr val="FF0000"/>
                </a:solidFill>
                <a:latin typeface="Times New Roman" panose="02020603050405020304" pitchFamily="18" charset="0"/>
                <a:cs typeface="Times New Roman" panose="02020603050405020304" pitchFamily="18" charset="0"/>
              </a:rPr>
              <a:t>cases.i.e</a:t>
            </a:r>
            <a:r>
              <a:rPr lang="en-IN" sz="2400" dirty="0">
                <a:latin typeface="Times New Roman" panose="02020603050405020304" pitchFamily="18" charset="0"/>
                <a:cs typeface="Times New Roman" panose="02020603050405020304" pitchFamily="18" charset="0"/>
              </a:rPr>
              <a:t>., test cases are developed to specify and validate what the code will do.</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 simple terms, Test-Driven Development </a:t>
            </a:r>
            <a:r>
              <a:rPr lang="en-IN" sz="2400" dirty="0">
                <a:solidFill>
                  <a:srgbClr val="FF0000"/>
                </a:solidFill>
                <a:latin typeface="Times New Roman" panose="02020603050405020304" pitchFamily="18" charset="0"/>
                <a:cs typeface="Times New Roman" panose="02020603050405020304" pitchFamily="18" charset="0"/>
              </a:rPr>
              <a:t>starts with designing and developing tests for every small functionality </a:t>
            </a:r>
            <a:r>
              <a:rPr lang="en-IN" sz="2400" dirty="0">
                <a:latin typeface="Times New Roman" panose="02020603050405020304" pitchFamily="18" charset="0"/>
                <a:cs typeface="Times New Roman" panose="02020603050405020304" pitchFamily="18" charset="0"/>
              </a:rPr>
              <a:t>of an application.</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 TDD, developers start </a:t>
            </a:r>
            <a:r>
              <a:rPr lang="en-IN" sz="2400" dirty="0">
                <a:solidFill>
                  <a:srgbClr val="FF0000"/>
                </a:solidFill>
                <a:latin typeface="Times New Roman" panose="02020603050405020304" pitchFamily="18" charset="0"/>
                <a:cs typeface="Times New Roman" panose="02020603050405020304" pitchFamily="18" charset="0"/>
              </a:rPr>
              <a:t>creating small test cases for every feature based on their initial understanding.</a:t>
            </a: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29924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E80C55-8525-43A7-9609-679C37244417}"/>
              </a:ext>
            </a:extLst>
          </p:cNvPr>
          <p:cNvSpPr txBox="1"/>
          <p:nvPr/>
        </p:nvSpPr>
        <p:spPr>
          <a:xfrm>
            <a:off x="98473" y="1"/>
            <a:ext cx="11943471" cy="6370975"/>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primary </a:t>
            </a:r>
            <a:r>
              <a:rPr lang="en-IN" sz="2400" dirty="0">
                <a:solidFill>
                  <a:srgbClr val="FF0000"/>
                </a:solidFill>
                <a:latin typeface="Times New Roman" panose="02020603050405020304" pitchFamily="18" charset="0"/>
                <a:cs typeface="Times New Roman" panose="02020603050405020304" pitchFamily="18" charset="0"/>
              </a:rPr>
              <a:t>intention of this technique is to modify or write new code only if the tests fail.</a:t>
            </a:r>
            <a:r>
              <a:rPr lang="en-IN" sz="2400" dirty="0">
                <a:latin typeface="Times New Roman" panose="02020603050405020304" pitchFamily="18" charset="0"/>
                <a:cs typeface="Times New Roman" panose="02020603050405020304" pitchFamily="18" charset="0"/>
              </a:rPr>
              <a:t> The simple </a:t>
            </a:r>
            <a:r>
              <a:rPr lang="en-IN" sz="2400" dirty="0">
                <a:solidFill>
                  <a:srgbClr val="FF0000"/>
                </a:solidFill>
                <a:latin typeface="Times New Roman" panose="02020603050405020304" pitchFamily="18" charset="0"/>
                <a:cs typeface="Times New Roman" panose="02020603050405020304" pitchFamily="18" charset="0"/>
              </a:rPr>
              <a:t>concept of TDD is to write and correct the failed tests before writing new code (before development</a:t>
            </a:r>
            <a:r>
              <a:rPr lang="en-IN" sz="2400" dirty="0">
                <a:latin typeface="Times New Roman" panose="02020603050405020304" pitchFamily="18" charset="0"/>
                <a:cs typeface="Times New Roman" panose="02020603050405020304" pitchFamily="18" charset="0"/>
              </a:rPr>
              <a:t>). It is a process </a:t>
            </a:r>
            <a:r>
              <a:rPr lang="en-IN" sz="2400" dirty="0">
                <a:solidFill>
                  <a:srgbClr val="FF0000"/>
                </a:solidFill>
                <a:latin typeface="Times New Roman" panose="02020603050405020304" pitchFamily="18" charset="0"/>
                <a:cs typeface="Times New Roman" panose="02020603050405020304" pitchFamily="18" charset="0"/>
              </a:rPr>
              <a:t>of modifying the code in order to pass a test designed previously.</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dirty="0">
                <a:solidFill>
                  <a:srgbClr val="FF0000"/>
                </a:solidFill>
                <a:latin typeface="Times New Roman" panose="02020603050405020304" pitchFamily="18" charset="0"/>
                <a:cs typeface="Times New Roman" panose="02020603050405020304" pitchFamily="18" charset="0"/>
              </a:rPr>
              <a:t>test cases for each functionality are created and tested first and if the test fails then the new code is written in order to pass the test and making code simple and bug-free</a:t>
            </a:r>
            <a:r>
              <a:rPr lang="en-IN" sz="2400" dirty="0">
                <a:latin typeface="Times New Roman" panose="02020603050405020304" pitchFamily="18" charset="0"/>
                <a:cs typeface="Times New Roman" panose="02020603050405020304" pitchFamily="18" charset="0"/>
              </a:rPr>
              <a:t>. The test might fail as the tests are developed even before the development. Development team then develops and refactors the code to pass the test.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TDD framework </a:t>
            </a:r>
            <a:r>
              <a:rPr lang="en-IN" sz="2400" dirty="0">
                <a:solidFill>
                  <a:srgbClr val="FF0000"/>
                </a:solidFill>
                <a:latin typeface="Times New Roman" panose="02020603050405020304" pitchFamily="18" charset="0"/>
                <a:cs typeface="Times New Roman" panose="02020603050405020304" pitchFamily="18" charset="0"/>
              </a:rPr>
              <a:t>instructs developers to write new code only if an automated test has failed</a:t>
            </a:r>
            <a:r>
              <a:rPr lang="en-IN" sz="2400" dirty="0">
                <a:latin typeface="Times New Roman" panose="02020603050405020304" pitchFamily="18" charset="0"/>
                <a:cs typeface="Times New Roman" panose="02020603050405020304" pitchFamily="18" charset="0"/>
              </a:rPr>
              <a:t>. </a:t>
            </a:r>
            <a:r>
              <a:rPr lang="en-IN" sz="2400" dirty="0">
                <a:solidFill>
                  <a:srgbClr val="FF0000"/>
                </a:solidFill>
                <a:latin typeface="Times New Roman" panose="02020603050405020304" pitchFamily="18" charset="0"/>
                <a:cs typeface="Times New Roman" panose="02020603050405020304" pitchFamily="18" charset="0"/>
              </a:rPr>
              <a:t>This helps to avoid duplication of code </a:t>
            </a:r>
            <a:r>
              <a:rPr lang="en-IN" sz="2400" dirty="0">
                <a:latin typeface="Times New Roman" panose="02020603050405020304" pitchFamily="18" charset="0"/>
                <a:cs typeface="Times New Roman" panose="02020603050405020304" pitchFamily="18" charset="0"/>
              </a:rPr>
              <a:t>as we write a </a:t>
            </a:r>
            <a:r>
              <a:rPr lang="en-IN" sz="2400" dirty="0">
                <a:solidFill>
                  <a:srgbClr val="FF0000"/>
                </a:solidFill>
                <a:latin typeface="Times New Roman" panose="02020603050405020304" pitchFamily="18" charset="0"/>
                <a:cs typeface="Times New Roman" panose="02020603050405020304" pitchFamily="18" charset="0"/>
              </a:rPr>
              <a:t>small amount of code at a time in order to pass tests</a:t>
            </a:r>
            <a:r>
              <a:rPr lang="en-IN" sz="2400">
                <a:solidFill>
                  <a:srgbClr val="FF0000"/>
                </a:solidFill>
                <a:latin typeface="Times New Roman" panose="02020603050405020304" pitchFamily="18" charset="0"/>
                <a:cs typeface="Times New Roman" panose="02020603050405020304" pitchFamily="18" charset="0"/>
              </a:rPr>
              <a:t>. </a:t>
            </a:r>
          </a:p>
          <a:p>
            <a:pPr algn="just"/>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As Test-Driven development is a process </a:t>
            </a:r>
            <a:r>
              <a:rPr lang="en-IN" sz="2400" dirty="0">
                <a:solidFill>
                  <a:srgbClr val="FF0000"/>
                </a:solidFill>
                <a:latin typeface="Times New Roman" panose="02020603050405020304" pitchFamily="18" charset="0"/>
                <a:cs typeface="Times New Roman" panose="02020603050405020304" pitchFamily="18" charset="0"/>
              </a:rPr>
              <a:t>of developing and running automated test before actual development of the application.</a:t>
            </a:r>
            <a:r>
              <a:rPr lang="en-IN" sz="2400" dirty="0">
                <a:latin typeface="Times New Roman" panose="02020603050405020304" pitchFamily="18" charset="0"/>
                <a:cs typeface="Times New Roman" panose="02020603050405020304" pitchFamily="18" charset="0"/>
              </a:rPr>
              <a:t> Hence, TDD sometimes also called as </a:t>
            </a:r>
            <a:r>
              <a:rPr lang="en-IN" sz="2400" b="1" dirty="0">
                <a:solidFill>
                  <a:srgbClr val="FF0000"/>
                </a:solidFill>
                <a:latin typeface="Times New Roman" panose="02020603050405020304" pitchFamily="18" charset="0"/>
                <a:cs typeface="Times New Roman" panose="02020603050405020304" pitchFamily="18" charset="0"/>
              </a:rPr>
              <a:t>Test First Development</a:t>
            </a:r>
            <a:r>
              <a:rPr lang="en-IN" sz="2400" b="1" dirty="0">
                <a:latin typeface="Times New Roman" panose="02020603050405020304" pitchFamily="18" charset="0"/>
                <a:cs typeface="Times New Roman" panose="02020603050405020304" pitchFamily="18" charset="0"/>
              </a:rPr>
              <a:t>.</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88279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r>
              <a:rPr lang="en-IN" sz="2000" dirty="0">
                <a:latin typeface="Times New Roman" panose="02020603050405020304" pitchFamily="18" charset="0"/>
                <a:cs typeface="Times New Roman" panose="02020603050405020304" pitchFamily="18" charset="0"/>
              </a:rPr>
              <a:t>The TDD approach derives its roots from the </a:t>
            </a:r>
            <a:r>
              <a:rPr lang="en-IN" sz="2000" dirty="0">
                <a:solidFill>
                  <a:srgbClr val="FF0000"/>
                </a:solidFill>
                <a:latin typeface="Times New Roman" panose="02020603050405020304" pitchFamily="18" charset="0"/>
                <a:cs typeface="Times New Roman" panose="02020603050405020304" pitchFamily="18" charset="0"/>
              </a:rPr>
              <a:t>Agile manifesto principles and Extreme programming</a:t>
            </a:r>
            <a:r>
              <a:rPr lang="en-IN" sz="2000" dirty="0">
                <a:latin typeface="Times New Roman" panose="02020603050405020304" pitchFamily="18" charset="0"/>
                <a:cs typeface="Times New Roman" panose="02020603050405020304" pitchFamily="18" charset="0"/>
              </a:rPr>
              <a:t>. As the name suggests, the </a:t>
            </a:r>
            <a:r>
              <a:rPr lang="en-IN" sz="2000" dirty="0">
                <a:solidFill>
                  <a:srgbClr val="FF0000"/>
                </a:solidFill>
                <a:latin typeface="Times New Roman" panose="02020603050405020304" pitchFamily="18" charset="0"/>
                <a:cs typeface="Times New Roman" panose="02020603050405020304" pitchFamily="18" charset="0"/>
              </a:rPr>
              <a:t>test process drives software development</a:t>
            </a:r>
            <a:r>
              <a:rPr lang="en-IN" sz="2000" dirty="0">
                <a:latin typeface="Times New Roman" panose="02020603050405020304" pitchFamily="18" charset="0"/>
                <a:cs typeface="Times New Roman" panose="02020603050405020304" pitchFamily="18" charset="0"/>
              </a:rPr>
              <a:t>. Moreover, it’s a structuring practice that enables developers and testers to obtain optimized code that proves to be resilient in the long term.</a:t>
            </a:r>
          </a:p>
          <a:p>
            <a:pPr algn="just"/>
            <a:r>
              <a:rPr lang="en-IN" sz="2000" dirty="0">
                <a:latin typeface="Times New Roman" panose="02020603050405020304" pitchFamily="18" charset="0"/>
                <a:cs typeface="Times New Roman" panose="02020603050405020304" pitchFamily="18" charset="0"/>
              </a:rPr>
              <a:t>It more </a:t>
            </a:r>
            <a:r>
              <a:rPr lang="en-IN" sz="2000" dirty="0">
                <a:solidFill>
                  <a:srgbClr val="FF0000"/>
                </a:solidFill>
                <a:latin typeface="Times New Roman" panose="02020603050405020304" pitchFamily="18" charset="0"/>
                <a:cs typeface="Times New Roman" panose="02020603050405020304" pitchFamily="18" charset="0"/>
              </a:rPr>
              <a:t>emphasis on production code </a:t>
            </a:r>
            <a:r>
              <a:rPr lang="en-IN" sz="2000" dirty="0">
                <a:latin typeface="Times New Roman" panose="02020603050405020304" pitchFamily="18" charset="0"/>
                <a:cs typeface="Times New Roman" panose="02020603050405020304" pitchFamily="18" charset="0"/>
              </a:rPr>
              <a:t>rather than test case design</a:t>
            </a:r>
            <a:r>
              <a:rPr lang="en-IN" sz="2000" dirty="0"/>
              <a:t>.</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fontAlgn="base">
              <a:buFont typeface="Wingdings" panose="05000000000000000000" pitchFamily="2" charset="2"/>
              <a:buChar char="q"/>
            </a:pPr>
            <a:r>
              <a:rPr lang="en-IN" b="1" u="sng" dirty="0">
                <a:latin typeface="Times New Roman" panose="02020603050405020304" pitchFamily="18" charset="0"/>
                <a:cs typeface="Times New Roman" panose="02020603050405020304" pitchFamily="18" charset="0"/>
              </a:rPr>
              <a:t>The following sequence of steps is generally followed:</a:t>
            </a:r>
          </a:p>
          <a:p>
            <a:pPr fontAlgn="base">
              <a:buFont typeface="Wingdings" panose="05000000000000000000" pitchFamily="2" charset="2"/>
              <a:buChar char="Ø"/>
            </a:pPr>
            <a:r>
              <a:rPr lang="en-IN" sz="2000" dirty="0"/>
              <a:t>Add a test – Write a test case that describe the function completely. In order to make the test cases the developer must understand the features and requirements using user stories and use cases.</a:t>
            </a:r>
          </a:p>
          <a:p>
            <a:pPr fontAlgn="base">
              <a:buFont typeface="Wingdings" panose="05000000000000000000" pitchFamily="2" charset="2"/>
              <a:buChar char="Ø"/>
            </a:pPr>
            <a:r>
              <a:rPr lang="en-IN" sz="2100" dirty="0">
                <a:solidFill>
                  <a:srgbClr val="FF0000"/>
                </a:solidFill>
                <a:latin typeface="Times New Roman" panose="02020603050405020304" pitchFamily="18" charset="0"/>
                <a:cs typeface="Times New Roman" panose="02020603050405020304" pitchFamily="18" charset="0"/>
              </a:rPr>
              <a:t>Run all the test </a:t>
            </a:r>
            <a:r>
              <a:rPr lang="en-IN" sz="2100" dirty="0">
                <a:latin typeface="Times New Roman" panose="02020603050405020304" pitchFamily="18" charset="0"/>
                <a:cs typeface="Times New Roman" panose="02020603050405020304" pitchFamily="18" charset="0"/>
              </a:rPr>
              <a:t>cases and </a:t>
            </a:r>
            <a:r>
              <a:rPr lang="en-IN" sz="2100" dirty="0">
                <a:solidFill>
                  <a:srgbClr val="FF0000"/>
                </a:solidFill>
                <a:latin typeface="Times New Roman" panose="02020603050405020304" pitchFamily="18" charset="0"/>
                <a:cs typeface="Times New Roman" panose="02020603050405020304" pitchFamily="18" charset="0"/>
              </a:rPr>
              <a:t>make sure that the new test case fails</a:t>
            </a:r>
            <a:r>
              <a:rPr lang="en-IN" sz="2100" dirty="0">
                <a:latin typeface="Times New Roman" panose="02020603050405020304" pitchFamily="18" charset="0"/>
                <a:cs typeface="Times New Roman" panose="02020603050405020304" pitchFamily="18" charset="0"/>
              </a:rPr>
              <a:t>.</a:t>
            </a:r>
          </a:p>
          <a:p>
            <a:pPr fontAlgn="base">
              <a:buFont typeface="Wingdings" panose="05000000000000000000" pitchFamily="2" charset="2"/>
              <a:buChar char="Ø"/>
            </a:pPr>
            <a:r>
              <a:rPr lang="en-IN" sz="2100" dirty="0">
                <a:solidFill>
                  <a:srgbClr val="FF0000"/>
                </a:solidFill>
                <a:latin typeface="Times New Roman" panose="02020603050405020304" pitchFamily="18" charset="0"/>
                <a:cs typeface="Times New Roman" panose="02020603050405020304" pitchFamily="18" charset="0"/>
              </a:rPr>
              <a:t>Write the code </a:t>
            </a:r>
            <a:r>
              <a:rPr lang="en-IN" sz="2100" dirty="0">
                <a:latin typeface="Times New Roman" panose="02020603050405020304" pitchFamily="18" charset="0"/>
                <a:cs typeface="Times New Roman" panose="02020603050405020304" pitchFamily="18" charset="0"/>
              </a:rPr>
              <a:t>that passes the test case</a:t>
            </a:r>
          </a:p>
          <a:p>
            <a:pPr fontAlgn="base">
              <a:buFont typeface="Wingdings" panose="05000000000000000000" pitchFamily="2" charset="2"/>
              <a:buChar char="Ø"/>
            </a:pPr>
            <a:r>
              <a:rPr lang="en-IN" sz="2100" dirty="0">
                <a:solidFill>
                  <a:srgbClr val="FF0000"/>
                </a:solidFill>
                <a:latin typeface="Times New Roman" panose="02020603050405020304" pitchFamily="18" charset="0"/>
                <a:cs typeface="Times New Roman" panose="02020603050405020304" pitchFamily="18" charset="0"/>
              </a:rPr>
              <a:t>Run the test cases</a:t>
            </a:r>
          </a:p>
          <a:p>
            <a:pPr fontAlgn="base">
              <a:buFont typeface="Wingdings" panose="05000000000000000000" pitchFamily="2" charset="2"/>
              <a:buChar char="Ø"/>
            </a:pPr>
            <a:r>
              <a:rPr lang="en-IN" sz="2100" dirty="0">
                <a:solidFill>
                  <a:srgbClr val="FF0000"/>
                </a:solidFill>
                <a:latin typeface="Times New Roman" panose="02020603050405020304" pitchFamily="18" charset="0"/>
                <a:cs typeface="Times New Roman" panose="02020603050405020304" pitchFamily="18" charset="0"/>
              </a:rPr>
              <a:t>Refactor code </a:t>
            </a:r>
            <a:r>
              <a:rPr lang="en-IN" sz="2100" dirty="0">
                <a:latin typeface="Times New Roman" panose="02020603050405020304" pitchFamily="18" charset="0"/>
                <a:cs typeface="Times New Roman" panose="02020603050405020304" pitchFamily="18" charset="0"/>
              </a:rPr>
              <a:t>– This is done to remove duplication of code.</a:t>
            </a:r>
          </a:p>
          <a:p>
            <a:pPr fontAlgn="base">
              <a:buFont typeface="Wingdings" panose="05000000000000000000" pitchFamily="2" charset="2"/>
              <a:buChar char="Ø"/>
            </a:pPr>
            <a:r>
              <a:rPr lang="en-IN" sz="2100" dirty="0">
                <a:latin typeface="Times New Roman" panose="02020603050405020304" pitchFamily="18" charset="0"/>
                <a:cs typeface="Times New Roman" panose="02020603050405020304" pitchFamily="18" charset="0"/>
              </a:rPr>
              <a:t>Repeat the above mentioned steps again and again</a:t>
            </a:r>
          </a:p>
          <a:p>
            <a:pPr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14940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960358"/>
          </a:xfrm>
        </p:spPr>
        <p:txBody>
          <a:bodyPr>
            <a:normAutofit fontScale="70000" lnSpcReduction="20000"/>
          </a:bodyPr>
          <a:lstStyle/>
          <a:p>
            <a:pPr>
              <a:buFont typeface="Wingdings" panose="05000000000000000000" pitchFamily="2" charset="2"/>
              <a:buChar char="q"/>
            </a:pPr>
            <a:r>
              <a:rPr lang="en-IN" sz="4000" b="1" u="sng" dirty="0">
                <a:latin typeface="Times New Roman" panose="02020603050405020304" pitchFamily="18" charset="0"/>
                <a:cs typeface="Times New Roman" panose="02020603050405020304" pitchFamily="18" charset="0"/>
              </a:rPr>
              <a:t>TDD is usually described as a sequence of events, as follows:</a:t>
            </a:r>
          </a:p>
          <a:p>
            <a:pPr marL="0" indent="0" algn="just">
              <a:buNone/>
            </a:pPr>
            <a:br>
              <a:rPr lang="en-IN" dirty="0"/>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Implement the test</a:t>
            </a:r>
            <a:r>
              <a:rPr lang="en-IN" dirty="0">
                <a:latin typeface="Times New Roman" panose="02020603050405020304" pitchFamily="18" charset="0"/>
                <a:cs typeface="Times New Roman" panose="02020603050405020304" pitchFamily="18" charset="0"/>
              </a:rPr>
              <a:t>: As the name implies, </a:t>
            </a:r>
            <a:r>
              <a:rPr lang="en-IN" dirty="0">
                <a:solidFill>
                  <a:srgbClr val="FF0000"/>
                </a:solidFill>
                <a:latin typeface="Times New Roman" panose="02020603050405020304" pitchFamily="18" charset="0"/>
                <a:cs typeface="Times New Roman" panose="02020603050405020304" pitchFamily="18" charset="0"/>
              </a:rPr>
              <a:t>you start out by writing the test and write the code afterwards.</a:t>
            </a:r>
            <a:r>
              <a:rPr lang="en-IN" dirty="0">
                <a:latin typeface="Times New Roman" panose="02020603050405020304" pitchFamily="18" charset="0"/>
                <a:cs typeface="Times New Roman" panose="02020603050405020304" pitchFamily="18" charset="0"/>
              </a:rPr>
              <a:t> To be able to write the test, the developer must find all relevant requirement specifications, use cases, and user stories. The shift in focus from coding to understanding the requirements can be beneficial for implementing them correctly.</a:t>
            </a:r>
          </a:p>
          <a:p>
            <a:pPr marL="0" indent="0" algn="just">
              <a:buNone/>
            </a:pP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Verify that the new test fails: </a:t>
            </a:r>
            <a:r>
              <a:rPr lang="en-IN" dirty="0">
                <a:latin typeface="Times New Roman" panose="02020603050405020304" pitchFamily="18" charset="0"/>
                <a:cs typeface="Times New Roman" panose="02020603050405020304" pitchFamily="18" charset="0"/>
              </a:rPr>
              <a:t>The newly added test should fail </a:t>
            </a:r>
            <a:r>
              <a:rPr lang="en-IN" dirty="0">
                <a:solidFill>
                  <a:srgbClr val="FF0000"/>
                </a:solidFill>
                <a:latin typeface="Times New Roman" panose="02020603050405020304" pitchFamily="18" charset="0"/>
                <a:cs typeface="Times New Roman" panose="02020603050405020304" pitchFamily="18" charset="0"/>
              </a:rPr>
              <a:t>because there is nothing to implement the behaviour properly yet, </a:t>
            </a:r>
            <a:r>
              <a:rPr lang="en-IN" dirty="0">
                <a:latin typeface="Times New Roman" panose="02020603050405020304" pitchFamily="18" charset="0"/>
                <a:cs typeface="Times New Roman" panose="02020603050405020304" pitchFamily="18" charset="0"/>
              </a:rPr>
              <a:t>only the stubs and interfaces needed to write the test. Run the test and verify that it fails.</a:t>
            </a:r>
          </a:p>
          <a:p>
            <a:pPr marL="0" indent="0" algn="just">
              <a:buNone/>
            </a:pP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Write code that implements the tested feature: </a:t>
            </a:r>
            <a:r>
              <a:rPr lang="en-IN" dirty="0">
                <a:latin typeface="Times New Roman" panose="02020603050405020304" pitchFamily="18" charset="0"/>
                <a:cs typeface="Times New Roman" panose="02020603050405020304" pitchFamily="18" charset="0"/>
              </a:rPr>
              <a:t>The code we write doesn't yet have to be particularly elegant or efficient. Initially, we just want to make the new test pass.</a:t>
            </a:r>
          </a:p>
          <a:p>
            <a:pPr marL="0" indent="0" algn="just">
              <a:buNone/>
            </a:pP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Verify that the new test passes together with the old tests: </a:t>
            </a:r>
            <a:r>
              <a:rPr lang="en-IN" dirty="0">
                <a:latin typeface="Times New Roman" panose="02020603050405020304" pitchFamily="18" charset="0"/>
                <a:cs typeface="Times New Roman" panose="02020603050405020304" pitchFamily="18" charset="0"/>
              </a:rPr>
              <a:t>When the new test passes, we know that we have implemented the new feature correctly. Since the old tests also pass, we haven't broken existing functionality.</a:t>
            </a:r>
          </a:p>
          <a:p>
            <a:pPr marL="0" indent="0" algn="just">
              <a:buNone/>
            </a:pP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Refactor the code: </a:t>
            </a:r>
            <a:r>
              <a:rPr lang="en-IN" dirty="0">
                <a:latin typeface="Times New Roman" panose="02020603050405020304" pitchFamily="18" charset="0"/>
                <a:cs typeface="Times New Roman" panose="02020603050405020304" pitchFamily="18" charset="0"/>
              </a:rPr>
              <a:t>The word "refactor" has mathematical roots. In programming, it means cleaning up the code and, among other things, making it easier to understand and maintain. We need to refactor since we cheated a bit earlier in the development.</a:t>
            </a:r>
          </a:p>
          <a:p>
            <a:pPr marL="0" indent="0" algn="just">
              <a:buNone/>
            </a:pP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TDD is a style of development that fits well with DevOps, but it's not necessarily the only one. The primary benefit is that you get good test suites that can be used in Continuous Integration tests.</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8343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ive Steps of Test-Driven Developme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5595" y="293427"/>
            <a:ext cx="10126638" cy="6564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14516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994" y="105817"/>
            <a:ext cx="10515600" cy="1804869"/>
          </a:xfrm>
        </p:spPr>
        <p:txBody>
          <a:bodyPr>
            <a:normAutofit fontScale="90000"/>
          </a:bodyPr>
          <a:lstStyle/>
          <a:p>
            <a:pPr fontAlgn="base"/>
            <a:br>
              <a:rPr lang="en-IN" sz="2000" b="1" dirty="0"/>
            </a:br>
            <a:r>
              <a:rPr lang="en-IN" sz="4900" b="1" i="1" u="sng" dirty="0">
                <a:latin typeface="Times New Roman" panose="02020603050405020304" pitchFamily="18" charset="0"/>
                <a:cs typeface="Times New Roman" panose="02020603050405020304" pitchFamily="18" charset="0"/>
              </a:rPr>
              <a:t>Red/Green/Refactor cycle</a:t>
            </a:r>
            <a:br>
              <a:rPr lang="en-IN" sz="4900" b="1" i="1" u="sng" dirty="0">
                <a:latin typeface="Times New Roman" panose="02020603050405020304" pitchFamily="18" charset="0"/>
                <a:cs typeface="Times New Roman" panose="02020603050405020304" pitchFamily="18" charset="0"/>
              </a:rPr>
            </a:br>
            <a:br>
              <a:rPr lang="en-IN" sz="2000" b="1" i="1"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cs typeface="Times New Roman" panose="02020603050405020304" pitchFamily="18" charset="0"/>
              </a:rPr>
              <a:t>red –</a:t>
            </a:r>
            <a:r>
              <a:rPr lang="en-IN" sz="2700" dirty="0">
                <a:latin typeface="Times New Roman" panose="02020603050405020304" pitchFamily="18" charset="0"/>
                <a:cs typeface="Times New Roman" panose="02020603050405020304" pitchFamily="18" charset="0"/>
              </a:rPr>
              <a:t> Create a test case and make it fail</a:t>
            </a:r>
            <a:br>
              <a:rPr lang="en-IN" sz="2700"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cs typeface="Times New Roman" panose="02020603050405020304" pitchFamily="18" charset="0"/>
              </a:rPr>
              <a:t>Green –</a:t>
            </a:r>
            <a:r>
              <a:rPr lang="en-IN" sz="2700" dirty="0">
                <a:latin typeface="Times New Roman" panose="02020603050405020304" pitchFamily="18" charset="0"/>
                <a:cs typeface="Times New Roman" panose="02020603050405020304" pitchFamily="18" charset="0"/>
              </a:rPr>
              <a:t> Make the test case pass by any means.</a:t>
            </a:r>
            <a:br>
              <a:rPr lang="en-IN" sz="2700"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cs typeface="Times New Roman" panose="02020603050405020304" pitchFamily="18" charset="0"/>
              </a:rPr>
              <a:t>Refactor –</a:t>
            </a:r>
            <a:r>
              <a:rPr lang="en-IN" sz="2700" dirty="0">
                <a:latin typeface="Times New Roman" panose="02020603050405020304" pitchFamily="18" charset="0"/>
                <a:cs typeface="Times New Roman" panose="02020603050405020304" pitchFamily="18" charset="0"/>
              </a:rPr>
              <a:t> Change the code to remove duplicate/redundancy</a:t>
            </a:r>
            <a:br>
              <a:rPr lang="en-IN" sz="2700" dirty="0">
                <a:latin typeface="Times New Roman" panose="02020603050405020304" pitchFamily="18" charset="0"/>
                <a:cs typeface="Times New Roman" panose="02020603050405020304" pitchFamily="18" charset="0"/>
              </a:rPr>
            </a:br>
            <a:endParaRPr lang="en-IN" sz="2700" dirty="0">
              <a:latin typeface="Times New Roman" panose="02020603050405020304" pitchFamily="18" charset="0"/>
              <a:cs typeface="Times New Roman" panose="02020603050405020304" pitchFamily="18" charset="0"/>
            </a:endParaRPr>
          </a:p>
        </p:txBody>
      </p:sp>
      <p:pic>
        <p:nvPicPr>
          <p:cNvPr id="29698" name="Picture 2" descr="TDD cycl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9433" y="2129051"/>
            <a:ext cx="11518710" cy="4416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93521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465754"/>
          </a:xfrm>
        </p:spPr>
        <p:txBody>
          <a:bodyPr>
            <a:normAutofit fontScale="90000"/>
          </a:bodyPr>
          <a:lstStyle/>
          <a:p>
            <a:br>
              <a:rPr lang="en-IN" dirty="0"/>
            </a:br>
            <a:r>
              <a:rPr lang="en-IN" sz="3100" b="1" dirty="0">
                <a:latin typeface="Times New Roman" panose="02020603050405020304" pitchFamily="18" charset="0"/>
                <a:cs typeface="Times New Roman" panose="02020603050405020304" pitchFamily="18" charset="0"/>
              </a:rPr>
              <a:t>Benefits of TDD:-</a:t>
            </a:r>
            <a:br>
              <a:rPr lang="en-IN" sz="3100" b="1" dirty="0">
                <a:latin typeface="Times New Roman" panose="02020603050405020304" pitchFamily="18" charset="0"/>
                <a:cs typeface="Times New Roman" panose="02020603050405020304" pitchFamily="18" charset="0"/>
              </a:rPr>
            </a:br>
            <a:endParaRPr lang="en-IN" sz="31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588584"/>
            <a:ext cx="12192000" cy="6269416"/>
          </a:xfrm>
        </p:spPr>
        <p:txBody>
          <a:bodyPr>
            <a:normAutofit fontScale="77500" lnSpcReduction="20000"/>
          </a:bodyPr>
          <a:lstStyle/>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Much </a:t>
            </a:r>
            <a:r>
              <a:rPr lang="en-IN" dirty="0">
                <a:solidFill>
                  <a:srgbClr val="FF0000"/>
                </a:solidFill>
                <a:latin typeface="Times New Roman" panose="02020603050405020304" pitchFamily="18" charset="0"/>
                <a:cs typeface="Times New Roman" panose="02020603050405020304" pitchFamily="18" charset="0"/>
              </a:rPr>
              <a:t>less debug time</a:t>
            </a:r>
          </a:p>
          <a:p>
            <a:pPr algn="just">
              <a:buFont typeface="Wingdings" panose="05000000000000000000" pitchFamily="2" charset="2"/>
              <a:buChar char="Ø"/>
            </a:pPr>
            <a:r>
              <a:rPr lang="en-IN" dirty="0">
                <a:solidFill>
                  <a:srgbClr val="FF0000"/>
                </a:solidFill>
                <a:latin typeface="Times New Roman" panose="02020603050405020304" pitchFamily="18" charset="0"/>
                <a:cs typeface="Times New Roman" panose="02020603050405020304" pitchFamily="18" charset="0"/>
              </a:rPr>
              <a:t>Code proven to meet requirements</a:t>
            </a: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dirty="0">
                <a:solidFill>
                  <a:srgbClr val="FF0000"/>
                </a:solidFill>
                <a:latin typeface="Times New Roman" panose="02020603050405020304" pitchFamily="18" charset="0"/>
                <a:cs typeface="Times New Roman" panose="02020603050405020304" pitchFamily="18" charset="0"/>
              </a:rPr>
              <a:t>Mostly  zero defects</a:t>
            </a:r>
          </a:p>
          <a:p>
            <a:pPr algn="just">
              <a:buFont typeface="Wingdings" panose="05000000000000000000" pitchFamily="2" charset="2"/>
              <a:buChar char="Ø"/>
            </a:pPr>
            <a:r>
              <a:rPr lang="en-IN" dirty="0">
                <a:solidFill>
                  <a:srgbClr val="FF0000"/>
                </a:solidFill>
                <a:latin typeface="Times New Roman" panose="02020603050405020304" pitchFamily="18" charset="0"/>
                <a:cs typeface="Times New Roman" panose="02020603050405020304" pitchFamily="18" charset="0"/>
              </a:rPr>
              <a:t>Shorter development cycle</a:t>
            </a:r>
          </a:p>
          <a:p>
            <a:pPr marL="0" indent="0" algn="just">
              <a:buNone/>
            </a:pPr>
            <a:endParaRPr lang="en-IN" dirty="0">
              <a:latin typeface="Times New Roman" panose="02020603050405020304" pitchFamily="18" charset="0"/>
              <a:cs typeface="Times New Roman" panose="02020603050405020304" pitchFamily="18" charset="0"/>
            </a:endParaRPr>
          </a:p>
          <a:p>
            <a:pPr algn="just"/>
            <a:r>
              <a:rPr lang="en-IN" u="sng" dirty="0">
                <a:latin typeface="Times New Roman" panose="02020603050405020304" pitchFamily="18" charset="0"/>
                <a:cs typeface="Times New Roman" panose="02020603050405020304" pitchFamily="18" charset="0"/>
              </a:rPr>
              <a:t>Following are the main advantages of Test Driven Development in Software Engineering:</a:t>
            </a:r>
          </a:p>
          <a:p>
            <a:pPr marL="0" indent="0" algn="just">
              <a:buNone/>
            </a:pP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Early bug notification.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Developers test their code but in the database world, this often consists of manual tests or one-off scripts. Using TDD you build up, over time, a suite of automated tests that you and any other developer can rerun at will.</a:t>
            </a:r>
          </a:p>
          <a:p>
            <a:pPr marL="0" indent="0" algn="just">
              <a:buNone/>
            </a:pP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Better Designed, cleaner and more extensible code.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It helps </a:t>
            </a:r>
            <a:r>
              <a:rPr lang="en-IN" dirty="0">
                <a:solidFill>
                  <a:srgbClr val="FF0000"/>
                </a:solidFill>
                <a:latin typeface="Times New Roman" panose="02020603050405020304" pitchFamily="18" charset="0"/>
                <a:cs typeface="Times New Roman" panose="02020603050405020304" pitchFamily="18" charset="0"/>
              </a:rPr>
              <a:t>to understand how the code will be used and how it interacts with other modules.</a:t>
            </a:r>
          </a:p>
          <a:p>
            <a:pPr algn="just"/>
            <a:r>
              <a:rPr lang="en-IN" dirty="0">
                <a:latin typeface="Times New Roman" panose="02020603050405020304" pitchFamily="18" charset="0"/>
                <a:cs typeface="Times New Roman" panose="02020603050405020304" pitchFamily="18" charset="0"/>
              </a:rPr>
              <a:t>It </a:t>
            </a:r>
            <a:r>
              <a:rPr lang="en-IN" dirty="0">
                <a:solidFill>
                  <a:srgbClr val="FF0000"/>
                </a:solidFill>
                <a:latin typeface="Times New Roman" panose="02020603050405020304" pitchFamily="18" charset="0"/>
                <a:cs typeface="Times New Roman" panose="02020603050405020304" pitchFamily="18" charset="0"/>
              </a:rPr>
              <a:t>results in better design decision and more maintainable code</a:t>
            </a:r>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TDD </a:t>
            </a:r>
            <a:r>
              <a:rPr lang="en-IN" dirty="0">
                <a:solidFill>
                  <a:srgbClr val="FF0000"/>
                </a:solidFill>
                <a:latin typeface="Times New Roman" panose="02020603050405020304" pitchFamily="18" charset="0"/>
                <a:cs typeface="Times New Roman" panose="02020603050405020304" pitchFamily="18" charset="0"/>
              </a:rPr>
              <a:t>allows writing smaller code having single responsibility rather than monolithic procedures with multiple responsibilities</a:t>
            </a:r>
            <a:r>
              <a:rPr lang="en-IN" dirty="0">
                <a:latin typeface="Times New Roman" panose="02020603050405020304" pitchFamily="18" charset="0"/>
                <a:cs typeface="Times New Roman" panose="02020603050405020304" pitchFamily="18" charset="0"/>
              </a:rPr>
              <a:t>. This makes the code simpler to understand.</a:t>
            </a:r>
          </a:p>
          <a:p>
            <a:pPr algn="just"/>
            <a:r>
              <a:rPr lang="en-IN" dirty="0">
                <a:latin typeface="Times New Roman" panose="02020603050405020304" pitchFamily="18" charset="0"/>
                <a:cs typeface="Times New Roman" panose="02020603050405020304" pitchFamily="18" charset="0"/>
              </a:rPr>
              <a:t>TDD also </a:t>
            </a:r>
            <a:r>
              <a:rPr lang="en-IN" dirty="0">
                <a:solidFill>
                  <a:srgbClr val="FF0000"/>
                </a:solidFill>
                <a:latin typeface="Times New Roman" panose="02020603050405020304" pitchFamily="18" charset="0"/>
                <a:cs typeface="Times New Roman" panose="02020603050405020304" pitchFamily="18" charset="0"/>
              </a:rPr>
              <a:t>forces to write only production code to pass tests based on user requirements.</a:t>
            </a:r>
          </a:p>
          <a:p>
            <a:endParaRPr lang="en-IN" dirty="0">
              <a:solidFill>
                <a:srgbClr val="FF0000"/>
              </a:solidFill>
            </a:endParaRPr>
          </a:p>
        </p:txBody>
      </p:sp>
    </p:spTree>
    <p:extLst>
      <p:ext uri="{BB962C8B-B14F-4D97-AF65-F5344CB8AC3E}">
        <p14:creationId xmlns:p14="http://schemas.microsoft.com/office/powerpoint/2010/main" val="26948850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Confidence to Refactor</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If you refactor code, </a:t>
            </a:r>
            <a:r>
              <a:rPr lang="en-IN" sz="2000" dirty="0">
                <a:solidFill>
                  <a:srgbClr val="FF0000"/>
                </a:solidFill>
                <a:latin typeface="Times New Roman" panose="02020603050405020304" pitchFamily="18" charset="0"/>
                <a:cs typeface="Times New Roman" panose="02020603050405020304" pitchFamily="18" charset="0"/>
              </a:rPr>
              <a:t>there can be possibilities of breaks in the code</a:t>
            </a:r>
            <a:r>
              <a:rPr lang="en-IN" sz="2000" dirty="0">
                <a:latin typeface="Times New Roman" panose="02020603050405020304" pitchFamily="18" charset="0"/>
                <a:cs typeface="Times New Roman" panose="02020603050405020304" pitchFamily="18" charset="0"/>
              </a:rPr>
              <a:t>. So having a set of automated tests you can fix those breaks before release. Proper warning will be given if breaks found when automated tests are used.</a:t>
            </a:r>
          </a:p>
          <a:p>
            <a:r>
              <a:rPr lang="en-IN" sz="2000" dirty="0">
                <a:latin typeface="Times New Roman" panose="02020603050405020304" pitchFamily="18" charset="0"/>
                <a:cs typeface="Times New Roman" panose="02020603050405020304" pitchFamily="18" charset="0"/>
              </a:rPr>
              <a:t>Using TDD, should results in faster, more extensible code with fewer bugs that can be updated with minimal risks.</a:t>
            </a:r>
          </a:p>
          <a:p>
            <a:pPr marL="0" indent="0">
              <a:buNone/>
            </a:pP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Good for teamwork</a:t>
            </a:r>
            <a:endParaRPr lang="en-IN" sz="2000" dirty="0">
              <a:latin typeface="Times New Roman" panose="02020603050405020304" pitchFamily="18" charset="0"/>
              <a:cs typeface="Times New Roman" panose="02020603050405020304" pitchFamily="18" charset="0"/>
            </a:endParaRPr>
          </a:p>
          <a:p>
            <a:r>
              <a:rPr lang="en-IN" sz="2000" dirty="0">
                <a:solidFill>
                  <a:srgbClr val="FF0000"/>
                </a:solidFill>
                <a:latin typeface="Times New Roman" panose="02020603050405020304" pitchFamily="18" charset="0"/>
                <a:cs typeface="Times New Roman" panose="02020603050405020304" pitchFamily="18" charset="0"/>
              </a:rPr>
              <a:t>In the absence of any team member, other team members can easily pick up and work </a:t>
            </a:r>
            <a:r>
              <a:rPr lang="en-IN" sz="2000" dirty="0">
                <a:latin typeface="Times New Roman" panose="02020603050405020304" pitchFamily="18" charset="0"/>
                <a:cs typeface="Times New Roman" panose="02020603050405020304" pitchFamily="18" charset="0"/>
              </a:rPr>
              <a:t>on the code. It also aids knowledge sharing, thereby making the team more effective overall.</a:t>
            </a:r>
          </a:p>
          <a:p>
            <a:pPr marL="0" indent="0">
              <a:buNone/>
            </a:pP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Good for Developers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Though developers have to spend more time in writing TDD test cases, it takes a lot less time for debugging and developing new features. You will write cleaner, less complicated code.</a:t>
            </a:r>
          </a:p>
          <a:p>
            <a:pPr marL="0" indent="0">
              <a:buNone/>
            </a:pPr>
            <a:endParaRPr lang="en-IN" sz="2000" dirty="0">
              <a:latin typeface="Times New Roman" panose="02020603050405020304" pitchFamily="18" charset="0"/>
              <a:cs typeface="Times New Roman" panose="02020603050405020304" pitchFamily="18" charset="0"/>
            </a:endParaRPr>
          </a:p>
          <a:p>
            <a:pPr fontAlgn="base">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It can enable </a:t>
            </a:r>
            <a:r>
              <a:rPr lang="en-IN" sz="2000" dirty="0">
                <a:solidFill>
                  <a:srgbClr val="FF0000"/>
                </a:solidFill>
                <a:latin typeface="Times New Roman" panose="02020603050405020304" pitchFamily="18" charset="0"/>
                <a:cs typeface="Times New Roman" panose="02020603050405020304" pitchFamily="18" charset="0"/>
              </a:rPr>
              <a:t>faster innovation and continuous delivery </a:t>
            </a:r>
            <a:r>
              <a:rPr lang="en-IN" sz="2000" dirty="0">
                <a:latin typeface="Times New Roman" panose="02020603050405020304" pitchFamily="18" charset="0"/>
                <a:cs typeface="Times New Roman" panose="02020603050405020304" pitchFamily="18" charset="0"/>
              </a:rPr>
              <a:t>because the code is robust.</a:t>
            </a:r>
          </a:p>
          <a:p>
            <a:pPr marL="0" indent="0" fontAlgn="base">
              <a:buNone/>
            </a:pPr>
            <a:endParaRPr lang="en-IN" sz="2000" dirty="0">
              <a:latin typeface="Times New Roman" panose="02020603050405020304" pitchFamily="18" charset="0"/>
              <a:cs typeface="Times New Roman" panose="02020603050405020304" pitchFamily="18" charset="0"/>
            </a:endParaRPr>
          </a:p>
          <a:p>
            <a:pPr fontAlgn="base">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It makes </a:t>
            </a:r>
            <a:r>
              <a:rPr lang="en-IN" sz="2000" dirty="0">
                <a:solidFill>
                  <a:srgbClr val="FF0000"/>
                </a:solidFill>
                <a:latin typeface="Times New Roman" panose="02020603050405020304" pitchFamily="18" charset="0"/>
                <a:cs typeface="Times New Roman" panose="02020603050405020304" pitchFamily="18" charset="0"/>
              </a:rPr>
              <a:t>your code flexible and extensible. </a:t>
            </a:r>
            <a:r>
              <a:rPr lang="en-IN" sz="2000" dirty="0">
                <a:latin typeface="Times New Roman" panose="02020603050405020304" pitchFamily="18" charset="0"/>
                <a:cs typeface="Times New Roman" panose="02020603050405020304" pitchFamily="18" charset="0"/>
              </a:rPr>
              <a:t>The </a:t>
            </a:r>
            <a:r>
              <a:rPr lang="en-IN" sz="2000" dirty="0">
                <a:solidFill>
                  <a:srgbClr val="FF0000"/>
                </a:solidFill>
                <a:latin typeface="Times New Roman" panose="02020603050405020304" pitchFamily="18" charset="0"/>
                <a:cs typeface="Times New Roman" panose="02020603050405020304" pitchFamily="18" charset="0"/>
              </a:rPr>
              <a:t>code can be refactored or moved </a:t>
            </a:r>
            <a:r>
              <a:rPr lang="en-IN" sz="2000" dirty="0">
                <a:latin typeface="Times New Roman" panose="02020603050405020304" pitchFamily="18" charset="0"/>
                <a:cs typeface="Times New Roman" panose="02020603050405020304" pitchFamily="18" charset="0"/>
              </a:rPr>
              <a:t>with minimal risk of breaking code.</a:t>
            </a:r>
          </a:p>
          <a:p>
            <a:pPr fontAlgn="base">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The </a:t>
            </a:r>
            <a:r>
              <a:rPr lang="en-IN" sz="2000" dirty="0">
                <a:solidFill>
                  <a:srgbClr val="FF0000"/>
                </a:solidFill>
                <a:latin typeface="Times New Roman" panose="02020603050405020304" pitchFamily="18" charset="0"/>
                <a:cs typeface="Times New Roman" panose="02020603050405020304" pitchFamily="18" charset="0"/>
              </a:rPr>
              <a:t>requirements are implemented with little to no wasted effort </a:t>
            </a:r>
            <a:r>
              <a:rPr lang="en-IN" sz="2000" dirty="0">
                <a:latin typeface="Times New Roman" panose="02020603050405020304" pitchFamily="18" charset="0"/>
                <a:cs typeface="Times New Roman" panose="02020603050405020304" pitchFamily="18" charset="0"/>
              </a:rPr>
              <a:t>because only the function that is needed is written.</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95604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382</TotalTime>
  <Words>2672</Words>
  <Application>Microsoft Office PowerPoint</Application>
  <PresentationFormat>Widescreen</PresentationFormat>
  <Paragraphs>202</Paragraphs>
  <Slides>35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arial</vt:lpstr>
      <vt:lpstr>Calibri</vt:lpstr>
      <vt:lpstr>Calibri Light</vt:lpstr>
      <vt:lpstr>charter</vt:lpstr>
      <vt:lpstr>Open Sans</vt:lpstr>
      <vt:lpstr>Times New Roman</vt:lpstr>
      <vt:lpstr>Wingdings</vt:lpstr>
      <vt:lpstr>Office Theme</vt:lpstr>
      <vt:lpstr>Selenium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Test Driven Development (TDD)?  </vt:lpstr>
      <vt:lpstr>PowerPoint Presentation</vt:lpstr>
      <vt:lpstr>PowerPoint Presentation</vt:lpstr>
      <vt:lpstr>PowerPoint Presentation</vt:lpstr>
      <vt:lpstr>PowerPoint Presentation</vt:lpstr>
      <vt:lpstr> Red/Green/Refactor cycle  red – Create a test case and make it fail Green – Make the test case pass by any means. Refactor – Change the code to remove duplicate/redundancy </vt:lpstr>
      <vt:lpstr> Benefits of TDD:-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SPThota</dc:creator>
  <cp:lastModifiedBy>SAI CHARAN THOTA</cp:lastModifiedBy>
  <cp:revision>10</cp:revision>
  <dcterms:created xsi:type="dcterms:W3CDTF">2021-10-26T16:39:17Z</dcterms:created>
  <dcterms:modified xsi:type="dcterms:W3CDTF">2021-10-29T05:17:00Z</dcterms:modified>
</cp:coreProperties>
</file>