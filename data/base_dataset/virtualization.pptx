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5" r:id="rId3"/>
    <p:sldId id="286" r:id="rId4"/>
    <p:sldId id="287" r:id="rId5"/>
    <p:sldId id="288" r:id="rId6"/>
    <p:sldId id="289" r:id="rId7"/>
    <p:sldId id="290" r:id="rId8"/>
    <p:sldId id="291" r:id="rId9"/>
    <p:sldId id="292" r:id="rId10"/>
    <p:sldId id="293" r:id="rId11"/>
    <p:sldId id="258" r:id="rId12"/>
    <p:sldId id="279" r:id="rId13"/>
    <p:sldId id="269" r:id="rId14"/>
    <p:sldId id="259" r:id="rId15"/>
    <p:sldId id="274" r:id="rId16"/>
    <p:sldId id="280" r:id="rId17"/>
    <p:sldId id="262" r:id="rId18"/>
    <p:sldId id="263" r:id="rId19"/>
    <p:sldId id="278" r:id="rId20"/>
    <p:sldId id="281" r:id="rId21"/>
    <p:sldId id="283" r:id="rId22"/>
    <p:sldId id="284" r:id="rId23"/>
    <p:sldId id="257" r:id="rId24"/>
    <p:sldId id="267"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EBA3-845E-4859-BCD0-B576388078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9079BD-F620-4DB4-B45D-535067AFCB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A6F396-70C9-4029-B5A3-E81596391F99}"/>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5" name="Footer Placeholder 4">
            <a:extLst>
              <a:ext uri="{FF2B5EF4-FFF2-40B4-BE49-F238E27FC236}">
                <a16:creationId xmlns:a16="http://schemas.microsoft.com/office/drawing/2014/main" id="{B345FA8F-3EFA-4DB0-9874-3739B1A739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E923F4-56E2-4120-B3AF-2E992F4E92FB}"/>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2766968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F1A9F-B98F-451A-92A8-65233BC791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6321437-35A2-42B9-9654-6961DB3602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67EB3D-49EE-4E30-AC73-22898F394230}"/>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5" name="Footer Placeholder 4">
            <a:extLst>
              <a:ext uri="{FF2B5EF4-FFF2-40B4-BE49-F238E27FC236}">
                <a16:creationId xmlns:a16="http://schemas.microsoft.com/office/drawing/2014/main" id="{EED96128-5304-42CD-9409-85232CA8C1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F0FE01-12DD-4D9A-A589-5358430A0237}"/>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715778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6B761-97F9-4636-867C-3BDCD09EE8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1978F8C-80E2-452E-B019-620579BCEAD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C79B8B-05BA-4D58-BBC7-0448058F3430}"/>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5" name="Footer Placeholder 4">
            <a:extLst>
              <a:ext uri="{FF2B5EF4-FFF2-40B4-BE49-F238E27FC236}">
                <a16:creationId xmlns:a16="http://schemas.microsoft.com/office/drawing/2014/main" id="{F6B9D317-D02F-42F8-A4A0-40F0FB78B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7A18D9-1B6C-4957-9B00-56B1F654F79B}"/>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1859569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E24FE-D02F-491A-9B83-36FA9F154E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6DA1A9-1698-4D37-9EF5-387B576602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91BE265-A704-4FF9-B848-AA21CDAC98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42D2287-16CB-4863-9899-D9011A10C6DC}"/>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6" name="Footer Placeholder 5">
            <a:extLst>
              <a:ext uri="{FF2B5EF4-FFF2-40B4-BE49-F238E27FC236}">
                <a16:creationId xmlns:a16="http://schemas.microsoft.com/office/drawing/2014/main" id="{E9817B63-DF4B-4E0B-BE7D-FAB669D2D3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063A47-5925-4499-B401-A0FD7517F22F}"/>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128823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35FC4-3F4B-4FB9-8C3B-63707565B8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615119-6998-46DB-9BCE-BA5A5FAB15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CDB370-7B6D-4C3C-8B43-F44D7E9150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DFE101-0FAF-4FFC-ACC2-7587A4CC3C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CE074D-5F12-42EA-9D6A-485FCF7746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8578B7-0CE9-4C3B-8445-97CA3FD7A9FC}"/>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8" name="Footer Placeholder 7">
            <a:extLst>
              <a:ext uri="{FF2B5EF4-FFF2-40B4-BE49-F238E27FC236}">
                <a16:creationId xmlns:a16="http://schemas.microsoft.com/office/drawing/2014/main" id="{1B945B6B-0E37-4718-A7E6-D17AFD7EE0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665A65C-3B2B-476D-B31D-2E4B6D4EABAA}"/>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407262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67181-32A4-4F19-BA47-493D66D2605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F13D7A-A046-4B92-9FFA-56F22F001EE0}"/>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4" name="Footer Placeholder 3">
            <a:extLst>
              <a:ext uri="{FF2B5EF4-FFF2-40B4-BE49-F238E27FC236}">
                <a16:creationId xmlns:a16="http://schemas.microsoft.com/office/drawing/2014/main" id="{A3C712A6-6B8D-491C-BD81-8D70573C77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4FEFA86-CD92-4598-AEF8-BBEE14E7B9F5}"/>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2854114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B932C9-92A5-4FFF-B6FD-8DD073C05DB4}"/>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3" name="Footer Placeholder 2">
            <a:extLst>
              <a:ext uri="{FF2B5EF4-FFF2-40B4-BE49-F238E27FC236}">
                <a16:creationId xmlns:a16="http://schemas.microsoft.com/office/drawing/2014/main" id="{0A296361-460B-4518-910F-0BB0767C88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428FB2-FAF2-44C9-BDF6-E70091DBD6F9}"/>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520856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79B0F-0E2D-4B38-A714-56F1B20D9E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81D858-2E85-452C-A7CD-A12EE05EF9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59235C-67B8-4AE9-9921-B5F25FF901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DE2F4F-1913-4F24-84B5-9F3ECEDAC00A}"/>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6" name="Footer Placeholder 5">
            <a:extLst>
              <a:ext uri="{FF2B5EF4-FFF2-40B4-BE49-F238E27FC236}">
                <a16:creationId xmlns:a16="http://schemas.microsoft.com/office/drawing/2014/main" id="{08E322E0-4060-4594-8982-20F78D085D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7402CB-8494-4D5B-B068-AD8A287E4CB6}"/>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4190413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4D335-0447-4F6B-9E6E-02FED003A6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4FFBAB2-EB64-4FBF-8179-62D314A075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AE0C8F1-4182-4200-A344-9450766EE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E842BD-1B91-4823-BD14-1CFEEB18761E}"/>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6" name="Footer Placeholder 5">
            <a:extLst>
              <a:ext uri="{FF2B5EF4-FFF2-40B4-BE49-F238E27FC236}">
                <a16:creationId xmlns:a16="http://schemas.microsoft.com/office/drawing/2014/main" id="{773436F7-408D-4C5E-B40A-58DB2BF376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0E54C5-A9C5-45A2-AC36-FD41A26DBA2A}"/>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2242606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25A28-B5CE-41FD-AD9C-8616D3C52A7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019B65-5BE3-48FF-B6C7-93C06F0817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A96112-3B46-400B-85F0-8E8F7918B4BF}"/>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5" name="Footer Placeholder 4">
            <a:extLst>
              <a:ext uri="{FF2B5EF4-FFF2-40B4-BE49-F238E27FC236}">
                <a16:creationId xmlns:a16="http://schemas.microsoft.com/office/drawing/2014/main" id="{882A2753-C3FA-4B52-BBBC-8A7932FF4D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AC30DB-46BE-4986-9B8A-5417C870E365}"/>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3915676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6CF521-F450-47FC-A040-2A5A4C7569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1E43B6-ACB6-44F5-BB85-611925F5F5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24264E-D18B-4CBA-BEDC-7CF65F15F164}"/>
              </a:ext>
            </a:extLst>
          </p:cNvPr>
          <p:cNvSpPr>
            <a:spLocks noGrp="1"/>
          </p:cNvSpPr>
          <p:nvPr>
            <p:ph type="dt" sz="half" idx="10"/>
          </p:nvPr>
        </p:nvSpPr>
        <p:spPr/>
        <p:txBody>
          <a:bodyPr/>
          <a:lstStyle/>
          <a:p>
            <a:fld id="{F219D74C-8E66-4472-8235-7AB8497F0B3E}" type="datetimeFigureOut">
              <a:rPr lang="en-IN" smtClean="0"/>
              <a:t>02-11-2021</a:t>
            </a:fld>
            <a:endParaRPr lang="en-IN"/>
          </a:p>
        </p:txBody>
      </p:sp>
      <p:sp>
        <p:nvSpPr>
          <p:cNvPr id="5" name="Footer Placeholder 4">
            <a:extLst>
              <a:ext uri="{FF2B5EF4-FFF2-40B4-BE49-F238E27FC236}">
                <a16:creationId xmlns:a16="http://schemas.microsoft.com/office/drawing/2014/main" id="{36E8F51B-E8CA-4161-A967-B4D788B57F7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6AE0F-8B26-4252-B92B-A7474D8CDAE6}"/>
              </a:ext>
            </a:extLst>
          </p:cNvPr>
          <p:cNvSpPr>
            <a:spLocks noGrp="1"/>
          </p:cNvSpPr>
          <p:nvPr>
            <p:ph type="sldNum" sz="quarter" idx="12"/>
          </p:nvPr>
        </p:nvSpPr>
        <p:spPr/>
        <p:txBody>
          <a:bodyPr/>
          <a:lstStyle/>
          <a:p>
            <a:fld id="{67AD1459-2348-4075-BE63-31BCC040C742}" type="slidenum">
              <a:rPr lang="en-IN" smtClean="0"/>
              <a:t>‹#›</a:t>
            </a:fld>
            <a:endParaRPr lang="en-IN"/>
          </a:p>
        </p:txBody>
      </p:sp>
    </p:spTree>
    <p:extLst>
      <p:ext uri="{BB962C8B-B14F-4D97-AF65-F5344CB8AC3E}">
        <p14:creationId xmlns:p14="http://schemas.microsoft.com/office/powerpoint/2010/main" val="1982531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CFC6CF-9D3E-4BF2-A264-75EBC9AABD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7D1212-B8C5-491D-8982-6A39EDF82C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81CB35-301F-4D7A-B7C1-5B3633E4C58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19D74C-8E66-4472-8235-7AB8497F0B3E}" type="datetimeFigureOut">
              <a:rPr lang="en-IN" smtClean="0"/>
              <a:t>02-11-2021</a:t>
            </a:fld>
            <a:endParaRPr lang="en-IN"/>
          </a:p>
        </p:txBody>
      </p:sp>
      <p:sp>
        <p:nvSpPr>
          <p:cNvPr id="5" name="Footer Placeholder 4">
            <a:extLst>
              <a:ext uri="{FF2B5EF4-FFF2-40B4-BE49-F238E27FC236}">
                <a16:creationId xmlns:a16="http://schemas.microsoft.com/office/drawing/2014/main" id="{91F517C0-8466-4EAB-B2C1-A30FBB5F3B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22B412F-AF89-489E-8A91-0B1B68A3F8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AD1459-2348-4075-BE63-31BCC040C742}" type="slidenum">
              <a:rPr lang="en-IN" smtClean="0"/>
              <a:t>‹#›</a:t>
            </a:fld>
            <a:endParaRPr lang="en-IN"/>
          </a:p>
        </p:txBody>
      </p:sp>
    </p:spTree>
    <p:extLst>
      <p:ext uri="{BB962C8B-B14F-4D97-AF65-F5344CB8AC3E}">
        <p14:creationId xmlns:p14="http://schemas.microsoft.com/office/powerpoint/2010/main" val="322445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phoenixnap.com/blog/what-is-ci-cd"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redhat.com/en/topics/virtualization/what-is-a-hypervisor"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phoenixnap.com/kb/what-is-server-virtualization"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phoenixnap.com/kb/what-is-vdi-how-works"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phoenixnap.com/blog/how-to-transition-to-devops" TargetMode="External"/><Relationship Id="rId2" Type="http://schemas.openxmlformats.org/officeDocument/2006/relationships/hyperlink" Target="https://phoenixnap.com/blog/software-development-life-cycle"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C66D1-CA8B-4CC8-90FA-F2CE683DDFD8}"/>
              </a:ext>
            </a:extLst>
          </p:cNvPr>
          <p:cNvSpPr>
            <a:spLocks noGrp="1"/>
          </p:cNvSpPr>
          <p:nvPr>
            <p:ph type="ctrTitle"/>
          </p:nvPr>
        </p:nvSpPr>
        <p:spPr/>
        <p:txBody>
          <a:bodyPr>
            <a:normAutofit/>
          </a:bodyPr>
          <a:lstStyle/>
          <a:p>
            <a:r>
              <a:rPr lang="en-SG" sz="48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Virtualization stacks</a:t>
            </a:r>
            <a:endParaRPr lang="en-IN" sz="48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993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ED3512-CD5F-4C33-B12A-081CCFA075AD}"/>
              </a:ext>
            </a:extLst>
          </p:cNvPr>
          <p:cNvPicPr>
            <a:picLocks noChangeAspect="1"/>
          </p:cNvPicPr>
          <p:nvPr/>
        </p:nvPicPr>
        <p:blipFill>
          <a:blip r:embed="rId2"/>
          <a:stretch>
            <a:fillRect/>
          </a:stretch>
        </p:blipFill>
        <p:spPr>
          <a:xfrm>
            <a:off x="185531" y="235226"/>
            <a:ext cx="11820938" cy="6387547"/>
          </a:xfrm>
          <a:prstGeom prst="rect">
            <a:avLst/>
          </a:prstGeom>
        </p:spPr>
      </p:pic>
    </p:spTree>
    <p:extLst>
      <p:ext uri="{BB962C8B-B14F-4D97-AF65-F5344CB8AC3E}">
        <p14:creationId xmlns:p14="http://schemas.microsoft.com/office/powerpoint/2010/main" val="2951194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36C8F0-C3B9-4229-896E-2BE0BBC5627D}"/>
              </a:ext>
            </a:extLst>
          </p:cNvPr>
          <p:cNvPicPr>
            <a:picLocks noChangeAspect="1"/>
          </p:cNvPicPr>
          <p:nvPr/>
        </p:nvPicPr>
        <p:blipFill>
          <a:blip r:embed="rId2"/>
          <a:stretch>
            <a:fillRect/>
          </a:stretch>
        </p:blipFill>
        <p:spPr>
          <a:xfrm>
            <a:off x="437323" y="609600"/>
            <a:ext cx="11224590" cy="6042991"/>
          </a:xfrm>
          <a:prstGeom prst="rect">
            <a:avLst/>
          </a:prstGeom>
        </p:spPr>
      </p:pic>
    </p:spTree>
    <p:extLst>
      <p:ext uri="{BB962C8B-B14F-4D97-AF65-F5344CB8AC3E}">
        <p14:creationId xmlns:p14="http://schemas.microsoft.com/office/powerpoint/2010/main" val="3969534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601BDD-A1D3-466C-B229-ADF4312E445D}"/>
              </a:ext>
            </a:extLst>
          </p:cNvPr>
          <p:cNvPicPr>
            <a:picLocks noChangeAspect="1"/>
          </p:cNvPicPr>
          <p:nvPr/>
        </p:nvPicPr>
        <p:blipFill>
          <a:blip r:embed="rId2"/>
          <a:stretch>
            <a:fillRect/>
          </a:stretch>
        </p:blipFill>
        <p:spPr>
          <a:xfrm>
            <a:off x="742121" y="106018"/>
            <a:ext cx="11065565" cy="6573078"/>
          </a:xfrm>
          <a:prstGeom prst="rect">
            <a:avLst/>
          </a:prstGeom>
        </p:spPr>
      </p:pic>
    </p:spTree>
    <p:extLst>
      <p:ext uri="{BB962C8B-B14F-4D97-AF65-F5344CB8AC3E}">
        <p14:creationId xmlns:p14="http://schemas.microsoft.com/office/powerpoint/2010/main" val="2273069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0492AD-6D34-44D7-96E7-142A73EB4194}"/>
              </a:ext>
            </a:extLst>
          </p:cNvPr>
          <p:cNvPicPr>
            <a:picLocks noChangeAspect="1"/>
          </p:cNvPicPr>
          <p:nvPr/>
        </p:nvPicPr>
        <p:blipFill>
          <a:blip r:embed="rId2"/>
          <a:stretch>
            <a:fillRect/>
          </a:stretch>
        </p:blipFill>
        <p:spPr>
          <a:xfrm>
            <a:off x="437321" y="1"/>
            <a:ext cx="11317357" cy="6857999"/>
          </a:xfrm>
          <a:prstGeom prst="rect">
            <a:avLst/>
          </a:prstGeom>
        </p:spPr>
      </p:pic>
    </p:spTree>
    <p:extLst>
      <p:ext uri="{BB962C8B-B14F-4D97-AF65-F5344CB8AC3E}">
        <p14:creationId xmlns:p14="http://schemas.microsoft.com/office/powerpoint/2010/main" val="93860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6F8530-E75C-4CB0-8267-29A8AA729AEE}"/>
              </a:ext>
            </a:extLst>
          </p:cNvPr>
          <p:cNvPicPr>
            <a:picLocks noChangeAspect="1"/>
          </p:cNvPicPr>
          <p:nvPr/>
        </p:nvPicPr>
        <p:blipFill>
          <a:blip r:embed="rId2"/>
          <a:stretch>
            <a:fillRect/>
          </a:stretch>
        </p:blipFill>
        <p:spPr>
          <a:xfrm>
            <a:off x="702365" y="543339"/>
            <a:ext cx="11012557" cy="6162261"/>
          </a:xfrm>
          <a:prstGeom prst="rect">
            <a:avLst/>
          </a:prstGeom>
        </p:spPr>
      </p:pic>
    </p:spTree>
    <p:extLst>
      <p:ext uri="{BB962C8B-B14F-4D97-AF65-F5344CB8AC3E}">
        <p14:creationId xmlns:p14="http://schemas.microsoft.com/office/powerpoint/2010/main" val="4116953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C8A84F-B6B2-4E3E-A716-12DD803977A6}"/>
              </a:ext>
            </a:extLst>
          </p:cNvPr>
          <p:cNvPicPr>
            <a:picLocks noChangeAspect="1"/>
          </p:cNvPicPr>
          <p:nvPr/>
        </p:nvPicPr>
        <p:blipFill>
          <a:blip r:embed="rId2"/>
          <a:stretch>
            <a:fillRect/>
          </a:stretch>
        </p:blipFill>
        <p:spPr>
          <a:xfrm>
            <a:off x="371061" y="569843"/>
            <a:ext cx="10946295" cy="5791200"/>
          </a:xfrm>
          <a:prstGeom prst="rect">
            <a:avLst/>
          </a:prstGeom>
        </p:spPr>
      </p:pic>
    </p:spTree>
    <p:extLst>
      <p:ext uri="{BB962C8B-B14F-4D97-AF65-F5344CB8AC3E}">
        <p14:creationId xmlns:p14="http://schemas.microsoft.com/office/powerpoint/2010/main" val="1054410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3EE11E-6818-4EF8-A38B-32C6E0D08AD5}"/>
              </a:ext>
            </a:extLst>
          </p:cNvPr>
          <p:cNvPicPr>
            <a:picLocks noChangeAspect="1"/>
          </p:cNvPicPr>
          <p:nvPr/>
        </p:nvPicPr>
        <p:blipFill>
          <a:blip r:embed="rId2"/>
          <a:stretch>
            <a:fillRect/>
          </a:stretch>
        </p:blipFill>
        <p:spPr>
          <a:xfrm>
            <a:off x="2451651" y="2786615"/>
            <a:ext cx="6202017" cy="3620810"/>
          </a:xfrm>
          <a:prstGeom prst="rect">
            <a:avLst/>
          </a:prstGeom>
        </p:spPr>
      </p:pic>
      <p:sp>
        <p:nvSpPr>
          <p:cNvPr id="5" name="TextBox 4">
            <a:extLst>
              <a:ext uri="{FF2B5EF4-FFF2-40B4-BE49-F238E27FC236}">
                <a16:creationId xmlns:a16="http://schemas.microsoft.com/office/drawing/2014/main" id="{1A6DCD19-FA84-4B1E-89B6-DF3C8ABF5E6F}"/>
              </a:ext>
            </a:extLst>
          </p:cNvPr>
          <p:cNvSpPr txBox="1"/>
          <p:nvPr/>
        </p:nvSpPr>
        <p:spPr>
          <a:xfrm>
            <a:off x="397565" y="344558"/>
            <a:ext cx="11290852" cy="2031325"/>
          </a:xfrm>
          <a:prstGeom prst="rect">
            <a:avLst/>
          </a:prstGeom>
          <a:noFill/>
        </p:spPr>
        <p:txBody>
          <a:bodyPr wrap="square">
            <a:spAutoFit/>
          </a:bodyPr>
          <a:lstStyle/>
          <a:p>
            <a:r>
              <a:rPr lang="en-IN" b="0" i="0" dirty="0">
                <a:solidFill>
                  <a:srgbClr val="202124"/>
                </a:solidFill>
                <a:effectLst/>
                <a:latin typeface="arial" panose="020B0604020202020204" pitchFamily="34" charset="0"/>
              </a:rPr>
              <a:t>Example :</a:t>
            </a:r>
          </a:p>
          <a:p>
            <a:r>
              <a:rPr lang="en-IN" b="0" i="0" dirty="0">
                <a:solidFill>
                  <a:srgbClr val="202124"/>
                </a:solidFill>
                <a:effectLst/>
                <a:latin typeface="arial" panose="020B0604020202020204" pitchFamily="34" charset="0"/>
              </a:rPr>
              <a:t>Oracle VM VirtualBox is </a:t>
            </a:r>
            <a:r>
              <a:rPr lang="en-IN" b="1" i="0" dirty="0">
                <a:solidFill>
                  <a:srgbClr val="202124"/>
                </a:solidFill>
                <a:effectLst/>
                <a:latin typeface="arial" panose="020B0604020202020204" pitchFamily="34" charset="0"/>
              </a:rPr>
              <a:t>a free and open-source hosted hypervisor for x86 virtualization</a:t>
            </a:r>
            <a:r>
              <a:rPr lang="en-IN" b="0" i="0" dirty="0">
                <a:solidFill>
                  <a:srgbClr val="202124"/>
                </a:solidFill>
                <a:effectLst/>
                <a:latin typeface="arial" panose="020B0604020202020204" pitchFamily="34" charset="0"/>
              </a:rPr>
              <a:t>, developed by Oracle Corporation.</a:t>
            </a:r>
          </a:p>
          <a:p>
            <a:endParaRPr lang="en-IN" dirty="0">
              <a:solidFill>
                <a:srgbClr val="202124"/>
              </a:solidFill>
              <a:latin typeface="arial" panose="020B0604020202020204" pitchFamily="34" charset="0"/>
            </a:endParaRPr>
          </a:p>
          <a:p>
            <a:r>
              <a:rPr lang="en-US" b="0" i="0" dirty="0">
                <a:solidFill>
                  <a:srgbClr val="202124"/>
                </a:solidFill>
                <a:effectLst/>
                <a:latin typeface="arial" panose="020B0604020202020204" pitchFamily="34" charset="0"/>
              </a:rPr>
              <a:t>Oracle VM VirtualBox is </a:t>
            </a:r>
            <a:r>
              <a:rPr lang="en-US" b="1" i="0" dirty="0">
                <a:solidFill>
                  <a:srgbClr val="202124"/>
                </a:solidFill>
                <a:effectLst/>
                <a:latin typeface="arial" panose="020B0604020202020204" pitchFamily="34" charset="0"/>
              </a:rPr>
              <a:t>cross-platform virtualization software</a:t>
            </a:r>
            <a:r>
              <a:rPr lang="en-US" b="0" i="0" dirty="0">
                <a:solidFill>
                  <a:srgbClr val="202124"/>
                </a:solidFill>
                <a:effectLst/>
                <a:latin typeface="arial" panose="020B0604020202020204" pitchFamily="34" charset="0"/>
              </a:rPr>
              <a:t>. It allows users to extend their existing computer to run multiple operating systems including Microsoft Windows, Mac OS X, Linux, and Oracle Solaris, at the same time.</a:t>
            </a:r>
            <a:endParaRPr lang="en-IN" dirty="0"/>
          </a:p>
        </p:txBody>
      </p:sp>
      <p:sp>
        <p:nvSpPr>
          <p:cNvPr id="6" name="Arrow: Down 5">
            <a:extLst>
              <a:ext uri="{FF2B5EF4-FFF2-40B4-BE49-F238E27FC236}">
                <a16:creationId xmlns:a16="http://schemas.microsoft.com/office/drawing/2014/main" id="{A51B0126-56FD-496A-9542-471E59C0307F}"/>
              </a:ext>
            </a:extLst>
          </p:cNvPr>
          <p:cNvSpPr/>
          <p:nvPr/>
        </p:nvSpPr>
        <p:spPr>
          <a:xfrm>
            <a:off x="5327374" y="2252869"/>
            <a:ext cx="424069" cy="689113"/>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131079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F8B7E0-5249-4C4D-886A-719374DA629B}"/>
              </a:ext>
            </a:extLst>
          </p:cNvPr>
          <p:cNvPicPr>
            <a:picLocks noChangeAspect="1"/>
          </p:cNvPicPr>
          <p:nvPr/>
        </p:nvPicPr>
        <p:blipFill>
          <a:blip r:embed="rId2"/>
          <a:stretch>
            <a:fillRect/>
          </a:stretch>
        </p:blipFill>
        <p:spPr>
          <a:xfrm>
            <a:off x="689113" y="304800"/>
            <a:ext cx="10933044" cy="6321287"/>
          </a:xfrm>
          <a:prstGeom prst="rect">
            <a:avLst/>
          </a:prstGeom>
        </p:spPr>
      </p:pic>
    </p:spTree>
    <p:extLst>
      <p:ext uri="{BB962C8B-B14F-4D97-AF65-F5344CB8AC3E}">
        <p14:creationId xmlns:p14="http://schemas.microsoft.com/office/powerpoint/2010/main" val="31855736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6B0530-ED66-463E-A66C-CAE93E996CA0}"/>
              </a:ext>
            </a:extLst>
          </p:cNvPr>
          <p:cNvPicPr>
            <a:picLocks noChangeAspect="1"/>
          </p:cNvPicPr>
          <p:nvPr/>
        </p:nvPicPr>
        <p:blipFill>
          <a:blip r:embed="rId2"/>
          <a:stretch>
            <a:fillRect/>
          </a:stretch>
        </p:blipFill>
        <p:spPr>
          <a:xfrm>
            <a:off x="1172439" y="742536"/>
            <a:ext cx="10696538" cy="5671516"/>
          </a:xfrm>
          <a:prstGeom prst="rect">
            <a:avLst/>
          </a:prstGeom>
        </p:spPr>
      </p:pic>
    </p:spTree>
    <p:extLst>
      <p:ext uri="{BB962C8B-B14F-4D97-AF65-F5344CB8AC3E}">
        <p14:creationId xmlns:p14="http://schemas.microsoft.com/office/powerpoint/2010/main" val="980283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4D61F8-AB17-4C37-A50F-DE02BEC551B2}"/>
              </a:ext>
            </a:extLst>
          </p:cNvPr>
          <p:cNvSpPr txBox="1"/>
          <p:nvPr/>
        </p:nvSpPr>
        <p:spPr>
          <a:xfrm>
            <a:off x="0" y="145774"/>
            <a:ext cx="11926956" cy="7109639"/>
          </a:xfrm>
          <a:prstGeom prst="rect">
            <a:avLst/>
          </a:prstGeom>
          <a:noFill/>
        </p:spPr>
        <p:txBody>
          <a:bodyPr wrap="square">
            <a:spAutoFit/>
          </a:bodyPr>
          <a:lstStyle/>
          <a:p>
            <a:pPr marL="342900" indent="-342900" algn="l">
              <a:buFont typeface="Wingdings" panose="05000000000000000000" pitchFamily="2" charset="2"/>
              <a:buChar char="Ø"/>
            </a:pPr>
            <a:r>
              <a:rPr lang="en-US" sz="2400" b="0" i="0" dirty="0">
                <a:solidFill>
                  <a:srgbClr val="404040"/>
                </a:solidFill>
                <a:effectLst/>
                <a:latin typeface="Times New Roman" panose="02020603050405020304" pitchFamily="18" charset="0"/>
                <a:cs typeface="Times New Roman" panose="02020603050405020304" pitchFamily="18" charset="0"/>
              </a:rPr>
              <a:t>Virtualization is the process of creating </a:t>
            </a:r>
            <a:r>
              <a:rPr lang="en-US" sz="2400" b="0" i="0" dirty="0">
                <a:solidFill>
                  <a:srgbClr val="FF0000"/>
                </a:solidFill>
                <a:effectLst/>
                <a:latin typeface="Times New Roman" panose="02020603050405020304" pitchFamily="18" charset="0"/>
                <a:cs typeface="Times New Roman" panose="02020603050405020304" pitchFamily="18" charset="0"/>
              </a:rPr>
              <a:t>several virtual systems on a single server</a:t>
            </a:r>
            <a:r>
              <a:rPr lang="en-US" sz="2400" b="0" i="0" dirty="0">
                <a:solidFill>
                  <a:srgbClr val="404040"/>
                </a:solidFill>
                <a:effectLst/>
                <a:latin typeface="Times New Roman" panose="02020603050405020304" pitchFamily="18" charset="0"/>
                <a:cs typeface="Times New Roman" panose="02020603050405020304" pitchFamily="18" charset="0"/>
              </a:rPr>
              <a:t>. This practice maximizes a physical machine’s capacity by distributing its resources between multiple users and environments.</a:t>
            </a:r>
          </a:p>
          <a:p>
            <a:pPr algn="l"/>
            <a:endParaRPr lang="en-US" sz="2400" dirty="0">
              <a:solidFill>
                <a:srgbClr val="404040"/>
              </a:solidFill>
              <a:latin typeface="Times New Roman" panose="02020603050405020304" pitchFamily="18" charset="0"/>
              <a:cs typeface="Times New Roman" panose="02020603050405020304" pitchFamily="18" charset="0"/>
            </a:endParaRPr>
          </a:p>
          <a:p>
            <a:pPr algn="l"/>
            <a:endParaRPr lang="en-US" sz="2400" b="0" i="0" dirty="0">
              <a:solidFill>
                <a:srgbClr val="404040"/>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a:solidFill>
                  <a:srgbClr val="3A3A3A"/>
                </a:solidFill>
                <a:effectLst/>
                <a:latin typeface="Times New Roman" panose="02020603050405020304" pitchFamily="18" charset="0"/>
                <a:cs typeface="Times New Roman" panose="02020603050405020304" pitchFamily="18" charset="0"/>
              </a:rPr>
              <a:t>A single digital container is usually designed to operate one operating system, with designated spaces for each of the computer’s resources. </a:t>
            </a:r>
            <a:r>
              <a:rPr lang="en-US" sz="2400" b="0" i="0" dirty="0">
                <a:solidFill>
                  <a:srgbClr val="FF0000"/>
                </a:solidFill>
                <a:effectLst/>
                <a:latin typeface="Times New Roman" panose="02020603050405020304" pitchFamily="18" charset="0"/>
                <a:cs typeface="Times New Roman" panose="02020603050405020304" pitchFamily="18" charset="0"/>
              </a:rPr>
              <a:t>The traditional container bears one central processing unit (CPU), a designated area for storage, and a fixed space for memory. </a:t>
            </a:r>
          </a:p>
          <a:p>
            <a:pPr marL="342900" indent="-342900">
              <a:buFont typeface="Wingdings" panose="05000000000000000000" pitchFamily="2" charset="2"/>
              <a:buChar char="Ø"/>
            </a:pPr>
            <a:endParaRPr lang="en-US" sz="2400" dirty="0">
              <a:solidFill>
                <a:srgbClr val="3A3A3A"/>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b="0" i="0" dirty="0">
                <a:solidFill>
                  <a:srgbClr val="3A3A3A"/>
                </a:solidFill>
                <a:effectLst/>
                <a:latin typeface="Times New Roman" panose="02020603050405020304" pitchFamily="18" charset="0"/>
                <a:cs typeface="Times New Roman" panose="02020603050405020304" pitchFamily="18" charset="0"/>
              </a:rPr>
              <a:t>Virtualization treats all these items as a pool, so they can be </a:t>
            </a:r>
            <a:r>
              <a:rPr lang="en-US" sz="2400" b="0" i="0" dirty="0">
                <a:solidFill>
                  <a:srgbClr val="FF0000"/>
                </a:solidFill>
                <a:effectLst/>
                <a:latin typeface="Times New Roman" panose="02020603050405020304" pitchFamily="18" charset="0"/>
                <a:cs typeface="Times New Roman" panose="02020603050405020304" pitchFamily="18" charset="0"/>
              </a:rPr>
              <a:t>expanded or rearranged </a:t>
            </a:r>
            <a:r>
              <a:rPr lang="en-US" sz="2400" b="0" i="0" dirty="0">
                <a:solidFill>
                  <a:srgbClr val="3A3A3A"/>
                </a:solidFill>
                <a:effectLst/>
                <a:latin typeface="Times New Roman" panose="02020603050405020304" pitchFamily="18" charset="0"/>
                <a:cs typeface="Times New Roman" panose="02020603050405020304" pitchFamily="18" charset="0"/>
              </a:rPr>
              <a:t>as necessary.</a:t>
            </a:r>
            <a:endParaRPr lang="en-US" sz="2400" b="0" i="0" dirty="0">
              <a:solidFill>
                <a:srgbClr val="40404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sz="2400" b="0" i="0" dirty="0">
              <a:solidFill>
                <a:srgbClr val="40404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sz="2400" b="0" i="0" dirty="0">
              <a:solidFill>
                <a:srgbClr val="40404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dirty="0">
                <a:solidFill>
                  <a:srgbClr val="404040"/>
                </a:solidFill>
                <a:effectLst/>
                <a:latin typeface="Times New Roman" panose="02020603050405020304" pitchFamily="18" charset="0"/>
                <a:cs typeface="Times New Roman" panose="02020603050405020304" pitchFamily="18" charset="0"/>
              </a:rPr>
              <a:t>DevOps teams use virtualization to create </a:t>
            </a:r>
            <a:r>
              <a:rPr lang="en-US" sz="2400" b="1" i="0" dirty="0">
                <a:solidFill>
                  <a:srgbClr val="404040"/>
                </a:solidFill>
                <a:effectLst/>
                <a:latin typeface="Times New Roman" panose="02020603050405020304" pitchFamily="18" charset="0"/>
                <a:cs typeface="Times New Roman" panose="02020603050405020304" pitchFamily="18" charset="0"/>
              </a:rPr>
              <a:t>virtual machines (VMs)</a:t>
            </a:r>
            <a:r>
              <a:rPr lang="en-US" sz="2400" b="0" i="0" dirty="0">
                <a:solidFill>
                  <a:srgbClr val="404040"/>
                </a:solidFill>
                <a:effectLst/>
                <a:latin typeface="Times New Roman" panose="02020603050405020304" pitchFamily="18" charset="0"/>
                <a:cs typeface="Times New Roman" panose="02020603050405020304" pitchFamily="18" charset="0"/>
              </a:rPr>
              <a:t>, copying of hardware and software configurations. Each VM has an operating system and acts as an independent computer even though it runs on a portion of the physical device. </a:t>
            </a:r>
          </a:p>
          <a:p>
            <a:pPr marL="342900" indent="-342900" algn="l">
              <a:buFont typeface="Wingdings" panose="05000000000000000000" pitchFamily="2" charset="2"/>
              <a:buChar char="Ø"/>
            </a:pPr>
            <a:endParaRPr lang="en-US" sz="2400" dirty="0">
              <a:solidFill>
                <a:srgbClr val="40404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endParaRPr lang="en-US" sz="2400" b="0" i="0" dirty="0">
              <a:solidFill>
                <a:srgbClr val="404040"/>
              </a:solidFill>
              <a:effectLst/>
              <a:latin typeface="Times New Roman" panose="02020603050405020304" pitchFamily="18" charset="0"/>
              <a:cs typeface="Times New Roman" panose="02020603050405020304" pitchFamily="18" charset="0"/>
            </a:endParaRPr>
          </a:p>
          <a:p>
            <a:pPr algn="l"/>
            <a:endParaRPr lang="en-US" sz="2400" b="0" i="0" dirty="0">
              <a:solidFill>
                <a:srgbClr val="40404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7408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A00DE5-4052-4CCC-B076-15A8BE1D00AC}"/>
              </a:ext>
            </a:extLst>
          </p:cNvPr>
          <p:cNvSpPr txBox="1"/>
          <p:nvPr/>
        </p:nvSpPr>
        <p:spPr>
          <a:xfrm>
            <a:off x="251791" y="185530"/>
            <a:ext cx="11741426" cy="6950942"/>
          </a:xfrm>
          <a:prstGeom prst="rect">
            <a:avLst/>
          </a:prstGeom>
          <a:noFill/>
        </p:spPr>
        <p:txBody>
          <a:bodyPr wrap="square">
            <a:spAutoFit/>
          </a:bodyPr>
          <a:lstStyle/>
          <a:p>
            <a:pPr algn="l"/>
            <a:endParaRPr lang="en-US" sz="1800" b="0" i="0" dirty="0">
              <a:solidFill>
                <a:srgbClr val="404040"/>
              </a:solidFill>
              <a:effectLst/>
              <a:latin typeface="Times New Roman" panose="02020603050405020304" pitchFamily="18" charset="0"/>
              <a:cs typeface="Times New Roman" panose="02020603050405020304" pitchFamily="18" charset="0"/>
            </a:endParaRPr>
          </a:p>
          <a:p>
            <a:pPr algn="l"/>
            <a:r>
              <a:rPr lang="en-US" sz="2400" b="0" i="0" dirty="0">
                <a:solidFill>
                  <a:srgbClr val="404040"/>
                </a:solidFill>
                <a:effectLst/>
                <a:latin typeface="Times New Roman" panose="02020603050405020304" pitchFamily="18" charset="0"/>
                <a:cs typeface="Times New Roman" panose="02020603050405020304" pitchFamily="18" charset="0"/>
              </a:rPr>
              <a:t>A virtual machine mimics all components of a computer, including:</a:t>
            </a:r>
          </a:p>
          <a:p>
            <a:pPr algn="l"/>
            <a:endParaRPr lang="en-US" sz="2400" b="0" i="0" dirty="0">
              <a:solidFill>
                <a:srgbClr val="404040"/>
              </a:solidFill>
              <a:effectLst/>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US" sz="2400" b="0" i="0" dirty="0">
                <a:solidFill>
                  <a:srgbClr val="404040"/>
                </a:solidFill>
                <a:effectLst/>
                <a:latin typeface="Times New Roman" panose="02020603050405020304" pitchFamily="18" charset="0"/>
                <a:cs typeface="Times New Roman" panose="02020603050405020304" pitchFamily="18" charset="0"/>
              </a:rPr>
              <a:t>CPU.</a:t>
            </a:r>
          </a:p>
          <a:p>
            <a:pPr algn="l">
              <a:lnSpc>
                <a:spcPct val="150000"/>
              </a:lnSpc>
              <a:buFont typeface="Arial" panose="020B0604020202020204" pitchFamily="34" charset="0"/>
              <a:buChar char="•"/>
            </a:pPr>
            <a:r>
              <a:rPr lang="en-US" sz="2400" b="0" i="0" dirty="0">
                <a:solidFill>
                  <a:srgbClr val="404040"/>
                </a:solidFill>
                <a:effectLst/>
                <a:latin typeface="Times New Roman" panose="02020603050405020304" pitchFamily="18" charset="0"/>
                <a:cs typeface="Times New Roman" panose="02020603050405020304" pitchFamily="18" charset="0"/>
              </a:rPr>
              <a:t>RAM.</a:t>
            </a:r>
          </a:p>
          <a:p>
            <a:pPr algn="l">
              <a:lnSpc>
                <a:spcPct val="150000"/>
              </a:lnSpc>
              <a:buFont typeface="Arial" panose="020B0604020202020204" pitchFamily="34" charset="0"/>
              <a:buChar char="•"/>
            </a:pPr>
            <a:r>
              <a:rPr lang="en-US" sz="2400" b="0" i="0" dirty="0">
                <a:solidFill>
                  <a:srgbClr val="404040"/>
                </a:solidFill>
                <a:effectLst/>
                <a:latin typeface="Times New Roman" panose="02020603050405020304" pitchFamily="18" charset="0"/>
                <a:cs typeface="Times New Roman" panose="02020603050405020304" pitchFamily="18" charset="0"/>
              </a:rPr>
              <a:t>Storage.</a:t>
            </a:r>
          </a:p>
          <a:p>
            <a:pPr algn="l">
              <a:lnSpc>
                <a:spcPct val="150000"/>
              </a:lnSpc>
              <a:buFont typeface="Arial" panose="020B0604020202020204" pitchFamily="34" charset="0"/>
              <a:buChar char="•"/>
            </a:pPr>
            <a:r>
              <a:rPr lang="en-US" sz="2400" b="0" i="0" dirty="0">
                <a:solidFill>
                  <a:srgbClr val="404040"/>
                </a:solidFill>
                <a:effectLst/>
                <a:latin typeface="Times New Roman" panose="02020603050405020304" pitchFamily="18" charset="0"/>
                <a:cs typeface="Times New Roman" panose="02020603050405020304" pitchFamily="18" charset="0"/>
              </a:rPr>
              <a:t>Networks.</a:t>
            </a:r>
          </a:p>
          <a:p>
            <a:pPr algn="l">
              <a:lnSpc>
                <a:spcPct val="150000"/>
              </a:lnSpc>
              <a:buFont typeface="Arial" panose="020B0604020202020204" pitchFamily="34" charset="0"/>
              <a:buChar char="•"/>
            </a:pPr>
            <a:endParaRPr lang="en-US" sz="2400" dirty="0">
              <a:solidFill>
                <a:srgbClr val="404040"/>
              </a:solidFill>
              <a:latin typeface="Times New Roman" panose="02020603050405020304" pitchFamily="18" charset="0"/>
              <a:cs typeface="Times New Roman" panose="02020603050405020304" pitchFamily="18" charset="0"/>
            </a:endParaRPr>
          </a:p>
          <a:p>
            <a:pPr algn="l"/>
            <a:r>
              <a:rPr lang="en-US" sz="2400" b="0" i="0" dirty="0">
                <a:effectLst/>
                <a:latin typeface="Times New Roman" panose="02020603050405020304" pitchFamily="18" charset="0"/>
                <a:cs typeface="Times New Roman" panose="02020603050405020304" pitchFamily="18" charset="0"/>
              </a:rPr>
              <a:t>With virtualization, a piece of hardware can host numerous VM configurations simultaneously without performance issues. The main benefits of virtualization are:</a:t>
            </a:r>
          </a:p>
          <a:p>
            <a:pPr algn="l"/>
            <a:endParaRPr lang="en-US" sz="24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More computing capabilities with fewer resources.</a:t>
            </a: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Running multiple independent systems on a single hardware.</a:t>
            </a:r>
          </a:p>
          <a:p>
            <a:pPr algn="l">
              <a:buFont typeface="Arial" panose="020B0604020202020204" pitchFamily="34" charset="0"/>
              <a:buChar char="•"/>
            </a:pPr>
            <a:r>
              <a:rPr lang="en-US" sz="2400" b="0" i="0" dirty="0">
                <a:solidFill>
                  <a:srgbClr val="FF0000"/>
                </a:solidFill>
                <a:effectLst/>
                <a:latin typeface="Times New Roman" panose="02020603050405020304" pitchFamily="18" charset="0"/>
                <a:cs typeface="Times New Roman" panose="02020603050405020304" pitchFamily="18" charset="0"/>
              </a:rPr>
              <a:t>Consistent environments throughout the </a:t>
            </a:r>
            <a:r>
              <a:rPr lang="en-US" sz="2400" b="0" i="0" strike="noStrike" dirty="0">
                <a:solidFill>
                  <a:srgbClr val="FF0000"/>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continuous integration and continuous delivery (CI/CD) process</a:t>
            </a:r>
            <a:r>
              <a:rPr lang="en-US" sz="2400" b="0" i="0" dirty="0">
                <a:solidFill>
                  <a:srgbClr val="FF0000"/>
                </a:solidFill>
                <a:effectLst/>
                <a:latin typeface="Times New Roman" panose="02020603050405020304" pitchFamily="18" charset="0"/>
                <a:cs typeface="Times New Roman" panose="02020603050405020304" pitchFamily="18" charset="0"/>
              </a:rPr>
              <a:t>.</a:t>
            </a:r>
          </a:p>
          <a:p>
            <a:pPr algn="l">
              <a:lnSpc>
                <a:spcPct val="150000"/>
              </a:lnSpc>
              <a:buFont typeface="Arial" panose="020B0604020202020204" pitchFamily="34" charset="0"/>
              <a:buChar char="•"/>
            </a:pPr>
            <a:endParaRPr lang="en-US" sz="2400" b="0" i="0" dirty="0">
              <a:solidFill>
                <a:srgbClr val="40404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7121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1F4614-9FFC-467C-B772-8EB723438D62}"/>
              </a:ext>
            </a:extLst>
          </p:cNvPr>
          <p:cNvSpPr txBox="1"/>
          <p:nvPr/>
        </p:nvSpPr>
        <p:spPr>
          <a:xfrm>
            <a:off x="145774" y="185530"/>
            <a:ext cx="11926956" cy="2308324"/>
          </a:xfrm>
          <a:prstGeom prst="rect">
            <a:avLst/>
          </a:prstGeom>
          <a:noFill/>
        </p:spPr>
        <p:txBody>
          <a:bodyPr wrap="square">
            <a:spAutoFit/>
          </a:bodyPr>
          <a:lstStyle/>
          <a:p>
            <a:r>
              <a:rPr lang="en-US" sz="2400" b="1" dirty="0">
                <a:solidFill>
                  <a:srgbClr val="151515"/>
                </a:solidFill>
                <a:effectLst/>
                <a:latin typeface="Times New Roman" panose="02020603050405020304" pitchFamily="18" charset="0"/>
                <a:cs typeface="Times New Roman" panose="02020603050405020304" pitchFamily="18" charset="0"/>
              </a:rPr>
              <a:t>How does virtualization work?</a:t>
            </a:r>
          </a:p>
          <a:p>
            <a:pPr marL="342900" indent="-342900" algn="l">
              <a:buFont typeface="Wingdings" panose="05000000000000000000" pitchFamily="2" charset="2"/>
              <a:buChar char="Ø"/>
            </a:pPr>
            <a:r>
              <a:rPr lang="en-US" sz="2400" b="0" i="0" dirty="0">
                <a:solidFill>
                  <a:srgbClr val="151515"/>
                </a:solidFill>
                <a:effectLst/>
                <a:latin typeface="Times New Roman" panose="02020603050405020304" pitchFamily="18" charset="0"/>
                <a:cs typeface="Times New Roman" panose="02020603050405020304" pitchFamily="18" charset="0"/>
              </a:rPr>
              <a:t>Software called </a:t>
            </a:r>
            <a:r>
              <a:rPr lang="en-US" sz="2400" b="0" i="0" u="none" strike="noStrike" dirty="0">
                <a:solidFill>
                  <a:srgbClr val="0066CC"/>
                </a:solidFill>
                <a:effectLst/>
                <a:latin typeface="Times New Roman" panose="02020603050405020304" pitchFamily="18" charset="0"/>
                <a:cs typeface="Times New Roman" panose="02020603050405020304" pitchFamily="18" charset="0"/>
                <a:hlinkClick r:id="rId2"/>
              </a:rPr>
              <a:t>hypervisors</a:t>
            </a:r>
            <a:r>
              <a:rPr lang="en-US" sz="2400" b="0" i="0" dirty="0">
                <a:solidFill>
                  <a:srgbClr val="151515"/>
                </a:solidFill>
                <a:effectLst/>
                <a:latin typeface="Times New Roman" panose="02020603050405020304" pitchFamily="18" charset="0"/>
                <a:cs typeface="Times New Roman" panose="02020603050405020304" pitchFamily="18" charset="0"/>
              </a:rPr>
              <a:t> separate the physical resources from the virtual environments—the things that need those resources. </a:t>
            </a:r>
            <a:r>
              <a:rPr lang="en-US" sz="2400" b="0" i="0" dirty="0">
                <a:solidFill>
                  <a:srgbClr val="FF0000"/>
                </a:solidFill>
                <a:effectLst/>
                <a:latin typeface="Times New Roman" panose="02020603050405020304" pitchFamily="18" charset="0"/>
                <a:cs typeface="Times New Roman" panose="02020603050405020304" pitchFamily="18" charset="0"/>
              </a:rPr>
              <a:t>Hypervisors can sit on top of an operating system (like on a laptop) or be installed directly onto hardware (like a server), </a:t>
            </a:r>
            <a:r>
              <a:rPr lang="en-US" sz="2400" b="0" i="0" dirty="0">
                <a:solidFill>
                  <a:srgbClr val="151515"/>
                </a:solidFill>
                <a:effectLst/>
                <a:latin typeface="Times New Roman" panose="02020603050405020304" pitchFamily="18" charset="0"/>
                <a:cs typeface="Times New Roman" panose="02020603050405020304" pitchFamily="18" charset="0"/>
              </a:rPr>
              <a:t>which is how most enterprises virtualize. Hypervisors take your physical resources and divide them up so that virtual environments can use them.</a:t>
            </a:r>
          </a:p>
        </p:txBody>
      </p:sp>
      <p:pic>
        <p:nvPicPr>
          <p:cNvPr id="6146" name="Picture 2" descr="How virtualization works">
            <a:extLst>
              <a:ext uri="{FF2B5EF4-FFF2-40B4-BE49-F238E27FC236}">
                <a16:creationId xmlns:a16="http://schemas.microsoft.com/office/drawing/2014/main" id="{DB8EE169-94C5-4E74-9EC1-3B812415A1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6675" y="3038269"/>
            <a:ext cx="7325153" cy="3634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55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AD928E-CACC-401D-8DCB-817A9EFCE5A9}"/>
              </a:ext>
            </a:extLst>
          </p:cNvPr>
          <p:cNvSpPr txBox="1"/>
          <p:nvPr/>
        </p:nvSpPr>
        <p:spPr>
          <a:xfrm>
            <a:off x="0" y="132521"/>
            <a:ext cx="12019722" cy="7848302"/>
          </a:xfrm>
          <a:prstGeom prst="rect">
            <a:avLst/>
          </a:prstGeom>
          <a:noFill/>
        </p:spPr>
        <p:txBody>
          <a:bodyPr wrap="square">
            <a:spAutoFit/>
          </a:bodyPr>
          <a:lstStyle/>
          <a:p>
            <a:pPr algn="l"/>
            <a:r>
              <a:rPr lang="en-US" sz="2400" b="1" i="0" dirty="0">
                <a:solidFill>
                  <a:srgbClr val="404040"/>
                </a:solidFill>
                <a:effectLst/>
                <a:latin typeface="Times New Roman" panose="02020603050405020304" pitchFamily="18" charset="0"/>
                <a:cs typeface="Times New Roman" panose="02020603050405020304" pitchFamily="18" charset="0"/>
              </a:rPr>
              <a:t>Different Types of Virtualization</a:t>
            </a:r>
          </a:p>
          <a:p>
            <a:pPr algn="l"/>
            <a:endParaRPr lang="en-US" sz="2400" b="1" i="0" dirty="0">
              <a:solidFill>
                <a:srgbClr val="404040"/>
              </a:solidFill>
              <a:effectLst/>
              <a:latin typeface="Times New Roman" panose="02020603050405020304" pitchFamily="18" charset="0"/>
              <a:cs typeface="Times New Roman" panose="02020603050405020304" pitchFamily="18" charset="0"/>
            </a:endParaRPr>
          </a:p>
          <a:p>
            <a:pPr algn="l"/>
            <a:r>
              <a:rPr lang="en-US" sz="2400" b="0" i="0" dirty="0">
                <a:solidFill>
                  <a:srgbClr val="404040"/>
                </a:solidFill>
                <a:effectLst/>
                <a:latin typeface="Times New Roman" panose="02020603050405020304" pitchFamily="18" charset="0"/>
                <a:cs typeface="Times New Roman" panose="02020603050405020304" pitchFamily="18" charset="0"/>
              </a:rPr>
              <a:t>There are four primary types of virtualization:</a:t>
            </a:r>
          </a:p>
          <a:p>
            <a:pPr algn="l"/>
            <a:endParaRPr lang="en-US" sz="2400" b="0" i="0" dirty="0">
              <a:solidFill>
                <a:srgbClr val="404040"/>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4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Server virtualization</a:t>
            </a:r>
            <a:r>
              <a:rPr lang="en-US" sz="2400" b="0" i="0" dirty="0">
                <a:effectLst/>
                <a:latin typeface="Times New Roman" panose="02020603050405020304" pitchFamily="18" charset="0"/>
                <a:cs typeface="Times New Roman" panose="02020603050405020304" pitchFamily="18" charset="0"/>
              </a:rPr>
              <a:t>.</a:t>
            </a:r>
          </a:p>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Network virtualization.</a:t>
            </a:r>
          </a:p>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Desktop virtualization.</a:t>
            </a:r>
          </a:p>
          <a:p>
            <a:pPr marL="342900" indent="-342900" algn="l">
              <a:buFont typeface="Wingdings" panose="05000000000000000000" pitchFamily="2" charset="2"/>
              <a:buChar char="Ø"/>
            </a:pPr>
            <a:r>
              <a:rPr lang="en-US" sz="2400" b="0" i="0" dirty="0">
                <a:effectLst/>
                <a:latin typeface="Times New Roman" panose="02020603050405020304" pitchFamily="18" charset="0"/>
                <a:cs typeface="Times New Roman" panose="02020603050405020304" pitchFamily="18" charset="0"/>
              </a:rPr>
              <a:t>Operating system virtualization.</a:t>
            </a:r>
          </a:p>
          <a:p>
            <a:pPr marL="342900" indent="-342900" algn="l">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gn="l"/>
            <a:r>
              <a:rPr lang="en-US" sz="2400" b="1" i="0" dirty="0">
                <a:solidFill>
                  <a:srgbClr val="404040"/>
                </a:solidFill>
                <a:effectLst/>
                <a:latin typeface="Times New Roman" panose="02020603050405020304" pitchFamily="18" charset="0"/>
                <a:cs typeface="Times New Roman" panose="02020603050405020304" pitchFamily="18" charset="0"/>
              </a:rPr>
              <a:t>Server Virtualization</a:t>
            </a:r>
          </a:p>
          <a:p>
            <a:pPr algn="l"/>
            <a:r>
              <a:rPr lang="en-US" sz="2400" b="0" i="0" dirty="0">
                <a:solidFill>
                  <a:srgbClr val="404040"/>
                </a:solidFill>
                <a:effectLst/>
                <a:latin typeface="Times New Roman" panose="02020603050405020304" pitchFamily="18" charset="0"/>
                <a:cs typeface="Times New Roman" panose="02020603050405020304" pitchFamily="18" charset="0"/>
              </a:rPr>
              <a:t>Server virtualization enables a single physical server to perform multiple independent functions. This form of virtualization leads to:</a:t>
            </a:r>
          </a:p>
          <a:p>
            <a:pPr algn="l"/>
            <a:endParaRPr lang="en-US" sz="2400" b="0" i="0" dirty="0">
              <a:solidFill>
                <a:srgbClr val="40404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404040"/>
                </a:solidFill>
                <a:effectLst/>
                <a:latin typeface="Times New Roman" panose="02020603050405020304" pitchFamily="18" charset="0"/>
                <a:cs typeface="Times New Roman" panose="02020603050405020304" pitchFamily="18" charset="0"/>
              </a:rPr>
              <a:t>Reduced operating costs.</a:t>
            </a:r>
          </a:p>
          <a:p>
            <a:pPr algn="l">
              <a:buFont typeface="Arial" panose="020B0604020202020204" pitchFamily="34" charset="0"/>
              <a:buChar char="•"/>
            </a:pPr>
            <a:r>
              <a:rPr lang="en-US" sz="2400" b="0" i="0" dirty="0">
                <a:solidFill>
                  <a:srgbClr val="404040"/>
                </a:solidFill>
                <a:effectLst/>
                <a:latin typeface="Times New Roman" panose="02020603050405020304" pitchFamily="18" charset="0"/>
                <a:cs typeface="Times New Roman" panose="02020603050405020304" pitchFamily="18" charset="0"/>
              </a:rPr>
              <a:t>Increased server performance.</a:t>
            </a:r>
          </a:p>
          <a:p>
            <a:pPr algn="l">
              <a:buFont typeface="Arial" panose="020B0604020202020204" pitchFamily="34" charset="0"/>
              <a:buChar char="•"/>
            </a:pPr>
            <a:r>
              <a:rPr lang="en-US" sz="2400" b="0" i="0" dirty="0">
                <a:solidFill>
                  <a:srgbClr val="404040"/>
                </a:solidFill>
                <a:effectLst/>
                <a:latin typeface="Times New Roman" panose="02020603050405020304" pitchFamily="18" charset="0"/>
                <a:cs typeface="Times New Roman" panose="02020603050405020304" pitchFamily="18" charset="0"/>
              </a:rPr>
              <a:t>Faster workload capacity.</a:t>
            </a:r>
          </a:p>
          <a:p>
            <a:pPr algn="l"/>
            <a:r>
              <a:rPr lang="en-US" sz="2400" b="0" i="0" dirty="0">
                <a:solidFill>
                  <a:srgbClr val="404040"/>
                </a:solidFill>
                <a:effectLst/>
                <a:latin typeface="Times New Roman" panose="02020603050405020304" pitchFamily="18" charset="0"/>
                <a:cs typeface="Times New Roman" panose="02020603050405020304" pitchFamily="18" charset="0"/>
              </a:rPr>
              <a:t>Server virtualization also lowers managing costs and physical server complexity.</a:t>
            </a:r>
          </a:p>
          <a:p>
            <a:pPr marL="342900" indent="-342900" algn="l">
              <a:buFont typeface="Wingdings" panose="05000000000000000000" pitchFamily="2" charset="2"/>
              <a:buChar char="Ø"/>
            </a:pPr>
            <a:endParaRPr lang="en-US" sz="24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400" dirty="0">
              <a:solidFill>
                <a:srgbClr val="40404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400" dirty="0">
              <a:solidFill>
                <a:srgbClr val="40404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47071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588252-63D4-4EF6-809E-25593DFFBCEB}"/>
              </a:ext>
            </a:extLst>
          </p:cNvPr>
          <p:cNvSpPr txBox="1"/>
          <p:nvPr/>
        </p:nvSpPr>
        <p:spPr>
          <a:xfrm>
            <a:off x="-1" y="212035"/>
            <a:ext cx="11979965" cy="2246769"/>
          </a:xfrm>
          <a:prstGeom prst="rect">
            <a:avLst/>
          </a:prstGeom>
          <a:noFill/>
        </p:spPr>
        <p:txBody>
          <a:bodyPr wrap="square">
            <a:spAutoFit/>
          </a:bodyPr>
          <a:lstStyle/>
          <a:p>
            <a:r>
              <a:rPr lang="en-US" sz="2800" b="0" i="0" dirty="0">
                <a:solidFill>
                  <a:srgbClr val="151515"/>
                </a:solidFill>
                <a:effectLst/>
                <a:latin typeface="Times New Roman" panose="02020603050405020304" pitchFamily="18" charset="0"/>
                <a:cs typeface="Times New Roman" panose="02020603050405020304" pitchFamily="18" charset="0"/>
              </a:rPr>
              <a:t>Servers are computers designed to process a high volume of specific tasks really well so other computers—like laptops and desktops—can do a variety of other tasks. Virtualizing a server lets it to do more of those specific functions and involves partitioning it so that the components can be used to serve multiple functions.</a:t>
            </a:r>
            <a:endParaRPr lang="en-IN" sz="2800" dirty="0">
              <a:latin typeface="Times New Roman" panose="02020603050405020304" pitchFamily="18" charset="0"/>
              <a:cs typeface="Times New Roman" panose="02020603050405020304" pitchFamily="18" charset="0"/>
            </a:endParaRPr>
          </a:p>
        </p:txBody>
      </p:sp>
      <p:pic>
        <p:nvPicPr>
          <p:cNvPr id="7170" name="Picture 2" descr="Server virtualization">
            <a:extLst>
              <a:ext uri="{FF2B5EF4-FFF2-40B4-BE49-F238E27FC236}">
                <a16:creationId xmlns:a16="http://schemas.microsoft.com/office/drawing/2014/main" id="{6AD3C53C-EA4B-4F92-987B-F2A68D42C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6588" y="2883798"/>
            <a:ext cx="5048250" cy="2733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89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at is server virtualization">
            <a:extLst>
              <a:ext uri="{FF2B5EF4-FFF2-40B4-BE49-F238E27FC236}">
                <a16:creationId xmlns:a16="http://schemas.microsoft.com/office/drawing/2014/main" id="{8FF96E8E-C1EE-421C-A61A-2ADAD7037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65043"/>
            <a:ext cx="12032974" cy="68381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9266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68E16F-9DB2-4AAE-B6C3-2CC9C8BB5219}"/>
              </a:ext>
            </a:extLst>
          </p:cNvPr>
          <p:cNvSpPr txBox="1"/>
          <p:nvPr/>
        </p:nvSpPr>
        <p:spPr>
          <a:xfrm>
            <a:off x="0" y="106018"/>
            <a:ext cx="12045361" cy="2123658"/>
          </a:xfrm>
          <a:prstGeom prst="rect">
            <a:avLst/>
          </a:prstGeom>
          <a:noFill/>
        </p:spPr>
        <p:txBody>
          <a:bodyPr wrap="square">
            <a:spAutoFit/>
          </a:bodyPr>
          <a:lstStyle/>
          <a:p>
            <a:pPr algn="l"/>
            <a:r>
              <a:rPr lang="en-US" sz="2400" b="1" i="0" dirty="0">
                <a:solidFill>
                  <a:srgbClr val="404040"/>
                </a:solidFill>
                <a:effectLst/>
                <a:latin typeface="Times New Roman" panose="02020603050405020304" pitchFamily="18" charset="0"/>
                <a:cs typeface="Times New Roman" panose="02020603050405020304" pitchFamily="18" charset="0"/>
              </a:rPr>
              <a:t>Network Virtualization</a:t>
            </a:r>
          </a:p>
          <a:p>
            <a:pPr algn="l"/>
            <a:r>
              <a:rPr lang="en-US" sz="2400" b="0" i="0" dirty="0">
                <a:solidFill>
                  <a:srgbClr val="404040"/>
                </a:solidFill>
                <a:effectLst/>
                <a:latin typeface="Times New Roman" panose="02020603050405020304" pitchFamily="18" charset="0"/>
                <a:cs typeface="Times New Roman" panose="02020603050405020304" pitchFamily="18" charset="0"/>
              </a:rPr>
              <a:t>Network virtualization mimics a network in a virtual environment. This virtualization process distributes network functions (directory services, file sharing, IP configurations) among virtual environments.</a:t>
            </a:r>
          </a:p>
          <a:p>
            <a:pPr algn="l">
              <a:buFont typeface="Arial" panose="020B0604020202020204" pitchFamily="34" charset="0"/>
              <a:buChar char="•"/>
            </a:pPr>
            <a:endParaRPr lang="en-US" dirty="0">
              <a:solidFill>
                <a:srgbClr val="40404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IN" dirty="0"/>
          </a:p>
        </p:txBody>
      </p:sp>
      <p:pic>
        <p:nvPicPr>
          <p:cNvPr id="8196" name="Picture 4" descr="Network function virtualization">
            <a:extLst>
              <a:ext uri="{FF2B5EF4-FFF2-40B4-BE49-F238E27FC236}">
                <a16:creationId xmlns:a16="http://schemas.microsoft.com/office/drawing/2014/main" id="{2C2DF452-7523-4FDC-AF8F-1A82BD6B2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939" y="2327122"/>
            <a:ext cx="6122505" cy="430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4366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C19F5F-0322-4762-AE9C-D01D3256BB22}"/>
              </a:ext>
            </a:extLst>
          </p:cNvPr>
          <p:cNvSpPr txBox="1"/>
          <p:nvPr/>
        </p:nvSpPr>
        <p:spPr>
          <a:xfrm>
            <a:off x="225287" y="291548"/>
            <a:ext cx="11820939" cy="2862322"/>
          </a:xfrm>
          <a:prstGeom prst="rect">
            <a:avLst/>
          </a:prstGeom>
          <a:noFill/>
        </p:spPr>
        <p:txBody>
          <a:bodyPr wrap="square">
            <a:spAutoFit/>
          </a:bodyPr>
          <a:lstStyle/>
          <a:p>
            <a:pPr algn="l"/>
            <a:r>
              <a:rPr lang="en-US" b="1" i="0" dirty="0">
                <a:solidFill>
                  <a:srgbClr val="404040"/>
                </a:solidFill>
                <a:effectLst/>
                <a:latin typeface="Poppins" panose="00000500000000000000" pitchFamily="2" charset="0"/>
              </a:rPr>
              <a:t>Desktop Virtualization</a:t>
            </a:r>
          </a:p>
          <a:p>
            <a:pPr algn="l"/>
            <a:r>
              <a:rPr lang="en-US" b="0" i="0" dirty="0">
                <a:solidFill>
                  <a:srgbClr val="404040"/>
                </a:solidFill>
                <a:effectLst/>
                <a:latin typeface="Roboto" panose="02000000000000000000" pitchFamily="2" charset="0"/>
              </a:rPr>
              <a:t>Desktop virtualization creates a virtual environment that imitates the settings and applications of a desktop device.</a:t>
            </a:r>
          </a:p>
          <a:p>
            <a:pPr algn="l"/>
            <a:r>
              <a:rPr lang="en-US" b="0" i="0" dirty="0">
                <a:solidFill>
                  <a:srgbClr val="404040"/>
                </a:solidFill>
                <a:effectLst/>
                <a:latin typeface="Roboto" panose="02000000000000000000" pitchFamily="2" charset="0"/>
              </a:rPr>
              <a:t>This virtualization form allows an administrator (either a person or a tool) to deploy desktop environments to multiple physical machines. Admins can perform mass configurations, updates, and security checks on all virtual desktops simultaneously.</a:t>
            </a:r>
          </a:p>
          <a:p>
            <a:pPr algn="l"/>
            <a:r>
              <a:rPr lang="en-US" b="0" i="0" u="none" strike="noStrike" dirty="0">
                <a:solidFill>
                  <a:srgbClr val="0074DB"/>
                </a:solidFill>
                <a:effectLst/>
                <a:latin typeface="Roboto" panose="02000000000000000000" pitchFamily="2" charset="0"/>
                <a:hlinkClick r:id="rId2"/>
              </a:rPr>
              <a:t>Virtual desktop infrastructure</a:t>
            </a:r>
            <a:r>
              <a:rPr lang="en-US" b="0" i="0" dirty="0">
                <a:solidFill>
                  <a:srgbClr val="404040"/>
                </a:solidFill>
                <a:effectLst/>
                <a:latin typeface="Roboto" panose="02000000000000000000" pitchFamily="2" charset="0"/>
              </a:rPr>
              <a:t> is ideal for providing a secure, centralized work environment accessible from any device.</a:t>
            </a:r>
          </a:p>
          <a:p>
            <a:pPr algn="l"/>
            <a:endParaRPr lang="en-US" b="0" i="0" dirty="0">
              <a:solidFill>
                <a:srgbClr val="404040"/>
              </a:solidFill>
              <a:effectLst/>
              <a:latin typeface="Roboto" panose="02000000000000000000" pitchFamily="2" charset="0"/>
            </a:endParaRPr>
          </a:p>
          <a:p>
            <a:pPr algn="l"/>
            <a:endParaRPr lang="en-US" dirty="0">
              <a:solidFill>
                <a:srgbClr val="404040"/>
              </a:solidFill>
              <a:latin typeface="Roboto" panose="02000000000000000000" pitchFamily="2" charset="0"/>
            </a:endParaRPr>
          </a:p>
          <a:p>
            <a:pPr algn="l"/>
            <a:endParaRPr lang="en-US" b="0" i="0" dirty="0">
              <a:solidFill>
                <a:srgbClr val="404040"/>
              </a:solidFill>
              <a:effectLst/>
              <a:latin typeface="Roboto" panose="02000000000000000000" pitchFamily="2" charset="0"/>
            </a:endParaRPr>
          </a:p>
        </p:txBody>
      </p:sp>
      <p:pic>
        <p:nvPicPr>
          <p:cNvPr id="4" name="Picture 2" descr="desktop virtualization">
            <a:extLst>
              <a:ext uri="{FF2B5EF4-FFF2-40B4-BE49-F238E27FC236}">
                <a16:creationId xmlns:a16="http://schemas.microsoft.com/office/drawing/2014/main" id="{40A5CED1-6A08-441B-9D19-CF641CB54B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371" y="3153870"/>
            <a:ext cx="4581597" cy="2988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854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968601-24BB-4C46-B13D-C21B6195E1B3}"/>
              </a:ext>
            </a:extLst>
          </p:cNvPr>
          <p:cNvSpPr txBox="1"/>
          <p:nvPr/>
        </p:nvSpPr>
        <p:spPr>
          <a:xfrm>
            <a:off x="119270" y="92766"/>
            <a:ext cx="11794434" cy="3139321"/>
          </a:xfrm>
          <a:prstGeom prst="rect">
            <a:avLst/>
          </a:prstGeom>
          <a:noFill/>
        </p:spPr>
        <p:txBody>
          <a:bodyPr wrap="square">
            <a:spAutoFit/>
          </a:bodyPr>
          <a:lstStyle/>
          <a:p>
            <a:pPr algn="l"/>
            <a:r>
              <a:rPr lang="en-US" b="1" i="0" dirty="0">
                <a:solidFill>
                  <a:srgbClr val="404040"/>
                </a:solidFill>
                <a:effectLst/>
                <a:latin typeface="Poppins" panose="00000500000000000000" pitchFamily="2" charset="0"/>
              </a:rPr>
              <a:t>Operating System Virtualization</a:t>
            </a:r>
          </a:p>
          <a:p>
            <a:pPr algn="l"/>
            <a:r>
              <a:rPr lang="en-US" b="0" i="0" dirty="0">
                <a:solidFill>
                  <a:srgbClr val="404040"/>
                </a:solidFill>
                <a:effectLst/>
                <a:latin typeface="Roboto" panose="02000000000000000000" pitchFamily="2" charset="0"/>
              </a:rPr>
              <a:t>Operating system virtualization allows a developer to deploy multiple operating systems on a single machine. This virtualization type helps a team to:</a:t>
            </a:r>
          </a:p>
          <a:p>
            <a:pPr algn="l"/>
            <a:endParaRPr lang="en-US" b="0" i="0" dirty="0">
              <a:solidFill>
                <a:srgbClr val="404040"/>
              </a:solidFill>
              <a:effectLst/>
              <a:latin typeface="Roboto" panose="02000000000000000000" pitchFamily="2" charset="0"/>
            </a:endParaRPr>
          </a:p>
          <a:p>
            <a:pPr algn="l">
              <a:buFont typeface="Arial" panose="020B0604020202020204" pitchFamily="34" charset="0"/>
              <a:buChar char="•"/>
            </a:pPr>
            <a:r>
              <a:rPr lang="en-US" b="0" i="0" dirty="0">
                <a:solidFill>
                  <a:srgbClr val="404040"/>
                </a:solidFill>
                <a:effectLst/>
                <a:latin typeface="Roboto" panose="02000000000000000000" pitchFamily="2" charset="0"/>
              </a:rPr>
              <a:t>Reduce bulk hardware costs.</a:t>
            </a:r>
          </a:p>
          <a:p>
            <a:pPr algn="l">
              <a:buFont typeface="Arial" panose="020B0604020202020204" pitchFamily="34" charset="0"/>
              <a:buChar char="•"/>
            </a:pPr>
            <a:r>
              <a:rPr lang="en-US" b="0" i="0" dirty="0">
                <a:solidFill>
                  <a:srgbClr val="404040"/>
                </a:solidFill>
                <a:effectLst/>
                <a:latin typeface="Roboto" panose="02000000000000000000" pitchFamily="2" charset="0"/>
              </a:rPr>
              <a:t>Test an app in multiple operating systems on a single machine.</a:t>
            </a:r>
          </a:p>
          <a:p>
            <a:pPr algn="l">
              <a:buFont typeface="Arial" panose="020B0604020202020204" pitchFamily="34" charset="0"/>
              <a:buChar char="•"/>
            </a:pPr>
            <a:r>
              <a:rPr lang="en-US" b="0" i="0" dirty="0">
                <a:solidFill>
                  <a:srgbClr val="404040"/>
                </a:solidFill>
                <a:effectLst/>
                <a:latin typeface="Roboto" panose="02000000000000000000" pitchFamily="2" charset="0"/>
              </a:rPr>
              <a:t>Increase security due to the isolation of virtual instances (e.g., test unapproved software solutions).</a:t>
            </a:r>
          </a:p>
          <a:p>
            <a:pPr algn="l">
              <a:buFont typeface="Arial" panose="020B0604020202020204" pitchFamily="34" charset="0"/>
              <a:buChar char="•"/>
            </a:pPr>
            <a:r>
              <a:rPr lang="en-US" b="0" i="0" dirty="0">
                <a:solidFill>
                  <a:srgbClr val="404040"/>
                </a:solidFill>
                <a:effectLst/>
                <a:latin typeface="Roboto" panose="02000000000000000000" pitchFamily="2" charset="0"/>
              </a:rPr>
              <a:t>Speed up IT services.</a:t>
            </a:r>
          </a:p>
          <a:p>
            <a:pPr algn="l"/>
            <a:r>
              <a:rPr lang="en-US" b="0" i="0" dirty="0">
                <a:solidFill>
                  <a:srgbClr val="404040"/>
                </a:solidFill>
                <a:effectLst/>
                <a:latin typeface="Roboto" panose="02000000000000000000" pitchFamily="2" charset="0"/>
              </a:rPr>
              <a:t>Operating system virtualization is a popular option when a team needs to run Linux and Windows environments on a single device.</a:t>
            </a:r>
          </a:p>
          <a:p>
            <a:pPr algn="l"/>
            <a:endParaRPr lang="en-US" b="0" i="0" dirty="0">
              <a:solidFill>
                <a:srgbClr val="404040"/>
              </a:solidFill>
              <a:effectLst/>
              <a:latin typeface="Roboto" panose="02000000000000000000" pitchFamily="2" charset="0"/>
            </a:endParaRPr>
          </a:p>
        </p:txBody>
      </p:sp>
      <p:pic>
        <p:nvPicPr>
          <p:cNvPr id="4" name="Picture 2" descr="Operating system virtualization">
            <a:extLst>
              <a:ext uri="{FF2B5EF4-FFF2-40B4-BE49-F238E27FC236}">
                <a16:creationId xmlns:a16="http://schemas.microsoft.com/office/drawing/2014/main" id="{269DFCAC-8FBE-4D03-80B5-B2C338FD1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0591" y="2941984"/>
            <a:ext cx="7010399" cy="34985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521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0E7B519-50AF-4F1B-A90F-5DDD272580B7}"/>
              </a:ext>
            </a:extLst>
          </p:cNvPr>
          <p:cNvSpPr txBox="1"/>
          <p:nvPr/>
        </p:nvSpPr>
        <p:spPr>
          <a:xfrm>
            <a:off x="0" y="119270"/>
            <a:ext cx="12072730" cy="4093428"/>
          </a:xfrm>
          <a:prstGeom prst="rect">
            <a:avLst/>
          </a:prstGeom>
          <a:noFill/>
        </p:spPr>
        <p:txBody>
          <a:bodyPr wrap="square">
            <a:spAutoFit/>
          </a:bodyPr>
          <a:lstStyle/>
          <a:p>
            <a:r>
              <a:rPr lang="en-US" sz="2000" b="1" i="0" dirty="0">
                <a:solidFill>
                  <a:srgbClr val="FF0000"/>
                </a:solidFill>
                <a:effectLst/>
                <a:latin typeface="Times New Roman" panose="02020603050405020304" pitchFamily="18" charset="0"/>
                <a:cs typeface="Times New Roman" panose="02020603050405020304" pitchFamily="18" charset="0"/>
              </a:rPr>
              <a:t>virtualization stack</a:t>
            </a:r>
          </a:p>
          <a:p>
            <a:r>
              <a:rPr lang="en-US" sz="2000" b="0" i="0" dirty="0">
                <a:solidFill>
                  <a:srgbClr val="202124"/>
                </a:solidFill>
                <a:effectLst/>
                <a:latin typeface="Times New Roman" panose="02020603050405020304" pitchFamily="18" charset="0"/>
                <a:cs typeface="Times New Roman" panose="02020603050405020304" pitchFamily="18" charset="0"/>
              </a:rPr>
              <a:t>A virtualization stack is </a:t>
            </a:r>
            <a:r>
              <a:rPr lang="en-US" sz="2000" b="1" i="0" dirty="0">
                <a:solidFill>
                  <a:srgbClr val="202124"/>
                </a:solidFill>
                <a:effectLst/>
                <a:latin typeface="Times New Roman" panose="02020603050405020304" pitchFamily="18" charset="0"/>
                <a:cs typeface="Times New Roman" panose="02020603050405020304" pitchFamily="18" charset="0"/>
              </a:rPr>
              <a:t>a group of software components used to support a virtual environment</a:t>
            </a:r>
            <a:r>
              <a:rPr lang="en-US" sz="2000" b="0" i="0" dirty="0">
                <a:solidFill>
                  <a:srgbClr val="202124"/>
                </a:solidFill>
                <a:effectLst/>
                <a:latin typeface="Times New Roman" panose="02020603050405020304" pitchFamily="18" charset="0"/>
                <a:cs typeface="Times New Roman" panose="02020603050405020304" pitchFamily="18" charset="0"/>
              </a:rPr>
              <a:t>. Items include the management console, virtual machine processes, emulated devices, management services and the user interface combined with the hypervisor.</a:t>
            </a:r>
          </a:p>
          <a:p>
            <a:endParaRPr lang="en-US" sz="2000" dirty="0">
              <a:solidFill>
                <a:srgbClr val="202124"/>
              </a:solidFill>
              <a:latin typeface="Times New Roman" panose="02020603050405020304" pitchFamily="18" charset="0"/>
              <a:cs typeface="Times New Roman" panose="02020603050405020304" pitchFamily="18" charset="0"/>
            </a:endParaRPr>
          </a:p>
          <a:p>
            <a:endParaRPr lang="en-US" sz="2000" dirty="0">
              <a:solidFill>
                <a:srgbClr val="3C3C3C"/>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1" i="0" dirty="0">
                <a:solidFill>
                  <a:srgbClr val="334960"/>
                </a:solidFill>
                <a:effectLst/>
                <a:latin typeface="sf_pro_displaymedium"/>
              </a:rPr>
              <a:t>Hardware Virtualization:</a:t>
            </a:r>
            <a:endParaRPr lang="en-US" sz="2000" b="0" i="0" dirty="0">
              <a:solidFill>
                <a:srgbClr val="334960"/>
              </a:solidFill>
              <a:effectLst/>
              <a:latin typeface="Roboto" panose="02000000000000000000" pitchFamily="2" charset="0"/>
            </a:endParaRPr>
          </a:p>
          <a:p>
            <a:pPr algn="l">
              <a:buFont typeface="Arial" panose="020B0604020202020204" pitchFamily="34" charset="0"/>
              <a:buChar char="•"/>
            </a:pPr>
            <a:r>
              <a:rPr lang="en-US" sz="2000" b="1" i="0" dirty="0">
                <a:solidFill>
                  <a:srgbClr val="334960"/>
                </a:solidFill>
                <a:effectLst/>
                <a:latin typeface="sf_pro_displaymedium"/>
              </a:rPr>
              <a:t>Network Virtualization:</a:t>
            </a:r>
            <a:endParaRPr lang="en-US" sz="2000" b="0" i="0" dirty="0">
              <a:solidFill>
                <a:srgbClr val="334960"/>
              </a:solidFill>
              <a:effectLst/>
              <a:latin typeface="Roboto" panose="02000000000000000000" pitchFamily="2" charset="0"/>
            </a:endParaRPr>
          </a:p>
          <a:p>
            <a:pPr algn="l">
              <a:buFont typeface="Arial" panose="020B0604020202020204" pitchFamily="34" charset="0"/>
              <a:buChar char="•"/>
            </a:pPr>
            <a:r>
              <a:rPr lang="en-US" sz="2000" b="1" i="0" dirty="0">
                <a:solidFill>
                  <a:srgbClr val="334960"/>
                </a:solidFill>
                <a:effectLst/>
                <a:latin typeface="sf_pro_displaymedium"/>
              </a:rPr>
              <a:t>Desktop Virtualization:</a:t>
            </a:r>
            <a:endParaRPr lang="en-US" sz="2000" b="0" i="0" dirty="0">
              <a:solidFill>
                <a:srgbClr val="334960"/>
              </a:solidFill>
              <a:effectLst/>
              <a:latin typeface="Roboto" panose="02000000000000000000" pitchFamily="2" charset="0"/>
            </a:endParaRPr>
          </a:p>
          <a:p>
            <a:pPr algn="l">
              <a:buFont typeface="Arial" panose="020B0604020202020204" pitchFamily="34" charset="0"/>
              <a:buChar char="•"/>
            </a:pPr>
            <a:r>
              <a:rPr lang="en-US" sz="2000" b="1" i="0" dirty="0">
                <a:solidFill>
                  <a:srgbClr val="334960"/>
                </a:solidFill>
                <a:effectLst/>
                <a:latin typeface="sf_pro_displaymedium"/>
              </a:rPr>
              <a:t>Storage Virtualization:</a:t>
            </a:r>
            <a:endParaRPr lang="en-US" sz="2000" b="0" i="0" dirty="0">
              <a:solidFill>
                <a:srgbClr val="334960"/>
              </a:solidFill>
              <a:effectLst/>
              <a:latin typeface="Roboto" panose="02000000000000000000" pitchFamily="2" charset="0"/>
            </a:endParaRPr>
          </a:p>
          <a:p>
            <a:pPr algn="l">
              <a:buFont typeface="Arial" panose="020B0604020202020204" pitchFamily="34" charset="0"/>
              <a:buChar char="•"/>
            </a:pPr>
            <a:r>
              <a:rPr lang="en-US" sz="2000" b="1" i="0" dirty="0">
                <a:solidFill>
                  <a:srgbClr val="334960"/>
                </a:solidFill>
                <a:effectLst/>
                <a:latin typeface="sf_pro_displaymedium"/>
              </a:rPr>
              <a:t>Application Virtualization:</a:t>
            </a:r>
            <a:endParaRPr lang="en-US" sz="2000" b="0" i="0" dirty="0">
              <a:solidFill>
                <a:srgbClr val="334960"/>
              </a:solidFill>
              <a:effectLst/>
              <a:latin typeface="Roboto" panose="02000000000000000000" pitchFamily="2" charset="0"/>
            </a:endParaRPr>
          </a:p>
          <a:p>
            <a:pPr algn="l">
              <a:buFont typeface="Arial" panose="020B0604020202020204" pitchFamily="34" charset="0"/>
              <a:buChar char="•"/>
            </a:pPr>
            <a:r>
              <a:rPr lang="en-US" sz="2000" b="1" i="0" dirty="0">
                <a:solidFill>
                  <a:srgbClr val="334960"/>
                </a:solidFill>
                <a:effectLst/>
                <a:latin typeface="sf_pro_displaymedium"/>
              </a:rPr>
              <a:t>Server Virtualization:</a:t>
            </a:r>
            <a:endParaRPr lang="en-US" sz="2000" b="0" i="0" dirty="0">
              <a:solidFill>
                <a:srgbClr val="334960"/>
              </a:solidFill>
              <a:effectLst/>
              <a:latin typeface="Roboto" panose="02000000000000000000" pitchFamily="2"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8349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052AD4-CADC-411D-9348-6DE9C8F88D50}"/>
              </a:ext>
            </a:extLst>
          </p:cNvPr>
          <p:cNvSpPr txBox="1"/>
          <p:nvPr/>
        </p:nvSpPr>
        <p:spPr>
          <a:xfrm>
            <a:off x="132522" y="119270"/>
            <a:ext cx="11622156" cy="6740307"/>
          </a:xfrm>
          <a:prstGeom prst="rect">
            <a:avLst/>
          </a:prstGeom>
          <a:noFill/>
        </p:spPr>
        <p:txBody>
          <a:bodyPr wrap="square">
            <a:spAutoFit/>
          </a:bodyPr>
          <a:lstStyle/>
          <a:p>
            <a:r>
              <a:rPr lang="en-US" sz="2400" b="1" i="0" dirty="0">
                <a:solidFill>
                  <a:srgbClr val="334960"/>
                </a:solidFill>
                <a:effectLst/>
                <a:latin typeface="Times New Roman" panose="02020603050405020304" pitchFamily="18" charset="0"/>
                <a:cs typeface="Times New Roman" panose="02020603050405020304" pitchFamily="18" charset="0"/>
              </a:rPr>
              <a:t>Hardware Virtualization</a:t>
            </a:r>
          </a:p>
          <a:p>
            <a:endParaRPr lang="en-US" sz="2400" b="1" i="0" dirty="0">
              <a:solidFill>
                <a:srgbClr val="334960"/>
              </a:solidFill>
              <a:effectLst/>
              <a:latin typeface="Times New Roman" panose="02020603050405020304" pitchFamily="18" charset="0"/>
              <a:cs typeface="Times New Roman" panose="02020603050405020304" pitchFamily="18" charset="0"/>
            </a:endParaRPr>
          </a:p>
          <a:p>
            <a:r>
              <a:rPr lang="en-US" sz="2400" b="0" i="0" dirty="0">
                <a:solidFill>
                  <a:srgbClr val="334960"/>
                </a:solidFill>
                <a:effectLst/>
                <a:latin typeface="Times New Roman" panose="02020603050405020304" pitchFamily="18" charset="0"/>
                <a:cs typeface="Times New Roman" panose="02020603050405020304" pitchFamily="18" charset="0"/>
              </a:rPr>
              <a:t>It may be considered as the most common type of virtualization these days. </a:t>
            </a:r>
            <a:r>
              <a:rPr lang="en-US" sz="2400" b="0" i="0" dirty="0">
                <a:solidFill>
                  <a:srgbClr val="FF0000"/>
                </a:solidFill>
                <a:effectLst/>
                <a:latin typeface="Times New Roman" panose="02020603050405020304" pitchFamily="18" charset="0"/>
                <a:cs typeface="Times New Roman" panose="02020603050405020304" pitchFamily="18" charset="0"/>
              </a:rPr>
              <a:t>The best example of hardware virtualization is a Virtual Machine</a:t>
            </a:r>
            <a:r>
              <a:rPr lang="en-US" sz="2400" b="0" i="0" dirty="0">
                <a:solidFill>
                  <a:srgbClr val="334960"/>
                </a:solidFill>
                <a:effectLst/>
                <a:latin typeface="Times New Roman" panose="02020603050405020304" pitchFamily="18" charset="0"/>
                <a:cs typeface="Times New Roman" panose="02020603050405020304" pitchFamily="18" charset="0"/>
              </a:rPr>
              <a:t>. A virtual machine works and looks like a real system with the same or a different operating system.</a:t>
            </a:r>
          </a:p>
          <a:p>
            <a:endParaRPr lang="en-US" sz="2400" dirty="0">
              <a:solidFill>
                <a:srgbClr val="3349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1" i="0" dirty="0">
                <a:solidFill>
                  <a:srgbClr val="334960"/>
                </a:solidFill>
                <a:effectLst/>
                <a:latin typeface="Times New Roman" panose="02020603050405020304" pitchFamily="18" charset="0"/>
                <a:cs typeface="Times New Roman" panose="02020603050405020304" pitchFamily="18" charset="0"/>
              </a:rPr>
              <a:t>Network Virtualization:</a:t>
            </a:r>
          </a:p>
          <a:p>
            <a:pPr algn="l"/>
            <a:endParaRPr lang="en-US" sz="2400" b="0" i="0" dirty="0">
              <a:solidFill>
                <a:srgbClr val="334960"/>
              </a:solidFill>
              <a:effectLst/>
              <a:latin typeface="Times New Roman" panose="02020603050405020304" pitchFamily="18" charset="0"/>
              <a:cs typeface="Times New Roman" panose="02020603050405020304" pitchFamily="18" charset="0"/>
            </a:endParaRPr>
          </a:p>
          <a:p>
            <a:r>
              <a:rPr lang="en-US" sz="2400" b="0" i="0" dirty="0">
                <a:solidFill>
                  <a:srgbClr val="334960"/>
                </a:solidFill>
                <a:effectLst/>
                <a:latin typeface="Times New Roman" panose="02020603050405020304" pitchFamily="18" charset="0"/>
                <a:cs typeface="Times New Roman" panose="02020603050405020304" pitchFamily="18" charset="0"/>
              </a:rPr>
              <a:t>Network virtualization is a process in which </a:t>
            </a:r>
            <a:r>
              <a:rPr lang="en-US" sz="2400" b="0" i="0" dirty="0">
                <a:solidFill>
                  <a:srgbClr val="FF0000"/>
                </a:solidFill>
                <a:effectLst/>
                <a:latin typeface="Times New Roman" panose="02020603050405020304" pitchFamily="18" charset="0"/>
                <a:cs typeface="Times New Roman" panose="02020603050405020304" pitchFamily="18" charset="0"/>
              </a:rPr>
              <a:t>a combination of software and hardware network resources form a single software network</a:t>
            </a:r>
            <a:r>
              <a:rPr lang="en-US" sz="2400" b="0" i="0" dirty="0">
                <a:solidFill>
                  <a:srgbClr val="334960"/>
                </a:solidFill>
                <a:effectLst/>
                <a:latin typeface="Times New Roman" panose="02020603050405020304" pitchFamily="18" charset="0"/>
                <a:cs typeface="Times New Roman" panose="02020603050405020304" pitchFamily="18" charset="0"/>
              </a:rPr>
              <a:t>, which is commonly known as Virtual Network. Also, the available bandwidth is divided into several independent channels, which can be used by real devices and servers.</a:t>
            </a:r>
          </a:p>
          <a:p>
            <a:endParaRPr lang="en-US" sz="2400" dirty="0">
              <a:solidFill>
                <a:srgbClr val="3349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1" i="0" dirty="0">
                <a:solidFill>
                  <a:srgbClr val="334960"/>
                </a:solidFill>
                <a:effectLst/>
                <a:latin typeface="Times New Roman" panose="02020603050405020304" pitchFamily="18" charset="0"/>
                <a:cs typeface="Times New Roman" panose="02020603050405020304" pitchFamily="18" charset="0"/>
              </a:rPr>
              <a:t>Desktop Virtualization:</a:t>
            </a:r>
          </a:p>
          <a:p>
            <a:r>
              <a:rPr lang="en-US" sz="2400" b="0" i="0" dirty="0">
                <a:solidFill>
                  <a:srgbClr val="334960"/>
                </a:solidFill>
                <a:effectLst/>
                <a:latin typeface="Times New Roman" panose="02020603050405020304" pitchFamily="18" charset="0"/>
                <a:cs typeface="Times New Roman" panose="02020603050405020304" pitchFamily="18" charset="0"/>
              </a:rPr>
              <a:t>In the case of desktop virtualization, the logical or virtual desktop is separate from the physical desktop. Here, instead of accessing the desktop using the computer hardware like keyboard, mouse of the system, the desktop is located remotely from another system by using a network connection.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9130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3EB67A-3695-40E8-8620-4464A8B0E917}"/>
              </a:ext>
            </a:extLst>
          </p:cNvPr>
          <p:cNvSpPr txBox="1"/>
          <p:nvPr/>
        </p:nvSpPr>
        <p:spPr>
          <a:xfrm>
            <a:off x="145773" y="119271"/>
            <a:ext cx="11953461" cy="6370975"/>
          </a:xfrm>
          <a:prstGeom prst="rect">
            <a:avLst/>
          </a:prstGeom>
          <a:noFill/>
        </p:spPr>
        <p:txBody>
          <a:bodyPr wrap="square">
            <a:spAutoFit/>
          </a:bodyPr>
          <a:lstStyle/>
          <a:p>
            <a:pPr>
              <a:buFont typeface="Arial" panose="020B0604020202020204" pitchFamily="34" charset="0"/>
              <a:buChar char="•"/>
            </a:pPr>
            <a:r>
              <a:rPr lang="en-US" sz="2400" b="0" i="0" dirty="0">
                <a:solidFill>
                  <a:srgbClr val="334960"/>
                </a:solidFill>
                <a:effectLst/>
                <a:latin typeface="Times New Roman" panose="02020603050405020304" pitchFamily="18" charset="0"/>
                <a:cs typeface="Times New Roman" panose="02020603050405020304" pitchFamily="18" charset="0"/>
              </a:rPr>
              <a:t>The network can be a wired/wireless LAN or the internet. So, the user can access their files from any system without physically operating the order that contains the data.</a:t>
            </a:r>
            <a:endParaRPr lang="en-US" sz="2400" b="1" dirty="0">
              <a:solidFill>
                <a:srgbClr val="334960"/>
              </a:solidFill>
              <a:latin typeface="Times New Roman" panose="02020603050405020304" pitchFamily="18" charset="0"/>
              <a:cs typeface="Times New Roman" panose="02020603050405020304" pitchFamily="18" charset="0"/>
            </a:endParaRPr>
          </a:p>
          <a:p>
            <a:pPr algn="l"/>
            <a:endParaRPr lang="en-US" sz="2400" b="1" i="0" dirty="0">
              <a:solidFill>
                <a:srgbClr val="33496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1" i="0" dirty="0">
                <a:solidFill>
                  <a:srgbClr val="334960"/>
                </a:solidFill>
                <a:effectLst/>
                <a:latin typeface="Times New Roman" panose="02020603050405020304" pitchFamily="18" charset="0"/>
                <a:cs typeface="Times New Roman" panose="02020603050405020304" pitchFamily="18" charset="0"/>
              </a:rPr>
              <a:t>Storage Virtualization:</a:t>
            </a:r>
            <a:endParaRPr lang="en-US" sz="2400" b="0" i="0" dirty="0">
              <a:solidFill>
                <a:srgbClr val="334960"/>
              </a:solidFill>
              <a:effectLst/>
              <a:latin typeface="Times New Roman" panose="02020603050405020304" pitchFamily="18" charset="0"/>
              <a:cs typeface="Times New Roman" panose="02020603050405020304" pitchFamily="18" charset="0"/>
            </a:endParaRPr>
          </a:p>
          <a:p>
            <a:r>
              <a:rPr lang="en-US" sz="2400" b="0" i="0" dirty="0">
                <a:solidFill>
                  <a:srgbClr val="334960"/>
                </a:solidFill>
                <a:effectLst/>
                <a:latin typeface="Times New Roman" panose="02020603050405020304" pitchFamily="18" charset="0"/>
                <a:cs typeface="Times New Roman" panose="02020603050405020304" pitchFamily="18" charset="0"/>
              </a:rPr>
              <a:t>In this case, a combination of several storage disks forms a storage pool or group. These groups are virtual storage units. These can then be assigned to servers for use. Logical volumes are one of the examples of storage virtualization, which represent the storage as a coherent unit rather than a physical unit.</a:t>
            </a:r>
          </a:p>
          <a:p>
            <a:endParaRPr lang="en-US" sz="2400" dirty="0">
              <a:solidFill>
                <a:srgbClr val="3349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1" i="0" dirty="0">
                <a:solidFill>
                  <a:srgbClr val="334960"/>
                </a:solidFill>
                <a:effectLst/>
                <a:latin typeface="Times New Roman" panose="02020603050405020304" pitchFamily="18" charset="0"/>
                <a:cs typeface="Times New Roman" panose="02020603050405020304" pitchFamily="18" charset="0"/>
              </a:rPr>
              <a:t>Application Virtualization:</a:t>
            </a:r>
            <a:endParaRPr lang="en-US" sz="2400" b="0" i="0" dirty="0">
              <a:solidFill>
                <a:srgbClr val="33496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0" i="0" dirty="0">
                <a:solidFill>
                  <a:srgbClr val="334960"/>
                </a:solidFill>
                <a:effectLst/>
                <a:latin typeface="Times New Roman" panose="02020603050405020304" pitchFamily="18" charset="0"/>
                <a:cs typeface="Times New Roman" panose="02020603050405020304" pitchFamily="18" charset="0"/>
              </a:rPr>
              <a:t>In application virtualization, applications are virtualized and encapsulated. Virtual applications are not installed like traditional applications but are used as they are installed.</a:t>
            </a:r>
          </a:p>
          <a:p>
            <a:pPr algn="l">
              <a:buFont typeface="Arial" panose="020B0604020202020204" pitchFamily="34" charset="0"/>
              <a:buChar char="•"/>
            </a:pPr>
            <a:endParaRPr lang="en-US" sz="2400" dirty="0">
              <a:solidFill>
                <a:srgbClr val="3349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400" b="1" i="0" dirty="0">
                <a:solidFill>
                  <a:srgbClr val="334960"/>
                </a:solidFill>
                <a:effectLst/>
                <a:latin typeface="Times New Roman" panose="02020603050405020304" pitchFamily="18" charset="0"/>
                <a:cs typeface="Times New Roman" panose="02020603050405020304" pitchFamily="18" charset="0"/>
              </a:rPr>
              <a:t>Server Virtualization:</a:t>
            </a:r>
            <a:endParaRPr lang="en-US" sz="2400" b="0" i="0" dirty="0">
              <a:solidFill>
                <a:srgbClr val="334960"/>
              </a:solidFill>
              <a:effectLst/>
              <a:latin typeface="Times New Roman" panose="02020603050405020304" pitchFamily="18" charset="0"/>
              <a:cs typeface="Times New Roman" panose="02020603050405020304" pitchFamily="18" charset="0"/>
            </a:endParaRPr>
          </a:p>
          <a:p>
            <a:r>
              <a:rPr lang="en-US" sz="2400" b="0" i="0" dirty="0">
                <a:solidFill>
                  <a:srgbClr val="334960"/>
                </a:solidFill>
                <a:effectLst/>
                <a:latin typeface="Times New Roman" panose="02020603050405020304" pitchFamily="18" charset="0"/>
                <a:cs typeface="Times New Roman" panose="02020603050405020304" pitchFamily="18" charset="0"/>
              </a:rPr>
              <a:t>This type of virtualization comes in handy when we need to run a single physical server on multiple operating systems simultaneously. With this process, the performance, capacity and efficiency of the server are increased, while managing costs and complexity are reduced.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4064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912DFE-6D45-458D-94FF-E7F39B1939C1}"/>
              </a:ext>
            </a:extLst>
          </p:cNvPr>
          <p:cNvSpPr txBox="1"/>
          <p:nvPr/>
        </p:nvSpPr>
        <p:spPr>
          <a:xfrm>
            <a:off x="119271" y="212035"/>
            <a:ext cx="11834190" cy="4154984"/>
          </a:xfrm>
          <a:prstGeom prst="rect">
            <a:avLst/>
          </a:prstGeom>
          <a:noFill/>
        </p:spPr>
        <p:txBody>
          <a:bodyPr wrap="square">
            <a:spAutoFit/>
          </a:bodyPr>
          <a:lstStyle/>
          <a:p>
            <a:pPr algn="l"/>
            <a:r>
              <a:rPr lang="en-US" sz="2400" b="1" dirty="0">
                <a:solidFill>
                  <a:srgbClr val="FF0000"/>
                </a:solidFill>
                <a:latin typeface="Times New Roman" panose="02020603050405020304" pitchFamily="18" charset="0"/>
                <a:cs typeface="Times New Roman" panose="02020603050405020304" pitchFamily="18" charset="0"/>
              </a:rPr>
              <a:t>T</a:t>
            </a:r>
            <a:r>
              <a:rPr lang="en-US" sz="2400" b="1" i="0" dirty="0">
                <a:solidFill>
                  <a:srgbClr val="FF0000"/>
                </a:solidFill>
                <a:effectLst/>
                <a:latin typeface="Times New Roman" panose="02020603050405020304" pitchFamily="18" charset="0"/>
                <a:cs typeface="Times New Roman" panose="02020603050405020304" pitchFamily="18" charset="0"/>
              </a:rPr>
              <a:t>he value of virtualization in DevOps</a:t>
            </a:r>
            <a:r>
              <a:rPr lang="en-US" sz="2400" b="0" i="0" dirty="0">
                <a:solidFill>
                  <a:srgbClr val="FF0000"/>
                </a:solidFill>
                <a:effectLst/>
                <a:latin typeface="Times New Roman" panose="02020603050405020304" pitchFamily="18" charset="0"/>
                <a:cs typeface="Times New Roman" panose="02020603050405020304" pitchFamily="18" charset="0"/>
              </a:rPr>
              <a:t>.</a:t>
            </a:r>
          </a:p>
          <a:p>
            <a:r>
              <a:rPr lang="en-US" sz="2400" dirty="0">
                <a:solidFill>
                  <a:srgbClr val="FF0000"/>
                </a:solidFill>
                <a:latin typeface="Times New Roman" panose="02020603050405020304" pitchFamily="18" charset="0"/>
                <a:cs typeface="Times New Roman" panose="02020603050405020304" pitchFamily="18" charset="0"/>
              </a:rPr>
              <a:t>(</a:t>
            </a:r>
            <a:r>
              <a:rPr lang="en-US" sz="2400" b="0" i="0" dirty="0">
                <a:solidFill>
                  <a:srgbClr val="FF0000"/>
                </a:solidFill>
                <a:effectLst/>
                <a:latin typeface="Times New Roman" panose="02020603050405020304" pitchFamily="18" charset="0"/>
                <a:cs typeface="Times New Roman" panose="02020603050405020304" pitchFamily="18" charset="0"/>
              </a:rPr>
              <a:t>how virtualization enables engineers to set up flexible and consistent systems throughout the </a:t>
            </a:r>
            <a:r>
              <a:rPr lang="en-US" sz="2400" b="0" i="0" u="none" strike="noStrike" dirty="0">
                <a:solidFill>
                  <a:srgbClr val="FF0000"/>
                </a:solidFill>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software development life cycle</a:t>
            </a:r>
            <a:r>
              <a:rPr lang="en-US" sz="2400" b="0" i="0" dirty="0">
                <a:solidFill>
                  <a:srgbClr val="FF0000"/>
                </a:solidFill>
                <a:effectLst/>
                <a:latin typeface="Times New Roman" panose="02020603050405020304" pitchFamily="18" charset="0"/>
                <a:cs typeface="Times New Roman" panose="02020603050405020304" pitchFamily="18" charset="0"/>
              </a:rPr>
              <a:t> (SDLC).)</a:t>
            </a:r>
          </a:p>
          <a:p>
            <a:pPr algn="l"/>
            <a:endParaRPr lang="en-US" sz="2400" dirty="0">
              <a:solidFill>
                <a:srgbClr val="404040"/>
              </a:solidFill>
              <a:latin typeface="Times New Roman" panose="02020603050405020304" pitchFamily="18" charset="0"/>
              <a:cs typeface="Times New Roman" panose="02020603050405020304" pitchFamily="18" charset="0"/>
            </a:endParaRPr>
          </a:p>
          <a:p>
            <a:pPr algn="l"/>
            <a:r>
              <a:rPr lang="en-US" sz="2400" b="0" i="0" dirty="0">
                <a:solidFill>
                  <a:srgbClr val="404040"/>
                </a:solidFill>
                <a:effectLst/>
                <a:latin typeface="Times New Roman" panose="02020603050405020304" pitchFamily="18" charset="0"/>
                <a:cs typeface="Times New Roman" panose="02020603050405020304" pitchFamily="18" charset="0"/>
              </a:rPr>
              <a:t>The goal of DevOps is to improve the speed and quality of software development. Traditional teams must evolve to reach faster deployments, and embracing virtualization is a major part of the </a:t>
            </a:r>
            <a:r>
              <a:rPr lang="en-US" sz="2400" b="0" i="0" u="none" strike="noStrike" dirty="0">
                <a:solidFill>
                  <a:srgbClr val="0074DB"/>
                </a:solidFill>
                <a:effectLst/>
                <a:latin typeface="Times New Roman" panose="02020603050405020304" pitchFamily="18" charset="0"/>
                <a:cs typeface="Times New Roman" panose="02020603050405020304" pitchFamily="18" charset="0"/>
                <a:hlinkClick r:id="rId3"/>
              </a:rPr>
              <a:t>DevOps transition</a:t>
            </a:r>
            <a:r>
              <a:rPr lang="en-US" sz="2400" b="0" i="0" dirty="0">
                <a:solidFill>
                  <a:srgbClr val="404040"/>
                </a:solidFill>
                <a:effectLst/>
                <a:latin typeface="Times New Roman" panose="02020603050405020304" pitchFamily="18" charset="0"/>
                <a:cs typeface="Times New Roman" panose="02020603050405020304" pitchFamily="18" charset="0"/>
              </a:rPr>
              <a:t>. </a:t>
            </a:r>
          </a:p>
          <a:p>
            <a:pPr algn="l"/>
            <a:endParaRPr lang="en-US" sz="2400" dirty="0">
              <a:solidFill>
                <a:srgbClr val="404040"/>
              </a:solidFill>
              <a:latin typeface="Times New Roman" panose="02020603050405020304" pitchFamily="18" charset="0"/>
              <a:cs typeface="Times New Roman" panose="02020603050405020304" pitchFamily="18" charset="0"/>
            </a:endParaRPr>
          </a:p>
          <a:p>
            <a:pPr algn="l"/>
            <a:r>
              <a:rPr lang="en-US" sz="2400" b="0" i="0" dirty="0">
                <a:solidFill>
                  <a:srgbClr val="404040"/>
                </a:solidFill>
                <a:effectLst/>
                <a:latin typeface="Times New Roman" panose="02020603050405020304" pitchFamily="18" charset="0"/>
                <a:cs typeface="Times New Roman" panose="02020603050405020304" pitchFamily="18" charset="0"/>
              </a:rPr>
              <a:t>Virtualization offers the consistency and agility a team requires to make the most out of modern development.</a:t>
            </a:r>
          </a:p>
          <a:p>
            <a:pPr algn="l"/>
            <a:endParaRPr lang="en-US" sz="2400" b="0" i="0" dirty="0">
              <a:solidFill>
                <a:srgbClr val="40404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3564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0238CF-4B2B-447B-BA3A-0C93E70B9F79}"/>
              </a:ext>
            </a:extLst>
          </p:cNvPr>
          <p:cNvSpPr txBox="1"/>
          <p:nvPr/>
        </p:nvSpPr>
        <p:spPr>
          <a:xfrm>
            <a:off x="0" y="1"/>
            <a:ext cx="12191999" cy="6555641"/>
          </a:xfrm>
          <a:prstGeom prst="rect">
            <a:avLst/>
          </a:prstGeom>
          <a:noFill/>
        </p:spPr>
        <p:txBody>
          <a:bodyPr wrap="square">
            <a:spAutoFit/>
          </a:bodyPr>
          <a:lstStyle/>
          <a:p>
            <a:pPr algn="l"/>
            <a:r>
              <a:rPr lang="en-US" sz="2000" b="1" i="0" dirty="0">
                <a:solidFill>
                  <a:srgbClr val="FF0000"/>
                </a:solidFill>
                <a:effectLst/>
                <a:latin typeface="sf_pro_displayheavy"/>
              </a:rPr>
              <a:t>Role of Virtualization in DevOps</a:t>
            </a:r>
          </a:p>
          <a:p>
            <a:pPr marL="285750" indent="-285750">
              <a:buFont typeface="Wingdings" panose="05000000000000000000" pitchFamily="2" charset="2"/>
              <a:buChar char="Ø"/>
            </a:pPr>
            <a:endParaRPr lang="en-US" sz="2000" b="0" i="0" dirty="0">
              <a:solidFill>
                <a:srgbClr val="334960"/>
              </a:solidFill>
              <a:effectLst/>
              <a:latin typeface="Roboto" panose="02000000000000000000" pitchFamily="2" charset="0"/>
            </a:endParaRPr>
          </a:p>
          <a:p>
            <a:pPr marL="285750" indent="-285750">
              <a:buFont typeface="Wingdings" panose="05000000000000000000" pitchFamily="2" charset="2"/>
              <a:buChar char="Ø"/>
            </a:pPr>
            <a:r>
              <a:rPr lang="en-US" sz="2000" b="0" i="0" dirty="0">
                <a:solidFill>
                  <a:srgbClr val="334960"/>
                </a:solidFill>
                <a:effectLst/>
                <a:latin typeface="Roboto" panose="02000000000000000000" pitchFamily="2" charset="0"/>
              </a:rPr>
              <a:t>Virtualization </a:t>
            </a:r>
            <a:r>
              <a:rPr lang="en-US" sz="2000" b="0" i="0" dirty="0">
                <a:solidFill>
                  <a:srgbClr val="334960"/>
                </a:solidFill>
                <a:effectLst/>
                <a:latin typeface="Times New Roman" panose="02020603050405020304" pitchFamily="18" charset="0"/>
                <a:cs typeface="Times New Roman" panose="02020603050405020304" pitchFamily="18" charset="0"/>
              </a:rPr>
              <a:t>plays</a:t>
            </a:r>
            <a:r>
              <a:rPr lang="en-US" sz="2000" b="0" i="0" dirty="0">
                <a:solidFill>
                  <a:srgbClr val="334960"/>
                </a:solidFill>
                <a:effectLst/>
                <a:latin typeface="Roboto" panose="02000000000000000000" pitchFamily="2" charset="0"/>
              </a:rPr>
              <a:t> a vital role in </a:t>
            </a:r>
            <a:r>
              <a:rPr lang="en-US" sz="2000" b="0" i="0" dirty="0" err="1">
                <a:solidFill>
                  <a:srgbClr val="334960"/>
                </a:solidFill>
                <a:effectLst/>
                <a:latin typeface="Roboto" panose="02000000000000000000" pitchFamily="2" charset="0"/>
              </a:rPr>
              <a:t>devops</a:t>
            </a:r>
            <a:r>
              <a:rPr lang="en-US" sz="2000" b="0" i="0" dirty="0">
                <a:solidFill>
                  <a:srgbClr val="334960"/>
                </a:solidFill>
                <a:effectLst/>
                <a:latin typeface="Roboto" panose="02000000000000000000" pitchFamily="2" charset="0"/>
              </a:rPr>
              <a:t>. </a:t>
            </a:r>
          </a:p>
          <a:p>
            <a:pPr marL="285750" indent="-285750">
              <a:buFont typeface="Wingdings" panose="05000000000000000000" pitchFamily="2" charset="2"/>
              <a:buChar char="Ø"/>
            </a:pPr>
            <a:endParaRPr lang="en-US" sz="2000" dirty="0">
              <a:solidFill>
                <a:srgbClr val="334960"/>
              </a:solidFill>
              <a:latin typeface="Roboto" panose="02000000000000000000" pitchFamily="2" charset="0"/>
            </a:endParaRPr>
          </a:p>
          <a:p>
            <a:pPr marL="285750" indent="-285750">
              <a:buFont typeface="Wingdings" panose="05000000000000000000" pitchFamily="2" charset="2"/>
              <a:buChar char="Ø"/>
            </a:pPr>
            <a:r>
              <a:rPr lang="en-US" sz="2000" b="0" i="0" dirty="0">
                <a:solidFill>
                  <a:srgbClr val="334960"/>
                </a:solidFill>
                <a:effectLst/>
                <a:latin typeface="Roboto" panose="02000000000000000000" pitchFamily="2" charset="0"/>
              </a:rPr>
              <a:t>DevOps, automates various software development processes, including </a:t>
            </a:r>
            <a:r>
              <a:rPr lang="en-US" sz="2000" b="0" i="0" dirty="0">
                <a:solidFill>
                  <a:srgbClr val="FF0000"/>
                </a:solidFill>
                <a:effectLst/>
                <a:latin typeface="Roboto" panose="02000000000000000000" pitchFamily="2" charset="0"/>
              </a:rPr>
              <a:t>testing and delivery</a:t>
            </a:r>
            <a:r>
              <a:rPr lang="en-US" sz="2000" b="0" i="0" dirty="0">
                <a:solidFill>
                  <a:srgbClr val="334960"/>
                </a:solidFill>
                <a:effectLst/>
                <a:latin typeface="Roboto" panose="02000000000000000000" pitchFamily="2" charset="0"/>
              </a:rPr>
              <a:t>. With the help of virtualization, the </a:t>
            </a:r>
            <a:r>
              <a:rPr lang="en-US" sz="2000" b="0" i="0" dirty="0" err="1">
                <a:solidFill>
                  <a:srgbClr val="334960"/>
                </a:solidFill>
                <a:effectLst/>
                <a:latin typeface="Roboto" panose="02000000000000000000" pitchFamily="2" charset="0"/>
              </a:rPr>
              <a:t>devops</a:t>
            </a:r>
            <a:r>
              <a:rPr lang="en-US" sz="2000" b="0" i="0" dirty="0">
                <a:solidFill>
                  <a:srgbClr val="334960"/>
                </a:solidFill>
                <a:effectLst/>
                <a:latin typeface="Roboto" panose="02000000000000000000" pitchFamily="2" charset="0"/>
              </a:rPr>
              <a:t> teams can develop and test within </a:t>
            </a:r>
            <a:r>
              <a:rPr lang="en-US" sz="2000" b="0" i="0" dirty="0">
                <a:solidFill>
                  <a:srgbClr val="FF0000"/>
                </a:solidFill>
                <a:effectLst/>
                <a:latin typeface="Roboto" panose="02000000000000000000" pitchFamily="2" charset="0"/>
              </a:rPr>
              <a:t>virtual and simulated </a:t>
            </a:r>
            <a:r>
              <a:rPr lang="en-US" sz="2000" b="0" i="0" dirty="0">
                <a:solidFill>
                  <a:srgbClr val="334960"/>
                </a:solidFill>
                <a:effectLst/>
                <a:latin typeface="Roboto" panose="02000000000000000000" pitchFamily="2" charset="0"/>
              </a:rPr>
              <a:t>environments using similar devices and systems to the end-users. </a:t>
            </a:r>
          </a:p>
          <a:p>
            <a:pPr marL="285750" indent="-285750">
              <a:buFont typeface="Wingdings" panose="05000000000000000000" pitchFamily="2" charset="2"/>
              <a:buChar char="Ø"/>
            </a:pPr>
            <a:endParaRPr lang="en-US" sz="2000" dirty="0">
              <a:solidFill>
                <a:srgbClr val="334960"/>
              </a:solidFill>
              <a:latin typeface="Roboto" panose="02000000000000000000" pitchFamily="2" charset="0"/>
            </a:endParaRPr>
          </a:p>
          <a:p>
            <a:pPr marL="285750" indent="-285750">
              <a:buFont typeface="Wingdings" panose="05000000000000000000" pitchFamily="2" charset="2"/>
              <a:buChar char="Ø"/>
            </a:pPr>
            <a:r>
              <a:rPr lang="en-US" sz="2000" b="0" i="0" dirty="0">
                <a:solidFill>
                  <a:srgbClr val="334960"/>
                </a:solidFill>
                <a:effectLst/>
                <a:latin typeface="Roboto" panose="02000000000000000000" pitchFamily="2" charset="0"/>
              </a:rPr>
              <a:t>This way, the development and testing become </a:t>
            </a:r>
            <a:r>
              <a:rPr lang="en-US" sz="2000" b="0" i="0" dirty="0">
                <a:solidFill>
                  <a:srgbClr val="FF0000"/>
                </a:solidFill>
                <a:effectLst/>
                <a:latin typeface="Roboto" panose="02000000000000000000" pitchFamily="2" charset="0"/>
              </a:rPr>
              <a:t>more efficient and less time-consuming</a:t>
            </a:r>
            <a:r>
              <a:rPr lang="en-US" sz="2000" b="0" i="0" dirty="0">
                <a:solidFill>
                  <a:srgbClr val="334960"/>
                </a:solidFill>
                <a:effectLst/>
                <a:latin typeface="Roboto" panose="02000000000000000000" pitchFamily="2" charset="0"/>
              </a:rPr>
              <a:t>. </a:t>
            </a:r>
          </a:p>
          <a:p>
            <a:pPr marL="285750" indent="-285750">
              <a:buFont typeface="Wingdings" panose="05000000000000000000" pitchFamily="2" charset="2"/>
              <a:buChar char="Ø"/>
            </a:pPr>
            <a:endParaRPr lang="en-US" sz="2000" dirty="0">
              <a:solidFill>
                <a:srgbClr val="334960"/>
              </a:solidFill>
              <a:latin typeface="Roboto" panose="02000000000000000000" pitchFamily="2" charset="0"/>
            </a:endParaRPr>
          </a:p>
          <a:p>
            <a:pPr marL="285750" indent="-285750">
              <a:buFont typeface="Wingdings" panose="05000000000000000000" pitchFamily="2" charset="2"/>
              <a:buChar char="Ø"/>
            </a:pPr>
            <a:r>
              <a:rPr lang="en-US" sz="2000" b="0" i="0" dirty="0">
                <a:solidFill>
                  <a:srgbClr val="334960"/>
                </a:solidFill>
                <a:effectLst/>
                <a:latin typeface="Roboto" panose="02000000000000000000" pitchFamily="2" charset="0"/>
              </a:rPr>
              <a:t>Virtual live environments can also be provided to test the software at the deployment level. </a:t>
            </a:r>
          </a:p>
          <a:p>
            <a:pPr marL="285750" indent="-285750">
              <a:buFont typeface="Wingdings" panose="05000000000000000000" pitchFamily="2" charset="2"/>
              <a:buChar char="Ø"/>
            </a:pPr>
            <a:endParaRPr lang="en-US" sz="2000" dirty="0">
              <a:solidFill>
                <a:srgbClr val="334960"/>
              </a:solidFill>
              <a:latin typeface="Roboto" panose="02000000000000000000" pitchFamily="2" charset="0"/>
            </a:endParaRPr>
          </a:p>
          <a:p>
            <a:pPr marL="285750" indent="-285750">
              <a:buFont typeface="Wingdings" panose="05000000000000000000" pitchFamily="2" charset="2"/>
              <a:buChar char="Ø"/>
            </a:pPr>
            <a:r>
              <a:rPr lang="en-US" sz="2000" b="0" i="0" dirty="0">
                <a:solidFill>
                  <a:srgbClr val="334960"/>
                </a:solidFill>
                <a:effectLst/>
                <a:latin typeface="Roboto" panose="02000000000000000000" pitchFamily="2" charset="0"/>
              </a:rPr>
              <a:t>This helps in real-time testing, as the team can check the effect of every new change made to the software. By doing these tasks in virtualized environments, the amount of computing resources is reduced. </a:t>
            </a:r>
          </a:p>
          <a:p>
            <a:pPr marL="285750" indent="-285750">
              <a:buFont typeface="Wingdings" panose="05000000000000000000" pitchFamily="2" charset="2"/>
              <a:buChar char="Ø"/>
            </a:pPr>
            <a:endParaRPr lang="en-US" sz="2000" dirty="0">
              <a:solidFill>
                <a:srgbClr val="334960"/>
              </a:solidFill>
              <a:latin typeface="Roboto" panose="02000000000000000000" pitchFamily="2" charset="0"/>
            </a:endParaRPr>
          </a:p>
          <a:p>
            <a:pPr marL="285750" indent="-285750">
              <a:buFont typeface="Wingdings" panose="05000000000000000000" pitchFamily="2" charset="2"/>
              <a:buChar char="Ø"/>
            </a:pPr>
            <a:r>
              <a:rPr lang="en-US" sz="2000" b="0" i="0" dirty="0">
                <a:solidFill>
                  <a:srgbClr val="334960"/>
                </a:solidFill>
                <a:effectLst/>
                <a:latin typeface="Roboto" panose="02000000000000000000" pitchFamily="2" charset="0"/>
              </a:rPr>
              <a:t>This real-time testing helps in increasing the quality of the product. Working with a virtual environment reduces the time for </a:t>
            </a:r>
            <a:r>
              <a:rPr lang="en-US" sz="2000" b="0" i="0" dirty="0">
                <a:solidFill>
                  <a:srgbClr val="FF0000"/>
                </a:solidFill>
                <a:effectLst/>
                <a:latin typeface="Roboto" panose="02000000000000000000" pitchFamily="2" charset="0"/>
              </a:rPr>
              <a:t>retesting and rebuilding the software for production</a:t>
            </a:r>
            <a:r>
              <a:rPr lang="en-US" sz="2000" b="0" i="0" dirty="0">
                <a:solidFill>
                  <a:srgbClr val="334960"/>
                </a:solidFill>
                <a:effectLst/>
                <a:latin typeface="Roboto" panose="02000000000000000000" pitchFamily="2" charset="0"/>
              </a:rPr>
              <a:t>. </a:t>
            </a:r>
          </a:p>
          <a:p>
            <a:pPr marL="285750" indent="-285750">
              <a:buFont typeface="Wingdings" panose="05000000000000000000" pitchFamily="2" charset="2"/>
              <a:buChar char="Ø"/>
            </a:pPr>
            <a:endParaRPr lang="en-US" sz="2000" dirty="0">
              <a:solidFill>
                <a:srgbClr val="334960"/>
              </a:solidFill>
              <a:latin typeface="Roboto" panose="02000000000000000000" pitchFamily="2" charset="0"/>
            </a:endParaRPr>
          </a:p>
          <a:p>
            <a:pPr marL="285750" indent="-285750">
              <a:buFont typeface="Wingdings" panose="05000000000000000000" pitchFamily="2" charset="2"/>
              <a:buChar char="Ø"/>
            </a:pPr>
            <a:r>
              <a:rPr lang="en-US" sz="2000" b="0" i="0" dirty="0">
                <a:solidFill>
                  <a:srgbClr val="334960"/>
                </a:solidFill>
                <a:effectLst/>
                <a:latin typeface="Roboto" panose="02000000000000000000" pitchFamily="2" charset="0"/>
              </a:rPr>
              <a:t>Thus, the virtualization reduces the extra efforts for the </a:t>
            </a:r>
            <a:r>
              <a:rPr lang="en-US" sz="2000" b="0" i="0" dirty="0" err="1">
                <a:solidFill>
                  <a:srgbClr val="334960"/>
                </a:solidFill>
                <a:effectLst/>
                <a:latin typeface="Roboto" panose="02000000000000000000" pitchFamily="2" charset="0"/>
              </a:rPr>
              <a:t>devops</a:t>
            </a:r>
            <a:r>
              <a:rPr lang="en-US" sz="2000" b="0" i="0" dirty="0">
                <a:solidFill>
                  <a:srgbClr val="334960"/>
                </a:solidFill>
                <a:effectLst/>
                <a:latin typeface="Roboto" panose="02000000000000000000" pitchFamily="2" charset="0"/>
              </a:rPr>
              <a:t> team, while ensuring </a:t>
            </a:r>
            <a:r>
              <a:rPr lang="en-US" sz="2000" b="0" i="0" dirty="0">
                <a:solidFill>
                  <a:srgbClr val="FF0000"/>
                </a:solidFill>
                <a:effectLst/>
                <a:latin typeface="Roboto" panose="02000000000000000000" pitchFamily="2" charset="0"/>
              </a:rPr>
              <a:t>faster and reliable delivery</a:t>
            </a:r>
            <a:r>
              <a:rPr lang="en-US" sz="2000" b="0" i="0" dirty="0">
                <a:solidFill>
                  <a:srgbClr val="334960"/>
                </a:solidFill>
                <a:effectLst/>
                <a:latin typeface="Roboto" panose="02000000000000000000" pitchFamily="2" charset="0"/>
              </a:rPr>
              <a:t>.</a:t>
            </a:r>
            <a:endParaRPr lang="en-IN" sz="2000" dirty="0"/>
          </a:p>
        </p:txBody>
      </p:sp>
    </p:spTree>
    <p:extLst>
      <p:ext uri="{BB962C8B-B14F-4D97-AF65-F5344CB8AC3E}">
        <p14:creationId xmlns:p14="http://schemas.microsoft.com/office/powerpoint/2010/main" val="2899202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BD9DD9-D5FC-40F3-8FA0-CD36FB36675E}"/>
              </a:ext>
            </a:extLst>
          </p:cNvPr>
          <p:cNvSpPr txBox="1"/>
          <p:nvPr/>
        </p:nvSpPr>
        <p:spPr>
          <a:xfrm>
            <a:off x="145773" y="265043"/>
            <a:ext cx="11237843" cy="6463308"/>
          </a:xfrm>
          <a:prstGeom prst="rect">
            <a:avLst/>
          </a:prstGeom>
          <a:noFill/>
        </p:spPr>
        <p:txBody>
          <a:bodyPr wrap="square">
            <a:spAutoFit/>
          </a:bodyPr>
          <a:lstStyle/>
          <a:p>
            <a:pPr algn="l"/>
            <a:r>
              <a:rPr lang="en-US" b="1" i="0" dirty="0">
                <a:solidFill>
                  <a:srgbClr val="222C3A"/>
                </a:solidFill>
                <a:effectLst/>
                <a:latin typeface="Times New Roman" panose="02020603050405020304" pitchFamily="18" charset="0"/>
                <a:cs typeface="Times New Roman" panose="02020603050405020304" pitchFamily="18" charset="0"/>
              </a:rPr>
              <a:t>Advantages of Virtualization in </a:t>
            </a:r>
            <a:r>
              <a:rPr lang="en-US" b="1" i="0" dirty="0" err="1">
                <a:solidFill>
                  <a:srgbClr val="222C3A"/>
                </a:solidFill>
                <a:effectLst/>
                <a:latin typeface="Times New Roman" panose="02020603050405020304" pitchFamily="18" charset="0"/>
                <a:cs typeface="Times New Roman" panose="02020603050405020304" pitchFamily="18" charset="0"/>
              </a:rPr>
              <a:t>Devops</a:t>
            </a:r>
            <a:endParaRPr lang="en-US" b="1" i="0" dirty="0">
              <a:solidFill>
                <a:srgbClr val="222C3A"/>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334960"/>
                </a:solidFill>
                <a:effectLst/>
                <a:latin typeface="Times New Roman" panose="02020603050405020304" pitchFamily="18" charset="0"/>
                <a:cs typeface="Times New Roman" panose="02020603050405020304" pitchFamily="18" charset="0"/>
              </a:rPr>
              <a:t>There are many perks of virtualization in </a:t>
            </a:r>
            <a:r>
              <a:rPr lang="en-US" b="0" i="0" dirty="0" err="1">
                <a:solidFill>
                  <a:srgbClr val="334960"/>
                </a:solidFill>
                <a:effectLst/>
                <a:latin typeface="Times New Roman" panose="02020603050405020304" pitchFamily="18" charset="0"/>
                <a:cs typeface="Times New Roman" panose="02020603050405020304" pitchFamily="18" charset="0"/>
              </a:rPr>
              <a:t>Devops</a:t>
            </a:r>
            <a:r>
              <a:rPr lang="en-US" b="0" i="0" dirty="0">
                <a:solidFill>
                  <a:srgbClr val="334960"/>
                </a:solidFill>
                <a:effectLst/>
                <a:latin typeface="Times New Roman" panose="02020603050405020304" pitchFamily="18" charset="0"/>
                <a:cs typeface="Times New Roman" panose="02020603050405020304" pitchFamily="18" charset="0"/>
              </a:rPr>
              <a:t>; some of these are:</a:t>
            </a:r>
          </a:p>
          <a:p>
            <a:pPr algn="l">
              <a:buFont typeface="Arial" panose="020B0604020202020204" pitchFamily="34" charset="0"/>
              <a:buChar char="•"/>
            </a:pPr>
            <a:endParaRPr lang="en-US" dirty="0">
              <a:solidFill>
                <a:srgbClr val="3349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FF0000"/>
                </a:solidFill>
                <a:effectLst/>
                <a:latin typeface="Times New Roman" panose="02020603050405020304" pitchFamily="18" charset="0"/>
                <a:cs typeface="Times New Roman" panose="02020603050405020304" pitchFamily="18" charset="0"/>
              </a:rPr>
              <a:t>The workload is reduced</a:t>
            </a:r>
            <a:endParaRPr lang="en-US" b="0" i="0" dirty="0">
              <a:solidFill>
                <a:srgbClr val="FF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334960"/>
                </a:solidFill>
                <a:effectLst/>
                <a:latin typeface="Times New Roman" panose="02020603050405020304" pitchFamily="18" charset="0"/>
                <a:cs typeface="Times New Roman" panose="02020603050405020304" pitchFamily="18" charset="0"/>
              </a:rPr>
              <a:t>The providers of virtualization continuously update the hardware and software used for virtualization, so there is no need to do these updates locally. The IT staff of a company can focus on other important things and save time and cost for the organization.</a:t>
            </a:r>
          </a:p>
          <a:p>
            <a:pPr algn="l"/>
            <a:endParaRPr lang="en-US" b="0" i="0" dirty="0">
              <a:solidFill>
                <a:srgbClr val="33496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FF0000"/>
                </a:solidFill>
                <a:effectLst/>
                <a:latin typeface="Times New Roman" panose="02020603050405020304" pitchFamily="18" charset="0"/>
                <a:cs typeface="Times New Roman" panose="02020603050405020304" pitchFamily="18" charset="0"/>
              </a:rPr>
              <a:t>Testing Environment</a:t>
            </a:r>
            <a:endParaRPr lang="en-US" b="0" i="0" dirty="0">
              <a:solidFill>
                <a:srgbClr val="FF0000"/>
              </a:solidFill>
              <a:effectLst/>
              <a:latin typeface="Times New Roman" panose="02020603050405020304" pitchFamily="18" charset="0"/>
              <a:cs typeface="Times New Roman" panose="02020603050405020304" pitchFamily="18" charset="0"/>
            </a:endParaRPr>
          </a:p>
          <a:p>
            <a:r>
              <a:rPr lang="en-US" b="0" i="0" dirty="0">
                <a:solidFill>
                  <a:srgbClr val="334960"/>
                </a:solidFill>
                <a:effectLst/>
                <a:latin typeface="Times New Roman" panose="02020603050405020304" pitchFamily="18" charset="0"/>
                <a:cs typeface="Times New Roman" panose="02020603050405020304" pitchFamily="18" charset="0"/>
              </a:rPr>
              <a:t>With the help of virtualization, we can set up a local testing environment. This environment can be used for various kinds of testing for software. Even if a server crashes, there won’t be any data loss. So, the reliability is increased, and the software can be tested on this virtual environment until it is ready for live deployment.</a:t>
            </a:r>
          </a:p>
          <a:p>
            <a:endParaRPr lang="en-US" dirty="0">
              <a:solidFill>
                <a:srgbClr val="33496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FF0000"/>
                </a:solidFill>
                <a:effectLst/>
                <a:latin typeface="Times New Roman" panose="02020603050405020304" pitchFamily="18" charset="0"/>
                <a:cs typeface="Times New Roman" panose="02020603050405020304" pitchFamily="18" charset="0"/>
              </a:rPr>
              <a:t>Energy-saving</a:t>
            </a:r>
            <a:endParaRPr lang="en-US" b="0" i="0" dirty="0">
              <a:solidFill>
                <a:srgbClr val="FF0000"/>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334960"/>
                </a:solidFill>
                <a:effectLst/>
                <a:latin typeface="Times New Roman" panose="02020603050405020304" pitchFamily="18" charset="0"/>
                <a:cs typeface="Times New Roman" panose="02020603050405020304" pitchFamily="18" charset="0"/>
              </a:rPr>
              <a:t>Virtualization saves energy as instead of using local software or servers; the virtualization takes place with the help of virtual machines, which lowers the power or energy utilization. By saving this energy, the cost is reduced, and this saved money can be used for other useful operations. </a:t>
            </a:r>
            <a:r>
              <a:rPr lang="en-US" b="1" i="0" dirty="0">
                <a:solidFill>
                  <a:srgbClr val="334960"/>
                </a:solidFill>
                <a:effectLst/>
                <a:latin typeface="Times New Roman" panose="02020603050405020304" pitchFamily="18" charset="0"/>
                <a:cs typeface="Times New Roman" panose="02020603050405020304" pitchFamily="18" charset="0"/>
              </a:rPr>
              <a:t>Improving Hardware utilization</a:t>
            </a:r>
            <a:endParaRPr lang="en-US" b="0" i="0" dirty="0">
              <a:solidFill>
                <a:srgbClr val="334960"/>
              </a:solidFill>
              <a:effectLst/>
              <a:latin typeface="Times New Roman" panose="02020603050405020304" pitchFamily="18" charset="0"/>
              <a:cs typeface="Times New Roman" panose="02020603050405020304" pitchFamily="18" charset="0"/>
            </a:endParaRPr>
          </a:p>
          <a:p>
            <a:r>
              <a:rPr lang="en-US" b="0" i="0" dirty="0">
                <a:solidFill>
                  <a:srgbClr val="334960"/>
                </a:solidFill>
                <a:effectLst/>
                <a:latin typeface="Times New Roman" panose="02020603050405020304" pitchFamily="18" charset="0"/>
                <a:cs typeface="Times New Roman" panose="02020603050405020304" pitchFamily="18" charset="0"/>
              </a:rPr>
              <a:t>With virtualization, the need for physical systems decreases. Thus, maintenance costs and power utilization is reduced. The use of CPU and memory is improved.</a:t>
            </a:r>
          </a:p>
          <a:p>
            <a:endParaRPr lang="en-US" dirty="0">
              <a:solidFill>
                <a:srgbClr val="FF0000"/>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FF0000"/>
                </a:solidFill>
                <a:effectLst/>
                <a:latin typeface="Times New Roman" panose="02020603050405020304" pitchFamily="18" charset="0"/>
                <a:cs typeface="Times New Roman" panose="02020603050405020304" pitchFamily="18" charset="0"/>
              </a:rPr>
              <a:t>Improving Hardware utilization</a:t>
            </a:r>
            <a:endParaRPr lang="en-US" b="0" i="0" dirty="0">
              <a:solidFill>
                <a:srgbClr val="FF0000"/>
              </a:solidFill>
              <a:effectLst/>
              <a:latin typeface="Times New Roman" panose="02020603050405020304" pitchFamily="18" charset="0"/>
              <a:cs typeface="Times New Roman" panose="02020603050405020304" pitchFamily="18" charset="0"/>
            </a:endParaRPr>
          </a:p>
          <a:p>
            <a:r>
              <a:rPr lang="en-US" b="0" i="0" dirty="0">
                <a:solidFill>
                  <a:srgbClr val="334960"/>
                </a:solidFill>
                <a:effectLst/>
                <a:latin typeface="Times New Roman" panose="02020603050405020304" pitchFamily="18" charset="0"/>
                <a:cs typeface="Times New Roman" panose="02020603050405020304" pitchFamily="18" charset="0"/>
              </a:rPr>
              <a:t>With virtualization, the need for physical systems decreases. Thus, maintenance costs and power utilization is reduced. The use of CPU and memory is improved.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348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TotalTime>
  <Words>1576</Words>
  <Application>Microsoft Office PowerPoint</Application>
  <PresentationFormat>Widescreen</PresentationFormat>
  <Paragraphs>130</Paragraphs>
  <Slides>25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Arial</vt:lpstr>
      <vt:lpstr>Arial</vt:lpstr>
      <vt:lpstr>Calibri</vt:lpstr>
      <vt:lpstr>Calibri Light</vt:lpstr>
      <vt:lpstr>Poppins</vt:lpstr>
      <vt:lpstr>Roboto</vt:lpstr>
      <vt:lpstr>sf_pro_displayheavy</vt:lpstr>
      <vt:lpstr>sf_pro_displaymedium</vt:lpstr>
      <vt:lpstr>Times New Roman</vt:lpstr>
      <vt:lpstr>Wingdings</vt:lpstr>
      <vt:lpstr>Office Theme</vt:lpstr>
      <vt:lpstr>Virtualization stacks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10</cp:revision>
  <dcterms:created xsi:type="dcterms:W3CDTF">2021-10-25T04:49:09Z</dcterms:created>
  <dcterms:modified xsi:type="dcterms:W3CDTF">2021-11-02T06:51:28Z</dcterms:modified>
</cp:coreProperties>
</file>