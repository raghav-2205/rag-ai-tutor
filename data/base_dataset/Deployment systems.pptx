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AA425-0C82-437D-A123-D5BAF2D2D0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23BC449-1E38-444D-A58D-AE195B8BA7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1597ED-D853-4BD8-AE69-4E8921382015}"/>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8B23B060-2287-4F54-BF39-DE4A3BFD70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6F83E-F8F0-4661-9C13-049AEA55621C}"/>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3760441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4015B-CA5E-4784-96BD-A8939C0799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452F65-A2D2-4F36-AD6C-00BB6099EE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1B047-AB76-4086-BA30-1A895280FAE4}"/>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09A486D0-E052-48EB-B8BA-6A62C9526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CD584C-0BE1-4AEA-8069-37D7AB27BE31}"/>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3670739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6FE83-F4C7-4B85-BB9D-6FF1314EA0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E18C3B-F676-4E8E-AA5C-37394D6420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02E2C-BD2A-46A3-BB43-966840404262}"/>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59121997-64BB-4D69-8B2B-AE7C9956B9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672206-F3EC-4FF2-802A-A7324A282A47}"/>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1789168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3E6F-4095-43EC-91BF-AD58501B77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264337-B8AB-4E7B-A8CF-D7B5BA8398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3DB0EE-6FC1-4F5F-BBAF-7D5E0348F4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C1E4E8-4BDF-4006-AA7E-EA4A05E0E7A6}"/>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6" name="Footer Placeholder 5">
            <a:extLst>
              <a:ext uri="{FF2B5EF4-FFF2-40B4-BE49-F238E27FC236}">
                <a16:creationId xmlns:a16="http://schemas.microsoft.com/office/drawing/2014/main" id="{CF17C69F-2828-4B8C-B2A2-093023C938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82C69B-1B1B-404F-BE3C-54E71FF1449E}"/>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711961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3783A-2006-4C19-8E12-E952A3B9495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F5F7E6-B674-4735-B060-5787A43F38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36A5A-D03F-417D-8900-52187C5973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A0D3FD-C154-4967-B37E-9FDF4950B4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845CC6-864D-4675-9C6A-89A7E37F93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517764-257B-461B-B045-AA2D7409ECD2}"/>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8" name="Footer Placeholder 7">
            <a:extLst>
              <a:ext uri="{FF2B5EF4-FFF2-40B4-BE49-F238E27FC236}">
                <a16:creationId xmlns:a16="http://schemas.microsoft.com/office/drawing/2014/main" id="{A0E13D6E-DE04-47EB-9E69-388E764B3E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141B54E-12C9-4B0E-B129-91D2EBBC43E8}"/>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64262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55E6-1999-46F3-9F9A-A453EAB128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18C2D5-F69A-412F-90AD-E405CD1DEEBA}"/>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4" name="Footer Placeholder 3">
            <a:extLst>
              <a:ext uri="{FF2B5EF4-FFF2-40B4-BE49-F238E27FC236}">
                <a16:creationId xmlns:a16="http://schemas.microsoft.com/office/drawing/2014/main" id="{C6488C29-7038-47D6-808C-472006DFFF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114DED-A72E-4DB3-9B7F-0418BAF0B04D}"/>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1297751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5FA22-98AF-4C1C-B12A-19756BE033B3}"/>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3" name="Footer Placeholder 2">
            <a:extLst>
              <a:ext uri="{FF2B5EF4-FFF2-40B4-BE49-F238E27FC236}">
                <a16:creationId xmlns:a16="http://schemas.microsoft.com/office/drawing/2014/main" id="{ACECE02B-3689-4A5B-BDB8-AACA1740380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9C4B9C-14A8-4A34-9E9D-8E9E29025887}"/>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4170246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D295C-6D64-4E38-90D2-1D87C541B8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F0D61B-A169-4F3B-B6AA-86129AFB50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C115E9-4B00-4FD8-BAFF-E8A27885D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473FD-1360-4923-B145-B2D5F98B7083}"/>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6" name="Footer Placeholder 5">
            <a:extLst>
              <a:ext uri="{FF2B5EF4-FFF2-40B4-BE49-F238E27FC236}">
                <a16:creationId xmlns:a16="http://schemas.microsoft.com/office/drawing/2014/main" id="{2DD47A92-1B31-41FC-9A82-F1E6C91C02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6FF4BD-54E6-4B19-AF13-76BD380C730F}"/>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143625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B5CF2-7DD3-49F5-B356-735972F12D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242468-1E95-4C2F-9191-7E2559C6DA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B5C507-E1E8-4D4E-8C01-5E45652909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89CD8-E535-471F-BD71-4775D72993A6}"/>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6" name="Footer Placeholder 5">
            <a:extLst>
              <a:ext uri="{FF2B5EF4-FFF2-40B4-BE49-F238E27FC236}">
                <a16:creationId xmlns:a16="http://schemas.microsoft.com/office/drawing/2014/main" id="{DBDA3367-CFC8-4CB6-A451-4DC98FDAB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ED2E25-914A-4638-9F94-BE287D925CFA}"/>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1289842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B81C-51E5-4E67-896F-6EA2EE12A7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977F1D-FE55-40C4-9EFC-2BA50304DB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31B552-2C73-48BE-A6C1-63B863A3CC1F}"/>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705400D3-CD0A-4694-A34A-552F7F134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31B559-DF3C-403E-BF62-BDF9E3807014}"/>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1256826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F05D1A-D147-43DE-B65B-967AC3D899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A0A07D-9899-42EA-9DA9-AC5823CD52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447CD6-DFD2-49F8-AA8F-CD0F21BAA080}"/>
              </a:ext>
            </a:extLst>
          </p:cNvPr>
          <p:cNvSpPr>
            <a:spLocks noGrp="1"/>
          </p:cNvSpPr>
          <p:nvPr>
            <p:ph type="dt" sz="half" idx="10"/>
          </p:nvPr>
        </p:nvSpPr>
        <p:spPr/>
        <p:txBody>
          <a:body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E350F41F-E146-4CF5-9861-09C67DE391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1B31C2-32FE-402F-A564-2E702FE0E1E0}"/>
              </a:ext>
            </a:extLst>
          </p:cNvPr>
          <p:cNvSpPr>
            <a:spLocks noGrp="1"/>
          </p:cNvSpPr>
          <p:nvPr>
            <p:ph type="sldNum" sz="quarter" idx="12"/>
          </p:nvPr>
        </p:nvSpPr>
        <p:spPr/>
        <p:txBody>
          <a:bodyPr/>
          <a:lstStyle/>
          <a:p>
            <a:fld id="{B6B5F7AA-3406-45D8-B865-9E7E4D3F0C82}" type="slidenum">
              <a:rPr lang="en-IN" smtClean="0"/>
              <a:t>‹#›</a:t>
            </a:fld>
            <a:endParaRPr lang="en-IN"/>
          </a:p>
        </p:txBody>
      </p:sp>
    </p:spTree>
    <p:extLst>
      <p:ext uri="{BB962C8B-B14F-4D97-AF65-F5344CB8AC3E}">
        <p14:creationId xmlns:p14="http://schemas.microsoft.com/office/powerpoint/2010/main" val="2428354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7715C7-3A49-443D-9BAD-B33F024E46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99CD26-F6D1-4E33-92D6-85D2998550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D035A2-517A-4B7D-AE02-16E9CE97F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3BF707-D2E3-4B9A-8263-D15A5FADFE57}" type="datetimeFigureOut">
              <a:rPr lang="en-IN" smtClean="0"/>
              <a:t>02-11-2021</a:t>
            </a:fld>
            <a:endParaRPr lang="en-IN"/>
          </a:p>
        </p:txBody>
      </p:sp>
      <p:sp>
        <p:nvSpPr>
          <p:cNvPr id="5" name="Footer Placeholder 4">
            <a:extLst>
              <a:ext uri="{FF2B5EF4-FFF2-40B4-BE49-F238E27FC236}">
                <a16:creationId xmlns:a16="http://schemas.microsoft.com/office/drawing/2014/main" id="{FAA3E1AE-70F7-4B74-B16F-08BED1BB68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6ACF25-E276-46F8-9079-89CC414FD5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B5F7AA-3406-45D8-B865-9E7E4D3F0C82}" type="slidenum">
              <a:rPr lang="en-IN" smtClean="0"/>
              <a:t>‹#›</a:t>
            </a:fld>
            <a:endParaRPr lang="en-IN"/>
          </a:p>
        </p:txBody>
      </p:sp>
    </p:spTree>
    <p:extLst>
      <p:ext uri="{BB962C8B-B14F-4D97-AF65-F5344CB8AC3E}">
        <p14:creationId xmlns:p14="http://schemas.microsoft.com/office/powerpoint/2010/main" val="2832657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C9CF-4729-4BFF-9D46-196C21DC374F}"/>
              </a:ext>
            </a:extLst>
          </p:cNvPr>
          <p:cNvSpPr>
            <a:spLocks noGrp="1"/>
          </p:cNvSpPr>
          <p:nvPr>
            <p:ph type="ctrTitle"/>
          </p:nvPr>
        </p:nvSpPr>
        <p:spPr/>
        <p:txBody>
          <a:bodyPr>
            <a:normAutofit/>
          </a:bodyPr>
          <a:lstStyle/>
          <a:p>
            <a:r>
              <a:rPr lang="en-SG" sz="4800" dirty="0">
                <a:effectLst/>
                <a:latin typeface="Times New Roman" panose="02020603050405020304" pitchFamily="18" charset="0"/>
                <a:ea typeface="Calibri" panose="020F0502020204030204" pitchFamily="34" charset="0"/>
                <a:cs typeface="Times New Roman" panose="02020603050405020304" pitchFamily="18" charset="0"/>
              </a:rPr>
              <a:t>Deployment systems</a:t>
            </a:r>
            <a:endParaRPr lang="en-IN" sz="4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15C983D-4702-4D9B-A9BE-D543441EF16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6666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B18114-5D3D-443E-922F-B405BF160F30}"/>
              </a:ext>
            </a:extLst>
          </p:cNvPr>
          <p:cNvSpPr txBox="1"/>
          <p:nvPr/>
        </p:nvSpPr>
        <p:spPr>
          <a:xfrm>
            <a:off x="92765" y="0"/>
            <a:ext cx="11966713" cy="7786747"/>
          </a:xfrm>
          <a:prstGeom prst="rect">
            <a:avLst/>
          </a:prstGeom>
          <a:noFill/>
        </p:spPr>
        <p:txBody>
          <a:bodyPr wrap="square">
            <a:spAutoFit/>
          </a:bodyPr>
          <a:lstStyle/>
          <a:p>
            <a:pPr algn="l"/>
            <a:r>
              <a:rPr lang="en-US" sz="2000" b="1" i="0" dirty="0">
                <a:solidFill>
                  <a:srgbClr val="FF0000"/>
                </a:solidFill>
                <a:effectLst/>
                <a:latin typeface="Times New Roman" panose="02020603050405020304" pitchFamily="18" charset="0"/>
                <a:cs typeface="Times New Roman" panose="02020603050405020304" pitchFamily="18" charset="0"/>
              </a:rPr>
              <a:t>What is Software Deployment?</a:t>
            </a:r>
          </a:p>
          <a:p>
            <a:pPr algn="l"/>
            <a:endParaRPr lang="en-US" sz="2000" b="1" i="0" dirty="0">
              <a:effectLst/>
              <a:latin typeface="Times New Roman" panose="02020603050405020304" pitchFamily="18" charset="0"/>
              <a:cs typeface="Times New Roman" panose="02020603050405020304" pitchFamily="18" charset="0"/>
            </a:endParaRPr>
          </a:p>
          <a:p>
            <a:pPr algn="l"/>
            <a:r>
              <a:rPr lang="en-US" sz="2000" b="1" i="0" dirty="0">
                <a:effectLst/>
                <a:latin typeface="Times New Roman" panose="02020603050405020304" pitchFamily="18" charset="0"/>
                <a:cs typeface="Times New Roman" panose="02020603050405020304" pitchFamily="18" charset="0"/>
              </a:rPr>
              <a:t>Software Deployment Meaning:</a:t>
            </a:r>
            <a:r>
              <a:rPr lang="en-US" sz="2000" b="0" i="0" dirty="0">
                <a:effectLst/>
                <a:latin typeface="Times New Roman" panose="02020603050405020304" pitchFamily="18" charset="0"/>
                <a:cs typeface="Times New Roman" panose="02020603050405020304" pitchFamily="18" charset="0"/>
              </a:rPr>
              <a:t> </a:t>
            </a:r>
            <a:r>
              <a:rPr lang="en-US" sz="2000" b="0" i="0" dirty="0">
                <a:solidFill>
                  <a:srgbClr val="FF0000"/>
                </a:solidFill>
                <a:effectLst/>
                <a:latin typeface="Times New Roman" panose="02020603050405020304" pitchFamily="18" charset="0"/>
                <a:cs typeface="Times New Roman" panose="02020603050405020304" pitchFamily="18" charset="0"/>
              </a:rPr>
              <a:t>Software deployment includes all of the steps, processes, and activities that are required to make a software system or update available to its intended users. </a:t>
            </a:r>
          </a:p>
          <a:p>
            <a:pPr algn="l"/>
            <a:endParaRPr lang="en-US" sz="2000" dirty="0">
              <a:solidFill>
                <a:srgbClr val="FF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Today, most IT organizations and software developers deploy </a:t>
            </a:r>
            <a:r>
              <a:rPr lang="en-US" sz="2000" b="0" i="0" dirty="0">
                <a:solidFill>
                  <a:srgbClr val="FF0000"/>
                </a:solidFill>
                <a:effectLst/>
                <a:latin typeface="Times New Roman" panose="02020603050405020304" pitchFamily="18" charset="0"/>
                <a:cs typeface="Times New Roman" panose="02020603050405020304" pitchFamily="18" charset="0"/>
              </a:rPr>
              <a:t>software updates, patches and new applications </a:t>
            </a:r>
            <a:r>
              <a:rPr lang="en-US" sz="2000" b="0" i="0" dirty="0">
                <a:effectLst/>
                <a:latin typeface="Times New Roman" panose="02020603050405020304" pitchFamily="18" charset="0"/>
                <a:cs typeface="Times New Roman" panose="02020603050405020304" pitchFamily="18" charset="0"/>
              </a:rPr>
              <a:t>with a combination of manual and automated processes. </a:t>
            </a:r>
          </a:p>
          <a:p>
            <a:pPr marL="342900" indent="-342900" algn="l">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Some of the most common activities of </a:t>
            </a:r>
            <a:r>
              <a:rPr lang="en-US" sz="2000" b="0" i="0" dirty="0">
                <a:solidFill>
                  <a:srgbClr val="FF0000"/>
                </a:solidFill>
                <a:effectLst/>
                <a:latin typeface="Times New Roman" panose="02020603050405020304" pitchFamily="18" charset="0"/>
                <a:cs typeface="Times New Roman" panose="02020603050405020304" pitchFamily="18" charset="0"/>
              </a:rPr>
              <a:t>software deployment include software release, installation, testing</a:t>
            </a:r>
            <a:r>
              <a:rPr lang="en-US" sz="2000" b="0" i="0" dirty="0">
                <a:effectLst/>
                <a:latin typeface="Times New Roman" panose="02020603050405020304" pitchFamily="18" charset="0"/>
                <a:cs typeface="Times New Roman" panose="02020603050405020304" pitchFamily="18" charset="0"/>
              </a:rPr>
              <a:t>, deployment, and performance monitoring.</a:t>
            </a:r>
          </a:p>
          <a:p>
            <a:pPr marL="342900" indent="-342900" algn="l">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1" i="0" dirty="0">
                <a:solidFill>
                  <a:srgbClr val="FF0000"/>
                </a:solidFill>
                <a:effectLst/>
                <a:latin typeface="Times New Roman" panose="02020603050405020304" pitchFamily="18" charset="0"/>
                <a:cs typeface="Times New Roman" panose="02020603050405020304" pitchFamily="18" charset="0"/>
              </a:rPr>
              <a:t>Software deployment</a:t>
            </a:r>
            <a:r>
              <a:rPr lang="en-US" sz="2000" b="0" i="0" dirty="0">
                <a:solidFill>
                  <a:srgbClr val="FF0000"/>
                </a:solidFill>
                <a:effectLst/>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refers to the process of </a:t>
            </a:r>
            <a:r>
              <a:rPr lang="en-US" sz="2000" b="0" i="0" dirty="0">
                <a:solidFill>
                  <a:srgbClr val="FF0000"/>
                </a:solidFill>
                <a:effectLst/>
                <a:latin typeface="Times New Roman" panose="02020603050405020304" pitchFamily="18" charset="0"/>
                <a:cs typeface="Times New Roman" panose="02020603050405020304" pitchFamily="18" charset="0"/>
              </a:rPr>
              <a:t>running an application on a server or device</a:t>
            </a:r>
            <a:r>
              <a:rPr lang="en-US" sz="2000" b="0" i="0" dirty="0">
                <a:effectLst/>
                <a:latin typeface="Times New Roman" panose="02020603050405020304" pitchFamily="18" charset="0"/>
                <a:cs typeface="Times New Roman" panose="02020603050405020304" pitchFamily="18" charset="0"/>
              </a:rPr>
              <a:t>. A software update or application may be deployed to a test server, a testing machine, or into the live environment, and it may be deployed several times during the development process to </a:t>
            </a:r>
            <a:r>
              <a:rPr lang="en-US" sz="2000" b="0" i="0" dirty="0">
                <a:solidFill>
                  <a:srgbClr val="FF0000"/>
                </a:solidFill>
                <a:effectLst/>
                <a:latin typeface="Times New Roman" panose="02020603050405020304" pitchFamily="18" charset="0"/>
                <a:cs typeface="Times New Roman" panose="02020603050405020304" pitchFamily="18" charset="0"/>
              </a:rPr>
              <a:t>verify its proper functioning and check for errors</a:t>
            </a:r>
            <a:r>
              <a:rPr lang="en-US" sz="2000" b="0" i="0" dirty="0">
                <a:effectLst/>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dirty="0">
                <a:solidFill>
                  <a:srgbClr val="FF0000"/>
                </a:solidFill>
                <a:effectLst/>
                <a:latin typeface="Times New Roman" panose="02020603050405020304" pitchFamily="18" charset="0"/>
                <a:cs typeface="Times New Roman" panose="02020603050405020304" pitchFamily="18" charset="0"/>
              </a:rPr>
              <a:t>Another example of software deployment could be when a user downloads a mobile application from the App Store and installs it onto their mobile device.</a:t>
            </a:r>
          </a:p>
          <a:p>
            <a:pPr marL="342900" indent="-342900" algn="l">
              <a:buFont typeface="Wingdings" panose="05000000000000000000" pitchFamily="2" charset="2"/>
              <a:buChar char="Ø"/>
            </a:pPr>
            <a:endParaRPr lang="en-US" sz="2000" b="0" i="0" dirty="0">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To summarize, a software release is a specific version of a code and its dependencies that are made available for deployment. </a:t>
            </a:r>
            <a:r>
              <a:rPr lang="en-US" sz="2000" b="0" i="0" dirty="0">
                <a:solidFill>
                  <a:srgbClr val="FF0000"/>
                </a:solidFill>
                <a:effectLst/>
                <a:latin typeface="Times New Roman" panose="02020603050405020304" pitchFamily="18" charset="0"/>
                <a:cs typeface="Times New Roman" panose="02020603050405020304" pitchFamily="18" charset="0"/>
              </a:rPr>
              <a:t>Software deployment refers to the process of making the application work on a target device, whether it be a test server, production environment or a user's computer or mobile device.</a:t>
            </a:r>
          </a:p>
          <a:p>
            <a:pPr algn="l"/>
            <a:endParaRPr lang="en-US" sz="2000" b="0" i="0" dirty="0">
              <a:effectLst/>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b="0" i="0" dirty="0">
              <a:effectLst/>
              <a:latin typeface="Times New Roman" panose="02020603050405020304" pitchFamily="18" charset="0"/>
              <a:cs typeface="Times New Roman" panose="02020603050405020304" pitchFamily="18" charset="0"/>
            </a:endParaRPr>
          </a:p>
          <a:p>
            <a:pPr algn="l"/>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3338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41F01-1B29-41F2-A211-35071D59136D}"/>
              </a:ext>
            </a:extLst>
          </p:cNvPr>
          <p:cNvSpPr txBox="1"/>
          <p:nvPr/>
        </p:nvSpPr>
        <p:spPr>
          <a:xfrm>
            <a:off x="0" y="0"/>
            <a:ext cx="12192000" cy="6370975"/>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Why is Software Deployment Important?</a:t>
            </a:r>
          </a:p>
          <a:p>
            <a:pPr algn="l"/>
            <a:endParaRPr lang="en-US" sz="2400" b="0" i="0" dirty="0">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Software deployment is one of the most important aspects of the software development process. </a:t>
            </a:r>
          </a:p>
          <a:p>
            <a:pPr marL="342900" indent="-342900" algn="l">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Deployment is the mechanism through which applications, modules, updates, and patches are delivered from developers to users. </a:t>
            </a:r>
          </a:p>
          <a:p>
            <a:pPr marL="342900" indent="-342900" algn="l">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The methods used by developers to build, test and deploy new code will impact how fast a product can respond to changes in customer preferences or requirements and the quality of each change.</a:t>
            </a:r>
          </a:p>
          <a:p>
            <a:pPr marL="342900" indent="-342900" algn="l">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Software development teams that streamline the process of building, testing and deploying new code can respond more quickly to customer demand with new updates and deliver new features more frequently to drive customer satisfaction, satisfy user needs and take advantage of economic opportunities.</a:t>
            </a:r>
          </a:p>
          <a:p>
            <a:pPr algn="l"/>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81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273FDD-8AC2-4421-8E77-83E486B7DE83}"/>
              </a:ext>
            </a:extLst>
          </p:cNvPr>
          <p:cNvSpPr txBox="1"/>
          <p:nvPr/>
        </p:nvSpPr>
        <p:spPr>
          <a:xfrm>
            <a:off x="251791" y="159026"/>
            <a:ext cx="11608905" cy="830997"/>
          </a:xfrm>
          <a:prstGeom prst="rect">
            <a:avLst/>
          </a:prstGeom>
          <a:noFill/>
        </p:spPr>
        <p:txBody>
          <a:bodyPr wrap="square">
            <a:spAutoFit/>
          </a:bodyPr>
          <a:lstStyle/>
          <a:p>
            <a:pPr algn="l"/>
            <a:endParaRPr lang="en-US" sz="2400" dirty="0">
              <a:solidFill>
                <a:srgbClr val="64696C"/>
              </a:solidFill>
              <a:latin typeface="Times New Roman" panose="02020603050405020304" pitchFamily="18" charset="0"/>
              <a:cs typeface="Times New Roman" panose="02020603050405020304" pitchFamily="18" charset="0"/>
            </a:endParaRPr>
          </a:p>
          <a:p>
            <a:pPr algn="l"/>
            <a:endParaRPr lang="en-US" sz="2400" b="0" i="0" dirty="0">
              <a:solidFill>
                <a:srgbClr val="64696C"/>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4A8582E-02C1-4849-B4E9-EB0798990562}"/>
              </a:ext>
            </a:extLst>
          </p:cNvPr>
          <p:cNvSpPr txBox="1"/>
          <p:nvPr/>
        </p:nvSpPr>
        <p:spPr>
          <a:xfrm>
            <a:off x="1" y="251791"/>
            <a:ext cx="12192000" cy="6247864"/>
          </a:xfrm>
          <a:prstGeom prst="rect">
            <a:avLst/>
          </a:prstGeom>
          <a:noFill/>
        </p:spPr>
        <p:txBody>
          <a:bodyPr wrap="square">
            <a:spAutoFit/>
          </a:bodyPr>
          <a:lstStyle/>
          <a:p>
            <a:pPr algn="l"/>
            <a:r>
              <a:rPr lang="en-US" sz="2000" b="1" i="0" dirty="0">
                <a:solidFill>
                  <a:srgbClr val="FF0000"/>
                </a:solidFill>
                <a:effectLst/>
                <a:latin typeface="Times New Roman" panose="02020603050405020304" pitchFamily="18" charset="0"/>
                <a:cs typeface="Times New Roman" panose="02020603050405020304" pitchFamily="18" charset="0"/>
              </a:rPr>
              <a:t>What is the Software Deployment Process?</a:t>
            </a:r>
          </a:p>
          <a:p>
            <a:pPr algn="l"/>
            <a:r>
              <a:rPr lang="en-US" sz="2000" b="0" i="0" dirty="0">
                <a:solidFill>
                  <a:srgbClr val="64696C"/>
                </a:solidFill>
                <a:effectLst/>
                <a:latin typeface="Times New Roman" panose="02020603050405020304" pitchFamily="18" charset="0"/>
                <a:cs typeface="Times New Roman" panose="02020603050405020304" pitchFamily="18" charset="0"/>
              </a:rPr>
              <a:t>Every organization must develop its own process for software deployment, either basing it on an existing framework of best practices or customizing a process that meets relevant business objectives. </a:t>
            </a:r>
            <a:r>
              <a:rPr lang="en-US" sz="2000" b="0" i="0" dirty="0">
                <a:solidFill>
                  <a:srgbClr val="FF0000"/>
                </a:solidFill>
                <a:effectLst/>
                <a:latin typeface="Times New Roman" panose="02020603050405020304" pitchFamily="18" charset="0"/>
                <a:cs typeface="Times New Roman" panose="02020603050405020304" pitchFamily="18" charset="0"/>
              </a:rPr>
              <a:t>Software deployment can be summarized in three general phases: preparation, testing and the deployment itself.</a:t>
            </a:r>
          </a:p>
          <a:p>
            <a:pPr algn="l"/>
            <a:endParaRPr lang="en-US" sz="2000" b="0" i="0" dirty="0">
              <a:solidFill>
                <a:srgbClr val="64696C"/>
              </a:solidFill>
              <a:effectLst/>
              <a:latin typeface="Times New Roman" panose="02020603050405020304" pitchFamily="18" charset="0"/>
              <a:cs typeface="Times New Roman" panose="02020603050405020304" pitchFamily="18" charset="0"/>
            </a:endParaRPr>
          </a:p>
          <a:p>
            <a:pPr algn="l"/>
            <a:r>
              <a:rPr lang="en-US" sz="2000" b="1" i="0" dirty="0">
                <a:solidFill>
                  <a:srgbClr val="00B0F0"/>
                </a:solidFill>
                <a:effectLst/>
                <a:latin typeface="Times New Roman" panose="02020603050405020304" pitchFamily="18" charset="0"/>
                <a:cs typeface="Times New Roman" panose="02020603050405020304" pitchFamily="18" charset="0"/>
              </a:rPr>
              <a:t>Preparation</a:t>
            </a:r>
          </a:p>
          <a:p>
            <a:pPr algn="l"/>
            <a:r>
              <a:rPr lang="en-US" sz="2000" b="0" i="0" dirty="0">
                <a:solidFill>
                  <a:srgbClr val="FF0000"/>
                </a:solidFill>
                <a:effectLst/>
                <a:latin typeface="Times New Roman" panose="02020603050405020304" pitchFamily="18" charset="0"/>
                <a:cs typeface="Times New Roman" panose="02020603050405020304" pitchFamily="18" charset="0"/>
              </a:rPr>
              <a:t>In the preparation stage, developers must gather all of the code that will be deployed along with any other libraries, configuration files, or resources needed for the application to function</a:t>
            </a:r>
            <a:r>
              <a:rPr lang="en-US" sz="2000" b="0" i="0" dirty="0">
                <a:solidFill>
                  <a:srgbClr val="64696C"/>
                </a:solidFill>
                <a:effectLst/>
                <a:latin typeface="Times New Roman" panose="02020603050405020304" pitchFamily="18" charset="0"/>
                <a:cs typeface="Times New Roman" panose="02020603050405020304" pitchFamily="18" charset="0"/>
              </a:rPr>
              <a:t>. Together, these items can be packaged as a single software release. Developers should also verify that the host server is correctly configured and running smoothly.</a:t>
            </a:r>
          </a:p>
          <a:p>
            <a:pPr algn="l"/>
            <a:endParaRPr lang="en-US" sz="2000" b="0" i="0" dirty="0">
              <a:solidFill>
                <a:srgbClr val="64696C"/>
              </a:solidFill>
              <a:effectLst/>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Testing</a:t>
            </a:r>
          </a:p>
          <a:p>
            <a:pPr algn="l"/>
            <a:r>
              <a:rPr lang="en-US" sz="2000" b="0" i="0" dirty="0">
                <a:solidFill>
                  <a:srgbClr val="64696C"/>
                </a:solidFill>
                <a:effectLst/>
                <a:latin typeface="Times New Roman" panose="02020603050405020304" pitchFamily="18" charset="0"/>
                <a:cs typeface="Times New Roman" panose="02020603050405020304" pitchFamily="18" charset="0"/>
              </a:rPr>
              <a:t>Before an </a:t>
            </a:r>
            <a:r>
              <a:rPr lang="en-US" sz="2000" b="0" i="0" dirty="0">
                <a:solidFill>
                  <a:srgbClr val="00B0F0"/>
                </a:solidFill>
                <a:effectLst/>
                <a:latin typeface="Times New Roman" panose="02020603050405020304" pitchFamily="18" charset="0"/>
                <a:cs typeface="Times New Roman" panose="02020603050405020304" pitchFamily="18" charset="0"/>
              </a:rPr>
              <a:t>update can be pushed to the live environment, it should be deployed to a test server where it can be subjected to a pre-configured set of automated tests</a:t>
            </a:r>
            <a:r>
              <a:rPr lang="en-US" sz="2000" b="0" i="0" dirty="0">
                <a:solidFill>
                  <a:srgbClr val="64696C"/>
                </a:solidFill>
                <a:effectLst/>
                <a:latin typeface="Times New Roman" panose="02020603050405020304" pitchFamily="18" charset="0"/>
                <a:cs typeface="Times New Roman" panose="02020603050405020304" pitchFamily="18" charset="0"/>
              </a:rPr>
              <a:t>. Developers should review the results and correct any bugs or errors before deploying the update to the live environment.</a:t>
            </a:r>
          </a:p>
          <a:p>
            <a:pPr algn="l"/>
            <a:endParaRPr lang="en-US" sz="2000" b="0" i="0" dirty="0">
              <a:solidFill>
                <a:srgbClr val="64696C"/>
              </a:solidFill>
              <a:effectLst/>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Deployment</a:t>
            </a:r>
          </a:p>
          <a:p>
            <a:pPr algn="l"/>
            <a:r>
              <a:rPr lang="en-US" sz="2000" b="0" i="0" dirty="0">
                <a:solidFill>
                  <a:srgbClr val="00B0F0"/>
                </a:solidFill>
                <a:effectLst/>
                <a:latin typeface="Times New Roman" panose="02020603050405020304" pitchFamily="18" charset="0"/>
                <a:cs typeface="Times New Roman" panose="02020603050405020304" pitchFamily="18" charset="0"/>
              </a:rPr>
              <a:t>Once an update has been fully tested, it can be deployed to the live environment</a:t>
            </a:r>
            <a:r>
              <a:rPr lang="en-US" sz="2000" b="0" i="0" dirty="0">
                <a:solidFill>
                  <a:srgbClr val="64696C"/>
                </a:solidFill>
                <a:effectLst/>
                <a:latin typeface="Times New Roman" panose="02020603050405020304" pitchFamily="18" charset="0"/>
                <a:cs typeface="Times New Roman" panose="02020603050405020304" pitchFamily="18" charset="0"/>
              </a:rPr>
              <a:t>. Developers may run a set of scripts to update relevant databases before changes can go live. </a:t>
            </a:r>
            <a:r>
              <a:rPr lang="en-US" sz="2000" b="0" i="0" dirty="0">
                <a:solidFill>
                  <a:srgbClr val="FF0000"/>
                </a:solidFill>
                <a:effectLst/>
                <a:latin typeface="Times New Roman" panose="02020603050405020304" pitchFamily="18" charset="0"/>
                <a:cs typeface="Times New Roman" panose="02020603050405020304" pitchFamily="18" charset="0"/>
              </a:rPr>
              <a:t>The final step is to check for bugs or errors that occur on the live server to ensure the best possible customer experience for users interacting with the new update.</a:t>
            </a:r>
          </a:p>
        </p:txBody>
      </p:sp>
    </p:spTree>
    <p:extLst>
      <p:ext uri="{BB962C8B-B14F-4D97-AF65-F5344CB8AC3E}">
        <p14:creationId xmlns:p14="http://schemas.microsoft.com/office/powerpoint/2010/main" val="1642770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590</Words>
  <Application>Microsoft Office PowerPoint</Application>
  <PresentationFormat>Widescreen</PresentationFormat>
  <Paragraphs>36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Times New Roman</vt:lpstr>
      <vt:lpstr>Wingdings</vt:lpstr>
      <vt:lpstr>Office Theme</vt:lpstr>
      <vt:lpstr>Deployment systems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Deployment systems</dc:title>
  <dc:creator>SAI CHARAN THOTA</dc:creator>
  <cp:lastModifiedBy>SAI CHARAN THOTA</cp:lastModifiedBy>
  <cp:revision>3</cp:revision>
  <dcterms:created xsi:type="dcterms:W3CDTF">2021-10-26T07:40:31Z</dcterms:created>
  <dcterms:modified xsi:type="dcterms:W3CDTF">2021-11-02T01:29:26Z</dcterms:modified>
</cp:coreProperties>
</file>