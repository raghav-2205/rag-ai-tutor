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3757-788A-460F-A3D2-BF2AAA02C7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647E73E6-4F8A-48C1-8795-C90DFEEDB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458E187-C96C-47AE-9B54-5DE49BF07301}"/>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5643AD90-B7DB-4651-AE03-1118DECD9B4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2F7442-7EBB-47AE-923F-AC8B03DBDFCF}"/>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3730979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C1EF-76DD-4F85-B357-4D7A06887A7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81DA3C0-8BFF-476B-9582-776D5900D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F0DB978-CFC3-4AA9-A290-29423CE723BA}"/>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CF1F3EA8-FC94-4974-959D-DB324861B71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14452F3-2316-44F8-A2E7-BF53C641B794}"/>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2546808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9C1E7-692E-4E9D-AB58-F18EC4199A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5D0B2D4E-8E27-42EB-8E23-C2298685CE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B3D5AB-2651-42D9-8B29-0C65977756D0}"/>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B332D61A-0F6F-41EE-844A-A9CF5312699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C39FF9D-4BE2-4587-AADF-90EBEC9A7E2E}"/>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331273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2488-1B62-4E1C-91B6-E09BE46316B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0E59965-3E38-4EE7-A668-49E73254ED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2F3B4A7E-8E9B-4972-9573-B14C1ACB71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7C25A12-7984-4ABE-8765-818C11067941}"/>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6" name="Footer Placeholder 5">
            <a:extLst>
              <a:ext uri="{FF2B5EF4-FFF2-40B4-BE49-F238E27FC236}">
                <a16:creationId xmlns:a16="http://schemas.microsoft.com/office/drawing/2014/main" id="{10E23FF4-6FD5-4EDC-B975-0E0FBA244FC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6BF0E9B-B311-4708-BA06-674A2148E755}"/>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1431496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0FBD3-AAAD-4961-A78F-80164B2C1DB0}"/>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99C31CD-CDA4-4EBA-8C1D-47275472BD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04D0FB-F557-4128-AB53-4DE48E12EC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5B3ADF11-85C1-4A12-8D71-5F4A38DB7D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9C132B-41B1-47B8-9383-C33AF19BE1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A790E445-D1CC-42C4-95C2-790D6709E5ED}"/>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8" name="Footer Placeholder 7">
            <a:extLst>
              <a:ext uri="{FF2B5EF4-FFF2-40B4-BE49-F238E27FC236}">
                <a16:creationId xmlns:a16="http://schemas.microsoft.com/office/drawing/2014/main" id="{A4E69B58-4FFE-443C-8AEA-6847D491AE20}"/>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FB4D3E85-F81C-49D4-A8DE-48FF4C1049BB}"/>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2201532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1183-0039-4470-8A3A-642BC7ED01AC}"/>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78CAF7E-5DF8-4F38-BA14-29A4F8D7F465}"/>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4" name="Footer Placeholder 3">
            <a:extLst>
              <a:ext uri="{FF2B5EF4-FFF2-40B4-BE49-F238E27FC236}">
                <a16:creationId xmlns:a16="http://schemas.microsoft.com/office/drawing/2014/main" id="{887876E9-9366-4925-80D1-A23CD9CE93B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B74727D7-7FC1-4213-88AD-853689EC3AB6}"/>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59221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3B3A92-0983-48A3-9124-4781FE75FC3E}"/>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3" name="Footer Placeholder 2">
            <a:extLst>
              <a:ext uri="{FF2B5EF4-FFF2-40B4-BE49-F238E27FC236}">
                <a16:creationId xmlns:a16="http://schemas.microsoft.com/office/drawing/2014/main" id="{82B5AD93-654F-4078-9BB7-276033099833}"/>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283F0C9-3A84-41F9-8F47-0C046FC3BC20}"/>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3026201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DC3F-AA40-4101-9781-BFE736428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BC7BB8D-1CF7-4AC0-82E6-DF406924CF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41ED82C1-CB1C-4CFA-A6EF-24C304CDF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2C20C8-093F-42A1-9410-CD0EF4E84EB8}"/>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6" name="Footer Placeholder 5">
            <a:extLst>
              <a:ext uri="{FF2B5EF4-FFF2-40B4-BE49-F238E27FC236}">
                <a16:creationId xmlns:a16="http://schemas.microsoft.com/office/drawing/2014/main" id="{4E1F585F-8587-4BAA-B3E3-4FA1FC5C1BC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7F8D691-2B49-4C9C-B9A1-07D86B97A6B8}"/>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425143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EDEE-D3BD-4267-9555-5789C1B018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879E998D-2DD8-411A-B3CD-7B505F19F2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AF41B5E0-ED10-460F-AB3F-4F2C5A6656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5CCD75-B100-4427-8DA2-DDC72245F13A}"/>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6" name="Footer Placeholder 5">
            <a:extLst>
              <a:ext uri="{FF2B5EF4-FFF2-40B4-BE49-F238E27FC236}">
                <a16:creationId xmlns:a16="http://schemas.microsoft.com/office/drawing/2014/main" id="{02A4685B-2F7A-454E-A686-8A95DAD89C3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D09DCFA-9767-449F-B626-432A5E489D8F}"/>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208478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A5AA-1D75-402B-9F8E-5E27AEAB490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48DE49F5-0F13-4001-A24F-D4F60AEA62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1468947-6D67-4F5E-8A59-AD5AE9BF2F32}"/>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A14D8FAA-6BCF-4A7F-A2F5-67AF2ED5E10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DFF4B09-E193-43BA-AF82-9644C42B5BFE}"/>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528118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240273-ACB4-4554-95E7-CEA04E187B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49CAC76-0326-450B-A81F-7C9F560130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D489835-9131-4271-A100-CFCFDD38AB2B}"/>
              </a:ext>
            </a:extLst>
          </p:cNvPr>
          <p:cNvSpPr>
            <a:spLocks noGrp="1"/>
          </p:cNvSpPr>
          <p:nvPr>
            <p:ph type="dt" sz="half" idx="10"/>
          </p:nvPr>
        </p:nvSpPr>
        <p:spPr/>
        <p:txBody>
          <a:body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93DD496F-6C43-464F-93B9-F3EACDC5747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BFFE116-6D79-4355-A735-FF471CB1BBB1}"/>
              </a:ext>
            </a:extLst>
          </p:cNvPr>
          <p:cNvSpPr>
            <a:spLocks noGrp="1"/>
          </p:cNvSpPr>
          <p:nvPr>
            <p:ph type="sldNum" sz="quarter" idx="12"/>
          </p:nvPr>
        </p:nvSpPr>
        <p:spPr/>
        <p:txBody>
          <a:bodyPr/>
          <a:lstStyle/>
          <a:p>
            <a:fld id="{C46F05FB-B0CC-47DF-B4A9-D06B25736523}" type="slidenum">
              <a:rPr lang="en-SG" smtClean="0"/>
              <a:t>‹#›</a:t>
            </a:fld>
            <a:endParaRPr lang="en-SG"/>
          </a:p>
        </p:txBody>
      </p:sp>
    </p:spTree>
    <p:extLst>
      <p:ext uri="{BB962C8B-B14F-4D97-AF65-F5344CB8AC3E}">
        <p14:creationId xmlns:p14="http://schemas.microsoft.com/office/powerpoint/2010/main" val="39165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BA7741-F970-478A-B0B3-5F52594C7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C1278174-6B9D-4C96-990D-19C64FE70F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8128521-0CFD-43F9-8863-19ACE4D0B9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C8F2DA-EEE7-44BE-9F5A-A2A6C49495CF}" type="datetimeFigureOut">
              <a:rPr lang="en-SG" smtClean="0"/>
              <a:t>4/11/2021</a:t>
            </a:fld>
            <a:endParaRPr lang="en-SG"/>
          </a:p>
        </p:txBody>
      </p:sp>
      <p:sp>
        <p:nvSpPr>
          <p:cNvPr id="5" name="Footer Placeholder 4">
            <a:extLst>
              <a:ext uri="{FF2B5EF4-FFF2-40B4-BE49-F238E27FC236}">
                <a16:creationId xmlns:a16="http://schemas.microsoft.com/office/drawing/2014/main" id="{FF812BCB-6A84-4A6A-972B-A345EA8651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77CD255C-1076-49E5-A54B-41D1352C6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6F05FB-B0CC-47DF-B4A9-D06B25736523}" type="slidenum">
              <a:rPr lang="en-SG" smtClean="0"/>
              <a:t>‹#›</a:t>
            </a:fld>
            <a:endParaRPr lang="en-SG"/>
          </a:p>
        </p:txBody>
      </p:sp>
    </p:spTree>
    <p:extLst>
      <p:ext uri="{BB962C8B-B14F-4D97-AF65-F5344CB8AC3E}">
        <p14:creationId xmlns:p14="http://schemas.microsoft.com/office/powerpoint/2010/main" val="2114684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Communication_endpoint" TargetMode="External"/><Relationship Id="rId2" Type="http://schemas.openxmlformats.org/officeDocument/2006/relationships/hyperlink" Target="https://en.wikipedia.org/wiki/Many-to-many"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enterpriseintegrationpatterns.com/patterns/messaging/MessageBus.html"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zeromq.org/"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FEBAE-45EC-4B21-83A6-6F1D28606BEA}"/>
              </a:ext>
            </a:extLst>
          </p:cNvPr>
          <p:cNvSpPr>
            <a:spLocks noGrp="1"/>
          </p:cNvSpPr>
          <p:nvPr>
            <p:ph type="ctrTitle"/>
          </p:nvPr>
        </p:nvSpPr>
        <p:spPr/>
        <p:txBody>
          <a:bodyPr/>
          <a:lstStyle/>
          <a:p>
            <a:r>
              <a:rPr lang="en-US" dirty="0"/>
              <a:t>SALTSTACK</a:t>
            </a:r>
            <a:endParaRPr lang="en-SG" dirty="0"/>
          </a:p>
        </p:txBody>
      </p:sp>
      <p:sp>
        <p:nvSpPr>
          <p:cNvPr id="3" name="Subtitle 2">
            <a:extLst>
              <a:ext uri="{FF2B5EF4-FFF2-40B4-BE49-F238E27FC236}">
                <a16:creationId xmlns:a16="http://schemas.microsoft.com/office/drawing/2014/main" id="{E9A0442E-51A4-4F0B-BACB-C2BBC8960957}"/>
              </a:ext>
            </a:extLst>
          </p:cNvPr>
          <p:cNvSpPr>
            <a:spLocks noGrp="1"/>
          </p:cNvSpPr>
          <p:nvPr>
            <p:ph type="subTitle" idx="1"/>
          </p:nvPr>
        </p:nvSpPr>
        <p:spPr/>
        <p:txBody>
          <a:bodyPr/>
          <a:lstStyle/>
          <a:p>
            <a:r>
              <a:rPr lang="en-SG" b="1" i="0" dirty="0">
                <a:solidFill>
                  <a:srgbClr val="202124"/>
                </a:solidFill>
                <a:effectLst/>
                <a:latin typeface="arial" panose="020B0604020202020204" pitchFamily="34" charset="0"/>
              </a:rPr>
              <a:t>push based configuration management tool</a:t>
            </a:r>
            <a:endParaRPr lang="en-SG" dirty="0"/>
          </a:p>
        </p:txBody>
      </p:sp>
    </p:spTree>
    <p:extLst>
      <p:ext uri="{BB962C8B-B14F-4D97-AF65-F5344CB8AC3E}">
        <p14:creationId xmlns:p14="http://schemas.microsoft.com/office/powerpoint/2010/main" val="875110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84C166-F626-4245-A430-50E5B6255E97}"/>
              </a:ext>
            </a:extLst>
          </p:cNvPr>
          <p:cNvSpPr txBox="1"/>
          <p:nvPr/>
        </p:nvSpPr>
        <p:spPr>
          <a:xfrm>
            <a:off x="192947" y="285226"/>
            <a:ext cx="11736198" cy="5262979"/>
          </a:xfrm>
          <a:prstGeom prst="rect">
            <a:avLst/>
          </a:prstGeom>
          <a:noFill/>
        </p:spPr>
        <p:txBody>
          <a:bodyPr wrap="square">
            <a:spAutoFit/>
          </a:bodyPr>
          <a:lstStyle/>
          <a:p>
            <a:pPr algn="just"/>
            <a:r>
              <a:rPr lang="en-US" sz="2400" b="1" i="0" dirty="0">
                <a:solidFill>
                  <a:srgbClr val="000000"/>
                </a:solidFill>
                <a:effectLst/>
                <a:latin typeface="Times New Roman" panose="02020603050405020304" pitchFamily="18" charset="0"/>
                <a:cs typeface="Times New Roman" panose="02020603050405020304" pitchFamily="18" charset="0"/>
              </a:rPr>
              <a:t>Salt</a:t>
            </a:r>
            <a:r>
              <a:rPr lang="en-US" sz="2400" b="0" i="0" dirty="0">
                <a:solidFill>
                  <a:srgbClr val="000000"/>
                </a:solidFill>
                <a:effectLst/>
                <a:latin typeface="Times New Roman" panose="02020603050405020304" pitchFamily="18" charset="0"/>
                <a:cs typeface="Times New Roman" panose="02020603050405020304" pitchFamily="18" charset="0"/>
              </a:rPr>
              <a:t> is a </a:t>
            </a:r>
            <a:r>
              <a:rPr lang="en-US" sz="2400" b="1" i="0" dirty="0">
                <a:solidFill>
                  <a:srgbClr val="FF0000"/>
                </a:solidFill>
                <a:effectLst/>
                <a:latin typeface="Times New Roman" panose="02020603050405020304" pitchFamily="18" charset="0"/>
                <a:cs typeface="Times New Roman" panose="02020603050405020304" pitchFamily="18" charset="0"/>
              </a:rPr>
              <a:t>simple IT automation framework </a:t>
            </a:r>
            <a:r>
              <a:rPr lang="en-US" sz="2400" b="0" i="0" dirty="0">
                <a:solidFill>
                  <a:srgbClr val="000000"/>
                </a:solidFill>
                <a:effectLst/>
                <a:latin typeface="Times New Roman" panose="02020603050405020304" pitchFamily="18" charset="0"/>
                <a:cs typeface="Times New Roman" panose="02020603050405020304" pitchFamily="18" charset="0"/>
              </a:rPr>
              <a:t>that automates provisioning(Providing), configuration management, application deployment, service arrangements and many other IT needs.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Remote execution of commands is the important highlight of using Salt.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Unlike other competitors, Salt uses </a:t>
            </a:r>
            <a:r>
              <a:rPr lang="en-US" sz="2400" b="1" i="0" dirty="0" err="1">
                <a:solidFill>
                  <a:srgbClr val="000000"/>
                </a:solidFill>
                <a:effectLst/>
                <a:latin typeface="Times New Roman" panose="02020603050405020304" pitchFamily="18" charset="0"/>
                <a:cs typeface="Times New Roman" panose="02020603050405020304" pitchFamily="18" charset="0"/>
              </a:rPr>
              <a:t>ZeroMQ</a:t>
            </a:r>
            <a:r>
              <a:rPr lang="en-US" sz="2400" b="1" i="0" dirty="0">
                <a:solidFill>
                  <a:srgbClr val="000000"/>
                </a:solidFill>
                <a:effectLst/>
                <a:latin typeface="Times New Roman" panose="02020603050405020304" pitchFamily="18" charset="0"/>
                <a:cs typeface="Times New Roman" panose="02020603050405020304" pitchFamily="18" charset="0"/>
              </a:rPr>
              <a:t> message bus</a:t>
            </a:r>
            <a:r>
              <a:rPr lang="en-US" sz="2400" b="0" i="0" dirty="0">
                <a:solidFill>
                  <a:srgbClr val="000000"/>
                </a:solidFill>
                <a:effectLst/>
                <a:latin typeface="Times New Roman" panose="02020603050405020304" pitchFamily="18" charset="0"/>
                <a:cs typeface="Times New Roman" panose="02020603050405020304" pitchFamily="18" charset="0"/>
              </a:rPr>
              <a:t> for the communication. </a:t>
            </a:r>
          </a:p>
          <a:p>
            <a:pPr algn="just"/>
            <a:r>
              <a:rPr lang="en-US" sz="2400" b="0" i="1" dirty="0">
                <a:solidFill>
                  <a:srgbClr val="7030A0"/>
                </a:solidFill>
                <a:effectLst/>
                <a:latin typeface="Arial" panose="020B0604020202020204" pitchFamily="34" charset="0"/>
              </a:rPr>
              <a:t>{ </a:t>
            </a:r>
            <a:r>
              <a:rPr lang="en-US" sz="2400" b="0" i="1" dirty="0" err="1">
                <a:solidFill>
                  <a:srgbClr val="7030A0"/>
                </a:solidFill>
                <a:effectLst/>
                <a:latin typeface="Arial" panose="020B0604020202020204" pitchFamily="34" charset="0"/>
              </a:rPr>
              <a:t>ZeroMQ</a:t>
            </a:r>
            <a:r>
              <a:rPr lang="en-US" sz="2400" b="0" i="1" dirty="0">
                <a:solidFill>
                  <a:srgbClr val="7030A0"/>
                </a:solidFill>
                <a:effectLst/>
                <a:latin typeface="Arial" panose="020B0604020202020204" pitchFamily="34" charset="0"/>
              </a:rPr>
              <a:t> API provides sockets , each of which can represent a </a:t>
            </a:r>
            <a:r>
              <a:rPr lang="en-US" sz="2400" b="0" i="1" u="none" strike="noStrike" dirty="0">
                <a:solidFill>
                  <a:srgbClr val="7030A0"/>
                </a:solidFill>
                <a:effectLst/>
                <a:latin typeface="Arial" panose="020B0604020202020204" pitchFamily="34" charset="0"/>
                <a:hlinkClick r:id="rId2" tooltip="Many-to-many">
                  <a:extLst>
                    <a:ext uri="{A12FA001-AC4F-418D-AE19-62706E023703}">
                      <ahyp:hlinkClr xmlns:ahyp="http://schemas.microsoft.com/office/drawing/2018/hyperlinkcolor" val="tx"/>
                    </a:ext>
                  </a:extLst>
                </a:hlinkClick>
              </a:rPr>
              <a:t>many-to-many</a:t>
            </a:r>
            <a:r>
              <a:rPr lang="en-US" sz="2400" b="0" i="1" dirty="0">
                <a:solidFill>
                  <a:srgbClr val="7030A0"/>
                </a:solidFill>
                <a:effectLst/>
                <a:latin typeface="Arial" panose="020B0604020202020204" pitchFamily="34" charset="0"/>
              </a:rPr>
              <a:t> connection between </a:t>
            </a:r>
            <a:r>
              <a:rPr lang="en-US" sz="2400" b="0" i="1" u="none" strike="noStrike" dirty="0">
                <a:solidFill>
                  <a:srgbClr val="7030A0"/>
                </a:solidFill>
                <a:effectLst/>
                <a:latin typeface="Arial" panose="020B0604020202020204" pitchFamily="34" charset="0"/>
                <a:hlinkClick r:id="rId3" tooltip="Communication endpoint">
                  <a:extLst>
                    <a:ext uri="{A12FA001-AC4F-418D-AE19-62706E023703}">
                      <ahyp:hlinkClr xmlns:ahyp="http://schemas.microsoft.com/office/drawing/2018/hyperlinkcolor" val="tx"/>
                    </a:ext>
                  </a:extLst>
                </a:hlinkClick>
              </a:rPr>
              <a:t>endpoints</a:t>
            </a:r>
            <a:r>
              <a:rPr lang="en-US" sz="2400" b="0" i="1" dirty="0">
                <a:solidFill>
                  <a:srgbClr val="7030A0"/>
                </a:solidFill>
                <a:effectLst/>
                <a:latin typeface="Arial" panose="020B0604020202020204" pitchFamily="34" charset="0"/>
              </a:rPr>
              <a:t>. }</a:t>
            </a:r>
            <a:endParaRPr lang="en-US" sz="2400" i="1" dirty="0">
              <a:solidFill>
                <a:srgbClr val="7030A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It offers high speed effective communication between remote machines. </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Additionally, the remote execution can target a group of machines simultaneously. </a:t>
            </a:r>
          </a:p>
        </p:txBody>
      </p:sp>
    </p:spTree>
    <p:extLst>
      <p:ext uri="{BB962C8B-B14F-4D97-AF65-F5344CB8AC3E}">
        <p14:creationId xmlns:p14="http://schemas.microsoft.com/office/powerpoint/2010/main" val="4277712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12B570-2947-45F2-A8EA-B9A48145F99C}"/>
              </a:ext>
            </a:extLst>
          </p:cNvPr>
          <p:cNvSpPr txBox="1"/>
          <p:nvPr/>
        </p:nvSpPr>
        <p:spPr>
          <a:xfrm>
            <a:off x="0" y="125835"/>
            <a:ext cx="12029813" cy="6001643"/>
          </a:xfrm>
          <a:prstGeom prst="rect">
            <a:avLst/>
          </a:prstGeom>
          <a:noFill/>
        </p:spPr>
        <p:txBody>
          <a:bodyPr wrap="square">
            <a:spAutoFit/>
          </a:bodyPr>
          <a:lstStyle/>
          <a:p>
            <a:pPr algn="l"/>
            <a:r>
              <a:rPr lang="en-US" sz="2400" b="1" i="0" dirty="0">
                <a:solidFill>
                  <a:srgbClr val="000000"/>
                </a:solidFill>
                <a:effectLst/>
                <a:latin typeface="Times New Roman" panose="02020603050405020304" pitchFamily="18" charset="0"/>
                <a:cs typeface="Times New Roman" panose="02020603050405020304" pitchFamily="18" charset="0"/>
              </a:rPr>
              <a:t>The relevance of Salt and its applications</a:t>
            </a:r>
          </a:p>
          <a:p>
            <a:pPr algn="l"/>
            <a:endParaRPr lang="en-US" sz="2400" b="1"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Salt (commonly known as </a:t>
            </a:r>
            <a:r>
              <a:rPr lang="en-US" sz="2400" b="0" i="0" dirty="0" err="1">
                <a:solidFill>
                  <a:srgbClr val="000000"/>
                </a:solidFill>
                <a:effectLst/>
                <a:latin typeface="Times New Roman" panose="02020603050405020304" pitchFamily="18" charset="0"/>
                <a:cs typeface="Times New Roman" panose="02020603050405020304" pitchFamily="18" charset="0"/>
              </a:rPr>
              <a:t>SaltStack</a:t>
            </a:r>
            <a:r>
              <a:rPr lang="en-US" sz="2400" b="0" i="0" dirty="0">
                <a:solidFill>
                  <a:srgbClr val="000000"/>
                </a:solidFill>
                <a:effectLst/>
                <a:latin typeface="Times New Roman" panose="02020603050405020304" pitchFamily="18" charset="0"/>
                <a:cs typeface="Times New Roman" panose="02020603050405020304" pitchFamily="18" charset="0"/>
              </a:rPr>
              <a:t>) is a widely accepted tool for Configuration management. </a:t>
            </a:r>
          </a:p>
          <a:p>
            <a:pPr marL="342900" indent="-342900" algn="just">
              <a:buFont typeface="Wingdings" panose="05000000000000000000" pitchFamily="2" charset="2"/>
              <a:buChar char="ü"/>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Consider that hundreds of machines need to be configured identically - install software, run some services, and make it more awesome. </a:t>
            </a:r>
          </a:p>
          <a:p>
            <a:pPr marL="342900" indent="-342900" algn="just">
              <a:buFont typeface="Wingdings" panose="05000000000000000000" pitchFamily="2" charset="2"/>
              <a:buChar char="ü"/>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Rather than performing these tasks manually, scripts can be used to simplify it. Since the same task needs to be executed in hundreds of machines, if the script is placed in a location that can be send to all these machines will further simplify the repetitive task. </a:t>
            </a:r>
          </a:p>
          <a:p>
            <a:pPr marL="342900" indent="-342900" algn="just">
              <a:buFont typeface="Wingdings" panose="05000000000000000000" pitchFamily="2" charset="2"/>
              <a:buChar char="ü"/>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0000"/>
                </a:solidFill>
                <a:effectLst/>
                <a:latin typeface="Times New Roman" panose="02020603050405020304" pitchFamily="18" charset="0"/>
                <a:cs typeface="Times New Roman" panose="02020603050405020304" pitchFamily="18" charset="0"/>
              </a:rPr>
              <a:t>With the help of Salt, we can manage this activity from a single system (named Salt master) and complete this in a swift manner. Just write the task once, specify the machines to be modified and execute the script remotely. The result from all machines will be send back to Salt master.</a:t>
            </a:r>
          </a:p>
        </p:txBody>
      </p:sp>
    </p:spTree>
    <p:extLst>
      <p:ext uri="{BB962C8B-B14F-4D97-AF65-F5344CB8AC3E}">
        <p14:creationId xmlns:p14="http://schemas.microsoft.com/office/powerpoint/2010/main" val="4016486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0B0176-698A-4139-A31E-FB4D0D7FF5E1}"/>
              </a:ext>
            </a:extLst>
          </p:cNvPr>
          <p:cNvSpPr txBox="1"/>
          <p:nvPr/>
        </p:nvSpPr>
        <p:spPr>
          <a:xfrm>
            <a:off x="109057" y="151002"/>
            <a:ext cx="12021423" cy="7141186"/>
          </a:xfrm>
          <a:prstGeom prst="rect">
            <a:avLst/>
          </a:prstGeom>
          <a:noFill/>
        </p:spPr>
        <p:txBody>
          <a:bodyPr wrap="square">
            <a:spAutoFit/>
          </a:bodyPr>
          <a:lstStyle/>
          <a:p>
            <a:pPr>
              <a:lnSpc>
                <a:spcPct val="150000"/>
              </a:lnSpc>
            </a:pPr>
            <a:r>
              <a:rPr lang="en-SG" sz="2200" b="1" i="0" dirty="0">
                <a:solidFill>
                  <a:srgbClr val="000000"/>
                </a:solidFill>
                <a:effectLst/>
                <a:latin typeface="Times New Roman" panose="02020603050405020304" pitchFamily="18" charset="0"/>
                <a:cs typeface="Times New Roman" panose="02020603050405020304" pitchFamily="18" charset="0"/>
              </a:rPr>
              <a:t>Features of Salt</a:t>
            </a:r>
          </a:p>
          <a:p>
            <a:pPr algn="just">
              <a:lnSpc>
                <a:spcPct val="150000"/>
              </a:lnSpc>
            </a:pPr>
            <a:r>
              <a:rPr lang="en-US" sz="2200" b="1" i="0" dirty="0">
                <a:solidFill>
                  <a:srgbClr val="000000"/>
                </a:solidFill>
                <a:effectLst/>
                <a:latin typeface="Times New Roman" panose="02020603050405020304" pitchFamily="18" charset="0"/>
                <a:cs typeface="Times New Roman" panose="02020603050405020304" pitchFamily="18" charset="0"/>
              </a:rPr>
              <a:t>1. Simplicity</a:t>
            </a:r>
            <a:r>
              <a:rPr lang="en-US" sz="2200" b="0" i="0" dirty="0">
                <a:solidFill>
                  <a:srgbClr val="000000"/>
                </a:solidFill>
                <a:effectLst/>
                <a:latin typeface="Times New Roman" panose="02020603050405020304" pitchFamily="18" charset="0"/>
                <a:cs typeface="Times New Roman" panose="02020603050405020304" pitchFamily="18" charset="0"/>
              </a:rPr>
              <a:t> - The Salt setup and usage is </a:t>
            </a:r>
            <a:r>
              <a:rPr lang="en-US" sz="2200" b="0" i="0" dirty="0">
                <a:solidFill>
                  <a:srgbClr val="FF0000"/>
                </a:solidFill>
                <a:effectLst/>
                <a:latin typeface="Times New Roman" panose="02020603050405020304" pitchFamily="18" charset="0"/>
                <a:cs typeface="Times New Roman" panose="02020603050405020304" pitchFamily="18" charset="0"/>
              </a:rPr>
              <a:t>very simple process</a:t>
            </a:r>
            <a:r>
              <a:rPr lang="en-US" sz="2200" b="0" i="0" dirty="0">
                <a:solidFill>
                  <a:srgbClr val="000000"/>
                </a:solidFill>
                <a:effectLst/>
                <a:latin typeface="Times New Roman" panose="02020603050405020304" pitchFamily="18" charset="0"/>
                <a:cs typeface="Times New Roman" panose="02020603050405020304" pitchFamily="18" charset="0"/>
              </a:rPr>
              <a:t>. Still it is powerful enough to manage hundreds of distributed systems in quick and efficient manner</a:t>
            </a:r>
          </a:p>
          <a:p>
            <a:pPr algn="just">
              <a:lnSpc>
                <a:spcPct val="150000"/>
              </a:lnSpc>
            </a:pPr>
            <a:r>
              <a:rPr lang="en-US" sz="2200" b="1" i="0" dirty="0">
                <a:solidFill>
                  <a:srgbClr val="000000"/>
                </a:solidFill>
                <a:effectLst/>
                <a:latin typeface="Times New Roman" panose="02020603050405020304" pitchFamily="18" charset="0"/>
                <a:cs typeface="Times New Roman" panose="02020603050405020304" pitchFamily="18" charset="0"/>
              </a:rPr>
              <a:t>2.Parallel Execution</a:t>
            </a:r>
            <a:r>
              <a:rPr lang="en-US" sz="2200" b="0" i="0" dirty="0">
                <a:solidFill>
                  <a:srgbClr val="000000"/>
                </a:solidFill>
                <a:effectLst/>
                <a:latin typeface="Times New Roman" panose="02020603050405020304" pitchFamily="18" charset="0"/>
                <a:cs typeface="Times New Roman" panose="02020603050405020304" pitchFamily="18" charset="0"/>
              </a:rPr>
              <a:t> - The Salt remote execution is effected in nodes </a:t>
            </a:r>
            <a:r>
              <a:rPr lang="en-US" sz="2200" b="0" i="0" dirty="0">
                <a:solidFill>
                  <a:srgbClr val="FF0000"/>
                </a:solidFill>
                <a:effectLst/>
                <a:latin typeface="Times New Roman" panose="02020603050405020304" pitchFamily="18" charset="0"/>
                <a:cs typeface="Times New Roman" panose="02020603050405020304" pitchFamily="18" charset="0"/>
              </a:rPr>
              <a:t>parallelly, not serially</a:t>
            </a:r>
            <a:r>
              <a:rPr lang="en-US" sz="2200" b="0" i="0" dirty="0">
                <a:solidFill>
                  <a:srgbClr val="000000"/>
                </a:solidFill>
                <a:effectLst/>
                <a:latin typeface="Times New Roman" panose="02020603050405020304" pitchFamily="18" charset="0"/>
                <a:cs typeface="Times New Roman" panose="02020603050405020304" pitchFamily="18" charset="0"/>
              </a:rPr>
              <a:t>. Hence, the time taken will be very less</a:t>
            </a:r>
          </a:p>
          <a:p>
            <a:pPr algn="just">
              <a:lnSpc>
                <a:spcPct val="150000"/>
              </a:lnSpc>
            </a:pPr>
            <a:r>
              <a:rPr lang="en-US" sz="2200" b="1" i="0" dirty="0">
                <a:solidFill>
                  <a:srgbClr val="000000"/>
                </a:solidFill>
                <a:effectLst/>
                <a:latin typeface="Times New Roman" panose="02020603050405020304" pitchFamily="18" charset="0"/>
                <a:cs typeface="Times New Roman" panose="02020603050405020304" pitchFamily="18" charset="0"/>
              </a:rPr>
              <a:t>3. Open Source</a:t>
            </a:r>
            <a:r>
              <a:rPr lang="en-US" sz="2200" b="0" i="0" dirty="0">
                <a:solidFill>
                  <a:srgbClr val="000000"/>
                </a:solidFill>
                <a:effectLst/>
                <a:latin typeface="Times New Roman" panose="02020603050405020304" pitchFamily="18" charset="0"/>
                <a:cs typeface="Times New Roman" panose="02020603050405020304" pitchFamily="18" charset="0"/>
              </a:rPr>
              <a:t> - It is a open source tool</a:t>
            </a:r>
          </a:p>
          <a:p>
            <a:pPr algn="just">
              <a:lnSpc>
                <a:spcPct val="150000"/>
              </a:lnSpc>
            </a:pPr>
            <a:r>
              <a:rPr lang="en-US" sz="2200" b="1" i="0" dirty="0">
                <a:solidFill>
                  <a:srgbClr val="000000"/>
                </a:solidFill>
                <a:effectLst/>
                <a:latin typeface="Times New Roman" panose="02020603050405020304" pitchFamily="18" charset="0"/>
                <a:cs typeface="Times New Roman" panose="02020603050405020304" pitchFamily="18" charset="0"/>
              </a:rPr>
              <a:t>4. Fast, Flexible, Scalable</a:t>
            </a:r>
            <a:r>
              <a:rPr lang="en-US" sz="2200" b="0" i="0" dirty="0">
                <a:solidFill>
                  <a:srgbClr val="000000"/>
                </a:solidFill>
                <a:effectLst/>
                <a:latin typeface="Times New Roman" panose="02020603050405020304" pitchFamily="18" charset="0"/>
                <a:cs typeface="Times New Roman" panose="02020603050405020304" pitchFamily="18" charset="0"/>
              </a:rPr>
              <a:t> - By making use of </a:t>
            </a:r>
            <a:r>
              <a:rPr lang="en-US" sz="2200" b="0" i="0" dirty="0" err="1">
                <a:solidFill>
                  <a:srgbClr val="FF0000"/>
                </a:solidFill>
                <a:effectLst/>
                <a:latin typeface="Times New Roman" panose="02020603050405020304" pitchFamily="18" charset="0"/>
                <a:cs typeface="Times New Roman" panose="02020603050405020304" pitchFamily="18" charset="0"/>
              </a:rPr>
              <a:t>ZeroMQ</a:t>
            </a:r>
            <a:r>
              <a:rPr lang="en-US" sz="2200" b="0" i="0" dirty="0">
                <a:solidFill>
                  <a:srgbClr val="FF0000"/>
                </a:solidFill>
                <a:effectLst/>
                <a:latin typeface="Times New Roman" panose="02020603050405020304" pitchFamily="18" charset="0"/>
                <a:cs typeface="Times New Roman" panose="02020603050405020304" pitchFamily="18" charset="0"/>
              </a:rPr>
              <a:t> message bus</a:t>
            </a:r>
            <a:r>
              <a:rPr lang="en-US" sz="2200" b="0" i="0" dirty="0">
                <a:solidFill>
                  <a:srgbClr val="000000"/>
                </a:solidFill>
                <a:effectLst/>
                <a:latin typeface="Times New Roman" panose="02020603050405020304" pitchFamily="18" charset="0"/>
                <a:cs typeface="Times New Roman" panose="02020603050405020304" pitchFamily="18" charset="0"/>
              </a:rPr>
              <a:t>, the configuration management will be fast and it supports various types of models like </a:t>
            </a:r>
            <a:r>
              <a:rPr lang="en-US" sz="2200" b="0" i="0" dirty="0">
                <a:solidFill>
                  <a:srgbClr val="FF0000"/>
                </a:solidFill>
                <a:effectLst/>
                <a:latin typeface="Times New Roman" panose="02020603050405020304" pitchFamily="18" charset="0"/>
                <a:cs typeface="Times New Roman" panose="02020603050405020304" pitchFamily="18" charset="0"/>
              </a:rPr>
              <a:t>master and minion, master-only, minion-only or combination of these models</a:t>
            </a:r>
            <a:r>
              <a:rPr lang="en-US" sz="2200" b="0" i="0" dirty="0">
                <a:solidFill>
                  <a:srgbClr val="000000"/>
                </a:solidFill>
                <a:effectLst/>
                <a:latin typeface="Times New Roman" panose="02020603050405020304" pitchFamily="18" charset="0"/>
                <a:cs typeface="Times New Roman" panose="02020603050405020304" pitchFamily="18" charset="0"/>
              </a:rPr>
              <a:t>. The support to include ten thousands of minions per single master displays the effectiveness of scalability</a:t>
            </a:r>
          </a:p>
          <a:p>
            <a:pPr algn="just">
              <a:lnSpc>
                <a:spcPct val="150000"/>
              </a:lnSpc>
            </a:pPr>
            <a:r>
              <a:rPr lang="en-US" sz="2200" b="1" i="0" dirty="0">
                <a:solidFill>
                  <a:srgbClr val="000000"/>
                </a:solidFill>
                <a:effectLst/>
                <a:latin typeface="Times New Roman" panose="02020603050405020304" pitchFamily="18" charset="0"/>
                <a:cs typeface="Times New Roman" panose="02020603050405020304" pitchFamily="18" charset="0"/>
              </a:rPr>
              <a:t>5. Simple Interfaces</a:t>
            </a:r>
            <a:r>
              <a:rPr lang="en-US" sz="2200" b="0" i="0" dirty="0">
                <a:solidFill>
                  <a:srgbClr val="000000"/>
                </a:solidFill>
                <a:effectLst/>
                <a:latin typeface="Times New Roman" panose="02020603050405020304" pitchFamily="18" charset="0"/>
                <a:cs typeface="Times New Roman" panose="02020603050405020304" pitchFamily="18" charset="0"/>
              </a:rPr>
              <a:t> - Salt can be accessed from the command line, as well as from any simple Python API </a:t>
            </a:r>
          </a:p>
          <a:p>
            <a:pPr algn="just">
              <a:lnSpc>
                <a:spcPct val="150000"/>
              </a:lnSpc>
            </a:pPr>
            <a:endParaRPr lang="en-US" sz="2200" b="0" i="0" dirty="0">
              <a:solidFill>
                <a:srgbClr val="000000"/>
              </a:solidFill>
              <a:effectLst/>
              <a:latin typeface="Times New Roman" panose="02020603050405020304" pitchFamily="18" charset="0"/>
              <a:cs typeface="Times New Roman" panose="02020603050405020304" pitchFamily="18" charset="0"/>
            </a:endParaRPr>
          </a:p>
          <a:p>
            <a:pPr algn="l">
              <a:lnSpc>
                <a:spcPct val="150000"/>
              </a:lnSpc>
            </a:pPr>
            <a:endParaRPr lang="en-SG" sz="2200"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518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68AB0E-D55B-46B1-AAA9-BC54A05AED17}"/>
              </a:ext>
            </a:extLst>
          </p:cNvPr>
          <p:cNvSpPr txBox="1"/>
          <p:nvPr/>
        </p:nvSpPr>
        <p:spPr>
          <a:xfrm>
            <a:off x="142612" y="134224"/>
            <a:ext cx="12049387" cy="5355312"/>
          </a:xfrm>
          <a:prstGeom prst="rect">
            <a:avLst/>
          </a:prstGeom>
          <a:noFill/>
        </p:spPr>
        <p:txBody>
          <a:bodyPr wrap="square">
            <a:spAutoFit/>
          </a:bodyPr>
          <a:lstStyle/>
          <a:p>
            <a:pPr algn="l"/>
            <a:r>
              <a:rPr lang="en-US" b="1" i="0" dirty="0">
                <a:solidFill>
                  <a:srgbClr val="000000"/>
                </a:solidFill>
                <a:effectLst/>
                <a:latin typeface="Roboto" panose="02000000000000000000" pitchFamily="2" charset="0"/>
              </a:rPr>
              <a:t>Salt Architecture:</a:t>
            </a:r>
          </a:p>
          <a:p>
            <a:pPr algn="l"/>
            <a:endParaRPr lang="en-US" b="1" i="0" dirty="0">
              <a:solidFill>
                <a:srgbClr val="000000"/>
              </a:solidFill>
              <a:effectLst/>
              <a:latin typeface="Roboto" panose="02000000000000000000" pitchFamily="2" charset="0"/>
            </a:endParaRPr>
          </a:p>
          <a:p>
            <a:pPr algn="just"/>
            <a:r>
              <a:rPr lang="en-US" b="0" i="0" dirty="0">
                <a:solidFill>
                  <a:srgbClr val="000000"/>
                </a:solidFill>
                <a:effectLst/>
                <a:latin typeface="Roboto" panose="02000000000000000000" pitchFamily="2" charset="0"/>
              </a:rPr>
              <a:t>Salt remote execution is built on top of an event bus unlike other configuration management tools. </a:t>
            </a:r>
            <a:r>
              <a:rPr lang="en-US" b="0" i="0" dirty="0">
                <a:solidFill>
                  <a:srgbClr val="FF0000"/>
                </a:solidFill>
                <a:effectLst/>
                <a:latin typeface="Roboto" panose="02000000000000000000" pitchFamily="2" charset="0"/>
              </a:rPr>
              <a:t>Event bus makes communication between senders and receivers simple and fast.</a:t>
            </a:r>
          </a:p>
          <a:p>
            <a:pPr algn="just"/>
            <a:endParaRPr lang="en-US" dirty="0">
              <a:solidFill>
                <a:srgbClr val="000000"/>
              </a:solidFill>
              <a:latin typeface="Roboto" panose="02000000000000000000" pitchFamily="2" charset="0"/>
            </a:endParaRPr>
          </a:p>
          <a:p>
            <a:pPr algn="just"/>
            <a:r>
              <a:rPr lang="en-US" b="0" i="0" dirty="0">
                <a:solidFill>
                  <a:srgbClr val="000000"/>
                </a:solidFill>
                <a:effectLst/>
                <a:latin typeface="Roboto" panose="02000000000000000000" pitchFamily="2" charset="0"/>
              </a:rPr>
              <a:t> It is specifically optimized for </a:t>
            </a:r>
            <a:r>
              <a:rPr lang="en-US" b="0" i="0" dirty="0">
                <a:solidFill>
                  <a:srgbClr val="FF0000"/>
                </a:solidFill>
                <a:effectLst/>
                <a:latin typeface="Roboto" panose="02000000000000000000" pitchFamily="2" charset="0"/>
              </a:rPr>
              <a:t>high performance</a:t>
            </a:r>
            <a:r>
              <a:rPr lang="en-US" b="0" i="0" dirty="0">
                <a:solidFill>
                  <a:srgbClr val="000000"/>
                </a:solidFill>
                <a:effectLst/>
                <a:latin typeface="Roboto" panose="02000000000000000000" pitchFamily="2" charset="0"/>
              </a:rPr>
              <a:t>. In Salt , the </a:t>
            </a:r>
            <a:r>
              <a:rPr lang="en-US" b="0" i="0" dirty="0">
                <a:solidFill>
                  <a:srgbClr val="FF0000"/>
                </a:solidFill>
                <a:effectLst/>
                <a:latin typeface="Roboto" panose="02000000000000000000" pitchFamily="2" charset="0"/>
              </a:rPr>
              <a:t>salt master is a server where the salt-master service is running</a:t>
            </a:r>
            <a:r>
              <a:rPr lang="en-US" b="0" i="0" dirty="0">
                <a:solidFill>
                  <a:srgbClr val="000000"/>
                </a:solidFill>
                <a:effectLst/>
                <a:latin typeface="Roboto" panose="02000000000000000000" pitchFamily="2" charset="0"/>
              </a:rPr>
              <a:t>. It issues commands to </a:t>
            </a:r>
            <a:r>
              <a:rPr lang="en-US" b="0" i="0" dirty="0">
                <a:solidFill>
                  <a:srgbClr val="FF0000"/>
                </a:solidFill>
                <a:effectLst/>
                <a:latin typeface="Roboto" panose="02000000000000000000" pitchFamily="2" charset="0"/>
              </a:rPr>
              <a:t>salt-minions, that are servers where the salt-minion service is running. </a:t>
            </a:r>
          </a:p>
          <a:p>
            <a:pPr algn="just"/>
            <a:endParaRPr lang="en-US" dirty="0">
              <a:solidFill>
                <a:srgbClr val="000000"/>
              </a:solidFill>
              <a:latin typeface="Roboto" panose="02000000000000000000" pitchFamily="2" charset="0"/>
            </a:endParaRPr>
          </a:p>
          <a:p>
            <a:pPr algn="just"/>
            <a:r>
              <a:rPr lang="en-US" b="0" i="0" dirty="0">
                <a:solidFill>
                  <a:srgbClr val="000000"/>
                </a:solidFill>
                <a:effectLst/>
                <a:latin typeface="Roboto" panose="02000000000000000000" pitchFamily="2" charset="0"/>
              </a:rPr>
              <a:t>Public keys are used for </a:t>
            </a:r>
            <a:r>
              <a:rPr lang="en-US" b="0" i="0" dirty="0">
                <a:solidFill>
                  <a:srgbClr val="FF0000"/>
                </a:solidFill>
                <a:effectLst/>
                <a:latin typeface="Roboto" panose="02000000000000000000" pitchFamily="2" charset="0"/>
              </a:rPr>
              <a:t>authentication with master daemon</a:t>
            </a:r>
            <a:r>
              <a:rPr lang="en-US" b="0" i="0" dirty="0">
                <a:solidFill>
                  <a:srgbClr val="000000"/>
                </a:solidFill>
                <a:effectLst/>
                <a:latin typeface="Roboto" panose="02000000000000000000" pitchFamily="2" charset="0"/>
              </a:rPr>
              <a:t>, for communication it uses faster AES (Advanced Encryption Standard) encryption.</a:t>
            </a:r>
          </a:p>
          <a:p>
            <a:pPr algn="just"/>
            <a:endParaRPr lang="en-US" b="0" i="0" dirty="0">
              <a:solidFill>
                <a:srgbClr val="000000"/>
              </a:solidFill>
              <a:effectLst/>
              <a:latin typeface="Roboto" panose="02000000000000000000" pitchFamily="2" charset="0"/>
            </a:endParaRPr>
          </a:p>
          <a:p>
            <a:pPr algn="just"/>
            <a:endParaRPr lang="en-US" b="0" i="0" dirty="0">
              <a:solidFill>
                <a:srgbClr val="000000"/>
              </a:solidFill>
              <a:effectLst/>
              <a:latin typeface="Roboto" panose="02000000000000000000" pitchFamily="2" charset="0"/>
            </a:endParaRPr>
          </a:p>
          <a:p>
            <a:pPr algn="just"/>
            <a:r>
              <a:rPr lang="en-US" b="0" i="0" dirty="0">
                <a:solidFill>
                  <a:srgbClr val="000000"/>
                </a:solidFill>
                <a:effectLst/>
                <a:latin typeface="Roboto" panose="02000000000000000000" pitchFamily="2" charset="0"/>
              </a:rPr>
              <a:t>After the execution of job in minion, the job return data is sent back to master. </a:t>
            </a:r>
          </a:p>
          <a:p>
            <a:pPr algn="just"/>
            <a:endParaRPr lang="en-US" dirty="0">
              <a:solidFill>
                <a:srgbClr val="000000"/>
              </a:solidFill>
              <a:latin typeface="Roboto" panose="02000000000000000000" pitchFamily="2" charset="0"/>
            </a:endParaRPr>
          </a:p>
          <a:p>
            <a:pPr algn="just"/>
            <a:r>
              <a:rPr lang="en-US" b="0" i="0" dirty="0">
                <a:solidFill>
                  <a:srgbClr val="000000"/>
                </a:solidFill>
                <a:effectLst/>
                <a:latin typeface="Roboto" panose="02000000000000000000" pitchFamily="2" charset="0"/>
              </a:rPr>
              <a:t>By default two ports are used by Salt, for the minions to communicate with master. </a:t>
            </a:r>
          </a:p>
          <a:p>
            <a:pPr algn="just"/>
            <a:endParaRPr lang="en-US" dirty="0">
              <a:solidFill>
                <a:srgbClr val="000000"/>
              </a:solidFill>
              <a:latin typeface="Roboto" panose="02000000000000000000" pitchFamily="2" charset="0"/>
            </a:endParaRPr>
          </a:p>
          <a:p>
            <a:pPr algn="just"/>
            <a:r>
              <a:rPr lang="en-US" b="0" i="0" dirty="0">
                <a:solidFill>
                  <a:srgbClr val="000000"/>
                </a:solidFill>
                <a:effectLst/>
                <a:latin typeface="Roboto" panose="02000000000000000000" pitchFamily="2" charset="0"/>
              </a:rPr>
              <a:t>These ports work together to receive and send data to the </a:t>
            </a:r>
            <a:r>
              <a:rPr lang="en-US" b="0" i="0" dirty="0">
                <a:solidFill>
                  <a:srgbClr val="000000"/>
                </a:solidFill>
                <a:effectLst/>
                <a:latin typeface="Roboto" panose="02000000000000000000" pitchFamily="2" charset="0"/>
                <a:hlinkClick r:id="rId2"/>
              </a:rPr>
              <a:t>Message Bus</a:t>
            </a:r>
            <a:r>
              <a:rPr lang="en-US" b="0" i="0" dirty="0">
                <a:solidFill>
                  <a:srgbClr val="000000"/>
                </a:solidFill>
                <a:effectLst/>
                <a:latin typeface="Roboto" panose="02000000000000000000" pitchFamily="2" charset="0"/>
              </a:rPr>
              <a:t>. </a:t>
            </a:r>
          </a:p>
          <a:p>
            <a:pPr algn="just"/>
            <a:endParaRPr lang="en-US" dirty="0">
              <a:solidFill>
                <a:srgbClr val="000000"/>
              </a:solidFill>
              <a:latin typeface="Roboto" panose="02000000000000000000" pitchFamily="2" charset="0"/>
            </a:endParaRPr>
          </a:p>
          <a:p>
            <a:pPr algn="just"/>
            <a:r>
              <a:rPr lang="en-US" b="0" i="0" dirty="0">
                <a:solidFill>
                  <a:srgbClr val="FF0000"/>
                </a:solidFill>
                <a:effectLst/>
                <a:latin typeface="Roboto" panose="02000000000000000000" pitchFamily="2" charset="0"/>
              </a:rPr>
              <a:t>Salt uses </a:t>
            </a:r>
            <a:r>
              <a:rPr lang="en-US" b="0" i="0" dirty="0" err="1">
                <a:solidFill>
                  <a:srgbClr val="FF0000"/>
                </a:solidFill>
                <a:effectLst/>
                <a:latin typeface="Roboto" panose="02000000000000000000" pitchFamily="2" charset="0"/>
              </a:rPr>
              <a:t>ZeroMQ</a:t>
            </a:r>
            <a:r>
              <a:rPr lang="en-US" b="0" i="0" dirty="0">
                <a:solidFill>
                  <a:srgbClr val="FF0000"/>
                </a:solidFill>
                <a:effectLst/>
                <a:latin typeface="Roboto" panose="02000000000000000000" pitchFamily="2" charset="0"/>
              </a:rPr>
              <a:t> message bus. </a:t>
            </a:r>
            <a:r>
              <a:rPr lang="en-US" b="0" i="0" dirty="0" err="1">
                <a:solidFill>
                  <a:srgbClr val="FF0000"/>
                </a:solidFill>
                <a:effectLst/>
                <a:latin typeface="Roboto" panose="02000000000000000000" pitchFamily="2" charset="0"/>
              </a:rPr>
              <a:t>ZeroMQ</a:t>
            </a:r>
            <a:r>
              <a:rPr lang="en-US" b="0" i="0" dirty="0">
                <a:solidFill>
                  <a:srgbClr val="FF0000"/>
                </a:solidFill>
                <a:effectLst/>
                <a:latin typeface="Roboto" panose="02000000000000000000" pitchFamily="2" charset="0"/>
              </a:rPr>
              <a:t>  provides the fastest communication possible.</a:t>
            </a:r>
          </a:p>
        </p:txBody>
      </p:sp>
    </p:spTree>
    <p:extLst>
      <p:ext uri="{BB962C8B-B14F-4D97-AF65-F5344CB8AC3E}">
        <p14:creationId xmlns:p14="http://schemas.microsoft.com/office/powerpoint/2010/main" val="4037950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EBD3BD-A65C-4937-AC3B-8880424B908D}"/>
              </a:ext>
            </a:extLst>
          </p:cNvPr>
          <p:cNvSpPr txBox="1"/>
          <p:nvPr/>
        </p:nvSpPr>
        <p:spPr>
          <a:xfrm>
            <a:off x="92278" y="125835"/>
            <a:ext cx="11761365" cy="2031325"/>
          </a:xfrm>
          <a:prstGeom prst="rect">
            <a:avLst/>
          </a:prstGeom>
          <a:noFill/>
        </p:spPr>
        <p:txBody>
          <a:bodyPr wrap="square">
            <a:spAutoFit/>
          </a:bodyPr>
          <a:lstStyle/>
          <a:p>
            <a:pPr algn="l"/>
            <a:r>
              <a:rPr lang="en-US" b="0" i="0" u="none" strike="noStrike" dirty="0">
                <a:solidFill>
                  <a:srgbClr val="000000"/>
                </a:solidFill>
                <a:effectLst/>
                <a:latin typeface="arial" panose="020B0604020202020204" pitchFamily="34" charset="0"/>
              </a:rPr>
              <a:t>Salt minions are responsible for connecting to the Salt master. Minions receive </a:t>
            </a:r>
            <a:r>
              <a:rPr lang="en-US" b="0" i="1" u="none" strike="noStrike" dirty="0">
                <a:solidFill>
                  <a:srgbClr val="000000"/>
                </a:solidFill>
                <a:effectLst/>
                <a:latin typeface="arial" panose="020B0604020202020204" pitchFamily="34" charset="0"/>
              </a:rPr>
              <a:t>jobs</a:t>
            </a:r>
            <a:r>
              <a:rPr lang="en-US" b="0" i="0" u="none" strike="noStrike" dirty="0">
                <a:solidFill>
                  <a:srgbClr val="000000"/>
                </a:solidFill>
                <a:effectLst/>
                <a:latin typeface="arial" panose="020B0604020202020204" pitchFamily="34" charset="0"/>
              </a:rPr>
              <a:t> (i.e., instructions) via the open connection to port 4505, and send results (i.e., status updates) via the open connection to master 4506.</a:t>
            </a:r>
          </a:p>
          <a:p>
            <a:pPr algn="l"/>
            <a:endParaRPr lang="en-US" b="0" i="0" u="none" strike="noStrike" dirty="0">
              <a:solidFill>
                <a:srgbClr val="000000"/>
              </a:solidFill>
              <a:effectLst/>
              <a:latin typeface="arial" panose="020B0604020202020204" pitchFamily="34" charset="0"/>
            </a:endParaRPr>
          </a:p>
          <a:p>
            <a:pPr algn="l"/>
            <a:r>
              <a:rPr lang="en-US" b="0" i="0" u="none" strike="noStrike" dirty="0">
                <a:solidFill>
                  <a:srgbClr val="000000"/>
                </a:solidFill>
                <a:effectLst/>
                <a:latin typeface="arial" panose="020B0604020202020204" pitchFamily="34" charset="0"/>
              </a:rPr>
              <a:t>That is, Salt masters publish jobs to all connected minions, and it is the responsibility of each minion itself to determine whether or not it is an intended </a:t>
            </a:r>
            <a:r>
              <a:rPr lang="en-US" b="0" i="1" u="none" strike="noStrike" dirty="0">
                <a:solidFill>
                  <a:srgbClr val="000000"/>
                </a:solidFill>
                <a:effectLst/>
                <a:latin typeface="arial" panose="020B0604020202020204" pitchFamily="34" charset="0"/>
              </a:rPr>
              <a:t>target</a:t>
            </a:r>
            <a:r>
              <a:rPr lang="en-US" b="0" i="0" u="none" strike="noStrike" dirty="0">
                <a:solidFill>
                  <a:srgbClr val="000000"/>
                </a:solidFill>
                <a:effectLst/>
                <a:latin typeface="arial" panose="020B0604020202020204" pitchFamily="34" charset="0"/>
              </a:rPr>
              <a:t> (i.e., whether or not to run the job).</a:t>
            </a:r>
          </a:p>
          <a:p>
            <a:pPr algn="l"/>
            <a:endParaRPr lang="en-US" b="0" i="0" u="none" strike="noStrike" dirty="0">
              <a:solidFill>
                <a:srgbClr val="000000"/>
              </a:solidFill>
              <a:effectLst/>
              <a:latin typeface="arial" panose="020B0604020202020204" pitchFamily="34" charset="0"/>
            </a:endParaRPr>
          </a:p>
          <a:p>
            <a:pPr algn="l"/>
            <a:r>
              <a:rPr lang="en-US" b="0" i="0" u="none" strike="noStrike" dirty="0">
                <a:solidFill>
                  <a:srgbClr val="000000"/>
                </a:solidFill>
                <a:effectLst/>
                <a:latin typeface="arial" panose="020B0604020202020204" pitchFamily="34" charset="0"/>
              </a:rPr>
              <a:t>Communication between master and minions is done using </a:t>
            </a:r>
            <a:r>
              <a:rPr lang="en-US" b="0" i="0" u="none" strike="noStrike" dirty="0" err="1">
                <a:solidFill>
                  <a:srgbClr val="00A6D1"/>
                </a:solidFill>
                <a:effectLst/>
                <a:latin typeface="arial" panose="020B0604020202020204" pitchFamily="34" charset="0"/>
                <a:hlinkClick r:id="rId2"/>
              </a:rPr>
              <a:t>ZeroMQ</a:t>
            </a:r>
            <a:r>
              <a:rPr lang="en-US" b="0" i="0" u="none" strike="noStrike" dirty="0">
                <a:solidFill>
                  <a:srgbClr val="000000"/>
                </a:solidFill>
                <a:effectLst/>
                <a:latin typeface="arial" panose="020B0604020202020204" pitchFamily="34" charset="0"/>
              </a:rPr>
              <a:t>, an asynchronous messaging library.</a:t>
            </a:r>
          </a:p>
        </p:txBody>
      </p:sp>
      <p:pic>
        <p:nvPicPr>
          <p:cNvPr id="4" name="Picture 2" descr="Three Salt minions connecting to a Salt master">
            <a:extLst>
              <a:ext uri="{FF2B5EF4-FFF2-40B4-BE49-F238E27FC236}">
                <a16:creationId xmlns:a16="http://schemas.microsoft.com/office/drawing/2014/main" id="{F2F21C25-B92F-4FE4-8B0C-D0FDD9114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3083" y="2608976"/>
            <a:ext cx="5746457" cy="3951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721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2E120D3B-A470-4C47-B2BF-C0D0201EA0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3" name="AutoShape 4">
            <a:extLst>
              <a:ext uri="{FF2B5EF4-FFF2-40B4-BE49-F238E27FC236}">
                <a16:creationId xmlns:a16="http://schemas.microsoft.com/office/drawing/2014/main" id="{45B4E47C-6D70-4DE5-831F-1CF3218B7B1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4" name="AutoShape 6">
            <a:extLst>
              <a:ext uri="{FF2B5EF4-FFF2-40B4-BE49-F238E27FC236}">
                <a16:creationId xmlns:a16="http://schemas.microsoft.com/office/drawing/2014/main" id="{9BE55B68-2792-4783-8724-1D2086BA5F2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5" name="Picture 4">
            <a:extLst>
              <a:ext uri="{FF2B5EF4-FFF2-40B4-BE49-F238E27FC236}">
                <a16:creationId xmlns:a16="http://schemas.microsoft.com/office/drawing/2014/main" id="{72447862-3881-4210-B79A-C63935685364}"/>
              </a:ext>
            </a:extLst>
          </p:cNvPr>
          <p:cNvPicPr>
            <a:picLocks noChangeAspect="1"/>
          </p:cNvPicPr>
          <p:nvPr/>
        </p:nvPicPr>
        <p:blipFill>
          <a:blip r:embed="rId2"/>
          <a:stretch>
            <a:fillRect/>
          </a:stretch>
        </p:blipFill>
        <p:spPr>
          <a:xfrm>
            <a:off x="494950" y="180975"/>
            <a:ext cx="10947633" cy="6677025"/>
          </a:xfrm>
          <a:prstGeom prst="rect">
            <a:avLst/>
          </a:prstGeom>
        </p:spPr>
      </p:pic>
    </p:spTree>
    <p:extLst>
      <p:ext uri="{BB962C8B-B14F-4D97-AF65-F5344CB8AC3E}">
        <p14:creationId xmlns:p14="http://schemas.microsoft.com/office/powerpoint/2010/main" val="1461398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AB77B6-1B5F-4350-A535-EE583776F11B}"/>
              </a:ext>
            </a:extLst>
          </p:cNvPr>
          <p:cNvSpPr txBox="1"/>
          <p:nvPr/>
        </p:nvSpPr>
        <p:spPr>
          <a:xfrm>
            <a:off x="109057" y="176168"/>
            <a:ext cx="11870422" cy="6524863"/>
          </a:xfrm>
          <a:prstGeom prst="rect">
            <a:avLst/>
          </a:prstGeom>
          <a:noFill/>
        </p:spPr>
        <p:txBody>
          <a:bodyPr wrap="square">
            <a:spAutoFit/>
          </a:bodyPr>
          <a:lstStyle/>
          <a:p>
            <a:pPr algn="just"/>
            <a:r>
              <a:rPr lang="en-US" sz="2200" b="1" i="0" dirty="0">
                <a:solidFill>
                  <a:srgbClr val="000000"/>
                </a:solidFill>
                <a:effectLst/>
                <a:latin typeface="Times New Roman" panose="02020603050405020304" pitchFamily="18" charset="0"/>
                <a:cs typeface="Times New Roman" panose="02020603050405020304" pitchFamily="18" charset="0"/>
              </a:rPr>
              <a:t>Salt-master</a:t>
            </a:r>
            <a:r>
              <a:rPr lang="en-US" sz="2200" b="0" i="0" dirty="0">
                <a:solidFill>
                  <a:srgbClr val="000000"/>
                </a:solidFill>
                <a:effectLst/>
                <a:latin typeface="Times New Roman" panose="02020603050405020304" pitchFamily="18" charset="0"/>
                <a:cs typeface="Times New Roman" panose="02020603050405020304" pitchFamily="18" charset="0"/>
              </a:rPr>
              <a:t> - The central management system. It is used to </a:t>
            </a:r>
            <a:r>
              <a:rPr lang="en-US" sz="2200" b="0" i="0" dirty="0">
                <a:solidFill>
                  <a:srgbClr val="FF0000"/>
                </a:solidFill>
                <a:effectLst/>
                <a:latin typeface="Times New Roman" panose="02020603050405020304" pitchFamily="18" charset="0"/>
                <a:cs typeface="Times New Roman" panose="02020603050405020304" pitchFamily="18" charset="0"/>
              </a:rPr>
              <a:t>send commands and configurations </a:t>
            </a:r>
            <a:r>
              <a:rPr lang="en-US" sz="2200" b="0" i="0" dirty="0">
                <a:solidFill>
                  <a:srgbClr val="000000"/>
                </a:solidFill>
                <a:effectLst/>
                <a:latin typeface="Times New Roman" panose="02020603050405020304" pitchFamily="18" charset="0"/>
                <a:cs typeface="Times New Roman" panose="02020603050405020304" pitchFamily="18" charset="0"/>
              </a:rPr>
              <a:t>to the salt-minion that is running on managed nodes.</a:t>
            </a:r>
          </a:p>
          <a:p>
            <a:pPr algn="just"/>
            <a:endParaRPr lang="en-US" sz="2200" b="0" i="0" dirty="0">
              <a:solidFill>
                <a:srgbClr val="000000"/>
              </a:solidFill>
              <a:effectLst/>
              <a:latin typeface="Times New Roman" panose="02020603050405020304" pitchFamily="18" charset="0"/>
              <a:cs typeface="Times New Roman" panose="02020603050405020304" pitchFamily="18" charset="0"/>
            </a:endParaRPr>
          </a:p>
          <a:p>
            <a:pPr algn="just"/>
            <a:r>
              <a:rPr lang="en-US" sz="2200" b="1" i="0" dirty="0">
                <a:solidFill>
                  <a:srgbClr val="000000"/>
                </a:solidFill>
                <a:effectLst/>
                <a:latin typeface="Times New Roman" panose="02020603050405020304" pitchFamily="18" charset="0"/>
                <a:cs typeface="Times New Roman" panose="02020603050405020304" pitchFamily="18" charset="0"/>
              </a:rPr>
              <a:t>Salt-minion</a:t>
            </a:r>
            <a:r>
              <a:rPr lang="en-US" sz="2200" b="0" i="0" dirty="0">
                <a:solidFill>
                  <a:srgbClr val="000000"/>
                </a:solidFill>
                <a:effectLst/>
                <a:latin typeface="Times New Roman" panose="02020603050405020304" pitchFamily="18" charset="0"/>
                <a:cs typeface="Times New Roman" panose="02020603050405020304" pitchFamily="18" charset="0"/>
              </a:rPr>
              <a:t> - The managed system which </a:t>
            </a:r>
            <a:r>
              <a:rPr lang="en-US" sz="2200" b="0" i="0" dirty="0">
                <a:solidFill>
                  <a:srgbClr val="FF0000"/>
                </a:solidFill>
                <a:effectLst/>
                <a:latin typeface="Times New Roman" panose="02020603050405020304" pitchFamily="18" charset="0"/>
                <a:cs typeface="Times New Roman" panose="02020603050405020304" pitchFamily="18" charset="0"/>
              </a:rPr>
              <a:t>receives commands and configuration</a:t>
            </a:r>
            <a:r>
              <a:rPr lang="en-US" sz="2200" b="0" i="0" dirty="0">
                <a:solidFill>
                  <a:srgbClr val="000000"/>
                </a:solidFill>
                <a:effectLst/>
                <a:latin typeface="Times New Roman" panose="02020603050405020304" pitchFamily="18" charset="0"/>
                <a:cs typeface="Times New Roman" panose="02020603050405020304" pitchFamily="18" charset="0"/>
              </a:rPr>
              <a:t> from the salt-master.</a:t>
            </a:r>
          </a:p>
          <a:p>
            <a:pPr algn="just"/>
            <a:endParaRPr lang="en-US" sz="2200" b="0" i="0" dirty="0">
              <a:solidFill>
                <a:srgbClr val="000000"/>
              </a:solidFill>
              <a:effectLst/>
              <a:latin typeface="Times New Roman" panose="02020603050405020304" pitchFamily="18" charset="0"/>
              <a:cs typeface="Times New Roman" panose="02020603050405020304" pitchFamily="18" charset="0"/>
            </a:endParaRPr>
          </a:p>
          <a:p>
            <a:pPr algn="just"/>
            <a:r>
              <a:rPr lang="en-US" sz="2200" b="1" i="0" dirty="0">
                <a:solidFill>
                  <a:srgbClr val="000000"/>
                </a:solidFill>
                <a:effectLst/>
                <a:latin typeface="Times New Roman" panose="02020603050405020304" pitchFamily="18" charset="0"/>
                <a:cs typeface="Times New Roman" panose="02020603050405020304" pitchFamily="18" charset="0"/>
              </a:rPr>
              <a:t>Execution Modules</a:t>
            </a:r>
            <a:r>
              <a:rPr lang="en-US" sz="2200" b="0" i="0" dirty="0">
                <a:solidFill>
                  <a:srgbClr val="000000"/>
                </a:solidFill>
                <a:effectLst/>
                <a:latin typeface="Times New Roman" panose="02020603050405020304" pitchFamily="18" charset="0"/>
                <a:cs typeface="Times New Roman" panose="02020603050405020304" pitchFamily="18" charset="0"/>
              </a:rPr>
              <a:t> - </a:t>
            </a:r>
            <a:r>
              <a:rPr lang="en-US" sz="2200" b="0" i="0" dirty="0">
                <a:solidFill>
                  <a:srgbClr val="FF0000"/>
                </a:solidFill>
                <a:effectLst/>
                <a:latin typeface="Times New Roman" panose="02020603050405020304" pitchFamily="18" charset="0"/>
                <a:cs typeface="Times New Roman" panose="02020603050405020304" pitchFamily="18" charset="0"/>
              </a:rPr>
              <a:t>Ad hoc commands executed from the master’s command line that reflect on the minions. It performs real-time monitoring.</a:t>
            </a:r>
          </a:p>
          <a:p>
            <a:pPr algn="just"/>
            <a:endParaRPr lang="en-US" sz="2200" b="0" i="0" dirty="0">
              <a:solidFill>
                <a:srgbClr val="FF0000"/>
              </a:solidFill>
              <a:effectLst/>
              <a:latin typeface="Times New Roman" panose="02020603050405020304" pitchFamily="18" charset="0"/>
              <a:cs typeface="Times New Roman" panose="02020603050405020304" pitchFamily="18" charset="0"/>
            </a:endParaRPr>
          </a:p>
          <a:p>
            <a:pPr algn="just"/>
            <a:r>
              <a:rPr lang="en-US" sz="2200" b="1" i="0" dirty="0">
                <a:solidFill>
                  <a:srgbClr val="000000"/>
                </a:solidFill>
                <a:effectLst/>
                <a:latin typeface="Times New Roman" panose="02020603050405020304" pitchFamily="18" charset="0"/>
                <a:cs typeface="Times New Roman" panose="02020603050405020304" pitchFamily="18" charset="0"/>
              </a:rPr>
              <a:t>Formulas</a:t>
            </a:r>
            <a:r>
              <a:rPr lang="en-US" sz="2200" b="0" i="0" dirty="0">
                <a:solidFill>
                  <a:srgbClr val="000000"/>
                </a:solidFill>
                <a:effectLst/>
                <a:latin typeface="Times New Roman" panose="02020603050405020304" pitchFamily="18" charset="0"/>
                <a:cs typeface="Times New Roman" panose="02020603050405020304" pitchFamily="18" charset="0"/>
              </a:rPr>
              <a:t> - A declarative or imperative representation of a system configuration. They are used for tasks such as </a:t>
            </a:r>
            <a:r>
              <a:rPr lang="en-US" sz="2200" b="0" i="0" dirty="0">
                <a:solidFill>
                  <a:srgbClr val="FF0000"/>
                </a:solidFill>
                <a:effectLst/>
                <a:latin typeface="Times New Roman" panose="02020603050405020304" pitchFamily="18" charset="0"/>
                <a:cs typeface="Times New Roman" panose="02020603050405020304" pitchFamily="18" charset="0"/>
              </a:rPr>
              <a:t>installing a package, setting up users or permissions, configuring and starting a service and other common tasks.</a:t>
            </a:r>
          </a:p>
          <a:p>
            <a:pPr algn="just"/>
            <a:endParaRPr lang="en-US" sz="2200" b="1" i="0" dirty="0">
              <a:solidFill>
                <a:srgbClr val="000000"/>
              </a:solidFill>
              <a:effectLst/>
              <a:latin typeface="Times New Roman" panose="02020603050405020304" pitchFamily="18" charset="0"/>
              <a:cs typeface="Times New Roman" panose="02020603050405020304" pitchFamily="18" charset="0"/>
            </a:endParaRPr>
          </a:p>
          <a:p>
            <a:pPr algn="just"/>
            <a:r>
              <a:rPr lang="en-US" sz="2200" b="1" i="0" dirty="0">
                <a:solidFill>
                  <a:srgbClr val="000000"/>
                </a:solidFill>
                <a:effectLst/>
                <a:latin typeface="Times New Roman" panose="02020603050405020304" pitchFamily="18" charset="0"/>
                <a:cs typeface="Times New Roman" panose="02020603050405020304" pitchFamily="18" charset="0"/>
              </a:rPr>
              <a:t>Grains</a:t>
            </a:r>
            <a:r>
              <a:rPr lang="en-US" sz="2200" b="0" i="0" dirty="0">
                <a:solidFill>
                  <a:srgbClr val="000000"/>
                </a:solidFill>
                <a:effectLst/>
                <a:latin typeface="Times New Roman" panose="02020603050405020304" pitchFamily="18" charset="0"/>
                <a:cs typeface="Times New Roman" panose="02020603050405020304" pitchFamily="18" charset="0"/>
              </a:rPr>
              <a:t> - Grains provides </a:t>
            </a:r>
            <a:r>
              <a:rPr lang="en-US" sz="2200" b="0" i="0" dirty="0">
                <a:solidFill>
                  <a:srgbClr val="FF0000"/>
                </a:solidFill>
                <a:effectLst/>
                <a:latin typeface="Times New Roman" panose="02020603050405020304" pitchFamily="18" charset="0"/>
                <a:cs typeface="Times New Roman" panose="02020603050405020304" pitchFamily="18" charset="0"/>
              </a:rPr>
              <a:t>information specific to a minion. It includes information like operating system, memory, and other system properties. Grains get loaded when the salt-minion starts. Grains are system variables.</a:t>
            </a:r>
          </a:p>
          <a:p>
            <a:pPr algn="just"/>
            <a:endParaRPr lang="en-US" sz="2200" b="0" i="0" dirty="0">
              <a:solidFill>
                <a:srgbClr val="FF0000"/>
              </a:solidFill>
              <a:effectLst/>
              <a:latin typeface="Times New Roman" panose="02020603050405020304" pitchFamily="18" charset="0"/>
              <a:cs typeface="Times New Roman" panose="02020603050405020304" pitchFamily="18" charset="0"/>
            </a:endParaRPr>
          </a:p>
          <a:p>
            <a:pPr algn="just"/>
            <a:r>
              <a:rPr lang="en-US" sz="2200" b="1" i="0" dirty="0">
                <a:solidFill>
                  <a:srgbClr val="000000"/>
                </a:solidFill>
                <a:effectLst/>
                <a:latin typeface="Times New Roman" panose="02020603050405020304" pitchFamily="18" charset="0"/>
                <a:cs typeface="Times New Roman" panose="02020603050405020304" pitchFamily="18" charset="0"/>
              </a:rPr>
              <a:t>Pillar</a:t>
            </a:r>
            <a:r>
              <a:rPr lang="en-US" sz="2200" b="0" i="0" dirty="0">
                <a:solidFill>
                  <a:srgbClr val="000000"/>
                </a:solidFill>
                <a:effectLst/>
                <a:latin typeface="Times New Roman" panose="02020603050405020304" pitchFamily="18" charset="0"/>
                <a:cs typeface="Times New Roman" panose="02020603050405020304" pitchFamily="18" charset="0"/>
              </a:rPr>
              <a:t> - They are user-defined variables. These variables store highly sensitive data specific to a particular minion, such as </a:t>
            </a:r>
            <a:r>
              <a:rPr lang="en-US" sz="2200" b="0" i="0" dirty="0">
                <a:solidFill>
                  <a:srgbClr val="FF0000"/>
                </a:solidFill>
                <a:effectLst/>
                <a:latin typeface="Times New Roman" panose="02020603050405020304" pitchFamily="18" charset="0"/>
                <a:cs typeface="Times New Roman" panose="02020603050405020304" pitchFamily="18" charset="0"/>
              </a:rPr>
              <a:t>passwords and cryptographic keys</a:t>
            </a:r>
            <a:r>
              <a:rPr lang="en-US" sz="2200" b="0" i="0" dirty="0">
                <a:solidFill>
                  <a:srgbClr val="000000"/>
                </a:solidFill>
                <a:effectLst/>
                <a:latin typeface="Times New Roman" panose="02020603050405020304" pitchFamily="18" charset="0"/>
                <a:cs typeface="Times New Roman" panose="02020603050405020304" pitchFamily="18" charset="0"/>
              </a:rPr>
              <a:t>. They are stored on salt-master and then using targets its assigned to one or more minions.</a:t>
            </a:r>
          </a:p>
        </p:txBody>
      </p:sp>
    </p:spTree>
    <p:extLst>
      <p:ext uri="{BB962C8B-B14F-4D97-AF65-F5344CB8AC3E}">
        <p14:creationId xmlns:p14="http://schemas.microsoft.com/office/powerpoint/2010/main" val="9232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CB6B4A-4DBA-4E18-9A82-33C95ED9B97A}"/>
              </a:ext>
            </a:extLst>
          </p:cNvPr>
          <p:cNvSpPr txBox="1"/>
          <p:nvPr/>
        </p:nvSpPr>
        <p:spPr>
          <a:xfrm>
            <a:off x="0" y="134224"/>
            <a:ext cx="12054980" cy="6001643"/>
          </a:xfrm>
          <a:prstGeom prst="rect">
            <a:avLst/>
          </a:prstGeom>
          <a:noFill/>
        </p:spPr>
        <p:txBody>
          <a:bodyPr wrap="square">
            <a:spAutoFit/>
          </a:bodyPr>
          <a:lstStyle/>
          <a:p>
            <a:pPr algn="just"/>
            <a:r>
              <a:rPr lang="en-US" sz="2400" b="1" i="0" dirty="0">
                <a:solidFill>
                  <a:srgbClr val="000000"/>
                </a:solidFill>
                <a:effectLst/>
                <a:latin typeface="Times New Roman" panose="02020603050405020304" pitchFamily="18" charset="0"/>
                <a:cs typeface="Times New Roman" panose="02020603050405020304" pitchFamily="18" charset="0"/>
              </a:rPr>
              <a:t>Top file</a:t>
            </a:r>
            <a:r>
              <a:rPr lang="en-US" sz="2400" b="0" i="0" dirty="0">
                <a:solidFill>
                  <a:srgbClr val="000000"/>
                </a:solidFill>
                <a:effectLst/>
                <a:latin typeface="Times New Roman" panose="02020603050405020304" pitchFamily="18" charset="0"/>
                <a:cs typeface="Times New Roman" panose="02020603050405020304" pitchFamily="18" charset="0"/>
              </a:rPr>
              <a:t> - It contains the </a:t>
            </a:r>
            <a:r>
              <a:rPr lang="en-US" sz="2400" b="0" i="0" dirty="0">
                <a:solidFill>
                  <a:srgbClr val="FF0000"/>
                </a:solidFill>
                <a:effectLst/>
                <a:latin typeface="Times New Roman" panose="02020603050405020304" pitchFamily="18" charset="0"/>
                <a:cs typeface="Times New Roman" panose="02020603050405020304" pitchFamily="18" charset="0"/>
              </a:rPr>
              <a:t>mapping between groups of machines</a:t>
            </a:r>
            <a:r>
              <a:rPr lang="en-US" sz="2400" b="0" i="0" dirty="0">
                <a:solidFill>
                  <a:srgbClr val="000000"/>
                </a:solidFill>
                <a:effectLst/>
                <a:latin typeface="Times New Roman" panose="02020603050405020304" pitchFamily="18" charset="0"/>
                <a:cs typeface="Times New Roman" panose="02020603050405020304" pitchFamily="18" charset="0"/>
              </a:rPr>
              <a:t> on the network and the configuration roles.</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000000"/>
                </a:solidFill>
                <a:effectLst/>
                <a:latin typeface="Times New Roman" panose="02020603050405020304" pitchFamily="18" charset="0"/>
                <a:cs typeface="Times New Roman" panose="02020603050405020304" pitchFamily="18" charset="0"/>
              </a:rPr>
              <a:t>Runners</a:t>
            </a:r>
            <a:r>
              <a:rPr lang="en-US" sz="2400" b="0" i="0" dirty="0">
                <a:solidFill>
                  <a:srgbClr val="000000"/>
                </a:solidFill>
                <a:effectLst/>
                <a:latin typeface="Times New Roman" panose="02020603050405020304" pitchFamily="18" charset="0"/>
                <a:cs typeface="Times New Roman" panose="02020603050405020304" pitchFamily="18" charset="0"/>
              </a:rPr>
              <a:t> – It is a module within salt-master that executes to perform supporting tasks. Salt runners </a:t>
            </a:r>
            <a:r>
              <a:rPr lang="en-US" sz="2400" b="0" i="0" dirty="0">
                <a:solidFill>
                  <a:srgbClr val="FF0000"/>
                </a:solidFill>
                <a:effectLst/>
                <a:latin typeface="Times New Roman" panose="02020603050405020304" pitchFamily="18" charset="0"/>
                <a:cs typeface="Times New Roman" panose="02020603050405020304" pitchFamily="18" charset="0"/>
              </a:rPr>
              <a:t>reports job status read data from external APIs</a:t>
            </a:r>
            <a:r>
              <a:rPr lang="en-US" sz="2400" b="0" i="0" dirty="0">
                <a:solidFill>
                  <a:srgbClr val="000000"/>
                </a:solidFill>
                <a:effectLst/>
                <a:latin typeface="Times New Roman" panose="02020603050405020304" pitchFamily="18" charset="0"/>
                <a:cs typeface="Times New Roman" panose="02020603050405020304" pitchFamily="18" charset="0"/>
              </a:rPr>
              <a:t>, connection status, query connected salt-minions, and much more.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000000"/>
                </a:solidFill>
                <a:effectLst/>
                <a:latin typeface="Times New Roman" panose="02020603050405020304" pitchFamily="18" charset="0"/>
                <a:cs typeface="Times New Roman" panose="02020603050405020304" pitchFamily="18" charset="0"/>
              </a:rPr>
              <a:t>Returners</a:t>
            </a:r>
            <a:r>
              <a:rPr lang="en-US" sz="2400" b="0" i="0" dirty="0">
                <a:solidFill>
                  <a:srgbClr val="000000"/>
                </a:solidFill>
                <a:effectLst/>
                <a:latin typeface="Times New Roman" panose="02020603050405020304" pitchFamily="18" charset="0"/>
                <a:cs typeface="Times New Roman" panose="02020603050405020304" pitchFamily="18" charset="0"/>
              </a:rPr>
              <a:t> − Returns data from </a:t>
            </a:r>
            <a:r>
              <a:rPr lang="en-US" sz="2400" b="0" i="0" dirty="0">
                <a:solidFill>
                  <a:srgbClr val="FF0000"/>
                </a:solidFill>
                <a:effectLst/>
                <a:latin typeface="Times New Roman" panose="02020603050405020304" pitchFamily="18" charset="0"/>
                <a:cs typeface="Times New Roman" panose="02020603050405020304" pitchFamily="18" charset="0"/>
              </a:rPr>
              <a:t>salt-minions to another system like a database</a:t>
            </a:r>
            <a:r>
              <a:rPr lang="en-US" sz="2400" b="0" i="0" dirty="0">
                <a:solidFill>
                  <a:srgbClr val="000000"/>
                </a:solidFill>
                <a:effectLst/>
                <a:latin typeface="Times New Roman" panose="02020603050405020304" pitchFamily="18" charset="0"/>
                <a:cs typeface="Times New Roman" panose="02020603050405020304" pitchFamily="18" charset="0"/>
              </a:rPr>
              <a:t>. It can run on salt-minion or salt-master.</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000000"/>
                </a:solidFill>
                <a:effectLst/>
                <a:latin typeface="Times New Roman" panose="02020603050405020304" pitchFamily="18" charset="0"/>
                <a:cs typeface="Times New Roman" panose="02020603050405020304" pitchFamily="18" charset="0"/>
              </a:rPr>
              <a:t>Reactor </a:t>
            </a:r>
            <a:r>
              <a:rPr lang="en-US" sz="2400" b="0" i="0" dirty="0">
                <a:solidFill>
                  <a:srgbClr val="000000"/>
                </a:solidFill>
                <a:effectLst/>
                <a:latin typeface="Times New Roman" panose="02020603050405020304" pitchFamily="18" charset="0"/>
                <a:cs typeface="Times New Roman" panose="02020603050405020304" pitchFamily="18" charset="0"/>
              </a:rPr>
              <a:t>– It triggers </a:t>
            </a:r>
            <a:r>
              <a:rPr lang="en-US" sz="2400" b="0" i="0" dirty="0">
                <a:solidFill>
                  <a:srgbClr val="FF0000"/>
                </a:solidFill>
                <a:effectLst/>
                <a:latin typeface="Times New Roman" panose="02020603050405020304" pitchFamily="18" charset="0"/>
                <a:cs typeface="Times New Roman" panose="02020603050405020304" pitchFamily="18" charset="0"/>
              </a:rPr>
              <a:t>reactions when events occur in </a:t>
            </a:r>
            <a:r>
              <a:rPr lang="en-US" sz="2400" b="0" i="0" dirty="0" err="1">
                <a:solidFill>
                  <a:srgbClr val="FF0000"/>
                </a:solidFill>
                <a:effectLst/>
                <a:latin typeface="Times New Roman" panose="02020603050405020304" pitchFamily="18" charset="0"/>
                <a:cs typeface="Times New Roman" panose="02020603050405020304" pitchFamily="18" charset="0"/>
              </a:rPr>
              <a:t>SaltStack</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000000"/>
                </a:solidFill>
                <a:effectLst/>
                <a:latin typeface="Times New Roman" panose="02020603050405020304" pitchFamily="18" charset="0"/>
                <a:cs typeface="Times New Roman" panose="02020603050405020304" pitchFamily="18" charset="0"/>
              </a:rPr>
              <a:t>environment.</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err="1">
                <a:solidFill>
                  <a:srgbClr val="000000"/>
                </a:solidFill>
                <a:effectLst/>
                <a:latin typeface="Times New Roman" panose="02020603050405020304" pitchFamily="18" charset="0"/>
                <a:cs typeface="Times New Roman" panose="02020603050405020304" pitchFamily="18" charset="0"/>
              </a:rPr>
              <a:t>SaltCloud</a:t>
            </a:r>
            <a:r>
              <a:rPr lang="en-US" sz="2400" b="0" i="0" dirty="0">
                <a:solidFill>
                  <a:srgbClr val="000000"/>
                </a:solidFill>
                <a:effectLst/>
                <a:latin typeface="Times New Roman" panose="02020603050405020304" pitchFamily="18" charset="0"/>
                <a:cs typeface="Times New Roman" panose="02020603050405020304" pitchFamily="18" charset="0"/>
              </a:rPr>
              <a:t> − Provision systems on cloud providers / hypervisors and bring them under management of salt-master.</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err="1">
                <a:solidFill>
                  <a:srgbClr val="000000"/>
                </a:solidFill>
                <a:effectLst/>
                <a:latin typeface="Times New Roman" panose="02020603050405020304" pitchFamily="18" charset="0"/>
                <a:cs typeface="Times New Roman" panose="02020603050405020304" pitchFamily="18" charset="0"/>
              </a:rPr>
              <a:t>SaltSSH</a:t>
            </a:r>
            <a:r>
              <a:rPr lang="en-US" sz="2400" b="0" i="0" dirty="0">
                <a:solidFill>
                  <a:srgbClr val="000000"/>
                </a:solidFill>
                <a:effectLst/>
                <a:latin typeface="Times New Roman" panose="02020603050405020304" pitchFamily="18" charset="0"/>
                <a:cs typeface="Times New Roman" panose="02020603050405020304" pitchFamily="18" charset="0"/>
              </a:rPr>
              <a:t> − Run Salt commands over SSH on the systems not having salt-minion.</a:t>
            </a:r>
          </a:p>
        </p:txBody>
      </p:sp>
    </p:spTree>
    <p:extLst>
      <p:ext uri="{BB962C8B-B14F-4D97-AF65-F5344CB8AC3E}">
        <p14:creationId xmlns:p14="http://schemas.microsoft.com/office/powerpoint/2010/main" val="4096106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974</Words>
  <Application>Microsoft Office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vt:lpstr>
      <vt:lpstr>Calibri</vt:lpstr>
      <vt:lpstr>Calibri Light</vt:lpstr>
      <vt:lpstr>Roboto</vt:lpstr>
      <vt:lpstr>Times New Roman</vt:lpstr>
      <vt:lpstr>Wingdings</vt:lpstr>
      <vt:lpstr>Office Theme</vt:lpstr>
      <vt:lpstr>SALTSTACK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SALTSTACK</dc:title>
  <dc:creator>SPThota</dc:creator>
  <cp:lastModifiedBy>SPThota</cp:lastModifiedBy>
  <cp:revision>1</cp:revision>
  <dcterms:created xsi:type="dcterms:W3CDTF">2021-11-04T16:46:53Z</dcterms:created>
  <dcterms:modified xsi:type="dcterms:W3CDTF">2021-11-04T17:12:53Z</dcterms:modified>
</cp:coreProperties>
</file>