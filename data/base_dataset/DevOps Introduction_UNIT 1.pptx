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92" r:id="rId3"/>
    <p:sldId id="293" r:id="rId4"/>
    <p:sldId id="294" r:id="rId5"/>
    <p:sldId id="295" r:id="rId6"/>
    <p:sldId id="368" r:id="rId7"/>
    <p:sldId id="371" r:id="rId8"/>
    <p:sldId id="369" r:id="rId9"/>
    <p:sldId id="370" r:id="rId10"/>
    <p:sldId id="288" r:id="rId11"/>
    <p:sldId id="372" r:id="rId12"/>
    <p:sldId id="302" r:id="rId13"/>
    <p:sldId id="303" r:id="rId14"/>
    <p:sldId id="373" r:id="rId15"/>
    <p:sldId id="374" r:id="rId16"/>
    <p:sldId id="375" r:id="rId17"/>
    <p:sldId id="3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5AF7D-57E3-4EDC-B3D1-A8E3080750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0DFA74-B2CF-4F61-A24C-8C30D59E97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1783279-559A-429B-9B63-E4FA6CC23B12}"/>
              </a:ext>
            </a:extLst>
          </p:cNvPr>
          <p:cNvSpPr>
            <a:spLocks noGrp="1"/>
          </p:cNvSpPr>
          <p:nvPr>
            <p:ph type="dt" sz="half" idx="10"/>
          </p:nvPr>
        </p:nvSpPr>
        <p:spPr/>
        <p:txBody>
          <a:bodyPr/>
          <a:lstStyle/>
          <a:p>
            <a:fld id="{915D9040-0B74-4B13-9597-BD367E6B5797}" type="datetimeFigureOut">
              <a:rPr lang="en-IN" smtClean="0"/>
              <a:t>23-09-2021</a:t>
            </a:fld>
            <a:endParaRPr lang="en-IN"/>
          </a:p>
        </p:txBody>
      </p:sp>
      <p:sp>
        <p:nvSpPr>
          <p:cNvPr id="5" name="Footer Placeholder 4">
            <a:extLst>
              <a:ext uri="{FF2B5EF4-FFF2-40B4-BE49-F238E27FC236}">
                <a16:creationId xmlns:a16="http://schemas.microsoft.com/office/drawing/2014/main" id="{25145314-2109-4185-92C8-AE4389B6A0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8C9F92-0BA3-4C82-9812-48961F0082FB}"/>
              </a:ext>
            </a:extLst>
          </p:cNvPr>
          <p:cNvSpPr>
            <a:spLocks noGrp="1"/>
          </p:cNvSpPr>
          <p:nvPr>
            <p:ph type="sldNum" sz="quarter" idx="12"/>
          </p:nvPr>
        </p:nvSpPr>
        <p:spPr/>
        <p:txBody>
          <a:bodyPr/>
          <a:lstStyle/>
          <a:p>
            <a:fld id="{DC3089EC-0D35-489E-9ADF-250BB95ABA8C}" type="slidenum">
              <a:rPr lang="en-IN" smtClean="0"/>
              <a:t>‹#›</a:t>
            </a:fld>
            <a:endParaRPr lang="en-IN"/>
          </a:p>
        </p:txBody>
      </p:sp>
    </p:spTree>
    <p:extLst>
      <p:ext uri="{BB962C8B-B14F-4D97-AF65-F5344CB8AC3E}">
        <p14:creationId xmlns:p14="http://schemas.microsoft.com/office/powerpoint/2010/main" val="3933395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04D89-2C8E-40B4-A90C-9A1D986894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B1DBB0-E082-42CE-B4C7-1A89EC2563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629E7B-1530-4905-B552-99B4B2E9E819}"/>
              </a:ext>
            </a:extLst>
          </p:cNvPr>
          <p:cNvSpPr>
            <a:spLocks noGrp="1"/>
          </p:cNvSpPr>
          <p:nvPr>
            <p:ph type="dt" sz="half" idx="10"/>
          </p:nvPr>
        </p:nvSpPr>
        <p:spPr/>
        <p:txBody>
          <a:bodyPr/>
          <a:lstStyle/>
          <a:p>
            <a:fld id="{915D9040-0B74-4B13-9597-BD367E6B5797}" type="datetimeFigureOut">
              <a:rPr lang="en-IN" smtClean="0"/>
              <a:t>23-09-2021</a:t>
            </a:fld>
            <a:endParaRPr lang="en-IN"/>
          </a:p>
        </p:txBody>
      </p:sp>
      <p:sp>
        <p:nvSpPr>
          <p:cNvPr id="5" name="Footer Placeholder 4">
            <a:extLst>
              <a:ext uri="{FF2B5EF4-FFF2-40B4-BE49-F238E27FC236}">
                <a16:creationId xmlns:a16="http://schemas.microsoft.com/office/drawing/2014/main" id="{E6065EF6-42C1-4879-9163-0643937E24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AEEECB-C76C-4470-AEAE-37085BBDBF00}"/>
              </a:ext>
            </a:extLst>
          </p:cNvPr>
          <p:cNvSpPr>
            <a:spLocks noGrp="1"/>
          </p:cNvSpPr>
          <p:nvPr>
            <p:ph type="sldNum" sz="quarter" idx="12"/>
          </p:nvPr>
        </p:nvSpPr>
        <p:spPr/>
        <p:txBody>
          <a:bodyPr/>
          <a:lstStyle/>
          <a:p>
            <a:fld id="{DC3089EC-0D35-489E-9ADF-250BB95ABA8C}" type="slidenum">
              <a:rPr lang="en-IN" smtClean="0"/>
              <a:t>‹#›</a:t>
            </a:fld>
            <a:endParaRPr lang="en-IN"/>
          </a:p>
        </p:txBody>
      </p:sp>
    </p:spTree>
    <p:extLst>
      <p:ext uri="{BB962C8B-B14F-4D97-AF65-F5344CB8AC3E}">
        <p14:creationId xmlns:p14="http://schemas.microsoft.com/office/powerpoint/2010/main" val="1855564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7D7B5-7EA9-4C03-BA7F-3AA48F11FC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96F20E-5E58-43A4-8CB7-562E985553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4CF452-2106-42AF-BD3B-CF72B9EDE421}"/>
              </a:ext>
            </a:extLst>
          </p:cNvPr>
          <p:cNvSpPr>
            <a:spLocks noGrp="1"/>
          </p:cNvSpPr>
          <p:nvPr>
            <p:ph type="dt" sz="half" idx="10"/>
          </p:nvPr>
        </p:nvSpPr>
        <p:spPr/>
        <p:txBody>
          <a:bodyPr/>
          <a:lstStyle/>
          <a:p>
            <a:fld id="{915D9040-0B74-4B13-9597-BD367E6B5797}" type="datetimeFigureOut">
              <a:rPr lang="en-IN" smtClean="0"/>
              <a:t>23-09-2021</a:t>
            </a:fld>
            <a:endParaRPr lang="en-IN"/>
          </a:p>
        </p:txBody>
      </p:sp>
      <p:sp>
        <p:nvSpPr>
          <p:cNvPr id="5" name="Footer Placeholder 4">
            <a:extLst>
              <a:ext uri="{FF2B5EF4-FFF2-40B4-BE49-F238E27FC236}">
                <a16:creationId xmlns:a16="http://schemas.microsoft.com/office/drawing/2014/main" id="{84EBE9A2-7CC2-4E40-89CF-C82E69583E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AE4C5E-22BA-43B2-BE39-4E3AAA61CC79}"/>
              </a:ext>
            </a:extLst>
          </p:cNvPr>
          <p:cNvSpPr>
            <a:spLocks noGrp="1"/>
          </p:cNvSpPr>
          <p:nvPr>
            <p:ph type="sldNum" sz="quarter" idx="12"/>
          </p:nvPr>
        </p:nvSpPr>
        <p:spPr/>
        <p:txBody>
          <a:bodyPr/>
          <a:lstStyle/>
          <a:p>
            <a:fld id="{DC3089EC-0D35-489E-9ADF-250BB95ABA8C}" type="slidenum">
              <a:rPr lang="en-IN" smtClean="0"/>
              <a:t>‹#›</a:t>
            </a:fld>
            <a:endParaRPr lang="en-IN"/>
          </a:p>
        </p:txBody>
      </p:sp>
    </p:spTree>
    <p:extLst>
      <p:ext uri="{BB962C8B-B14F-4D97-AF65-F5344CB8AC3E}">
        <p14:creationId xmlns:p14="http://schemas.microsoft.com/office/powerpoint/2010/main" val="3052220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FF206-B522-4920-A269-51F8F17D33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B8A686-85B5-4597-9164-9F96C24784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93E6DA-7558-4012-8B0F-CD2EE78B54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476DCC-7043-4ED1-800F-B4AE4E568979}"/>
              </a:ext>
            </a:extLst>
          </p:cNvPr>
          <p:cNvSpPr>
            <a:spLocks noGrp="1"/>
          </p:cNvSpPr>
          <p:nvPr>
            <p:ph type="dt" sz="half" idx="10"/>
          </p:nvPr>
        </p:nvSpPr>
        <p:spPr/>
        <p:txBody>
          <a:bodyPr/>
          <a:lstStyle/>
          <a:p>
            <a:fld id="{915D9040-0B74-4B13-9597-BD367E6B5797}" type="datetimeFigureOut">
              <a:rPr lang="en-IN" smtClean="0"/>
              <a:t>23-09-2021</a:t>
            </a:fld>
            <a:endParaRPr lang="en-IN"/>
          </a:p>
        </p:txBody>
      </p:sp>
      <p:sp>
        <p:nvSpPr>
          <p:cNvPr id="6" name="Footer Placeholder 5">
            <a:extLst>
              <a:ext uri="{FF2B5EF4-FFF2-40B4-BE49-F238E27FC236}">
                <a16:creationId xmlns:a16="http://schemas.microsoft.com/office/drawing/2014/main" id="{BEB0BA8D-8B9A-49B5-BA3D-1E7DB0E31F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0FE51E-98A9-47B2-9E7A-20B8CA2403BE}"/>
              </a:ext>
            </a:extLst>
          </p:cNvPr>
          <p:cNvSpPr>
            <a:spLocks noGrp="1"/>
          </p:cNvSpPr>
          <p:nvPr>
            <p:ph type="sldNum" sz="quarter" idx="12"/>
          </p:nvPr>
        </p:nvSpPr>
        <p:spPr/>
        <p:txBody>
          <a:bodyPr/>
          <a:lstStyle/>
          <a:p>
            <a:fld id="{DC3089EC-0D35-489E-9ADF-250BB95ABA8C}" type="slidenum">
              <a:rPr lang="en-IN" smtClean="0"/>
              <a:t>‹#›</a:t>
            </a:fld>
            <a:endParaRPr lang="en-IN"/>
          </a:p>
        </p:txBody>
      </p:sp>
    </p:spTree>
    <p:extLst>
      <p:ext uri="{BB962C8B-B14F-4D97-AF65-F5344CB8AC3E}">
        <p14:creationId xmlns:p14="http://schemas.microsoft.com/office/powerpoint/2010/main" val="3985813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2FA95-9F2E-4DA8-A2BB-0D7C7BF1F32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E2AE01-F3D5-404E-A989-BA92055947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3D545D-0EB0-42DB-B38A-57EAABBD22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FD295D-ACD6-42E9-BA9F-67768B1616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CE1E7C-8E08-4481-836D-AD34EC2B96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E23F27-227D-433F-B02A-768964E5D364}"/>
              </a:ext>
            </a:extLst>
          </p:cNvPr>
          <p:cNvSpPr>
            <a:spLocks noGrp="1"/>
          </p:cNvSpPr>
          <p:nvPr>
            <p:ph type="dt" sz="half" idx="10"/>
          </p:nvPr>
        </p:nvSpPr>
        <p:spPr/>
        <p:txBody>
          <a:bodyPr/>
          <a:lstStyle/>
          <a:p>
            <a:fld id="{915D9040-0B74-4B13-9597-BD367E6B5797}" type="datetimeFigureOut">
              <a:rPr lang="en-IN" smtClean="0"/>
              <a:t>23-09-2021</a:t>
            </a:fld>
            <a:endParaRPr lang="en-IN"/>
          </a:p>
        </p:txBody>
      </p:sp>
      <p:sp>
        <p:nvSpPr>
          <p:cNvPr id="8" name="Footer Placeholder 7">
            <a:extLst>
              <a:ext uri="{FF2B5EF4-FFF2-40B4-BE49-F238E27FC236}">
                <a16:creationId xmlns:a16="http://schemas.microsoft.com/office/drawing/2014/main" id="{EA3B0316-9C4B-48E0-97FA-93B2EA1D3C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01071A-2B34-4BCD-9ABD-19D4B065B1C9}"/>
              </a:ext>
            </a:extLst>
          </p:cNvPr>
          <p:cNvSpPr>
            <a:spLocks noGrp="1"/>
          </p:cNvSpPr>
          <p:nvPr>
            <p:ph type="sldNum" sz="quarter" idx="12"/>
          </p:nvPr>
        </p:nvSpPr>
        <p:spPr/>
        <p:txBody>
          <a:bodyPr/>
          <a:lstStyle/>
          <a:p>
            <a:fld id="{DC3089EC-0D35-489E-9ADF-250BB95ABA8C}" type="slidenum">
              <a:rPr lang="en-IN" smtClean="0"/>
              <a:t>‹#›</a:t>
            </a:fld>
            <a:endParaRPr lang="en-IN"/>
          </a:p>
        </p:txBody>
      </p:sp>
    </p:spTree>
    <p:extLst>
      <p:ext uri="{BB962C8B-B14F-4D97-AF65-F5344CB8AC3E}">
        <p14:creationId xmlns:p14="http://schemas.microsoft.com/office/powerpoint/2010/main" val="396037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BD00B-A0AF-4953-8CEB-1CB835FF3B6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7A64208-6FE4-4084-86FA-F134AE1A46FE}"/>
              </a:ext>
            </a:extLst>
          </p:cNvPr>
          <p:cNvSpPr>
            <a:spLocks noGrp="1"/>
          </p:cNvSpPr>
          <p:nvPr>
            <p:ph type="dt" sz="half" idx="10"/>
          </p:nvPr>
        </p:nvSpPr>
        <p:spPr/>
        <p:txBody>
          <a:bodyPr/>
          <a:lstStyle/>
          <a:p>
            <a:fld id="{915D9040-0B74-4B13-9597-BD367E6B5797}" type="datetimeFigureOut">
              <a:rPr lang="en-IN" smtClean="0"/>
              <a:t>23-09-2021</a:t>
            </a:fld>
            <a:endParaRPr lang="en-IN"/>
          </a:p>
        </p:txBody>
      </p:sp>
      <p:sp>
        <p:nvSpPr>
          <p:cNvPr id="4" name="Footer Placeholder 3">
            <a:extLst>
              <a:ext uri="{FF2B5EF4-FFF2-40B4-BE49-F238E27FC236}">
                <a16:creationId xmlns:a16="http://schemas.microsoft.com/office/drawing/2014/main" id="{14DBBCC2-7594-4EE3-A85E-F38A2F1BD6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F009AEF-A666-4057-AC84-57D25FCD2818}"/>
              </a:ext>
            </a:extLst>
          </p:cNvPr>
          <p:cNvSpPr>
            <a:spLocks noGrp="1"/>
          </p:cNvSpPr>
          <p:nvPr>
            <p:ph type="sldNum" sz="quarter" idx="12"/>
          </p:nvPr>
        </p:nvSpPr>
        <p:spPr/>
        <p:txBody>
          <a:bodyPr/>
          <a:lstStyle/>
          <a:p>
            <a:fld id="{DC3089EC-0D35-489E-9ADF-250BB95ABA8C}" type="slidenum">
              <a:rPr lang="en-IN" smtClean="0"/>
              <a:t>‹#›</a:t>
            </a:fld>
            <a:endParaRPr lang="en-IN"/>
          </a:p>
        </p:txBody>
      </p:sp>
    </p:spTree>
    <p:extLst>
      <p:ext uri="{BB962C8B-B14F-4D97-AF65-F5344CB8AC3E}">
        <p14:creationId xmlns:p14="http://schemas.microsoft.com/office/powerpoint/2010/main" val="1494655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887CE4-5946-4D06-860F-2C06072E9985}"/>
              </a:ext>
            </a:extLst>
          </p:cNvPr>
          <p:cNvSpPr>
            <a:spLocks noGrp="1"/>
          </p:cNvSpPr>
          <p:nvPr>
            <p:ph type="dt" sz="half" idx="10"/>
          </p:nvPr>
        </p:nvSpPr>
        <p:spPr/>
        <p:txBody>
          <a:bodyPr/>
          <a:lstStyle/>
          <a:p>
            <a:fld id="{915D9040-0B74-4B13-9597-BD367E6B5797}" type="datetimeFigureOut">
              <a:rPr lang="en-IN" smtClean="0"/>
              <a:t>23-09-2021</a:t>
            </a:fld>
            <a:endParaRPr lang="en-IN"/>
          </a:p>
        </p:txBody>
      </p:sp>
      <p:sp>
        <p:nvSpPr>
          <p:cNvPr id="3" name="Footer Placeholder 2">
            <a:extLst>
              <a:ext uri="{FF2B5EF4-FFF2-40B4-BE49-F238E27FC236}">
                <a16:creationId xmlns:a16="http://schemas.microsoft.com/office/drawing/2014/main" id="{D2775FEC-38B2-4A3A-B26F-8B34C4ED11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BBB4765-4F7C-4278-B963-9BA48D200B59}"/>
              </a:ext>
            </a:extLst>
          </p:cNvPr>
          <p:cNvSpPr>
            <a:spLocks noGrp="1"/>
          </p:cNvSpPr>
          <p:nvPr>
            <p:ph type="sldNum" sz="quarter" idx="12"/>
          </p:nvPr>
        </p:nvSpPr>
        <p:spPr/>
        <p:txBody>
          <a:bodyPr/>
          <a:lstStyle/>
          <a:p>
            <a:fld id="{DC3089EC-0D35-489E-9ADF-250BB95ABA8C}" type="slidenum">
              <a:rPr lang="en-IN" smtClean="0"/>
              <a:t>‹#›</a:t>
            </a:fld>
            <a:endParaRPr lang="en-IN"/>
          </a:p>
        </p:txBody>
      </p:sp>
    </p:spTree>
    <p:extLst>
      <p:ext uri="{BB962C8B-B14F-4D97-AF65-F5344CB8AC3E}">
        <p14:creationId xmlns:p14="http://schemas.microsoft.com/office/powerpoint/2010/main" val="4156644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3BA1A-B150-45C9-B828-BC548AFBC3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EEF3CD4-4607-4754-BD82-FCF883E3A3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55584E-F249-475C-A75C-E39CFED546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3D9950-C510-4C12-A9F1-23B204493333}"/>
              </a:ext>
            </a:extLst>
          </p:cNvPr>
          <p:cNvSpPr>
            <a:spLocks noGrp="1"/>
          </p:cNvSpPr>
          <p:nvPr>
            <p:ph type="dt" sz="half" idx="10"/>
          </p:nvPr>
        </p:nvSpPr>
        <p:spPr/>
        <p:txBody>
          <a:bodyPr/>
          <a:lstStyle/>
          <a:p>
            <a:fld id="{915D9040-0B74-4B13-9597-BD367E6B5797}" type="datetimeFigureOut">
              <a:rPr lang="en-IN" smtClean="0"/>
              <a:t>23-09-2021</a:t>
            </a:fld>
            <a:endParaRPr lang="en-IN"/>
          </a:p>
        </p:txBody>
      </p:sp>
      <p:sp>
        <p:nvSpPr>
          <p:cNvPr id="6" name="Footer Placeholder 5">
            <a:extLst>
              <a:ext uri="{FF2B5EF4-FFF2-40B4-BE49-F238E27FC236}">
                <a16:creationId xmlns:a16="http://schemas.microsoft.com/office/drawing/2014/main" id="{F6EFF7AE-2DC1-4E89-8D01-8DFACC3553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C0C4EB-912C-4562-A68B-8DADE2D65B20}"/>
              </a:ext>
            </a:extLst>
          </p:cNvPr>
          <p:cNvSpPr>
            <a:spLocks noGrp="1"/>
          </p:cNvSpPr>
          <p:nvPr>
            <p:ph type="sldNum" sz="quarter" idx="12"/>
          </p:nvPr>
        </p:nvSpPr>
        <p:spPr/>
        <p:txBody>
          <a:bodyPr/>
          <a:lstStyle/>
          <a:p>
            <a:fld id="{DC3089EC-0D35-489E-9ADF-250BB95ABA8C}" type="slidenum">
              <a:rPr lang="en-IN" smtClean="0"/>
              <a:t>‹#›</a:t>
            </a:fld>
            <a:endParaRPr lang="en-IN"/>
          </a:p>
        </p:txBody>
      </p:sp>
    </p:spTree>
    <p:extLst>
      <p:ext uri="{BB962C8B-B14F-4D97-AF65-F5344CB8AC3E}">
        <p14:creationId xmlns:p14="http://schemas.microsoft.com/office/powerpoint/2010/main" val="1851857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8B2E0-6DAD-4479-AE21-E6B581FDFE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ECF1D45-11DC-43E2-8E90-CE438E9FBF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03185FD-10D6-4CD3-A481-C3DF2CBD82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61EF8C-60C0-4DBD-A1BF-732BBFF4A551}"/>
              </a:ext>
            </a:extLst>
          </p:cNvPr>
          <p:cNvSpPr>
            <a:spLocks noGrp="1"/>
          </p:cNvSpPr>
          <p:nvPr>
            <p:ph type="dt" sz="half" idx="10"/>
          </p:nvPr>
        </p:nvSpPr>
        <p:spPr/>
        <p:txBody>
          <a:bodyPr/>
          <a:lstStyle/>
          <a:p>
            <a:fld id="{915D9040-0B74-4B13-9597-BD367E6B5797}" type="datetimeFigureOut">
              <a:rPr lang="en-IN" smtClean="0"/>
              <a:t>23-09-2021</a:t>
            </a:fld>
            <a:endParaRPr lang="en-IN"/>
          </a:p>
        </p:txBody>
      </p:sp>
      <p:sp>
        <p:nvSpPr>
          <p:cNvPr id="6" name="Footer Placeholder 5">
            <a:extLst>
              <a:ext uri="{FF2B5EF4-FFF2-40B4-BE49-F238E27FC236}">
                <a16:creationId xmlns:a16="http://schemas.microsoft.com/office/drawing/2014/main" id="{CD10CD99-03E3-439D-93F3-BDFB0BBCFA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65B480-68B9-49D2-8A1C-75697DD598A0}"/>
              </a:ext>
            </a:extLst>
          </p:cNvPr>
          <p:cNvSpPr>
            <a:spLocks noGrp="1"/>
          </p:cNvSpPr>
          <p:nvPr>
            <p:ph type="sldNum" sz="quarter" idx="12"/>
          </p:nvPr>
        </p:nvSpPr>
        <p:spPr/>
        <p:txBody>
          <a:bodyPr/>
          <a:lstStyle/>
          <a:p>
            <a:fld id="{DC3089EC-0D35-489E-9ADF-250BB95ABA8C}" type="slidenum">
              <a:rPr lang="en-IN" smtClean="0"/>
              <a:t>‹#›</a:t>
            </a:fld>
            <a:endParaRPr lang="en-IN"/>
          </a:p>
        </p:txBody>
      </p:sp>
    </p:spTree>
    <p:extLst>
      <p:ext uri="{BB962C8B-B14F-4D97-AF65-F5344CB8AC3E}">
        <p14:creationId xmlns:p14="http://schemas.microsoft.com/office/powerpoint/2010/main" val="961733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533F6-4623-4DA5-A8BD-5B5C9953E1D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289CD6-450A-4463-AA24-9CA9707B3C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D91A06-7122-497C-9B7C-0BFB751FE26A}"/>
              </a:ext>
            </a:extLst>
          </p:cNvPr>
          <p:cNvSpPr>
            <a:spLocks noGrp="1"/>
          </p:cNvSpPr>
          <p:nvPr>
            <p:ph type="dt" sz="half" idx="10"/>
          </p:nvPr>
        </p:nvSpPr>
        <p:spPr/>
        <p:txBody>
          <a:bodyPr/>
          <a:lstStyle/>
          <a:p>
            <a:fld id="{915D9040-0B74-4B13-9597-BD367E6B5797}" type="datetimeFigureOut">
              <a:rPr lang="en-IN" smtClean="0"/>
              <a:t>23-09-2021</a:t>
            </a:fld>
            <a:endParaRPr lang="en-IN"/>
          </a:p>
        </p:txBody>
      </p:sp>
      <p:sp>
        <p:nvSpPr>
          <p:cNvPr id="5" name="Footer Placeholder 4">
            <a:extLst>
              <a:ext uri="{FF2B5EF4-FFF2-40B4-BE49-F238E27FC236}">
                <a16:creationId xmlns:a16="http://schemas.microsoft.com/office/drawing/2014/main" id="{F7FA43F6-5F95-446B-929D-48CF8147EC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7DA274-D293-4005-B998-53A104023C2D}"/>
              </a:ext>
            </a:extLst>
          </p:cNvPr>
          <p:cNvSpPr>
            <a:spLocks noGrp="1"/>
          </p:cNvSpPr>
          <p:nvPr>
            <p:ph type="sldNum" sz="quarter" idx="12"/>
          </p:nvPr>
        </p:nvSpPr>
        <p:spPr/>
        <p:txBody>
          <a:bodyPr/>
          <a:lstStyle/>
          <a:p>
            <a:fld id="{DC3089EC-0D35-489E-9ADF-250BB95ABA8C}" type="slidenum">
              <a:rPr lang="en-IN" smtClean="0"/>
              <a:t>‹#›</a:t>
            </a:fld>
            <a:endParaRPr lang="en-IN"/>
          </a:p>
        </p:txBody>
      </p:sp>
    </p:spTree>
    <p:extLst>
      <p:ext uri="{BB962C8B-B14F-4D97-AF65-F5344CB8AC3E}">
        <p14:creationId xmlns:p14="http://schemas.microsoft.com/office/powerpoint/2010/main" val="183512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5D8FE4-8FB4-4006-BC46-C0EEB5492B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A33384-7F97-4567-8417-F423144130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C148D3-33E6-4046-92C3-49ED2B1F3C2E}"/>
              </a:ext>
            </a:extLst>
          </p:cNvPr>
          <p:cNvSpPr>
            <a:spLocks noGrp="1"/>
          </p:cNvSpPr>
          <p:nvPr>
            <p:ph type="dt" sz="half" idx="10"/>
          </p:nvPr>
        </p:nvSpPr>
        <p:spPr/>
        <p:txBody>
          <a:bodyPr/>
          <a:lstStyle/>
          <a:p>
            <a:fld id="{915D9040-0B74-4B13-9597-BD367E6B5797}" type="datetimeFigureOut">
              <a:rPr lang="en-IN" smtClean="0"/>
              <a:t>23-09-2021</a:t>
            </a:fld>
            <a:endParaRPr lang="en-IN"/>
          </a:p>
        </p:txBody>
      </p:sp>
      <p:sp>
        <p:nvSpPr>
          <p:cNvPr id="5" name="Footer Placeholder 4">
            <a:extLst>
              <a:ext uri="{FF2B5EF4-FFF2-40B4-BE49-F238E27FC236}">
                <a16:creationId xmlns:a16="http://schemas.microsoft.com/office/drawing/2014/main" id="{B725CF0B-6364-4143-A3D8-7177A7E5C4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867A74-A4C9-436C-85B8-5639137F0685}"/>
              </a:ext>
            </a:extLst>
          </p:cNvPr>
          <p:cNvSpPr>
            <a:spLocks noGrp="1"/>
          </p:cNvSpPr>
          <p:nvPr>
            <p:ph type="sldNum" sz="quarter" idx="12"/>
          </p:nvPr>
        </p:nvSpPr>
        <p:spPr/>
        <p:txBody>
          <a:bodyPr/>
          <a:lstStyle/>
          <a:p>
            <a:fld id="{DC3089EC-0D35-489E-9ADF-250BB95ABA8C}" type="slidenum">
              <a:rPr lang="en-IN" smtClean="0"/>
              <a:t>‹#›</a:t>
            </a:fld>
            <a:endParaRPr lang="en-IN"/>
          </a:p>
        </p:txBody>
      </p:sp>
    </p:spTree>
    <p:extLst>
      <p:ext uri="{BB962C8B-B14F-4D97-AF65-F5344CB8AC3E}">
        <p14:creationId xmlns:p14="http://schemas.microsoft.com/office/powerpoint/2010/main" val="1865254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28D77F-AA9B-42D0-B88C-3114947052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99E61A-EE1B-4CFC-BA4B-903CA95D70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32D460-02E7-411A-9378-B0E05F089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5D9040-0B74-4B13-9597-BD367E6B5797}" type="datetimeFigureOut">
              <a:rPr lang="en-IN" smtClean="0"/>
              <a:t>23-09-2021</a:t>
            </a:fld>
            <a:endParaRPr lang="en-IN"/>
          </a:p>
        </p:txBody>
      </p:sp>
      <p:sp>
        <p:nvSpPr>
          <p:cNvPr id="5" name="Footer Placeholder 4">
            <a:extLst>
              <a:ext uri="{FF2B5EF4-FFF2-40B4-BE49-F238E27FC236}">
                <a16:creationId xmlns:a16="http://schemas.microsoft.com/office/drawing/2014/main" id="{80A7D954-0238-4355-8DAC-369BC361DD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1A3B0C-1CDB-4AD9-8625-0B97D8E432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3089EC-0D35-489E-9ADF-250BB95ABA8C}" type="slidenum">
              <a:rPr lang="en-IN" smtClean="0"/>
              <a:t>‹#›</a:t>
            </a:fld>
            <a:endParaRPr lang="en-IN"/>
          </a:p>
        </p:txBody>
      </p:sp>
    </p:spTree>
    <p:extLst>
      <p:ext uri="{BB962C8B-B14F-4D97-AF65-F5344CB8AC3E}">
        <p14:creationId xmlns:p14="http://schemas.microsoft.com/office/powerpoint/2010/main" val="2278811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intellipaat.com/mediaFiles/2017/04/d1-310x203.png"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993436-52FB-42D8-8484-61F39AA902D8}"/>
              </a:ext>
            </a:extLst>
          </p:cNvPr>
          <p:cNvSpPr txBox="1"/>
          <p:nvPr/>
        </p:nvSpPr>
        <p:spPr>
          <a:xfrm>
            <a:off x="0" y="225287"/>
            <a:ext cx="12192000" cy="7263527"/>
          </a:xfrm>
          <a:prstGeom prst="rect">
            <a:avLst/>
          </a:prstGeom>
          <a:noFill/>
        </p:spPr>
        <p:txBody>
          <a:bodyPr wrap="square">
            <a:spAutoFit/>
          </a:bodyPr>
          <a:lstStyle/>
          <a:p>
            <a:pPr algn="l"/>
            <a:r>
              <a:rPr lang="en-US" sz="2400" b="1" i="0" dirty="0">
                <a:solidFill>
                  <a:schemeClr val="accent1"/>
                </a:solidFill>
                <a:effectLst/>
                <a:latin typeface="Open Sans" panose="020B0606030504020204" pitchFamily="34" charset="0"/>
              </a:rPr>
              <a:t>What exactly is DevOps?</a:t>
            </a:r>
          </a:p>
          <a:p>
            <a:pPr algn="just"/>
            <a:r>
              <a:rPr lang="en-US" sz="2200" b="0" i="0" dirty="0">
                <a:solidFill>
                  <a:srgbClr val="3A3A3A"/>
                </a:solidFill>
                <a:effectLst/>
                <a:latin typeface="Times New Roman" panose="02020603050405020304" pitchFamily="18" charset="0"/>
                <a:cs typeface="Times New Roman" panose="02020603050405020304" pitchFamily="18" charset="0"/>
              </a:rPr>
              <a:t>‘DevOps.’ It is nothing but the practice or methodology of making ‘Developers’ and the ‘Operations’ team work together. </a:t>
            </a:r>
          </a:p>
          <a:p>
            <a:pPr algn="just"/>
            <a:endParaRPr lang="en-US" sz="2200" dirty="0">
              <a:solidFill>
                <a:srgbClr val="3A3A3A"/>
              </a:solidFill>
              <a:latin typeface="Times New Roman" panose="02020603050405020304" pitchFamily="18" charset="0"/>
              <a:cs typeface="Times New Roman" panose="02020603050405020304" pitchFamily="18" charset="0"/>
            </a:endParaRPr>
          </a:p>
          <a:p>
            <a:pPr algn="just"/>
            <a:r>
              <a:rPr lang="en-US" sz="2200" b="0" i="0" dirty="0">
                <a:solidFill>
                  <a:srgbClr val="3A3A3A"/>
                </a:solidFill>
                <a:effectLst/>
                <a:latin typeface="Times New Roman" panose="02020603050405020304" pitchFamily="18" charset="0"/>
                <a:cs typeface="Times New Roman" panose="02020603050405020304" pitchFamily="18" charset="0"/>
              </a:rPr>
              <a:t>(OR)</a:t>
            </a:r>
          </a:p>
          <a:p>
            <a:pPr algn="just"/>
            <a:endParaRPr lang="en-US" sz="2200" dirty="0">
              <a:solidFill>
                <a:srgbClr val="3A3A3A"/>
              </a:solidFill>
              <a:latin typeface="Times New Roman" panose="02020603050405020304" pitchFamily="18" charset="0"/>
              <a:cs typeface="Times New Roman" panose="02020603050405020304" pitchFamily="18" charset="0"/>
            </a:endParaRPr>
          </a:p>
          <a:p>
            <a:pPr algn="just"/>
            <a:r>
              <a:rPr lang="en-US" sz="2200" i="0" u="none" strike="noStrike" baseline="0" dirty="0">
                <a:solidFill>
                  <a:srgbClr val="000000"/>
                </a:solidFill>
                <a:latin typeface="Times New Roman" panose="02020603050405020304" pitchFamily="18" charset="0"/>
                <a:cs typeface="Times New Roman" panose="02020603050405020304" pitchFamily="18" charset="0"/>
              </a:rPr>
              <a:t>The word "DevOps" is a combination of the words "development" and "operation". This wordplay already serves to give us a hint of the basic nature of the idea behind DevOps.</a:t>
            </a:r>
          </a:p>
          <a:p>
            <a:pPr algn="just"/>
            <a:endParaRPr lang="en-US" sz="2200" dirty="0">
              <a:solidFill>
                <a:srgbClr val="000000"/>
              </a:solidFill>
              <a:latin typeface="Times New Roman" panose="02020603050405020304" pitchFamily="18" charset="0"/>
              <a:cs typeface="Times New Roman" panose="02020603050405020304" pitchFamily="18" charset="0"/>
            </a:endParaRPr>
          </a:p>
          <a:p>
            <a:pPr algn="just"/>
            <a:r>
              <a:rPr lang="en-US" sz="2200" b="0" i="0" u="none" strike="noStrike" baseline="0" dirty="0">
                <a:solidFill>
                  <a:srgbClr val="000000"/>
                </a:solidFill>
                <a:latin typeface="Times New Roman" panose="02020603050405020304" pitchFamily="18" charset="0"/>
                <a:cs typeface="Times New Roman" panose="02020603050405020304" pitchFamily="18" charset="0"/>
              </a:rPr>
              <a:t>(OR)</a:t>
            </a:r>
          </a:p>
          <a:p>
            <a:pPr algn="just"/>
            <a:endParaRPr lang="en-US" sz="2200" dirty="0">
              <a:solidFill>
                <a:srgbClr val="000000"/>
              </a:solidFill>
              <a:latin typeface="Times New Roman" panose="02020603050405020304" pitchFamily="18" charset="0"/>
              <a:cs typeface="Times New Roman" panose="02020603050405020304" pitchFamily="18" charset="0"/>
            </a:endParaRPr>
          </a:p>
          <a:p>
            <a:pPr algn="just"/>
            <a:r>
              <a:rPr lang="en-US" sz="2200" i="0" dirty="0">
                <a:solidFill>
                  <a:srgbClr val="333333"/>
                </a:solidFill>
                <a:effectLst/>
                <a:latin typeface="Times New Roman" panose="02020603050405020304" pitchFamily="18" charset="0"/>
                <a:cs typeface="Times New Roman" panose="02020603050405020304" pitchFamily="18" charset="0"/>
              </a:rPr>
              <a:t>DevOps describes a culture and set of processes that bring development and operations teams together to complete software development</a:t>
            </a:r>
          </a:p>
          <a:p>
            <a:pPr algn="just"/>
            <a:endParaRPr lang="en-US" sz="2200" u="none" strike="noStrike" baseline="0" dirty="0">
              <a:solidFill>
                <a:srgbClr val="333333"/>
              </a:solidFill>
              <a:latin typeface="Times New Roman" panose="02020603050405020304" pitchFamily="18" charset="0"/>
              <a:cs typeface="Times New Roman" panose="02020603050405020304" pitchFamily="18" charset="0"/>
            </a:endParaRPr>
          </a:p>
          <a:p>
            <a:pPr algn="just"/>
            <a:endParaRPr lang="en-US" sz="2200" i="0" dirty="0">
              <a:solidFill>
                <a:srgbClr val="333333"/>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b="0" i="0" dirty="0">
                <a:solidFill>
                  <a:srgbClr val="333333"/>
                </a:solidFill>
                <a:effectLst/>
                <a:latin typeface="Times New Roman" panose="02020603050405020304" pitchFamily="18" charset="0"/>
                <a:cs typeface="Times New Roman" panose="02020603050405020304" pitchFamily="18" charset="0"/>
              </a:rPr>
              <a:t>It allows organizations to create and improve products at a faster pace than they can with traditional software development approaches.</a:t>
            </a:r>
            <a:endParaRPr lang="en-US" sz="2200" i="0" u="none" strike="noStrike" baseline="0" dirty="0">
              <a:solidFill>
                <a:srgbClr val="000000"/>
              </a:solidFill>
              <a:latin typeface="Times New Roman" panose="02020603050405020304" pitchFamily="18" charset="0"/>
              <a:cs typeface="Times New Roman" panose="02020603050405020304" pitchFamily="18" charset="0"/>
            </a:endParaRPr>
          </a:p>
          <a:p>
            <a:pPr algn="just"/>
            <a:endParaRPr lang="en-US" dirty="0">
              <a:solidFill>
                <a:srgbClr val="000000"/>
              </a:solidFill>
              <a:latin typeface="Book Antiqua" panose="02040602050305030304" pitchFamily="18" charset="0"/>
            </a:endParaRPr>
          </a:p>
          <a:p>
            <a:pPr algn="just"/>
            <a:endParaRPr lang="en-US" sz="1800" b="0" i="0" u="none" strike="noStrike" baseline="0" dirty="0">
              <a:solidFill>
                <a:srgbClr val="000000"/>
              </a:solidFill>
              <a:latin typeface="Book Antiqua" panose="02040602050305030304" pitchFamily="18" charset="0"/>
            </a:endParaRPr>
          </a:p>
          <a:p>
            <a:pPr algn="just"/>
            <a:endParaRPr lang="en-US" sz="1800" b="0" i="0" u="none" strike="noStrike" baseline="0" dirty="0">
              <a:solidFill>
                <a:srgbClr val="000000"/>
              </a:solidFill>
              <a:latin typeface="Book Antiqua" panose="02040602050305030304" pitchFamily="18" charset="0"/>
            </a:endParaRPr>
          </a:p>
          <a:p>
            <a:pPr algn="just"/>
            <a:endParaRPr lang="en-US" dirty="0">
              <a:solidFill>
                <a:srgbClr val="000000"/>
              </a:solidFill>
              <a:latin typeface="Book Antiqua" panose="02040602050305030304" pitchFamily="18" charset="0"/>
            </a:endParaRPr>
          </a:p>
          <a:p>
            <a:pPr algn="just"/>
            <a:r>
              <a:rPr lang="en-US" sz="1800" b="0" i="0" u="none" strike="noStrike" baseline="0" dirty="0">
                <a:solidFill>
                  <a:srgbClr val="000000"/>
                </a:solidFill>
                <a:latin typeface="Book Antiqua" panose="02040602050305030304" pitchFamily="18" charset="0"/>
              </a:rPr>
              <a:t> </a:t>
            </a:r>
            <a:endParaRPr lang="en-US" b="0" i="0" dirty="0">
              <a:solidFill>
                <a:srgbClr val="3A3A3A"/>
              </a:solidFill>
              <a:effectLst/>
              <a:latin typeface="Open Sans" panose="020B0606030504020204" pitchFamily="34" charset="0"/>
            </a:endParaRPr>
          </a:p>
        </p:txBody>
      </p:sp>
    </p:spTree>
    <p:extLst>
      <p:ext uri="{BB962C8B-B14F-4D97-AF65-F5344CB8AC3E}">
        <p14:creationId xmlns:p14="http://schemas.microsoft.com/office/powerpoint/2010/main" val="2314560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3AD28346-439F-41C3-BBF3-3A236F60BF6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a:extLst>
              <a:ext uri="{FF2B5EF4-FFF2-40B4-BE49-F238E27FC236}">
                <a16:creationId xmlns:a16="http://schemas.microsoft.com/office/drawing/2014/main" id="{43A18F2F-702E-45F1-91DF-C5A835B470A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0" name="Picture 6" descr="DevOps: Know All about the Best Collaboration Technology between  Development and Operations">
            <a:extLst>
              <a:ext uri="{FF2B5EF4-FFF2-40B4-BE49-F238E27FC236}">
                <a16:creationId xmlns:a16="http://schemas.microsoft.com/office/drawing/2014/main" id="{7A90E140-9EB5-45CD-9068-42E232358D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5723"/>
            <a:ext cx="12298016" cy="6883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794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A26BF6-784D-4CC1-8FCA-04E4B802432A}"/>
              </a:ext>
            </a:extLst>
          </p:cNvPr>
          <p:cNvSpPr txBox="1"/>
          <p:nvPr/>
        </p:nvSpPr>
        <p:spPr>
          <a:xfrm>
            <a:off x="0" y="0"/>
            <a:ext cx="12192000" cy="4247317"/>
          </a:xfrm>
          <a:prstGeom prst="rect">
            <a:avLst/>
          </a:prstGeom>
          <a:noFill/>
        </p:spPr>
        <p:txBody>
          <a:bodyPr wrap="square">
            <a:spAutoFit/>
          </a:bodyPr>
          <a:lstStyle/>
          <a:p>
            <a:pPr algn="l"/>
            <a:r>
              <a:rPr lang="en-US" b="1" i="0" dirty="0">
                <a:solidFill>
                  <a:srgbClr val="212529"/>
                </a:solidFill>
                <a:effectLst/>
                <a:latin typeface="Open Sans" panose="020B0606030504020204" pitchFamily="34" charset="0"/>
              </a:rPr>
              <a:t>History of DevOps</a:t>
            </a:r>
          </a:p>
          <a:p>
            <a:pPr algn="l"/>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Before DevOps came into the limelight, our traditional </a:t>
            </a:r>
            <a:r>
              <a:rPr lang="en-US" b="0" i="0" dirty="0" err="1">
                <a:solidFill>
                  <a:srgbClr val="212529"/>
                </a:solidFill>
                <a:effectLst/>
                <a:latin typeface="Open Sans" panose="020B0606030504020204" pitchFamily="34" charset="0"/>
              </a:rPr>
              <a:t>ol</a:t>
            </a:r>
            <a:r>
              <a:rPr lang="en-US" b="0" i="0" dirty="0">
                <a:solidFill>
                  <a:srgbClr val="212529"/>
                </a:solidFill>
                <a:effectLst/>
                <a:latin typeface="Open Sans" panose="020B0606030504020204" pitchFamily="34" charset="0"/>
              </a:rPr>
              <a:t>’ IT had two separate teams in an organization – the Development team and the Operations team.</a:t>
            </a:r>
          </a:p>
          <a:p>
            <a:pPr algn="l"/>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The development team worked on the software, developing it and making sure that the code worked perfectly. After hours of hard work and a lot of trial and error, the team releases a code which has to be executed by the Operations team which is responsible for the release and operation of the code.</a:t>
            </a:r>
          </a:p>
          <a:p>
            <a:pPr algn="l"/>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The operations team will be checking the application and its performance and reporting back any bugs, if present.</a:t>
            </a:r>
          </a:p>
          <a:p>
            <a:pPr algn="l"/>
            <a:endParaRPr lang="en-US" b="1" dirty="0">
              <a:solidFill>
                <a:srgbClr val="212529"/>
              </a:solidFill>
              <a:latin typeface="Open Sans" panose="020B0606030504020204" pitchFamily="34" charset="0"/>
            </a:endParaRPr>
          </a:p>
          <a:p>
            <a:pPr algn="l"/>
            <a:r>
              <a:rPr lang="en-US" b="0" i="0" dirty="0">
                <a:solidFill>
                  <a:srgbClr val="202124"/>
                </a:solidFill>
                <a:effectLst/>
                <a:latin typeface="arial" panose="020B0604020202020204" pitchFamily="34" charset="0"/>
              </a:rPr>
              <a:t>The concept of DevOps emerged out of a discussion between </a:t>
            </a:r>
            <a:r>
              <a:rPr lang="en-US" b="1" i="0" dirty="0">
                <a:solidFill>
                  <a:srgbClr val="202124"/>
                </a:solidFill>
                <a:effectLst/>
                <a:latin typeface="arial" panose="020B0604020202020204" pitchFamily="34" charset="0"/>
              </a:rPr>
              <a:t>Andrew Clay and Patrick </a:t>
            </a:r>
            <a:r>
              <a:rPr lang="en-US" b="1" i="0" dirty="0" err="1">
                <a:solidFill>
                  <a:srgbClr val="202124"/>
                </a:solidFill>
                <a:effectLst/>
                <a:latin typeface="arial" panose="020B0604020202020204" pitchFamily="34" charset="0"/>
              </a:rPr>
              <a:t>Debois</a:t>
            </a:r>
            <a:r>
              <a:rPr lang="en-US" b="0" i="0" dirty="0">
                <a:solidFill>
                  <a:srgbClr val="202124"/>
                </a:solidFill>
                <a:effectLst/>
                <a:latin typeface="arial" panose="020B0604020202020204" pitchFamily="34" charset="0"/>
              </a:rPr>
              <a:t> in 2008. They were concerned about the drawbacks of </a:t>
            </a:r>
            <a:r>
              <a:rPr lang="en-US" b="0" i="0" dirty="0">
                <a:solidFill>
                  <a:srgbClr val="FF0000"/>
                </a:solidFill>
                <a:effectLst/>
                <a:latin typeface="arial" panose="020B0604020202020204" pitchFamily="34" charset="0"/>
              </a:rPr>
              <a:t>Agile</a:t>
            </a:r>
            <a:r>
              <a:rPr lang="en-US" b="0" i="0" dirty="0">
                <a:solidFill>
                  <a:srgbClr val="202124"/>
                </a:solidFill>
                <a:effectLst/>
                <a:latin typeface="arial" panose="020B0604020202020204" pitchFamily="34" charset="0"/>
              </a:rPr>
              <a:t> and wanted to come up with something better. </a:t>
            </a:r>
          </a:p>
          <a:p>
            <a:pPr algn="l"/>
            <a:endParaRPr lang="en-US" b="0" i="0" dirty="0">
              <a:solidFill>
                <a:srgbClr val="212529"/>
              </a:solidFill>
              <a:effectLst/>
              <a:latin typeface="Open Sans" panose="020B0606030504020204" pitchFamily="34" charset="0"/>
            </a:endParaRPr>
          </a:p>
        </p:txBody>
      </p:sp>
      <p:sp>
        <p:nvSpPr>
          <p:cNvPr id="2" name="Rectangle 1">
            <a:extLst>
              <a:ext uri="{FF2B5EF4-FFF2-40B4-BE49-F238E27FC236}">
                <a16:creationId xmlns:a16="http://schemas.microsoft.com/office/drawing/2014/main" id="{12086800-2119-47E0-9E27-A1AE3A262232}"/>
              </a:ext>
            </a:extLst>
          </p:cNvPr>
          <p:cNvSpPr/>
          <p:nvPr/>
        </p:nvSpPr>
        <p:spPr>
          <a:xfrm>
            <a:off x="738230" y="4966283"/>
            <a:ext cx="8397381" cy="16694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i="0" dirty="0">
                <a:ln w="0"/>
                <a:solidFill>
                  <a:schemeClr val="tx1"/>
                </a:solidFill>
                <a:effectLst>
                  <a:outerShdw blurRad="38100" dist="19050" dir="2700000" algn="tl" rotWithShape="0">
                    <a:schemeClr val="dk1">
                      <a:alpha val="40000"/>
                    </a:schemeClr>
                  </a:outerShdw>
                </a:effectLst>
                <a:latin typeface="inter-regular"/>
              </a:rPr>
              <a:t>Agile refers to the continuous iterative approach, which focuses on collaboration, customer feedback, small, and rapid releases.</a:t>
            </a:r>
            <a:endParaRPr lang="en-SG" dirty="0">
              <a:ln w="0"/>
              <a:solidFill>
                <a:schemeClr val="tx1"/>
              </a:solidFill>
              <a:effectLst>
                <a:outerShdw blurRad="38100" dist="19050" dir="2700000" algn="tl" rotWithShape="0">
                  <a:schemeClr val="dk1">
                    <a:alpha val="40000"/>
                  </a:schemeClr>
                </a:outerShdw>
              </a:effectLst>
            </a:endParaRPr>
          </a:p>
        </p:txBody>
      </p:sp>
      <p:sp>
        <p:nvSpPr>
          <p:cNvPr id="4" name="Arrow: Down 3">
            <a:extLst>
              <a:ext uri="{FF2B5EF4-FFF2-40B4-BE49-F238E27FC236}">
                <a16:creationId xmlns:a16="http://schemas.microsoft.com/office/drawing/2014/main" id="{31BC4F6B-512E-4968-B15E-67AAEECCEE7C}"/>
              </a:ext>
            </a:extLst>
          </p:cNvPr>
          <p:cNvSpPr/>
          <p:nvPr/>
        </p:nvSpPr>
        <p:spPr>
          <a:xfrm>
            <a:off x="3775047" y="3967992"/>
            <a:ext cx="318782" cy="8892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68051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3529C1-E1BB-4F64-B06D-3F28D2ACE0CA}"/>
              </a:ext>
            </a:extLst>
          </p:cNvPr>
          <p:cNvPicPr>
            <a:picLocks noChangeAspect="1"/>
          </p:cNvPicPr>
          <p:nvPr/>
        </p:nvPicPr>
        <p:blipFill>
          <a:blip r:embed="rId2"/>
          <a:stretch>
            <a:fillRect/>
          </a:stretch>
        </p:blipFill>
        <p:spPr>
          <a:xfrm>
            <a:off x="0" y="0"/>
            <a:ext cx="12130481" cy="6858000"/>
          </a:xfrm>
          <a:prstGeom prst="rect">
            <a:avLst/>
          </a:prstGeom>
        </p:spPr>
      </p:pic>
      <p:sp>
        <p:nvSpPr>
          <p:cNvPr id="5" name="Rectangle 4">
            <a:extLst>
              <a:ext uri="{FF2B5EF4-FFF2-40B4-BE49-F238E27FC236}">
                <a16:creationId xmlns:a16="http://schemas.microsoft.com/office/drawing/2014/main" id="{E2A83DC2-0085-4710-94D9-1339506C1E3B}"/>
              </a:ext>
            </a:extLst>
          </p:cNvPr>
          <p:cNvSpPr/>
          <p:nvPr/>
        </p:nvSpPr>
        <p:spPr>
          <a:xfrm>
            <a:off x="10301681" y="629174"/>
            <a:ext cx="1124125" cy="5956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OPS Team</a:t>
            </a:r>
            <a:endParaRPr lang="en-SG" dirty="0"/>
          </a:p>
        </p:txBody>
      </p:sp>
    </p:spTree>
    <p:extLst>
      <p:ext uri="{BB962C8B-B14F-4D97-AF65-F5344CB8AC3E}">
        <p14:creationId xmlns:p14="http://schemas.microsoft.com/office/powerpoint/2010/main" val="5597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2CB79-818D-4102-91E5-D9561D0329B8}"/>
              </a:ext>
            </a:extLst>
          </p:cNvPr>
          <p:cNvSpPr txBox="1"/>
          <p:nvPr/>
        </p:nvSpPr>
        <p:spPr>
          <a:xfrm>
            <a:off x="0" y="1"/>
            <a:ext cx="12192000" cy="6186309"/>
          </a:xfrm>
          <a:prstGeom prst="rect">
            <a:avLst/>
          </a:prstGeom>
          <a:noFill/>
        </p:spPr>
        <p:txBody>
          <a:bodyPr wrap="square">
            <a:spAutoFit/>
          </a:bodyPr>
          <a:lstStyle/>
          <a:p>
            <a:pPr algn="l"/>
            <a:r>
              <a:rPr lang="en-US" b="0" i="0" dirty="0">
                <a:solidFill>
                  <a:schemeClr val="accent1"/>
                </a:solidFill>
                <a:effectLst/>
                <a:latin typeface="Open Sans" panose="020B0606030504020204" pitchFamily="34" charset="0"/>
              </a:rPr>
              <a:t>Simple </a:t>
            </a:r>
            <a:r>
              <a:rPr lang="en-US" dirty="0">
                <a:solidFill>
                  <a:schemeClr val="accent1"/>
                </a:solidFill>
                <a:latin typeface="Open Sans" panose="020B0606030504020204" pitchFamily="34" charset="0"/>
              </a:rPr>
              <a:t>ex</a:t>
            </a:r>
            <a:r>
              <a:rPr lang="en-US" b="0" i="0" dirty="0">
                <a:solidFill>
                  <a:schemeClr val="accent1"/>
                </a:solidFill>
                <a:effectLst/>
                <a:latin typeface="Open Sans" panose="020B0606030504020204" pitchFamily="34" charset="0"/>
              </a:rPr>
              <a:t>ample</a:t>
            </a:r>
          </a:p>
          <a:p>
            <a:pPr algn="l"/>
            <a:endParaRPr lang="en-US" dirty="0">
              <a:solidFill>
                <a:srgbClr val="212529"/>
              </a:solidFill>
              <a:latin typeface="Open Sans" panose="020B0606030504020204" pitchFamily="34" charset="0"/>
            </a:endParaRPr>
          </a:p>
          <a:p>
            <a:pPr algn="l"/>
            <a:r>
              <a:rPr lang="en-US" b="0" i="0" dirty="0">
                <a:solidFill>
                  <a:srgbClr val="212529"/>
                </a:solidFill>
                <a:effectLst/>
                <a:latin typeface="Open Sans" panose="020B0606030504020204" pitchFamily="34" charset="0"/>
              </a:rPr>
              <a:t>For instance, let us say, the development team developed a code using an i7 processor, 8GB RAM, OS as Ubuntu, and php 5.6 scripting language, where as the Operations team ran the same code using i5 processor, 16GB RAM, OS as Centos and php 7.0 programming language.</a:t>
            </a:r>
          </a:p>
          <a:p>
            <a:pPr algn="l"/>
            <a:endParaRPr lang="en-US" b="0" i="0" dirty="0">
              <a:solidFill>
                <a:srgbClr val="212529"/>
              </a:solidFill>
              <a:effectLst/>
              <a:latin typeface="Open Sans" panose="020B0606030504020204" pitchFamily="34" charset="0"/>
            </a:endParaRPr>
          </a:p>
          <a:p>
            <a:pPr algn="l"/>
            <a:r>
              <a:rPr lang="en-US" b="0" i="0" dirty="0">
                <a:solidFill>
                  <a:schemeClr val="accent1"/>
                </a:solidFill>
                <a:effectLst/>
                <a:latin typeface="Open Sans" panose="020B0606030504020204" pitchFamily="34" charset="0"/>
              </a:rPr>
              <a:t>When the operations team ran the same code, it wouldn’t work.</a:t>
            </a:r>
          </a:p>
          <a:p>
            <a:pPr algn="l"/>
            <a:endParaRPr lang="en-US" b="0" i="0" dirty="0">
              <a:solidFill>
                <a:srgbClr val="212529"/>
              </a:solidFill>
              <a:effectLst/>
              <a:latin typeface="Open Sans" panose="020B0606030504020204" pitchFamily="34" charset="0"/>
            </a:endParaRPr>
          </a:p>
          <a:p>
            <a:pPr algn="l"/>
            <a:r>
              <a:rPr lang="en-US" b="0" i="0" dirty="0">
                <a:solidFill>
                  <a:schemeClr val="accent1"/>
                </a:solidFill>
                <a:effectLst/>
                <a:latin typeface="Open Sans" panose="020B0606030504020204" pitchFamily="34" charset="0"/>
              </a:rPr>
              <a:t>The reason for this could be the difference in the system environment or any missing software library.</a:t>
            </a:r>
          </a:p>
          <a:p>
            <a:pPr algn="l"/>
            <a:r>
              <a:rPr lang="en-US" b="0" i="0" dirty="0">
                <a:solidFill>
                  <a:schemeClr val="accent1"/>
                </a:solidFill>
                <a:effectLst/>
                <a:latin typeface="Open Sans" panose="020B0606030504020204" pitchFamily="34" charset="0"/>
              </a:rPr>
              <a:t>The operations team flagged this code as faulty, even though the problem could exist in their own system. This resulted in a lot of back and forth between the Developers and the Operations team.</a:t>
            </a:r>
          </a:p>
          <a:p>
            <a:pPr algn="l"/>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To bridge this gap, Development(‘Dev’) team and Operations (‘Ops’) team collaborated giving rise to DevOps.</a:t>
            </a:r>
          </a:p>
          <a:p>
            <a:pPr algn="l"/>
            <a:r>
              <a:rPr lang="en-US" b="0" i="0" dirty="0">
                <a:solidFill>
                  <a:srgbClr val="212529"/>
                </a:solidFill>
                <a:effectLst/>
                <a:latin typeface="Open Sans" panose="020B0606030504020204" pitchFamily="34" charset="0"/>
              </a:rPr>
              <a:t>For example, to solve the above problem, the Development team encapsulated their code in a container which is a lightweight software environment.</a:t>
            </a:r>
          </a:p>
          <a:p>
            <a:pPr algn="l"/>
            <a:endParaRPr lang="en-US" b="0" i="0" dirty="0">
              <a:solidFill>
                <a:srgbClr val="212529"/>
              </a:solidFill>
              <a:effectLst/>
              <a:latin typeface="Open Sans" panose="020B0606030504020204" pitchFamily="34" charset="0"/>
            </a:endParaRPr>
          </a:p>
          <a:p>
            <a:pPr algn="l"/>
            <a:r>
              <a:rPr lang="en-US" b="0" i="0" dirty="0">
                <a:solidFill>
                  <a:schemeClr val="accent1"/>
                </a:solidFill>
                <a:effectLst/>
                <a:latin typeface="Open Sans" panose="020B0606030504020204" pitchFamily="34" charset="0"/>
              </a:rPr>
              <a:t>This software environment had all the required software encapsulated in it, which the code or the application will require to run as expected.</a:t>
            </a:r>
          </a:p>
          <a:p>
            <a:pPr algn="l"/>
            <a:endParaRPr lang="en-US" b="0" i="0" dirty="0">
              <a:solidFill>
                <a:schemeClr val="accent1"/>
              </a:solidFill>
              <a:effectLst/>
              <a:latin typeface="Open Sans" panose="020B0606030504020204" pitchFamily="34" charset="0"/>
            </a:endParaRPr>
          </a:p>
          <a:p>
            <a:pPr algn="l"/>
            <a:r>
              <a:rPr lang="en-US" b="0" i="0" dirty="0">
                <a:solidFill>
                  <a:schemeClr val="accent1"/>
                </a:solidFill>
                <a:effectLst/>
                <a:latin typeface="Open Sans" panose="020B0606030504020204" pitchFamily="34" charset="0"/>
              </a:rPr>
              <a:t>When the developers were done with their work, they would simply pass on this container along with the code to the operations team. The Ops will run this container, along with the code, and it worked as expected!</a:t>
            </a:r>
          </a:p>
          <a:p>
            <a:pPr algn="l"/>
            <a:endParaRPr lang="en-US" b="0" i="0" dirty="0">
              <a:solidFill>
                <a:srgbClr val="212529"/>
              </a:solidFill>
              <a:effectLst/>
              <a:latin typeface="Open Sans" panose="020B0606030504020204" pitchFamily="34" charset="0"/>
            </a:endParaRPr>
          </a:p>
        </p:txBody>
      </p:sp>
    </p:spTree>
    <p:extLst>
      <p:ext uri="{BB962C8B-B14F-4D97-AF65-F5344CB8AC3E}">
        <p14:creationId xmlns:p14="http://schemas.microsoft.com/office/powerpoint/2010/main" val="3099017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9ED8B9-13D0-4B03-A65A-C67882926538}"/>
              </a:ext>
            </a:extLst>
          </p:cNvPr>
          <p:cNvPicPr>
            <a:picLocks noChangeAspect="1"/>
          </p:cNvPicPr>
          <p:nvPr/>
        </p:nvPicPr>
        <p:blipFill>
          <a:blip r:embed="rId2"/>
          <a:stretch>
            <a:fillRect/>
          </a:stretch>
        </p:blipFill>
        <p:spPr>
          <a:xfrm>
            <a:off x="3600276" y="279123"/>
            <a:ext cx="3910123" cy="1590801"/>
          </a:xfrm>
          <a:prstGeom prst="rect">
            <a:avLst/>
          </a:prstGeom>
        </p:spPr>
      </p:pic>
      <p:pic>
        <p:nvPicPr>
          <p:cNvPr id="5" name="Picture 4">
            <a:extLst>
              <a:ext uri="{FF2B5EF4-FFF2-40B4-BE49-F238E27FC236}">
                <a16:creationId xmlns:a16="http://schemas.microsoft.com/office/drawing/2014/main" id="{172CF46A-ECEA-4760-A91E-BE4D4E4207FD}"/>
              </a:ext>
            </a:extLst>
          </p:cNvPr>
          <p:cNvPicPr>
            <a:picLocks noChangeAspect="1"/>
          </p:cNvPicPr>
          <p:nvPr/>
        </p:nvPicPr>
        <p:blipFill>
          <a:blip r:embed="rId3"/>
          <a:stretch>
            <a:fillRect/>
          </a:stretch>
        </p:blipFill>
        <p:spPr>
          <a:xfrm>
            <a:off x="3472758" y="2483620"/>
            <a:ext cx="4194968" cy="1417740"/>
          </a:xfrm>
          <a:prstGeom prst="rect">
            <a:avLst/>
          </a:prstGeom>
        </p:spPr>
      </p:pic>
      <p:pic>
        <p:nvPicPr>
          <p:cNvPr id="7" name="Picture 6">
            <a:extLst>
              <a:ext uri="{FF2B5EF4-FFF2-40B4-BE49-F238E27FC236}">
                <a16:creationId xmlns:a16="http://schemas.microsoft.com/office/drawing/2014/main" id="{B17DAE33-E5A0-43FB-B950-0935B28CCEDB}"/>
              </a:ext>
            </a:extLst>
          </p:cNvPr>
          <p:cNvPicPr>
            <a:picLocks noChangeAspect="1"/>
          </p:cNvPicPr>
          <p:nvPr/>
        </p:nvPicPr>
        <p:blipFill>
          <a:blip r:embed="rId4"/>
          <a:stretch>
            <a:fillRect/>
          </a:stretch>
        </p:blipFill>
        <p:spPr>
          <a:xfrm>
            <a:off x="3457853" y="4354877"/>
            <a:ext cx="4209873" cy="2297591"/>
          </a:xfrm>
          <a:prstGeom prst="rect">
            <a:avLst/>
          </a:prstGeom>
        </p:spPr>
      </p:pic>
      <p:sp>
        <p:nvSpPr>
          <p:cNvPr id="11" name="TextBox 10">
            <a:extLst>
              <a:ext uri="{FF2B5EF4-FFF2-40B4-BE49-F238E27FC236}">
                <a16:creationId xmlns:a16="http://schemas.microsoft.com/office/drawing/2014/main" id="{0B454081-A838-49FF-8CAE-26CCBE9E4778}"/>
              </a:ext>
            </a:extLst>
          </p:cNvPr>
          <p:cNvSpPr txBox="1"/>
          <p:nvPr/>
        </p:nvSpPr>
        <p:spPr>
          <a:xfrm>
            <a:off x="394283" y="209725"/>
            <a:ext cx="2726422" cy="369332"/>
          </a:xfrm>
          <a:prstGeom prst="rect">
            <a:avLst/>
          </a:prstGeom>
          <a:noFill/>
        </p:spPr>
        <p:txBody>
          <a:bodyPr wrap="square" rtlCol="0">
            <a:spAutoFit/>
          </a:bodyPr>
          <a:lstStyle/>
          <a:p>
            <a:r>
              <a:rPr lang="en-US" dirty="0"/>
              <a:t>DevOps General Example</a:t>
            </a:r>
            <a:endParaRPr lang="en-SG" dirty="0"/>
          </a:p>
        </p:txBody>
      </p:sp>
      <p:sp>
        <p:nvSpPr>
          <p:cNvPr id="12" name="Arrow: Down 11">
            <a:extLst>
              <a:ext uri="{FF2B5EF4-FFF2-40B4-BE49-F238E27FC236}">
                <a16:creationId xmlns:a16="http://schemas.microsoft.com/office/drawing/2014/main" id="{20881ECC-8A57-4F84-B097-653B2749F5EE}"/>
              </a:ext>
            </a:extLst>
          </p:cNvPr>
          <p:cNvSpPr/>
          <p:nvPr/>
        </p:nvSpPr>
        <p:spPr>
          <a:xfrm>
            <a:off x="5251509" y="1891050"/>
            <a:ext cx="232095" cy="5714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Arrow: Down 12">
            <a:extLst>
              <a:ext uri="{FF2B5EF4-FFF2-40B4-BE49-F238E27FC236}">
                <a16:creationId xmlns:a16="http://schemas.microsoft.com/office/drawing/2014/main" id="{2A60AADC-0105-4C31-BCBA-41B77086EAB7}"/>
              </a:ext>
            </a:extLst>
          </p:cNvPr>
          <p:cNvSpPr/>
          <p:nvPr/>
        </p:nvSpPr>
        <p:spPr>
          <a:xfrm>
            <a:off x="5367556" y="3901360"/>
            <a:ext cx="116048" cy="4021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277593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4F65C2-2B3D-4E0C-87DD-F919B187EAD3}"/>
              </a:ext>
            </a:extLst>
          </p:cNvPr>
          <p:cNvPicPr>
            <a:picLocks noChangeAspect="1"/>
          </p:cNvPicPr>
          <p:nvPr/>
        </p:nvPicPr>
        <p:blipFill>
          <a:blip r:embed="rId2"/>
          <a:stretch>
            <a:fillRect/>
          </a:stretch>
        </p:blipFill>
        <p:spPr>
          <a:xfrm>
            <a:off x="2411896" y="136651"/>
            <a:ext cx="7023652" cy="2598159"/>
          </a:xfrm>
          <a:prstGeom prst="rect">
            <a:avLst/>
          </a:prstGeom>
        </p:spPr>
      </p:pic>
      <p:pic>
        <p:nvPicPr>
          <p:cNvPr id="3" name="Picture 2">
            <a:extLst>
              <a:ext uri="{FF2B5EF4-FFF2-40B4-BE49-F238E27FC236}">
                <a16:creationId xmlns:a16="http://schemas.microsoft.com/office/drawing/2014/main" id="{0569B01A-335F-4C46-8174-4F9516CB22CB}"/>
              </a:ext>
            </a:extLst>
          </p:cNvPr>
          <p:cNvPicPr>
            <a:picLocks noChangeAspect="1"/>
          </p:cNvPicPr>
          <p:nvPr/>
        </p:nvPicPr>
        <p:blipFill>
          <a:blip r:embed="rId3"/>
          <a:stretch>
            <a:fillRect/>
          </a:stretch>
        </p:blipFill>
        <p:spPr>
          <a:xfrm>
            <a:off x="2050439" y="3745641"/>
            <a:ext cx="7477873" cy="2638425"/>
          </a:xfrm>
          <a:prstGeom prst="rect">
            <a:avLst/>
          </a:prstGeom>
        </p:spPr>
      </p:pic>
      <p:sp>
        <p:nvSpPr>
          <p:cNvPr id="4" name="Arrow: Down 3">
            <a:extLst>
              <a:ext uri="{FF2B5EF4-FFF2-40B4-BE49-F238E27FC236}">
                <a16:creationId xmlns:a16="http://schemas.microsoft.com/office/drawing/2014/main" id="{272BD6C9-2958-42F8-B4A0-E1AA124CA7AE}"/>
              </a:ext>
            </a:extLst>
          </p:cNvPr>
          <p:cNvSpPr/>
          <p:nvPr/>
        </p:nvSpPr>
        <p:spPr>
          <a:xfrm>
            <a:off x="5092117" y="2877424"/>
            <a:ext cx="503340" cy="6543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271137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1B824A-1037-4F9E-AFCE-8FCE032F6C91}"/>
              </a:ext>
            </a:extLst>
          </p:cNvPr>
          <p:cNvPicPr>
            <a:picLocks noChangeAspect="1"/>
          </p:cNvPicPr>
          <p:nvPr/>
        </p:nvPicPr>
        <p:blipFill>
          <a:blip r:embed="rId2"/>
          <a:stretch>
            <a:fillRect/>
          </a:stretch>
        </p:blipFill>
        <p:spPr>
          <a:xfrm>
            <a:off x="199808" y="133647"/>
            <a:ext cx="3434597" cy="1994256"/>
          </a:xfrm>
          <a:prstGeom prst="rect">
            <a:avLst/>
          </a:prstGeom>
        </p:spPr>
      </p:pic>
      <p:pic>
        <p:nvPicPr>
          <p:cNvPr id="7" name="Picture 6">
            <a:extLst>
              <a:ext uri="{FF2B5EF4-FFF2-40B4-BE49-F238E27FC236}">
                <a16:creationId xmlns:a16="http://schemas.microsoft.com/office/drawing/2014/main" id="{4C89C05E-7BA0-4374-9CBF-5F948135DB0F}"/>
              </a:ext>
            </a:extLst>
          </p:cNvPr>
          <p:cNvPicPr>
            <a:picLocks noChangeAspect="1"/>
          </p:cNvPicPr>
          <p:nvPr/>
        </p:nvPicPr>
        <p:blipFill>
          <a:blip r:embed="rId3"/>
          <a:stretch>
            <a:fillRect/>
          </a:stretch>
        </p:blipFill>
        <p:spPr>
          <a:xfrm>
            <a:off x="4194495" y="2657234"/>
            <a:ext cx="3259123" cy="2067842"/>
          </a:xfrm>
          <a:prstGeom prst="rect">
            <a:avLst/>
          </a:prstGeom>
        </p:spPr>
      </p:pic>
      <p:pic>
        <p:nvPicPr>
          <p:cNvPr id="9" name="Picture 8">
            <a:extLst>
              <a:ext uri="{FF2B5EF4-FFF2-40B4-BE49-F238E27FC236}">
                <a16:creationId xmlns:a16="http://schemas.microsoft.com/office/drawing/2014/main" id="{92E8D668-72DA-48B8-A23D-B328DFE73F36}"/>
              </a:ext>
            </a:extLst>
          </p:cNvPr>
          <p:cNvPicPr>
            <a:picLocks noChangeAspect="1"/>
          </p:cNvPicPr>
          <p:nvPr/>
        </p:nvPicPr>
        <p:blipFill>
          <a:blip r:embed="rId4"/>
          <a:stretch>
            <a:fillRect/>
          </a:stretch>
        </p:blipFill>
        <p:spPr>
          <a:xfrm>
            <a:off x="8464257" y="4874004"/>
            <a:ext cx="3259123" cy="1727360"/>
          </a:xfrm>
          <a:prstGeom prst="rect">
            <a:avLst/>
          </a:prstGeom>
        </p:spPr>
      </p:pic>
      <p:sp>
        <p:nvSpPr>
          <p:cNvPr id="12" name="Arrow: Right 11">
            <a:extLst>
              <a:ext uri="{FF2B5EF4-FFF2-40B4-BE49-F238E27FC236}">
                <a16:creationId xmlns:a16="http://schemas.microsoft.com/office/drawing/2014/main" id="{BD6EF500-D520-4ACE-B2F4-31423F0FACB6}"/>
              </a:ext>
            </a:extLst>
          </p:cNvPr>
          <p:cNvSpPr/>
          <p:nvPr/>
        </p:nvSpPr>
        <p:spPr>
          <a:xfrm>
            <a:off x="3582581" y="2223082"/>
            <a:ext cx="444616" cy="4194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Arrow: Right 12">
            <a:extLst>
              <a:ext uri="{FF2B5EF4-FFF2-40B4-BE49-F238E27FC236}">
                <a16:creationId xmlns:a16="http://schemas.microsoft.com/office/drawing/2014/main" id="{CB42762C-AD80-4CB5-9611-C1EE11813C93}"/>
              </a:ext>
            </a:extLst>
          </p:cNvPr>
          <p:cNvSpPr/>
          <p:nvPr/>
        </p:nvSpPr>
        <p:spPr>
          <a:xfrm>
            <a:off x="7299658" y="4874004"/>
            <a:ext cx="494950" cy="3020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990244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02CF32-F0E1-4AD4-B45B-3EDF3F0A682A}"/>
              </a:ext>
            </a:extLst>
          </p:cNvPr>
          <p:cNvPicPr>
            <a:picLocks noChangeAspect="1"/>
          </p:cNvPicPr>
          <p:nvPr/>
        </p:nvPicPr>
        <p:blipFill>
          <a:blip r:embed="rId2"/>
          <a:stretch>
            <a:fillRect/>
          </a:stretch>
        </p:blipFill>
        <p:spPr>
          <a:xfrm>
            <a:off x="162974" y="366931"/>
            <a:ext cx="3733834" cy="1805818"/>
          </a:xfrm>
          <a:prstGeom prst="rect">
            <a:avLst/>
          </a:prstGeom>
        </p:spPr>
      </p:pic>
      <p:pic>
        <p:nvPicPr>
          <p:cNvPr id="5" name="Picture 4">
            <a:extLst>
              <a:ext uri="{FF2B5EF4-FFF2-40B4-BE49-F238E27FC236}">
                <a16:creationId xmlns:a16="http://schemas.microsoft.com/office/drawing/2014/main" id="{937D33D4-EC5E-4FD4-AADD-5C11ED3C2335}"/>
              </a:ext>
            </a:extLst>
          </p:cNvPr>
          <p:cNvPicPr>
            <a:picLocks noChangeAspect="1"/>
          </p:cNvPicPr>
          <p:nvPr/>
        </p:nvPicPr>
        <p:blipFill>
          <a:blip r:embed="rId3"/>
          <a:stretch>
            <a:fillRect/>
          </a:stretch>
        </p:blipFill>
        <p:spPr>
          <a:xfrm>
            <a:off x="3896808" y="2427686"/>
            <a:ext cx="4316014" cy="2186259"/>
          </a:xfrm>
          <a:prstGeom prst="rect">
            <a:avLst/>
          </a:prstGeom>
        </p:spPr>
      </p:pic>
      <p:pic>
        <p:nvPicPr>
          <p:cNvPr id="7" name="Picture 6">
            <a:extLst>
              <a:ext uri="{FF2B5EF4-FFF2-40B4-BE49-F238E27FC236}">
                <a16:creationId xmlns:a16="http://schemas.microsoft.com/office/drawing/2014/main" id="{27800ECF-AAAB-4765-9970-C1D1857F5C83}"/>
              </a:ext>
            </a:extLst>
          </p:cNvPr>
          <p:cNvPicPr>
            <a:picLocks noChangeAspect="1"/>
          </p:cNvPicPr>
          <p:nvPr/>
        </p:nvPicPr>
        <p:blipFill>
          <a:blip r:embed="rId4"/>
          <a:stretch>
            <a:fillRect/>
          </a:stretch>
        </p:blipFill>
        <p:spPr>
          <a:xfrm>
            <a:off x="8485607" y="4731391"/>
            <a:ext cx="3485481" cy="2004496"/>
          </a:xfrm>
          <a:prstGeom prst="rect">
            <a:avLst/>
          </a:prstGeom>
        </p:spPr>
      </p:pic>
      <p:sp>
        <p:nvSpPr>
          <p:cNvPr id="12" name="Arrow: Right 11">
            <a:extLst>
              <a:ext uri="{FF2B5EF4-FFF2-40B4-BE49-F238E27FC236}">
                <a16:creationId xmlns:a16="http://schemas.microsoft.com/office/drawing/2014/main" id="{3112F9BA-8C86-4760-A437-851DAFAA063C}"/>
              </a:ext>
            </a:extLst>
          </p:cNvPr>
          <p:cNvSpPr/>
          <p:nvPr/>
        </p:nvSpPr>
        <p:spPr>
          <a:xfrm>
            <a:off x="3447875" y="2427685"/>
            <a:ext cx="448933" cy="3406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Arrow: Right 12">
            <a:extLst>
              <a:ext uri="{FF2B5EF4-FFF2-40B4-BE49-F238E27FC236}">
                <a16:creationId xmlns:a16="http://schemas.microsoft.com/office/drawing/2014/main" id="{30B675CB-26BE-4223-916A-95344B59EB02}"/>
              </a:ext>
            </a:extLst>
          </p:cNvPr>
          <p:cNvSpPr/>
          <p:nvPr/>
        </p:nvSpPr>
        <p:spPr>
          <a:xfrm>
            <a:off x="7273255" y="4731391"/>
            <a:ext cx="511728" cy="2936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965813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6924CF-B790-4DEE-8A61-1D36CCDB124C}"/>
              </a:ext>
            </a:extLst>
          </p:cNvPr>
          <p:cNvSpPr txBox="1"/>
          <p:nvPr/>
        </p:nvSpPr>
        <p:spPr>
          <a:xfrm>
            <a:off x="0" y="2"/>
            <a:ext cx="12191999" cy="7848302"/>
          </a:xfrm>
          <a:prstGeom prst="rect">
            <a:avLst/>
          </a:prstGeom>
          <a:noFill/>
        </p:spPr>
        <p:txBody>
          <a:bodyPr wrap="square">
            <a:spAutoFit/>
          </a:bodyPr>
          <a:lstStyle/>
          <a:p>
            <a:endParaRPr lang="en-US" b="0" i="0" dirty="0">
              <a:solidFill>
                <a:schemeClr val="accent1">
                  <a:lumMod val="75000"/>
                </a:schemeClr>
              </a:solidFill>
              <a:effectLst/>
              <a:latin typeface="Open Sans" panose="020B0606030504020204" pitchFamily="34" charset="0"/>
              <a:ea typeface="Open Sans" panose="020B0606030504020204" pitchFamily="34" charset="0"/>
              <a:cs typeface="Open Sans" panose="020B0606030504020204" pitchFamily="34" charset="0"/>
            </a:endParaRPr>
          </a:p>
          <a:p>
            <a:r>
              <a:rPr lang="en-SG" b="1"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Development Group: </a:t>
            </a:r>
          </a:p>
          <a:p>
            <a:endParaRPr lang="en-SG"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US"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The people who are involving </a:t>
            </a:r>
          </a:p>
          <a:p>
            <a:r>
              <a:rPr lang="en-SG"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1) planning </a:t>
            </a:r>
          </a:p>
          <a:p>
            <a:r>
              <a:rPr lang="en-SG"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2) coding </a:t>
            </a:r>
          </a:p>
          <a:p>
            <a:r>
              <a:rPr lang="en-SG"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3) build </a:t>
            </a:r>
          </a:p>
          <a:p>
            <a:r>
              <a:rPr lang="en-SG"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4) Testing </a:t>
            </a:r>
            <a:r>
              <a:rPr lang="en-US"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are considered as </a:t>
            </a:r>
            <a:r>
              <a:rPr lang="en-US" b="1"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Development Group</a:t>
            </a:r>
            <a:r>
              <a:rPr lang="en-US"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p>
          <a:p>
            <a:endPar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SG" b="1" i="0" u="none" strike="noStrike" baseline="0"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Eg</a:t>
            </a:r>
            <a:r>
              <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rPr>
              <a:t>: </a:t>
            </a:r>
          </a:p>
          <a:p>
            <a:endPar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Wingdings" panose="05000000000000000000" pitchFamily="2" charset="2"/>
              <a:buChar char="Ø"/>
            </a:pPr>
            <a:r>
              <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rPr>
              <a:t>Business Analyst(BA) : </a:t>
            </a:r>
            <a:r>
              <a:rPr lang="en-US" b="0" i="0" dirty="0">
                <a:solidFill>
                  <a:srgbClr val="222222"/>
                </a:solidFill>
                <a:effectLst/>
                <a:latin typeface="Source Sans Pro" panose="020B0503030403020204" pitchFamily="34" charset="0"/>
              </a:rPr>
              <a:t>A </a:t>
            </a:r>
            <a:r>
              <a:rPr lang="en-US" b="1" i="0" dirty="0">
                <a:solidFill>
                  <a:srgbClr val="222222"/>
                </a:solidFill>
                <a:effectLst/>
                <a:latin typeface="Source Sans Pro" panose="020B0503030403020204" pitchFamily="34" charset="0"/>
              </a:rPr>
              <a:t>Business Analyst</a:t>
            </a:r>
            <a:r>
              <a:rPr lang="en-US" b="0" i="0" dirty="0">
                <a:solidFill>
                  <a:srgbClr val="222222"/>
                </a:solidFill>
                <a:effectLst/>
                <a:latin typeface="Source Sans Pro" panose="020B0503030403020204" pitchFamily="34" charset="0"/>
              </a:rPr>
              <a:t> is a person who helps businesses to analyze their processes, products, services, and systems to improve current processes and make profitable decisions through insights and data analysis. </a:t>
            </a:r>
          </a:p>
          <a:p>
            <a:endPar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Wingdings" panose="05000000000000000000" pitchFamily="2" charset="2"/>
              <a:buChar char="Ø"/>
            </a:pPr>
            <a:r>
              <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rPr>
              <a:t>System Analyst(SA) :</a:t>
            </a:r>
            <a:r>
              <a:rPr lang="en-US" b="0" i="0" dirty="0">
                <a:solidFill>
                  <a:srgbClr val="202124"/>
                </a:solidFill>
                <a:effectLst/>
                <a:latin typeface="arial" panose="020B0604020202020204" pitchFamily="34" charset="0"/>
              </a:rPr>
              <a:t>Systems analysts are problem solvers at heart. Their primary responsibility is to act as a link between an organization's IT and non-IT stakeholders, </a:t>
            </a:r>
            <a:r>
              <a:rPr lang="en-US" b="1" i="0" dirty="0">
                <a:solidFill>
                  <a:srgbClr val="202124"/>
                </a:solidFill>
                <a:effectLst/>
                <a:latin typeface="arial" panose="020B0604020202020204" pitchFamily="34" charset="0"/>
              </a:rPr>
              <a:t>designing or implementing the correct computer software, hardware, and cloud services to solve business problems</a:t>
            </a:r>
            <a:r>
              <a:rPr lang="en-US" b="0" i="0" dirty="0">
                <a:solidFill>
                  <a:srgbClr val="202124"/>
                </a:solidFill>
                <a:effectLst/>
                <a:latin typeface="arial" panose="020B0604020202020204" pitchFamily="34" charset="0"/>
              </a:rPr>
              <a:t>.</a:t>
            </a:r>
          </a:p>
          <a:p>
            <a:endPar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Wingdings" panose="05000000000000000000" pitchFamily="2" charset="2"/>
              <a:buChar char="Ø"/>
            </a:pPr>
            <a:r>
              <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rPr>
              <a:t>Design Architect(DA) </a:t>
            </a:r>
          </a:p>
          <a:p>
            <a:pPr marL="285750" indent="-285750">
              <a:buFont typeface="Wingdings" panose="05000000000000000000" pitchFamily="2" charset="2"/>
              <a:buChar char="Ø"/>
            </a:pPr>
            <a:r>
              <a:rPr lang="en-US" b="0" i="0" dirty="0">
                <a:solidFill>
                  <a:srgbClr val="202124"/>
                </a:solidFill>
                <a:effectLst/>
                <a:latin typeface="arial" panose="020B0604020202020204" pitchFamily="34" charset="0"/>
              </a:rPr>
              <a:t>Design Architects </a:t>
            </a:r>
            <a:r>
              <a:rPr lang="en-US" b="1" i="0" dirty="0">
                <a:solidFill>
                  <a:srgbClr val="202124"/>
                </a:solidFill>
                <a:effectLst/>
                <a:latin typeface="arial" panose="020B0604020202020204" pitchFamily="34" charset="0"/>
              </a:rPr>
              <a:t>create plans and gather design requirements for new structures</a:t>
            </a:r>
            <a:r>
              <a:rPr lang="en-US" b="0" i="0" dirty="0">
                <a:solidFill>
                  <a:srgbClr val="202124"/>
                </a:solidFill>
                <a:effectLst/>
                <a:latin typeface="arial" panose="020B0604020202020204" pitchFamily="34" charset="0"/>
              </a:rPr>
              <a:t>. They may also be called upon to design alterations or repairs to existing buildings and structures. Their role is to focus on the style and look of the project while adhering to all building requirements and codes.</a:t>
            </a:r>
            <a:endPar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endPar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endParaRPr lang="en-SG" i="0" u="none" strike="noStrike" baseline="0" dirty="0">
              <a:solidFill>
                <a:srgbClr val="000000"/>
              </a:solidFill>
              <a:latin typeface="Calibri" panose="020F0502020204030204" pitchFamily="34" charset="0"/>
            </a:endParaRPr>
          </a:p>
          <a:p>
            <a:endParaRPr lang="en-SG" i="0" u="none" strike="noStrike" baseline="0" dirty="0">
              <a:solidFill>
                <a:srgbClr val="000000"/>
              </a:solidFill>
              <a:latin typeface="Calibri" panose="020F0502020204030204" pitchFamily="34" charset="0"/>
            </a:endParaRPr>
          </a:p>
          <a:p>
            <a:endParaRPr lang="en-SG" dirty="0">
              <a:solidFill>
                <a:srgbClr val="000000"/>
              </a:solidFill>
              <a:latin typeface="Calibri" panose="020F0502020204030204" pitchFamily="34" charset="0"/>
            </a:endParaRPr>
          </a:p>
          <a:p>
            <a:endParaRPr lang="en-SG" i="0" u="none" strike="noStrike" baseline="0" dirty="0">
              <a:solidFill>
                <a:srgbClr val="000000"/>
              </a:solidFill>
              <a:latin typeface="Calibri" panose="020F0502020204030204" pitchFamily="34" charset="0"/>
            </a:endParaRPr>
          </a:p>
          <a:p>
            <a:endParaRPr lang="en-SG" b="0" i="0" u="none" strike="noStrike" baseline="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4209524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8FD9E9-13B2-448C-9AE7-C9405CA2DE85}"/>
              </a:ext>
            </a:extLst>
          </p:cNvPr>
          <p:cNvSpPr txBox="1"/>
          <p:nvPr/>
        </p:nvSpPr>
        <p:spPr>
          <a:xfrm>
            <a:off x="461394" y="192946"/>
            <a:ext cx="8680509" cy="2308324"/>
          </a:xfrm>
          <a:prstGeom prst="rect">
            <a:avLst/>
          </a:prstGeom>
          <a:noFill/>
        </p:spPr>
        <p:txBody>
          <a:bodyPr wrap="square">
            <a:spAutoFit/>
          </a:bodyPr>
          <a:lstStyle/>
          <a:p>
            <a:pPr marL="285750" indent="-285750">
              <a:buFont typeface="Wingdings" panose="05000000000000000000" pitchFamily="2" charset="2"/>
              <a:buChar char="Ø"/>
            </a:pPr>
            <a:r>
              <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rPr>
              <a:t>Build Engineer :</a:t>
            </a:r>
            <a:r>
              <a:rPr lang="en-US" b="0" i="0" dirty="0">
                <a:solidFill>
                  <a:srgbClr val="202124"/>
                </a:solidFill>
                <a:effectLst/>
                <a:latin typeface="arial" panose="020B0604020202020204" pitchFamily="34" charset="0"/>
              </a:rPr>
              <a:t>They are responsible for overseeing and ensuring timely software releases for organizations and may manage the software implementation process from development to execution.</a:t>
            </a:r>
            <a:endPar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endPar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Wingdings" panose="05000000000000000000" pitchFamily="2" charset="2"/>
              <a:buChar char="Ø"/>
            </a:pPr>
            <a:r>
              <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rPr>
              <a:t>Test Engineers/QA : </a:t>
            </a:r>
            <a:r>
              <a:rPr lang="en-US" b="0" i="0" dirty="0">
                <a:solidFill>
                  <a:srgbClr val="202124"/>
                </a:solidFill>
                <a:effectLst/>
                <a:latin typeface="arial" panose="020B0604020202020204" pitchFamily="34" charset="0"/>
              </a:rPr>
              <a:t>Software test engineers identify </a:t>
            </a:r>
            <a:r>
              <a:rPr lang="en-US" b="1" i="0" dirty="0">
                <a:solidFill>
                  <a:srgbClr val="202124"/>
                </a:solidFill>
                <a:effectLst/>
                <a:latin typeface="arial" panose="020B0604020202020204" pitchFamily="34" charset="0"/>
              </a:rPr>
              <a:t>and fix technical issues</a:t>
            </a:r>
            <a:r>
              <a:rPr lang="en-US" b="0" i="0" dirty="0">
                <a:solidFill>
                  <a:srgbClr val="202124"/>
                </a:solidFill>
                <a:effectLst/>
                <a:latin typeface="arial" panose="020B0604020202020204" pitchFamily="34" charset="0"/>
              </a:rPr>
              <a:t> across various aspects of a product, such as functionality, durability, safety, and speed, to ensure that the quality of the final product matches the quality guidelines and expectations set by the company.</a:t>
            </a:r>
            <a:endPar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6F1A3A95-9497-4DF7-B7F2-D819225A2083}"/>
              </a:ext>
            </a:extLst>
          </p:cNvPr>
          <p:cNvSpPr txBox="1"/>
          <p:nvPr/>
        </p:nvSpPr>
        <p:spPr>
          <a:xfrm>
            <a:off x="461394" y="2634143"/>
            <a:ext cx="8680509" cy="923330"/>
          </a:xfrm>
          <a:prstGeom prst="rect">
            <a:avLst/>
          </a:prstGeom>
          <a:noFill/>
        </p:spPr>
        <p:txBody>
          <a:bodyPr wrap="square">
            <a:spAutoFit/>
          </a:bodyPr>
          <a:lstStyle/>
          <a:p>
            <a:pPr marL="285750" indent="-285750">
              <a:buFont typeface="Wingdings" panose="05000000000000000000" pitchFamily="2" charset="2"/>
              <a:buChar char="Ø"/>
            </a:pPr>
            <a:r>
              <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rPr>
              <a:t>Developers/coders :</a:t>
            </a:r>
            <a:r>
              <a:rPr lang="en-US" b="0" i="0" dirty="0">
                <a:solidFill>
                  <a:srgbClr val="202124"/>
                </a:solidFill>
                <a:effectLst/>
                <a:latin typeface="arial" panose="020B0604020202020204" pitchFamily="34" charset="0"/>
              </a:rPr>
              <a:t> Researching, designing, implementing, and managing software programs.</a:t>
            </a:r>
          </a:p>
          <a:p>
            <a:pPr marL="285750" indent="-285750">
              <a:buFont typeface="Wingdings" panose="05000000000000000000" pitchFamily="2" charset="2"/>
              <a:buChar char="Ø"/>
            </a:pPr>
            <a:endParaRPr lang="en-SG" b="1" i="0" u="none" strike="noStrike"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04445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AFB17F-3B2C-428F-84A8-569F581B45AF}"/>
              </a:ext>
            </a:extLst>
          </p:cNvPr>
          <p:cNvSpPr txBox="1"/>
          <p:nvPr/>
        </p:nvSpPr>
        <p:spPr>
          <a:xfrm>
            <a:off x="192946" y="92278"/>
            <a:ext cx="11929146" cy="7017306"/>
          </a:xfrm>
          <a:prstGeom prst="rect">
            <a:avLst/>
          </a:prstGeom>
          <a:noFill/>
        </p:spPr>
        <p:txBody>
          <a:bodyPr wrap="square">
            <a:spAutoFit/>
          </a:bodyPr>
          <a:lstStyle/>
          <a:p>
            <a:endParaRPr lang="en-US" sz="1800" i="0" u="none" strike="noStrike" baseline="0" dirty="0">
              <a:solidFill>
                <a:srgbClr val="000000"/>
              </a:solidFill>
              <a:latin typeface="Calibri" panose="020F0502020204030204" pitchFamily="34" charset="0"/>
            </a:endParaRPr>
          </a:p>
          <a:p>
            <a:r>
              <a:rPr lang="en-SG" sz="2000" b="1" i="0" u="none" strike="noStrike" baseline="0"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rPr>
              <a:t>2) Operations Group: </a:t>
            </a:r>
          </a:p>
          <a:p>
            <a:endPar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US" sz="2000"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The people who are involving </a:t>
            </a:r>
          </a:p>
          <a:p>
            <a:endParaRPr lang="en-US" sz="2000"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SG" sz="2000"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1) Release </a:t>
            </a:r>
          </a:p>
          <a:p>
            <a:r>
              <a:rPr lang="en-SG" sz="2000"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2) Deploy </a:t>
            </a:r>
          </a:p>
          <a:p>
            <a:r>
              <a:rPr lang="en-SG" sz="2000"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3) Operate </a:t>
            </a:r>
          </a:p>
          <a:p>
            <a:r>
              <a:rPr lang="en-SG" sz="2000" i="0" u="none" strike="noStrik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4) Monitor </a:t>
            </a:r>
            <a:r>
              <a:rPr lang="en-US" sz="2000" b="1" i="0" u="none" strike="noStrike" baseline="0"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rPr>
              <a:t>are considered as Operations Group. </a:t>
            </a:r>
          </a:p>
          <a:p>
            <a:endParaRPr lang="en-US" sz="2000" b="1" i="0" u="none" strike="noStrike" baseline="0"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endParaRPr>
          </a:p>
          <a:p>
            <a:r>
              <a:rPr lang="en-SG" sz="2000" b="1" i="0" u="none" strike="noStrike" baseline="0" dirty="0" err="1">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rPr>
              <a:t>Eg</a:t>
            </a:r>
            <a:r>
              <a:rPr lang="en-SG" sz="2000" b="1" i="0" u="none" strike="noStrike" baseline="0"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rPr>
              <a:t>: </a:t>
            </a:r>
          </a:p>
          <a:p>
            <a:endParaRPr lang="en-SG" sz="2000" b="1" i="0" u="none" strike="noStrike" baseline="0"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Wingdings" panose="05000000000000000000" pitchFamily="2" charset="2"/>
              <a:buChar char="Ø"/>
            </a:pPr>
            <a:r>
              <a:rPr lang="en-SG" sz="2000" b="1" i="0" u="none" strike="noStrike" baseline="0"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rPr>
              <a:t>Release Engineers </a:t>
            </a:r>
          </a:p>
          <a:p>
            <a:pPr marL="285750" indent="-285750">
              <a:buFont typeface="Wingdings" panose="05000000000000000000" pitchFamily="2" charset="2"/>
              <a:buChar char="Ø"/>
            </a:pPr>
            <a:r>
              <a:rPr lang="en-SG" sz="2000" b="1" i="0" u="none" strike="noStrike" baseline="0"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rPr>
              <a:t>Configuration Engineer </a:t>
            </a:r>
          </a:p>
          <a:p>
            <a:pPr marL="285750" indent="-285750">
              <a:buFont typeface="Wingdings" panose="05000000000000000000" pitchFamily="2" charset="2"/>
              <a:buChar char="Ø"/>
            </a:pPr>
            <a:r>
              <a:rPr lang="en-SG" sz="2000" b="1" i="0" u="none" strike="noStrike" baseline="0"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rPr>
              <a:t>System Admin </a:t>
            </a:r>
          </a:p>
          <a:p>
            <a:pPr marL="285750" indent="-285750">
              <a:buFont typeface="Wingdings" panose="05000000000000000000" pitchFamily="2" charset="2"/>
              <a:buChar char="Ø"/>
            </a:pPr>
            <a:r>
              <a:rPr lang="en-SG" sz="2000" b="1" i="0" u="none" strike="noStrike" baseline="0"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rPr>
              <a:t>Database Admin </a:t>
            </a:r>
          </a:p>
          <a:p>
            <a:pPr marL="285750" indent="-285750">
              <a:buFont typeface="Wingdings" panose="05000000000000000000" pitchFamily="2" charset="2"/>
              <a:buChar char="Ø"/>
            </a:pPr>
            <a:r>
              <a:rPr lang="en-SG" sz="2000" b="1" i="0" u="none" strike="noStrike" baseline="0"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rPr>
              <a:t>Network Admin etc </a:t>
            </a:r>
          </a:p>
          <a:p>
            <a:pPr marL="285750" indent="-285750">
              <a:buFont typeface="Wingdings" panose="05000000000000000000" pitchFamily="2" charset="2"/>
              <a:buChar char="Ø"/>
            </a:pPr>
            <a:endParaRPr lang="en-SG" sz="2000" b="1"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endParaRPr>
          </a:p>
          <a:p>
            <a:endParaRPr lang="en-SG" sz="2000" b="1" i="0" u="none" strike="noStrike" baseline="0" dirty="0">
              <a:solidFill>
                <a:schemeClr val="accent1">
                  <a:lumMod val="75000"/>
                </a:schemeClr>
              </a:solidFill>
              <a:latin typeface="Open Sans" panose="020B0606030504020204" pitchFamily="34" charset="0"/>
              <a:ea typeface="Open Sans" panose="020B0606030504020204" pitchFamily="34" charset="0"/>
              <a:cs typeface="Open Sans" panose="020B0606030504020204" pitchFamily="34" charset="0"/>
            </a:endParaRPr>
          </a:p>
          <a:p>
            <a:endParaRPr lang="en-SG" b="1" dirty="0">
              <a:solidFill>
                <a:schemeClr val="accent1">
                  <a:lumMod val="75000"/>
                </a:schemeClr>
              </a:solidFill>
              <a:latin typeface="Calibri" panose="020F0502020204030204" pitchFamily="34" charset="0"/>
            </a:endParaRPr>
          </a:p>
          <a:p>
            <a:endParaRPr lang="en-SG" sz="1800" b="1" i="0" u="none" strike="noStrike" baseline="0" dirty="0">
              <a:solidFill>
                <a:schemeClr val="accent1">
                  <a:lumMod val="75000"/>
                </a:schemeClr>
              </a:solidFill>
              <a:latin typeface="Calibri" panose="020F0502020204030204" pitchFamily="34" charset="0"/>
            </a:endParaRPr>
          </a:p>
          <a:p>
            <a:endParaRPr lang="en-SG" sz="1800" b="1" i="0" u="none" strike="noStrike" baseline="0" dirty="0">
              <a:solidFill>
                <a:schemeClr val="accent1">
                  <a:lumMod val="75000"/>
                </a:schemeClr>
              </a:solidFill>
              <a:latin typeface="Calibri" panose="020F0502020204030204" pitchFamily="34" charset="0"/>
            </a:endParaRPr>
          </a:p>
          <a:p>
            <a:endParaRPr lang="en-SG" sz="1800" i="0" u="none" strike="noStrike" baseline="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412879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0193DF-3655-452E-8AF4-432537530470}"/>
              </a:ext>
            </a:extLst>
          </p:cNvPr>
          <p:cNvSpPr txBox="1"/>
          <p:nvPr/>
        </p:nvSpPr>
        <p:spPr>
          <a:xfrm>
            <a:off x="0" y="192947"/>
            <a:ext cx="12192000" cy="5909310"/>
          </a:xfrm>
          <a:prstGeom prst="rect">
            <a:avLst/>
          </a:prstGeom>
          <a:noFill/>
        </p:spPr>
        <p:txBody>
          <a:bodyPr wrap="square">
            <a:spAutoFit/>
          </a:bodyPr>
          <a:lstStyle/>
          <a:p>
            <a:pPr marL="285750" indent="-285750">
              <a:buFont typeface="Wingdings" panose="05000000000000000000" pitchFamily="2" charset="2"/>
              <a:buChar char="Ø"/>
            </a:pPr>
            <a:r>
              <a:rPr lang="en-SG" sz="1800" b="1" i="0" u="none" strike="noStrike" baseline="0" dirty="0">
                <a:solidFill>
                  <a:schemeClr val="accent1">
                    <a:lumMod val="75000"/>
                  </a:schemeClr>
                </a:solidFill>
                <a:latin typeface="Calibri" panose="020F0502020204030204" pitchFamily="34" charset="0"/>
              </a:rPr>
              <a:t>Operations Group responsibilities.. (Continued..)</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Infrastructure provisioning covering both hardware and software - quickly and on-demand in order to support the development, testing, deployment, and maintenance of products or services</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automated and secure environments for change management</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Efficient monitoring and control of the systems</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Disaster recovery and outage management</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Compliance and security threat management There could be more functions that the Ops team does depend upon the size, complexity, and context of an enterprise but the typical ones should be the above.</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Infrastructure/Operating System and Hardware</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US" dirty="0"/>
              <a:t>Desktop Packaging</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Database Vendor Products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Onboarding Support Function</a:t>
            </a:r>
            <a:endParaRPr lang="en-IN" dirty="0"/>
          </a:p>
        </p:txBody>
      </p:sp>
    </p:spTree>
    <p:extLst>
      <p:ext uri="{BB962C8B-B14F-4D97-AF65-F5344CB8AC3E}">
        <p14:creationId xmlns:p14="http://schemas.microsoft.com/office/powerpoint/2010/main" val="32795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DF6A47-FC17-4442-9F7F-4C7ED53D8326}"/>
              </a:ext>
            </a:extLst>
          </p:cNvPr>
          <p:cNvSpPr txBox="1"/>
          <p:nvPr/>
        </p:nvSpPr>
        <p:spPr>
          <a:xfrm>
            <a:off x="327804" y="310551"/>
            <a:ext cx="11490385" cy="2585323"/>
          </a:xfrm>
          <a:prstGeom prst="rect">
            <a:avLst/>
          </a:prstGeom>
          <a:noFill/>
        </p:spPr>
        <p:txBody>
          <a:bodyPr wrap="square">
            <a:spAutoFit/>
          </a:bodyPr>
          <a:lstStyle/>
          <a:p>
            <a:pPr algn="l"/>
            <a:r>
              <a:rPr lang="en-US" b="1" i="0" dirty="0">
                <a:solidFill>
                  <a:srgbClr val="3A3A3A"/>
                </a:solidFill>
                <a:effectLst/>
                <a:latin typeface="Open Sans" panose="020B0606030504020204" pitchFamily="34" charset="0"/>
              </a:rPr>
              <a:t>Why DevOps?</a:t>
            </a:r>
          </a:p>
          <a:p>
            <a:pPr algn="l"/>
            <a:endParaRPr lang="en-US" b="1" i="0" dirty="0">
              <a:solidFill>
                <a:srgbClr val="3A3A3A"/>
              </a:solidFill>
              <a:effectLst/>
              <a:latin typeface="Open Sans" panose="020B0606030504020204" pitchFamily="34" charset="0"/>
            </a:endParaRPr>
          </a:p>
          <a:p>
            <a:pPr algn="just"/>
            <a:r>
              <a:rPr lang="en-US" b="0" i="0" dirty="0">
                <a:solidFill>
                  <a:srgbClr val="3A3A3A"/>
                </a:solidFill>
                <a:effectLst/>
                <a:latin typeface="Open Sans" panose="020B0606030504020204" pitchFamily="34" charset="0"/>
              </a:rPr>
              <a:t>Before understanding the concepts and methodology of DevOps, we need to understand why do we even need DevOps? Why DevOps? Why not other methods?</a:t>
            </a:r>
          </a:p>
          <a:p>
            <a:pPr algn="just"/>
            <a:endParaRPr lang="en-US" b="0" i="0" dirty="0">
              <a:solidFill>
                <a:srgbClr val="3A3A3A"/>
              </a:solidFill>
              <a:effectLst/>
              <a:latin typeface="Open Sans" panose="020B0606030504020204" pitchFamily="34" charset="0"/>
            </a:endParaRPr>
          </a:p>
          <a:p>
            <a:pPr algn="just"/>
            <a:endParaRPr lang="en-US" b="0" i="0" dirty="0">
              <a:solidFill>
                <a:srgbClr val="3A3A3A"/>
              </a:solidFill>
              <a:effectLst/>
              <a:latin typeface="Open Sans" panose="020B0606030504020204" pitchFamily="34" charset="0"/>
            </a:endParaRPr>
          </a:p>
          <a:p>
            <a:pPr algn="just"/>
            <a:endParaRPr lang="en-US" b="0" i="0" dirty="0">
              <a:solidFill>
                <a:srgbClr val="3A3A3A"/>
              </a:solidFill>
              <a:effectLst/>
              <a:latin typeface="Open Sans" panose="020B0606030504020204" pitchFamily="34" charset="0"/>
            </a:endParaRPr>
          </a:p>
          <a:p>
            <a:br>
              <a:rPr lang="en-US" b="0" i="0" u="none" strike="noStrike" dirty="0">
                <a:solidFill>
                  <a:srgbClr val="6458C0"/>
                </a:solidFill>
                <a:effectLst/>
                <a:latin typeface="Open Sans" panose="020B0606030504020204" pitchFamily="34" charset="0"/>
                <a:hlinkClick r:id="rId2"/>
              </a:rPr>
            </a:br>
            <a:endParaRPr lang="en-SG" dirty="0"/>
          </a:p>
        </p:txBody>
      </p:sp>
      <p:pic>
        <p:nvPicPr>
          <p:cNvPr id="4" name="Picture 3">
            <a:extLst>
              <a:ext uri="{FF2B5EF4-FFF2-40B4-BE49-F238E27FC236}">
                <a16:creationId xmlns:a16="http://schemas.microsoft.com/office/drawing/2014/main" id="{E50A5DBA-0C04-4123-B9F3-9D355314C3EF}"/>
              </a:ext>
            </a:extLst>
          </p:cNvPr>
          <p:cNvPicPr>
            <a:picLocks noChangeAspect="1"/>
          </p:cNvPicPr>
          <p:nvPr/>
        </p:nvPicPr>
        <p:blipFill>
          <a:blip r:embed="rId3"/>
          <a:stretch>
            <a:fillRect/>
          </a:stretch>
        </p:blipFill>
        <p:spPr>
          <a:xfrm>
            <a:off x="889233" y="2052386"/>
            <a:ext cx="9748706" cy="4272913"/>
          </a:xfrm>
          <a:prstGeom prst="rect">
            <a:avLst/>
          </a:prstGeom>
        </p:spPr>
      </p:pic>
    </p:spTree>
    <p:extLst>
      <p:ext uri="{BB962C8B-B14F-4D97-AF65-F5344CB8AC3E}">
        <p14:creationId xmlns:p14="http://schemas.microsoft.com/office/powerpoint/2010/main" val="3080556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C54F99-F12C-44B5-BEF5-D59CC1A7A888}"/>
              </a:ext>
            </a:extLst>
          </p:cNvPr>
          <p:cNvSpPr txBox="1"/>
          <p:nvPr/>
        </p:nvSpPr>
        <p:spPr>
          <a:xfrm>
            <a:off x="276837" y="100668"/>
            <a:ext cx="3070370" cy="369332"/>
          </a:xfrm>
          <a:prstGeom prst="rect">
            <a:avLst/>
          </a:prstGeom>
          <a:noFill/>
        </p:spPr>
        <p:txBody>
          <a:bodyPr wrap="square" rtlCol="0">
            <a:spAutoFit/>
          </a:bodyPr>
          <a:lstStyle/>
          <a:p>
            <a:r>
              <a:rPr lang="en-US" dirty="0"/>
              <a:t>Agile:</a:t>
            </a:r>
            <a:endParaRPr lang="en-SG" dirty="0"/>
          </a:p>
        </p:txBody>
      </p:sp>
      <p:pic>
        <p:nvPicPr>
          <p:cNvPr id="4" name="Picture 3">
            <a:extLst>
              <a:ext uri="{FF2B5EF4-FFF2-40B4-BE49-F238E27FC236}">
                <a16:creationId xmlns:a16="http://schemas.microsoft.com/office/drawing/2014/main" id="{03664B52-AFC9-4CFD-9BF9-D3DB111BEC4C}"/>
              </a:ext>
            </a:extLst>
          </p:cNvPr>
          <p:cNvPicPr>
            <a:picLocks noChangeAspect="1"/>
          </p:cNvPicPr>
          <p:nvPr/>
        </p:nvPicPr>
        <p:blipFill>
          <a:blip r:embed="rId2"/>
          <a:stretch>
            <a:fillRect/>
          </a:stretch>
        </p:blipFill>
        <p:spPr>
          <a:xfrm>
            <a:off x="2013358" y="313647"/>
            <a:ext cx="6535023" cy="2206304"/>
          </a:xfrm>
          <a:prstGeom prst="rect">
            <a:avLst/>
          </a:prstGeom>
        </p:spPr>
      </p:pic>
      <p:pic>
        <p:nvPicPr>
          <p:cNvPr id="6" name="Picture 5">
            <a:extLst>
              <a:ext uri="{FF2B5EF4-FFF2-40B4-BE49-F238E27FC236}">
                <a16:creationId xmlns:a16="http://schemas.microsoft.com/office/drawing/2014/main" id="{FECE0ADF-478D-48CA-978D-BAD84FC03007}"/>
              </a:ext>
            </a:extLst>
          </p:cNvPr>
          <p:cNvPicPr>
            <a:picLocks noChangeAspect="1"/>
          </p:cNvPicPr>
          <p:nvPr/>
        </p:nvPicPr>
        <p:blipFill>
          <a:blip r:embed="rId3"/>
          <a:stretch>
            <a:fillRect/>
          </a:stretch>
        </p:blipFill>
        <p:spPr>
          <a:xfrm>
            <a:off x="2012702" y="2680499"/>
            <a:ext cx="6535680" cy="1310780"/>
          </a:xfrm>
          <a:prstGeom prst="rect">
            <a:avLst/>
          </a:prstGeom>
        </p:spPr>
      </p:pic>
      <p:pic>
        <p:nvPicPr>
          <p:cNvPr id="8" name="Picture 7">
            <a:extLst>
              <a:ext uri="{FF2B5EF4-FFF2-40B4-BE49-F238E27FC236}">
                <a16:creationId xmlns:a16="http://schemas.microsoft.com/office/drawing/2014/main" id="{D3FB3088-8AA4-481E-90E7-F3F50597449C}"/>
              </a:ext>
            </a:extLst>
          </p:cNvPr>
          <p:cNvPicPr>
            <a:picLocks noChangeAspect="1"/>
          </p:cNvPicPr>
          <p:nvPr/>
        </p:nvPicPr>
        <p:blipFill>
          <a:blip r:embed="rId4"/>
          <a:stretch>
            <a:fillRect/>
          </a:stretch>
        </p:blipFill>
        <p:spPr>
          <a:xfrm>
            <a:off x="1954636" y="4417299"/>
            <a:ext cx="6535679" cy="2127054"/>
          </a:xfrm>
          <a:prstGeom prst="rect">
            <a:avLst/>
          </a:prstGeom>
        </p:spPr>
      </p:pic>
    </p:spTree>
    <p:extLst>
      <p:ext uri="{BB962C8B-B14F-4D97-AF65-F5344CB8AC3E}">
        <p14:creationId xmlns:p14="http://schemas.microsoft.com/office/powerpoint/2010/main" val="2637193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FA4DD9-11AE-42C4-B373-34FB37985429}"/>
              </a:ext>
            </a:extLst>
          </p:cNvPr>
          <p:cNvPicPr>
            <a:picLocks noChangeAspect="1"/>
          </p:cNvPicPr>
          <p:nvPr/>
        </p:nvPicPr>
        <p:blipFill>
          <a:blip r:embed="rId2"/>
          <a:stretch>
            <a:fillRect/>
          </a:stretch>
        </p:blipFill>
        <p:spPr>
          <a:xfrm>
            <a:off x="771787" y="877195"/>
            <a:ext cx="9848675" cy="5103609"/>
          </a:xfrm>
          <a:prstGeom prst="rect">
            <a:avLst/>
          </a:prstGeom>
        </p:spPr>
      </p:pic>
    </p:spTree>
    <p:extLst>
      <p:ext uri="{BB962C8B-B14F-4D97-AF65-F5344CB8AC3E}">
        <p14:creationId xmlns:p14="http://schemas.microsoft.com/office/powerpoint/2010/main" val="4142028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511490-FE85-40A0-A03B-511693212741}"/>
              </a:ext>
            </a:extLst>
          </p:cNvPr>
          <p:cNvPicPr>
            <a:picLocks noChangeAspect="1"/>
          </p:cNvPicPr>
          <p:nvPr/>
        </p:nvPicPr>
        <p:blipFill>
          <a:blip r:embed="rId2"/>
          <a:stretch>
            <a:fillRect/>
          </a:stretch>
        </p:blipFill>
        <p:spPr>
          <a:xfrm>
            <a:off x="1182849" y="897622"/>
            <a:ext cx="9253056" cy="5259897"/>
          </a:xfrm>
          <a:prstGeom prst="rect">
            <a:avLst/>
          </a:prstGeom>
        </p:spPr>
      </p:pic>
    </p:spTree>
    <p:extLst>
      <p:ext uri="{BB962C8B-B14F-4D97-AF65-F5344CB8AC3E}">
        <p14:creationId xmlns:p14="http://schemas.microsoft.com/office/powerpoint/2010/main" val="3876313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971</Words>
  <Application>Microsoft Office PowerPoint</Application>
  <PresentationFormat>Widescreen</PresentationFormat>
  <Paragraphs>118</Paragraphs>
  <Slides>17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Arial</vt:lpstr>
      <vt:lpstr>Arial</vt:lpstr>
      <vt:lpstr>Book Antiqua</vt:lpstr>
      <vt:lpstr>Calibri</vt:lpstr>
      <vt:lpstr>Calibri Light</vt:lpstr>
      <vt:lpstr>inter-regular</vt:lpstr>
      <vt:lpstr>Open Sans</vt:lpstr>
      <vt:lpstr>Source Sans Pro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SAI CHARAN THOTA</cp:lastModifiedBy>
  <cp:revision>1</cp:revision>
  <dcterms:created xsi:type="dcterms:W3CDTF">2021-09-23T05:01:51Z</dcterms:created>
  <dcterms:modified xsi:type="dcterms:W3CDTF">2021-09-23T05:04:32Z</dcterms:modified>
</cp:coreProperties>
</file>